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ags/tag1.xml" ContentType="application/vnd.openxmlformats-officedocument.presentationml.tag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tags/tag2.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6" r:id="rId2"/>
  </p:sldMasterIdLst>
  <p:notesMasterIdLst>
    <p:notesMasterId r:id="rId42"/>
  </p:notesMasterIdLst>
  <p:sldIdLst>
    <p:sldId id="256" r:id="rId3"/>
    <p:sldId id="586" r:id="rId4"/>
    <p:sldId id="597" r:id="rId5"/>
    <p:sldId id="598" r:id="rId6"/>
    <p:sldId id="477" r:id="rId7"/>
    <p:sldId id="645" r:id="rId8"/>
    <p:sldId id="681" r:id="rId9"/>
    <p:sldId id="593" r:id="rId10"/>
    <p:sldId id="592" r:id="rId11"/>
    <p:sldId id="594" r:id="rId12"/>
    <p:sldId id="608" r:id="rId13"/>
    <p:sldId id="648" r:id="rId14"/>
    <p:sldId id="605" r:id="rId15"/>
    <p:sldId id="471" r:id="rId16"/>
    <p:sldId id="649" r:id="rId17"/>
    <p:sldId id="650" r:id="rId18"/>
    <p:sldId id="391" r:id="rId19"/>
    <p:sldId id="965" r:id="rId20"/>
    <p:sldId id="964" r:id="rId21"/>
    <p:sldId id="966" r:id="rId22"/>
    <p:sldId id="898" r:id="rId23"/>
    <p:sldId id="899" r:id="rId24"/>
    <p:sldId id="900" r:id="rId25"/>
    <p:sldId id="901" r:id="rId26"/>
    <p:sldId id="967" r:id="rId27"/>
    <p:sldId id="902" r:id="rId28"/>
    <p:sldId id="903" r:id="rId29"/>
    <p:sldId id="968" r:id="rId30"/>
    <p:sldId id="674" r:id="rId31"/>
    <p:sldId id="718" r:id="rId32"/>
    <p:sldId id="719" r:id="rId33"/>
    <p:sldId id="969" r:id="rId34"/>
    <p:sldId id="891" r:id="rId35"/>
    <p:sldId id="893" r:id="rId36"/>
    <p:sldId id="892" r:id="rId37"/>
    <p:sldId id="971" r:id="rId38"/>
    <p:sldId id="895" r:id="rId39"/>
    <p:sldId id="970" r:id="rId40"/>
    <p:sldId id="302" r:id="rId4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7C80"/>
    <a:srgbClr val="FFE699"/>
    <a:srgbClr val="0CB458"/>
    <a:srgbClr val="7CD4A5"/>
    <a:srgbClr val="EDE8F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4086" autoAdjust="0"/>
    <p:restoredTop sz="94601" autoAdjust="0"/>
  </p:normalViewPr>
  <p:slideViewPr>
    <p:cSldViewPr snapToGrid="0">
      <p:cViewPr>
        <p:scale>
          <a:sx n="69" d="100"/>
          <a:sy n="69" d="100"/>
        </p:scale>
        <p:origin x="216" y="2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notesMaster" Target="notesMasters/notesMaster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presProps" Target="presProps.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tableStyles" Target="tableStyles.xml"/><Relationship Id="rId20" Type="http://schemas.openxmlformats.org/officeDocument/2006/relationships/slide" Target="slides/slide18.xml"/><Relationship Id="rId41"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D7FFABE-B212-5F4F-8C26-F539B2DEA913}" type="datetimeFigureOut">
              <a:rPr lang="en-US" smtClean="0"/>
              <a:t>11/10/2025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F2AF9BE-9FCA-D64E-8150-DC197F2F325E}" type="slidenum">
              <a:rPr lang="en-US" smtClean="0"/>
              <a:t>‹#›</a:t>
            </a:fld>
            <a:endParaRPr lang="en-US"/>
          </a:p>
        </p:txBody>
      </p:sp>
    </p:spTree>
    <p:extLst>
      <p:ext uri="{BB962C8B-B14F-4D97-AF65-F5344CB8AC3E}">
        <p14:creationId xmlns:p14="http://schemas.microsoft.com/office/powerpoint/2010/main" val="11782575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2514" name="Rectangle 2">
            <a:extLst>
              <a:ext uri="{FF2B5EF4-FFF2-40B4-BE49-F238E27FC236}">
                <a16:creationId xmlns:a16="http://schemas.microsoft.com/office/drawing/2014/main" id="{ED9D4BE7-F79B-442B-B259-67767E88F2F3}"/>
              </a:ext>
            </a:extLst>
          </p:cNvPr>
          <p:cNvSpPr>
            <a:spLocks noGrp="1" noRot="1" noChangeAspect="1" noChangeArrowheads="1" noTextEdit="1"/>
          </p:cNvSpPr>
          <p:nvPr>
            <p:ph type="sldImg"/>
          </p:nvPr>
        </p:nvSpPr>
        <p:spPr bwMode="auto">
          <a:xfrm>
            <a:off x="2295525" y="527050"/>
            <a:ext cx="4676775" cy="2632075"/>
          </a:xfrm>
          <a:prstGeom prst="rect">
            <a:avLst/>
          </a:prstGeom>
          <a:solidFill>
            <a:srgbClr val="FFFFFF"/>
          </a:solidFill>
          <a:ln>
            <a:solidFill>
              <a:srgbClr val="000000"/>
            </a:solidFill>
            <a:miter lim="800000"/>
            <a:headEnd/>
            <a:tailEnd/>
          </a:ln>
        </p:spPr>
      </p:sp>
      <p:sp>
        <p:nvSpPr>
          <p:cNvPr id="832515" name="Rectangle 3">
            <a:extLst>
              <a:ext uri="{FF2B5EF4-FFF2-40B4-BE49-F238E27FC236}">
                <a16:creationId xmlns:a16="http://schemas.microsoft.com/office/drawing/2014/main" id="{BE7BE528-7DC3-4835-B22F-6D1545791B29}"/>
              </a:ext>
            </a:extLst>
          </p:cNvPr>
          <p:cNvSpPr>
            <a:spLocks noGrp="1" noChangeArrowheads="1"/>
          </p:cNvSpPr>
          <p:nvPr>
            <p:ph type="body" idx="1"/>
          </p:nvPr>
        </p:nvSpPr>
        <p:spPr bwMode="auto">
          <a:xfrm>
            <a:off x="1238250" y="3335338"/>
            <a:ext cx="6792913" cy="3157537"/>
          </a:xfrm>
          <a:prstGeom prst="rect">
            <a:avLst/>
          </a:prstGeom>
          <a:solidFill>
            <a:srgbClr val="FFFFFF"/>
          </a:solidFill>
          <a:ln>
            <a:solidFill>
              <a:srgbClr val="000000"/>
            </a:solidFill>
            <a:miter lim="800000"/>
            <a:headEnd/>
            <a:tailEnd/>
          </a:ln>
        </p:spPr>
        <p:txBody>
          <a:bodyPr lIns="91421" tIns="45711" rIns="91421" bIns="45711"/>
          <a:lstStyle/>
          <a:p>
            <a:r>
              <a:rPr lang="en-US" altLang="en-US"/>
              <a:t>Russian scientist A. N. Tolstoi investigated soviet rail network. Wanted to optimize amount of cargo that could be shipped from origins in Soviet Union (right) to destination satellite counties (Poland, Czechoslovakia, Austria, Eastern Germany) (left). American scientists Harris and Ross were also interested in Soviet rail system but from a different perspective. In a secret report (declassified at Schrijver's request in 1999), Harris and Ross calculated a "minimum interdiction" of 163,000 tons.</a:t>
            </a:r>
          </a:p>
          <a:p>
            <a:r>
              <a:rPr lang="en-US" altLang="en-US"/>
              <a:t>after aggregation, 44 vertices, 105 edges</a:t>
            </a:r>
          </a:p>
        </p:txBody>
      </p:sp>
    </p:spTree>
    <p:extLst>
      <p:ext uri="{BB962C8B-B14F-4D97-AF65-F5344CB8AC3E}">
        <p14:creationId xmlns:p14="http://schemas.microsoft.com/office/powerpoint/2010/main" val="122212413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1682" name="Rectangle 2">
            <a:extLst>
              <a:ext uri="{FF2B5EF4-FFF2-40B4-BE49-F238E27FC236}">
                <a16:creationId xmlns:a16="http://schemas.microsoft.com/office/drawing/2014/main" id="{9BE7A182-7545-4B16-BE3F-1189546FA32C}"/>
              </a:ext>
            </a:extLst>
          </p:cNvPr>
          <p:cNvSpPr>
            <a:spLocks noGrp="1" noRot="1" noChangeAspect="1" noChangeArrowheads="1" noTextEdit="1"/>
          </p:cNvSpPr>
          <p:nvPr>
            <p:ph type="sldImg"/>
          </p:nvPr>
        </p:nvSpPr>
        <p:spPr>
          <a:xfrm>
            <a:off x="2295525" y="527050"/>
            <a:ext cx="4676775" cy="2632075"/>
          </a:xfrm>
          <a:ln/>
        </p:spPr>
      </p:sp>
      <p:sp>
        <p:nvSpPr>
          <p:cNvPr id="711683" name="Rectangle 3">
            <a:extLst>
              <a:ext uri="{FF2B5EF4-FFF2-40B4-BE49-F238E27FC236}">
                <a16:creationId xmlns:a16="http://schemas.microsoft.com/office/drawing/2014/main" id="{D438A452-4D8D-4A81-B5EF-51A6EB197113}"/>
              </a:ext>
            </a:extLst>
          </p:cNvPr>
          <p:cNvSpPr>
            <a:spLocks noGrp="1" noChangeArrowheads="1"/>
          </p:cNvSpPr>
          <p:nvPr>
            <p:ph type="body" idx="1"/>
          </p:nvPr>
        </p:nvSpPr>
        <p:spPr/>
        <p:txBody>
          <a:bodyPr lIns="91421" tIns="45711" rIns="91421" bIns="45711"/>
          <a:lstStyle/>
          <a:p>
            <a:r>
              <a:rPr lang="en-US" altLang="en-US"/>
              <a:t>source = where material originates, sink = where material goes.</a:t>
            </a:r>
          </a:p>
          <a:p>
            <a:r>
              <a:rPr lang="en-US" altLang="en-US"/>
              <a:t>We use cut to mean s-t cut.</a:t>
            </a:r>
          </a:p>
        </p:txBody>
      </p:sp>
    </p:spTree>
    <p:extLst>
      <p:ext uri="{BB962C8B-B14F-4D97-AF65-F5344CB8AC3E}">
        <p14:creationId xmlns:p14="http://schemas.microsoft.com/office/powerpoint/2010/main" val="5395387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1682" name="Rectangle 2">
            <a:extLst>
              <a:ext uri="{FF2B5EF4-FFF2-40B4-BE49-F238E27FC236}">
                <a16:creationId xmlns:a16="http://schemas.microsoft.com/office/drawing/2014/main" id="{9BE7A182-7545-4B16-BE3F-1189546FA32C}"/>
              </a:ext>
            </a:extLst>
          </p:cNvPr>
          <p:cNvSpPr>
            <a:spLocks noGrp="1" noRot="1" noChangeAspect="1" noChangeArrowheads="1" noTextEdit="1"/>
          </p:cNvSpPr>
          <p:nvPr>
            <p:ph type="sldImg"/>
          </p:nvPr>
        </p:nvSpPr>
        <p:spPr>
          <a:xfrm>
            <a:off x="2295525" y="527050"/>
            <a:ext cx="4676775" cy="2632075"/>
          </a:xfrm>
          <a:ln/>
        </p:spPr>
      </p:sp>
      <p:sp>
        <p:nvSpPr>
          <p:cNvPr id="711683" name="Rectangle 3">
            <a:extLst>
              <a:ext uri="{FF2B5EF4-FFF2-40B4-BE49-F238E27FC236}">
                <a16:creationId xmlns:a16="http://schemas.microsoft.com/office/drawing/2014/main" id="{D438A452-4D8D-4A81-B5EF-51A6EB197113}"/>
              </a:ext>
            </a:extLst>
          </p:cNvPr>
          <p:cNvSpPr>
            <a:spLocks noGrp="1" noChangeArrowheads="1"/>
          </p:cNvSpPr>
          <p:nvPr>
            <p:ph type="body" idx="1"/>
          </p:nvPr>
        </p:nvSpPr>
        <p:spPr/>
        <p:txBody>
          <a:bodyPr lIns="91421" tIns="45711" rIns="91421" bIns="45711"/>
          <a:lstStyle/>
          <a:p>
            <a:r>
              <a:rPr lang="en-US" altLang="en-US"/>
              <a:t>source = where material originates, sink = where material goes.</a:t>
            </a:r>
          </a:p>
          <a:p>
            <a:r>
              <a:rPr lang="en-US" altLang="en-US"/>
              <a:t>We use cut to mean s-t cut.</a:t>
            </a:r>
          </a:p>
        </p:txBody>
      </p:sp>
    </p:spTree>
    <p:extLst>
      <p:ext uri="{BB962C8B-B14F-4D97-AF65-F5344CB8AC3E}">
        <p14:creationId xmlns:p14="http://schemas.microsoft.com/office/powerpoint/2010/main" val="35744662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5410" name="Rectangle 2">
            <a:extLst>
              <a:ext uri="{FF2B5EF4-FFF2-40B4-BE49-F238E27FC236}">
                <a16:creationId xmlns:a16="http://schemas.microsoft.com/office/drawing/2014/main" id="{F75FCF5F-B747-48F2-9DF6-D9C8385B1391}"/>
              </a:ext>
            </a:extLst>
          </p:cNvPr>
          <p:cNvSpPr>
            <a:spLocks noGrp="1" noRot="1" noChangeAspect="1" noChangeArrowheads="1"/>
          </p:cNvSpPr>
          <p:nvPr>
            <p:ph type="sldImg"/>
          </p:nvPr>
        </p:nvSpPr>
        <p:spPr>
          <a:ln/>
        </p:spPr>
      </p:sp>
      <p:sp>
        <p:nvSpPr>
          <p:cNvPr id="785411" name="Rectangle 3">
            <a:extLst>
              <a:ext uri="{FF2B5EF4-FFF2-40B4-BE49-F238E27FC236}">
                <a16:creationId xmlns:a16="http://schemas.microsoft.com/office/drawing/2014/main" id="{520737B6-335A-4033-BD60-C4A9FECA1DCB}"/>
              </a:ext>
            </a:extLst>
          </p:cNvPr>
          <p:cNvSpPr>
            <a:spLocks noGrp="1" noChangeArrowheads="1"/>
          </p:cNvSpPr>
          <p:nvPr>
            <p:ph type="body" idx="1"/>
          </p:nvPr>
        </p:nvSpPr>
        <p:spPr/>
        <p:txBody>
          <a:bodyPr/>
          <a:lstStyle/>
          <a:p>
            <a:endParaRPr lang="en-US" altLang="en-US"/>
          </a:p>
        </p:txBody>
      </p:sp>
    </p:spTree>
    <p:extLst>
      <p:ext uri="{BB962C8B-B14F-4D97-AF65-F5344CB8AC3E}">
        <p14:creationId xmlns:p14="http://schemas.microsoft.com/office/powerpoint/2010/main" val="389345154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5410" name="Rectangle 2">
            <a:extLst>
              <a:ext uri="{FF2B5EF4-FFF2-40B4-BE49-F238E27FC236}">
                <a16:creationId xmlns:a16="http://schemas.microsoft.com/office/drawing/2014/main" id="{F75FCF5F-B747-48F2-9DF6-D9C8385B1391}"/>
              </a:ext>
            </a:extLst>
          </p:cNvPr>
          <p:cNvSpPr>
            <a:spLocks noGrp="1" noRot="1" noChangeAspect="1" noChangeArrowheads="1"/>
          </p:cNvSpPr>
          <p:nvPr>
            <p:ph type="sldImg"/>
          </p:nvPr>
        </p:nvSpPr>
        <p:spPr>
          <a:ln/>
        </p:spPr>
      </p:sp>
      <p:sp>
        <p:nvSpPr>
          <p:cNvPr id="785411" name="Rectangle 3">
            <a:extLst>
              <a:ext uri="{FF2B5EF4-FFF2-40B4-BE49-F238E27FC236}">
                <a16:creationId xmlns:a16="http://schemas.microsoft.com/office/drawing/2014/main" id="{520737B6-335A-4033-BD60-C4A9FECA1DCB}"/>
              </a:ext>
            </a:extLst>
          </p:cNvPr>
          <p:cNvSpPr>
            <a:spLocks noGrp="1" noChangeArrowheads="1"/>
          </p:cNvSpPr>
          <p:nvPr>
            <p:ph type="body" idx="1"/>
          </p:nvPr>
        </p:nvSpPr>
        <p:spPr/>
        <p:txBody>
          <a:bodyPr/>
          <a:lstStyle/>
          <a:p>
            <a:endParaRPr lang="en-US" altLang="en-US"/>
          </a:p>
        </p:txBody>
      </p:sp>
    </p:spTree>
    <p:extLst>
      <p:ext uri="{BB962C8B-B14F-4D97-AF65-F5344CB8AC3E}">
        <p14:creationId xmlns:p14="http://schemas.microsoft.com/office/powerpoint/2010/main" val="190120796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1682" name="Rectangle 2">
            <a:extLst>
              <a:ext uri="{FF2B5EF4-FFF2-40B4-BE49-F238E27FC236}">
                <a16:creationId xmlns:a16="http://schemas.microsoft.com/office/drawing/2014/main" id="{9BE7A182-7545-4B16-BE3F-1189546FA32C}"/>
              </a:ext>
            </a:extLst>
          </p:cNvPr>
          <p:cNvSpPr>
            <a:spLocks noGrp="1" noRot="1" noChangeAspect="1" noChangeArrowheads="1" noTextEdit="1"/>
          </p:cNvSpPr>
          <p:nvPr>
            <p:ph type="sldImg"/>
          </p:nvPr>
        </p:nvSpPr>
        <p:spPr>
          <a:xfrm>
            <a:off x="2295525" y="527050"/>
            <a:ext cx="4676775" cy="2632075"/>
          </a:xfrm>
          <a:ln/>
        </p:spPr>
      </p:sp>
      <p:sp>
        <p:nvSpPr>
          <p:cNvPr id="711683" name="Rectangle 3">
            <a:extLst>
              <a:ext uri="{FF2B5EF4-FFF2-40B4-BE49-F238E27FC236}">
                <a16:creationId xmlns:a16="http://schemas.microsoft.com/office/drawing/2014/main" id="{D438A452-4D8D-4A81-B5EF-51A6EB197113}"/>
              </a:ext>
            </a:extLst>
          </p:cNvPr>
          <p:cNvSpPr>
            <a:spLocks noGrp="1" noChangeArrowheads="1"/>
          </p:cNvSpPr>
          <p:nvPr>
            <p:ph type="body" idx="1"/>
          </p:nvPr>
        </p:nvSpPr>
        <p:spPr/>
        <p:txBody>
          <a:bodyPr lIns="91421" tIns="45711" rIns="91421" bIns="45711"/>
          <a:lstStyle/>
          <a:p>
            <a:r>
              <a:rPr lang="en-US" altLang="en-US"/>
              <a:t>source = where material originates, sink = where material goes.</a:t>
            </a:r>
          </a:p>
          <a:p>
            <a:r>
              <a:rPr lang="en-US" altLang="en-US"/>
              <a:t>We use cut to mean s-t cut.</a:t>
            </a:r>
          </a:p>
        </p:txBody>
      </p:sp>
    </p:spTree>
    <p:extLst>
      <p:ext uri="{BB962C8B-B14F-4D97-AF65-F5344CB8AC3E}">
        <p14:creationId xmlns:p14="http://schemas.microsoft.com/office/powerpoint/2010/main" val="301255823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1682" name="Rectangle 2">
            <a:extLst>
              <a:ext uri="{FF2B5EF4-FFF2-40B4-BE49-F238E27FC236}">
                <a16:creationId xmlns:a16="http://schemas.microsoft.com/office/drawing/2014/main" id="{9BE7A182-7545-4B16-BE3F-1189546FA32C}"/>
              </a:ext>
            </a:extLst>
          </p:cNvPr>
          <p:cNvSpPr>
            <a:spLocks noGrp="1" noRot="1" noChangeAspect="1" noChangeArrowheads="1" noTextEdit="1"/>
          </p:cNvSpPr>
          <p:nvPr>
            <p:ph type="sldImg"/>
          </p:nvPr>
        </p:nvSpPr>
        <p:spPr>
          <a:xfrm>
            <a:off x="2295525" y="527050"/>
            <a:ext cx="4676775" cy="2632075"/>
          </a:xfrm>
          <a:ln/>
        </p:spPr>
      </p:sp>
      <p:sp>
        <p:nvSpPr>
          <p:cNvPr id="711683" name="Rectangle 3">
            <a:extLst>
              <a:ext uri="{FF2B5EF4-FFF2-40B4-BE49-F238E27FC236}">
                <a16:creationId xmlns:a16="http://schemas.microsoft.com/office/drawing/2014/main" id="{D438A452-4D8D-4A81-B5EF-51A6EB197113}"/>
              </a:ext>
            </a:extLst>
          </p:cNvPr>
          <p:cNvSpPr>
            <a:spLocks noGrp="1" noChangeArrowheads="1"/>
          </p:cNvSpPr>
          <p:nvPr>
            <p:ph type="body" idx="1"/>
          </p:nvPr>
        </p:nvSpPr>
        <p:spPr/>
        <p:txBody>
          <a:bodyPr lIns="91421" tIns="45711" rIns="91421" bIns="45711"/>
          <a:lstStyle/>
          <a:p>
            <a:r>
              <a:rPr lang="en-US" altLang="en-US"/>
              <a:t>source = where material originates, sink = where material goes.</a:t>
            </a:r>
          </a:p>
          <a:p>
            <a:r>
              <a:rPr lang="en-US" altLang="en-US"/>
              <a:t>We use cut to mean s-t cut.</a:t>
            </a:r>
          </a:p>
        </p:txBody>
      </p:sp>
    </p:spTree>
    <p:extLst>
      <p:ext uri="{BB962C8B-B14F-4D97-AF65-F5344CB8AC3E}">
        <p14:creationId xmlns:p14="http://schemas.microsoft.com/office/powerpoint/2010/main" val="25920909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1682" name="Rectangle 2">
            <a:extLst>
              <a:ext uri="{FF2B5EF4-FFF2-40B4-BE49-F238E27FC236}">
                <a16:creationId xmlns:a16="http://schemas.microsoft.com/office/drawing/2014/main" id="{9BE7A182-7545-4B16-BE3F-1189546FA32C}"/>
              </a:ext>
            </a:extLst>
          </p:cNvPr>
          <p:cNvSpPr>
            <a:spLocks noGrp="1" noRot="1" noChangeAspect="1" noChangeArrowheads="1" noTextEdit="1"/>
          </p:cNvSpPr>
          <p:nvPr>
            <p:ph type="sldImg"/>
          </p:nvPr>
        </p:nvSpPr>
        <p:spPr>
          <a:xfrm>
            <a:off x="2295525" y="527050"/>
            <a:ext cx="4676775" cy="2632075"/>
          </a:xfrm>
          <a:ln/>
        </p:spPr>
      </p:sp>
      <p:sp>
        <p:nvSpPr>
          <p:cNvPr id="711683" name="Rectangle 3">
            <a:extLst>
              <a:ext uri="{FF2B5EF4-FFF2-40B4-BE49-F238E27FC236}">
                <a16:creationId xmlns:a16="http://schemas.microsoft.com/office/drawing/2014/main" id="{D438A452-4D8D-4A81-B5EF-51A6EB197113}"/>
              </a:ext>
            </a:extLst>
          </p:cNvPr>
          <p:cNvSpPr>
            <a:spLocks noGrp="1" noChangeArrowheads="1"/>
          </p:cNvSpPr>
          <p:nvPr>
            <p:ph type="body" idx="1"/>
          </p:nvPr>
        </p:nvSpPr>
        <p:spPr/>
        <p:txBody>
          <a:bodyPr lIns="91421" tIns="45711" rIns="91421" bIns="45711"/>
          <a:lstStyle/>
          <a:p>
            <a:r>
              <a:rPr lang="en-US" altLang="en-US"/>
              <a:t>source = where material originates, sink = where material goes.</a:t>
            </a:r>
          </a:p>
          <a:p>
            <a:r>
              <a:rPr lang="en-US" altLang="en-US"/>
              <a:t>We use cut to mean s-t cut.</a:t>
            </a:r>
          </a:p>
        </p:txBody>
      </p:sp>
    </p:spTree>
    <p:extLst>
      <p:ext uri="{BB962C8B-B14F-4D97-AF65-F5344CB8AC3E}">
        <p14:creationId xmlns:p14="http://schemas.microsoft.com/office/powerpoint/2010/main" val="35824318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1682" name="Rectangle 2">
            <a:extLst>
              <a:ext uri="{FF2B5EF4-FFF2-40B4-BE49-F238E27FC236}">
                <a16:creationId xmlns:a16="http://schemas.microsoft.com/office/drawing/2014/main" id="{9BE7A182-7545-4B16-BE3F-1189546FA32C}"/>
              </a:ext>
            </a:extLst>
          </p:cNvPr>
          <p:cNvSpPr>
            <a:spLocks noGrp="1" noRot="1" noChangeAspect="1" noChangeArrowheads="1" noTextEdit="1"/>
          </p:cNvSpPr>
          <p:nvPr>
            <p:ph type="sldImg"/>
          </p:nvPr>
        </p:nvSpPr>
        <p:spPr>
          <a:xfrm>
            <a:off x="2295525" y="527050"/>
            <a:ext cx="4676775" cy="2632075"/>
          </a:xfrm>
          <a:ln/>
        </p:spPr>
      </p:sp>
      <p:sp>
        <p:nvSpPr>
          <p:cNvPr id="711683" name="Rectangle 3">
            <a:extLst>
              <a:ext uri="{FF2B5EF4-FFF2-40B4-BE49-F238E27FC236}">
                <a16:creationId xmlns:a16="http://schemas.microsoft.com/office/drawing/2014/main" id="{D438A452-4D8D-4A81-B5EF-51A6EB197113}"/>
              </a:ext>
            </a:extLst>
          </p:cNvPr>
          <p:cNvSpPr>
            <a:spLocks noGrp="1" noChangeArrowheads="1"/>
          </p:cNvSpPr>
          <p:nvPr>
            <p:ph type="body" idx="1"/>
          </p:nvPr>
        </p:nvSpPr>
        <p:spPr/>
        <p:txBody>
          <a:bodyPr lIns="91421" tIns="45711" rIns="91421" bIns="45711"/>
          <a:lstStyle/>
          <a:p>
            <a:r>
              <a:rPr lang="en-US" altLang="en-US"/>
              <a:t>source = where material originates, sink = where material goes.</a:t>
            </a:r>
          </a:p>
          <a:p>
            <a:r>
              <a:rPr lang="en-US" altLang="en-US"/>
              <a:t>We use cut to mean s-t cut.</a:t>
            </a:r>
          </a:p>
        </p:txBody>
      </p:sp>
    </p:spTree>
    <p:extLst>
      <p:ext uri="{BB962C8B-B14F-4D97-AF65-F5344CB8AC3E}">
        <p14:creationId xmlns:p14="http://schemas.microsoft.com/office/powerpoint/2010/main" val="20034857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9170" name="Rectangle 2">
            <a:extLst>
              <a:ext uri="{FF2B5EF4-FFF2-40B4-BE49-F238E27FC236}">
                <a16:creationId xmlns:a16="http://schemas.microsoft.com/office/drawing/2014/main" id="{D65F754D-FA43-4000-B582-8E86D1CB7D60}"/>
              </a:ext>
            </a:extLst>
          </p:cNvPr>
          <p:cNvSpPr>
            <a:spLocks noGrp="1" noRot="1" noChangeAspect="1" noChangeArrowheads="1"/>
          </p:cNvSpPr>
          <p:nvPr>
            <p:ph type="sldImg"/>
          </p:nvPr>
        </p:nvSpPr>
        <p:spPr>
          <a:ln/>
        </p:spPr>
      </p:sp>
      <p:sp>
        <p:nvSpPr>
          <p:cNvPr id="519171" name="Rectangle 3">
            <a:extLst>
              <a:ext uri="{FF2B5EF4-FFF2-40B4-BE49-F238E27FC236}">
                <a16:creationId xmlns:a16="http://schemas.microsoft.com/office/drawing/2014/main" id="{FBDAC94E-8571-4884-8331-C11B4ECE06A7}"/>
              </a:ext>
            </a:extLst>
          </p:cNvPr>
          <p:cNvSpPr>
            <a:spLocks noGrp="1" noChangeArrowheads="1"/>
          </p:cNvSpPr>
          <p:nvPr>
            <p:ph type="body" idx="1"/>
          </p:nvPr>
        </p:nvSpPr>
        <p:spPr/>
        <p:txBody>
          <a:bodyPr/>
          <a:lstStyle/>
          <a:p>
            <a:endParaRPr lang="en-US" altLang="en-US"/>
          </a:p>
        </p:txBody>
      </p:sp>
    </p:spTree>
    <p:extLst>
      <p:ext uri="{BB962C8B-B14F-4D97-AF65-F5344CB8AC3E}">
        <p14:creationId xmlns:p14="http://schemas.microsoft.com/office/powerpoint/2010/main" val="97084245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453A04-8B79-7EE8-24D0-F472F4E8FF59}"/>
            </a:ext>
          </a:extLst>
        </p:cNvPr>
        <p:cNvGrpSpPr/>
        <p:nvPr/>
      </p:nvGrpSpPr>
      <p:grpSpPr>
        <a:xfrm>
          <a:off x="0" y="0"/>
          <a:ext cx="0" cy="0"/>
          <a:chOff x="0" y="0"/>
          <a:chExt cx="0" cy="0"/>
        </a:xfrm>
      </p:grpSpPr>
      <p:sp>
        <p:nvSpPr>
          <p:cNvPr id="519170" name="Rectangle 2">
            <a:extLst>
              <a:ext uri="{FF2B5EF4-FFF2-40B4-BE49-F238E27FC236}">
                <a16:creationId xmlns:a16="http://schemas.microsoft.com/office/drawing/2014/main" id="{375AD603-FA89-53A2-CFD8-8FEBBD5212F5}"/>
              </a:ext>
            </a:extLst>
          </p:cNvPr>
          <p:cNvSpPr>
            <a:spLocks noGrp="1" noRot="1" noChangeAspect="1" noChangeArrowheads="1"/>
          </p:cNvSpPr>
          <p:nvPr>
            <p:ph type="sldImg"/>
          </p:nvPr>
        </p:nvSpPr>
        <p:spPr>
          <a:ln/>
        </p:spPr>
      </p:sp>
      <p:sp>
        <p:nvSpPr>
          <p:cNvPr id="519171" name="Rectangle 3">
            <a:extLst>
              <a:ext uri="{FF2B5EF4-FFF2-40B4-BE49-F238E27FC236}">
                <a16:creationId xmlns:a16="http://schemas.microsoft.com/office/drawing/2014/main" id="{FFDEFC35-2485-EB5B-4DB9-8E0E5C10D7B4}"/>
              </a:ext>
            </a:extLst>
          </p:cNvPr>
          <p:cNvSpPr>
            <a:spLocks noGrp="1" noChangeArrowheads="1"/>
          </p:cNvSpPr>
          <p:nvPr>
            <p:ph type="body" idx="1"/>
          </p:nvPr>
        </p:nvSpPr>
        <p:spPr/>
        <p:txBody>
          <a:bodyPr/>
          <a:lstStyle/>
          <a:p>
            <a:endParaRPr lang="en-US" altLang="en-US"/>
          </a:p>
        </p:txBody>
      </p:sp>
    </p:spTree>
    <p:extLst>
      <p:ext uri="{BB962C8B-B14F-4D97-AF65-F5344CB8AC3E}">
        <p14:creationId xmlns:p14="http://schemas.microsoft.com/office/powerpoint/2010/main" val="409555232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Rectangle 7"/>
          <p:cNvSpPr>
            <a:spLocks noGrp="1" noChangeArrowheads="1"/>
          </p:cNvSpPr>
          <p:nvPr>
            <p:ph type="sldNum" sz="quarter" idx="5"/>
          </p:nvPr>
        </p:nvSpPr>
        <p:spPr>
          <a:noFill/>
        </p:spPr>
        <p:txBody>
          <a:bodyPr/>
          <a:lstStyle>
            <a:lvl1pPr defTabSz="966788">
              <a:defRPr sz="2000">
                <a:solidFill>
                  <a:schemeClr val="tx1"/>
                </a:solidFill>
                <a:latin typeface="Arial" panose="020B0604020202020204" pitchFamily="34" charset="0"/>
              </a:defRPr>
            </a:lvl1pPr>
            <a:lvl2pPr marL="742950" indent="-285750" defTabSz="966788">
              <a:defRPr sz="2000">
                <a:solidFill>
                  <a:schemeClr val="tx1"/>
                </a:solidFill>
                <a:latin typeface="Arial" panose="020B0604020202020204" pitchFamily="34" charset="0"/>
              </a:defRPr>
            </a:lvl2pPr>
            <a:lvl3pPr marL="1143000" indent="-228600" defTabSz="966788">
              <a:defRPr sz="2000">
                <a:solidFill>
                  <a:schemeClr val="tx1"/>
                </a:solidFill>
                <a:latin typeface="Arial" panose="020B0604020202020204" pitchFamily="34" charset="0"/>
              </a:defRPr>
            </a:lvl3pPr>
            <a:lvl4pPr marL="1600200" indent="-228600" defTabSz="966788">
              <a:defRPr sz="2000">
                <a:solidFill>
                  <a:schemeClr val="tx1"/>
                </a:solidFill>
                <a:latin typeface="Arial" panose="020B0604020202020204" pitchFamily="34" charset="0"/>
              </a:defRPr>
            </a:lvl4pPr>
            <a:lvl5pPr marL="2057400" indent="-228600" defTabSz="966788">
              <a:defRPr sz="2000">
                <a:solidFill>
                  <a:schemeClr val="tx1"/>
                </a:solidFill>
                <a:latin typeface="Arial" panose="020B0604020202020204" pitchFamily="34" charset="0"/>
              </a:defRPr>
            </a:lvl5pPr>
            <a:lvl6pPr marL="2514600" indent="-228600" algn="ctr" defTabSz="966788"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defTabSz="966788"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defTabSz="966788"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defTabSz="966788" eaLnBrk="0" fontAlgn="base" hangingPunct="0">
              <a:spcBef>
                <a:spcPct val="0"/>
              </a:spcBef>
              <a:spcAft>
                <a:spcPct val="0"/>
              </a:spcAft>
              <a:defRPr sz="2000">
                <a:solidFill>
                  <a:schemeClr val="tx1"/>
                </a:solidFill>
                <a:latin typeface="Arial" panose="020B0604020202020204" pitchFamily="34" charset="0"/>
              </a:defRPr>
            </a:lvl9pPr>
          </a:lstStyle>
          <a:p>
            <a:pPr marL="0" marR="0" lvl="0" indent="0" algn="r" defTabSz="966788" rtl="0" eaLnBrk="1" fontAlgn="auto" latinLnBrk="0" hangingPunct="1">
              <a:lnSpc>
                <a:spcPct val="100000"/>
              </a:lnSpc>
              <a:spcBef>
                <a:spcPts val="0"/>
              </a:spcBef>
              <a:spcAft>
                <a:spcPts val="0"/>
              </a:spcAft>
              <a:buClrTx/>
              <a:buSzTx/>
              <a:buFontTx/>
              <a:buNone/>
              <a:tabLst/>
              <a:defRPr/>
            </a:pPr>
            <a:fld id="{3C7C9975-11BC-4946-997A-029E4092EAF9}" type="slidenum">
              <a:rPr kumimoji="0" lang="en-US" altLang="en-US" sz="1300" b="0" i="0" u="none" strike="noStrike" kern="1200" cap="none" spc="0" normalizeH="0" baseline="0" noProof="0">
                <a:ln>
                  <a:noFill/>
                </a:ln>
                <a:solidFill>
                  <a:prstClr val="black"/>
                </a:solidFill>
                <a:effectLst/>
                <a:uLnTx/>
                <a:uFillTx/>
                <a:latin typeface="Comic Sans MS" panose="030F0702030302020204" pitchFamily="66" charset="0"/>
                <a:ea typeface="+mn-ea"/>
                <a:cs typeface="+mn-cs"/>
              </a:rPr>
              <a:pPr marL="0" marR="0" lvl="0" indent="0" algn="r" defTabSz="966788" rtl="0" eaLnBrk="1" fontAlgn="auto" latinLnBrk="0" hangingPunct="1">
                <a:lnSpc>
                  <a:spcPct val="100000"/>
                </a:lnSpc>
                <a:spcBef>
                  <a:spcPts val="0"/>
                </a:spcBef>
                <a:spcAft>
                  <a:spcPts val="0"/>
                </a:spcAft>
                <a:buClrTx/>
                <a:buSzTx/>
                <a:buFontTx/>
                <a:buNone/>
                <a:tabLst/>
                <a:defRPr/>
              </a:pPr>
              <a:t>17</a:t>
            </a:fld>
            <a:endParaRPr kumimoji="0" lang="en-US" altLang="en-US" sz="1300" b="0" i="0" u="none" strike="noStrike" kern="1200" cap="none" spc="0" normalizeH="0" baseline="0" noProof="0">
              <a:ln>
                <a:noFill/>
              </a:ln>
              <a:solidFill>
                <a:prstClr val="black"/>
              </a:solidFill>
              <a:effectLst/>
              <a:uLnTx/>
              <a:uFillTx/>
              <a:latin typeface="Comic Sans MS" panose="030F0702030302020204" pitchFamily="66" charset="0"/>
              <a:ea typeface="+mn-ea"/>
              <a:cs typeface="+mn-cs"/>
            </a:endParaRPr>
          </a:p>
        </p:txBody>
      </p:sp>
      <p:sp>
        <p:nvSpPr>
          <p:cNvPr id="101379" name="Rectangle 2"/>
          <p:cNvSpPr>
            <a:spLocks noGrp="1" noRot="1" noChangeAspect="1" noChangeArrowheads="1" noTextEdit="1"/>
          </p:cNvSpPr>
          <p:nvPr>
            <p:ph type="sldImg"/>
          </p:nvPr>
        </p:nvSpPr>
        <p:spPr>
          <a:xfrm>
            <a:off x="685800" y="1143000"/>
            <a:ext cx="5486400" cy="3086100"/>
          </a:xfrm>
          <a:ln/>
        </p:spPr>
      </p:sp>
      <p:sp>
        <p:nvSpPr>
          <p:cNvPr id="101380" name="Rectangle 3"/>
          <p:cNvSpPr>
            <a:spLocks noGrp="1" noChangeArrowheads="1"/>
          </p:cNvSpPr>
          <p:nvPr>
            <p:ph type="body" idx="1"/>
          </p:nvPr>
        </p:nvSpPr>
        <p:spPr>
          <a:noFill/>
        </p:spPr>
        <p:txBody>
          <a:bodyPr/>
          <a:lstStyle/>
          <a:p>
            <a:pPr eaLnBrk="1" hangingPunct="1"/>
            <a:endParaRPr lang="en-US" altLang="en-US"/>
          </a:p>
        </p:txBody>
      </p:sp>
    </p:spTree>
    <p:extLst>
      <p:ext uri="{BB962C8B-B14F-4D97-AF65-F5344CB8AC3E}">
        <p14:creationId xmlns:p14="http://schemas.microsoft.com/office/powerpoint/2010/main" val="3467464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42" name="Rectangle 2"/>
          <p:cNvSpPr>
            <a:spLocks noGrp="1" noRot="1" noChangeAspect="1" noChangeArrowheads="1"/>
          </p:cNvSpPr>
          <p:nvPr>
            <p:ph type="sldImg"/>
          </p:nvPr>
        </p:nvSpPr>
        <p:spPr>
          <a:ln/>
        </p:spPr>
      </p:sp>
      <p:sp>
        <p:nvSpPr>
          <p:cNvPr id="778243" name="Rectangle 3"/>
          <p:cNvSpPr>
            <a:spLocks noGrp="1" noChangeArrowheads="1"/>
          </p:cNvSpPr>
          <p:nvPr>
            <p:ph type="body" idx="1"/>
          </p:nvPr>
        </p:nvSpPr>
        <p:spPr/>
        <p:txBody>
          <a:bodyPr/>
          <a:lstStyle/>
          <a:p>
            <a:endParaRPr lang="en-US" altLang="en-US"/>
          </a:p>
        </p:txBody>
      </p:sp>
    </p:spTree>
    <p:extLst>
      <p:ext uri="{BB962C8B-B14F-4D97-AF65-F5344CB8AC3E}">
        <p14:creationId xmlns:p14="http://schemas.microsoft.com/office/powerpoint/2010/main" val="86127363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42" name="Rectangle 2"/>
          <p:cNvSpPr>
            <a:spLocks noGrp="1" noRot="1" noChangeAspect="1" noChangeArrowheads="1"/>
          </p:cNvSpPr>
          <p:nvPr>
            <p:ph type="sldImg"/>
          </p:nvPr>
        </p:nvSpPr>
        <p:spPr>
          <a:ln/>
        </p:spPr>
      </p:sp>
      <p:sp>
        <p:nvSpPr>
          <p:cNvPr id="778243" name="Rectangle 3"/>
          <p:cNvSpPr>
            <a:spLocks noGrp="1" noChangeArrowheads="1"/>
          </p:cNvSpPr>
          <p:nvPr>
            <p:ph type="body" idx="1"/>
          </p:nvPr>
        </p:nvSpPr>
        <p:spPr/>
        <p:txBody>
          <a:bodyPr/>
          <a:lstStyle/>
          <a:p>
            <a:endParaRPr lang="en-US" altLang="en-US"/>
          </a:p>
        </p:txBody>
      </p:sp>
    </p:spTree>
    <p:extLst>
      <p:ext uri="{BB962C8B-B14F-4D97-AF65-F5344CB8AC3E}">
        <p14:creationId xmlns:p14="http://schemas.microsoft.com/office/powerpoint/2010/main" val="68931508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42" name="Rectangle 2"/>
          <p:cNvSpPr>
            <a:spLocks noGrp="1" noRot="1" noChangeAspect="1" noChangeArrowheads="1"/>
          </p:cNvSpPr>
          <p:nvPr>
            <p:ph type="sldImg"/>
          </p:nvPr>
        </p:nvSpPr>
        <p:spPr>
          <a:ln/>
        </p:spPr>
      </p:sp>
      <p:sp>
        <p:nvSpPr>
          <p:cNvPr id="778243" name="Rectangle 3"/>
          <p:cNvSpPr>
            <a:spLocks noGrp="1" noChangeArrowheads="1"/>
          </p:cNvSpPr>
          <p:nvPr>
            <p:ph type="body" idx="1"/>
          </p:nvPr>
        </p:nvSpPr>
        <p:spPr/>
        <p:txBody>
          <a:bodyPr/>
          <a:lstStyle/>
          <a:p>
            <a:endParaRPr lang="en-US" altLang="en-US"/>
          </a:p>
        </p:txBody>
      </p:sp>
    </p:spTree>
    <p:extLst>
      <p:ext uri="{BB962C8B-B14F-4D97-AF65-F5344CB8AC3E}">
        <p14:creationId xmlns:p14="http://schemas.microsoft.com/office/powerpoint/2010/main" val="428140098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0F9CC-AEAD-F264-BB81-B3CB9037990E}"/>
            </a:ext>
          </a:extLst>
        </p:cNvPr>
        <p:cNvGrpSpPr/>
        <p:nvPr/>
      </p:nvGrpSpPr>
      <p:grpSpPr>
        <a:xfrm>
          <a:off x="0" y="0"/>
          <a:ext cx="0" cy="0"/>
          <a:chOff x="0" y="0"/>
          <a:chExt cx="0" cy="0"/>
        </a:xfrm>
      </p:grpSpPr>
      <p:sp>
        <p:nvSpPr>
          <p:cNvPr id="778242" name="Rectangle 2">
            <a:extLst>
              <a:ext uri="{FF2B5EF4-FFF2-40B4-BE49-F238E27FC236}">
                <a16:creationId xmlns:a16="http://schemas.microsoft.com/office/drawing/2014/main" id="{0C83EBF0-33F7-2EA4-EE35-CEA5ECA4B400}"/>
              </a:ext>
            </a:extLst>
          </p:cNvPr>
          <p:cNvSpPr>
            <a:spLocks noGrp="1" noRot="1" noChangeAspect="1" noChangeArrowheads="1"/>
          </p:cNvSpPr>
          <p:nvPr>
            <p:ph type="sldImg"/>
          </p:nvPr>
        </p:nvSpPr>
        <p:spPr>
          <a:ln/>
        </p:spPr>
      </p:sp>
      <p:sp>
        <p:nvSpPr>
          <p:cNvPr id="778243" name="Rectangle 3">
            <a:extLst>
              <a:ext uri="{FF2B5EF4-FFF2-40B4-BE49-F238E27FC236}">
                <a16:creationId xmlns:a16="http://schemas.microsoft.com/office/drawing/2014/main" id="{B66EE423-773A-3A2B-2330-7A47FE093ADB}"/>
              </a:ext>
            </a:extLst>
          </p:cNvPr>
          <p:cNvSpPr>
            <a:spLocks noGrp="1" noChangeArrowheads="1"/>
          </p:cNvSpPr>
          <p:nvPr>
            <p:ph type="body" idx="1"/>
          </p:nvPr>
        </p:nvSpPr>
        <p:spPr/>
        <p:txBody>
          <a:bodyPr/>
          <a:lstStyle/>
          <a:p>
            <a:endParaRPr lang="en-US" altLang="en-US"/>
          </a:p>
        </p:txBody>
      </p:sp>
    </p:spTree>
    <p:extLst>
      <p:ext uri="{BB962C8B-B14F-4D97-AF65-F5344CB8AC3E}">
        <p14:creationId xmlns:p14="http://schemas.microsoft.com/office/powerpoint/2010/main" val="141235352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57F43E-AD28-795A-55B6-3595AF2ADDD7}"/>
            </a:ext>
          </a:extLst>
        </p:cNvPr>
        <p:cNvGrpSpPr/>
        <p:nvPr/>
      </p:nvGrpSpPr>
      <p:grpSpPr>
        <a:xfrm>
          <a:off x="0" y="0"/>
          <a:ext cx="0" cy="0"/>
          <a:chOff x="0" y="0"/>
          <a:chExt cx="0" cy="0"/>
        </a:xfrm>
      </p:grpSpPr>
      <p:sp>
        <p:nvSpPr>
          <p:cNvPr id="778242" name="Rectangle 2">
            <a:extLst>
              <a:ext uri="{FF2B5EF4-FFF2-40B4-BE49-F238E27FC236}">
                <a16:creationId xmlns:a16="http://schemas.microsoft.com/office/drawing/2014/main" id="{7A386C6F-0637-09C6-9BE8-AC430B58AB9C}"/>
              </a:ext>
            </a:extLst>
          </p:cNvPr>
          <p:cNvSpPr>
            <a:spLocks noGrp="1" noRot="1" noChangeAspect="1" noChangeArrowheads="1"/>
          </p:cNvSpPr>
          <p:nvPr>
            <p:ph type="sldImg"/>
          </p:nvPr>
        </p:nvSpPr>
        <p:spPr>
          <a:ln/>
        </p:spPr>
      </p:sp>
      <p:sp>
        <p:nvSpPr>
          <p:cNvPr id="778243" name="Rectangle 3">
            <a:extLst>
              <a:ext uri="{FF2B5EF4-FFF2-40B4-BE49-F238E27FC236}">
                <a16:creationId xmlns:a16="http://schemas.microsoft.com/office/drawing/2014/main" id="{D43385FB-A301-0714-6968-4E421098459B}"/>
              </a:ext>
            </a:extLst>
          </p:cNvPr>
          <p:cNvSpPr>
            <a:spLocks noGrp="1" noChangeArrowheads="1"/>
          </p:cNvSpPr>
          <p:nvPr>
            <p:ph type="body" idx="1"/>
          </p:nvPr>
        </p:nvSpPr>
        <p:spPr/>
        <p:txBody>
          <a:bodyPr/>
          <a:lstStyle/>
          <a:p>
            <a:endParaRPr lang="en-US" altLang="en-US"/>
          </a:p>
        </p:txBody>
      </p:sp>
    </p:spTree>
    <p:extLst>
      <p:ext uri="{BB962C8B-B14F-4D97-AF65-F5344CB8AC3E}">
        <p14:creationId xmlns:p14="http://schemas.microsoft.com/office/powerpoint/2010/main" val="64889842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51DA7F-F7C2-29B8-A797-779E7AF462C5}"/>
            </a:ext>
          </a:extLst>
        </p:cNvPr>
        <p:cNvGrpSpPr/>
        <p:nvPr/>
      </p:nvGrpSpPr>
      <p:grpSpPr>
        <a:xfrm>
          <a:off x="0" y="0"/>
          <a:ext cx="0" cy="0"/>
          <a:chOff x="0" y="0"/>
          <a:chExt cx="0" cy="0"/>
        </a:xfrm>
      </p:grpSpPr>
      <p:sp>
        <p:nvSpPr>
          <p:cNvPr id="778242" name="Rectangle 2">
            <a:extLst>
              <a:ext uri="{FF2B5EF4-FFF2-40B4-BE49-F238E27FC236}">
                <a16:creationId xmlns:a16="http://schemas.microsoft.com/office/drawing/2014/main" id="{698BC1BE-7169-129E-9E54-0F76A6AC12DA}"/>
              </a:ext>
            </a:extLst>
          </p:cNvPr>
          <p:cNvSpPr>
            <a:spLocks noGrp="1" noRot="1" noChangeAspect="1" noChangeArrowheads="1"/>
          </p:cNvSpPr>
          <p:nvPr>
            <p:ph type="sldImg"/>
          </p:nvPr>
        </p:nvSpPr>
        <p:spPr>
          <a:ln/>
        </p:spPr>
      </p:sp>
      <p:sp>
        <p:nvSpPr>
          <p:cNvPr id="778243" name="Rectangle 3">
            <a:extLst>
              <a:ext uri="{FF2B5EF4-FFF2-40B4-BE49-F238E27FC236}">
                <a16:creationId xmlns:a16="http://schemas.microsoft.com/office/drawing/2014/main" id="{879F7AEE-79CA-507D-1C1A-BC0E68042988}"/>
              </a:ext>
            </a:extLst>
          </p:cNvPr>
          <p:cNvSpPr>
            <a:spLocks noGrp="1" noChangeArrowheads="1"/>
          </p:cNvSpPr>
          <p:nvPr>
            <p:ph type="body" idx="1"/>
          </p:nvPr>
        </p:nvSpPr>
        <p:spPr/>
        <p:txBody>
          <a:bodyPr/>
          <a:lstStyle/>
          <a:p>
            <a:endParaRPr lang="en-US" altLang="en-US"/>
          </a:p>
        </p:txBody>
      </p:sp>
    </p:spTree>
    <p:extLst>
      <p:ext uri="{BB962C8B-B14F-4D97-AF65-F5344CB8AC3E}">
        <p14:creationId xmlns:p14="http://schemas.microsoft.com/office/powerpoint/2010/main" val="158813402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A04BE8-3C5B-483B-5E34-2BD141F91CF0}"/>
            </a:ext>
          </a:extLst>
        </p:cNvPr>
        <p:cNvGrpSpPr/>
        <p:nvPr/>
      </p:nvGrpSpPr>
      <p:grpSpPr>
        <a:xfrm>
          <a:off x="0" y="0"/>
          <a:ext cx="0" cy="0"/>
          <a:chOff x="0" y="0"/>
          <a:chExt cx="0" cy="0"/>
        </a:xfrm>
      </p:grpSpPr>
      <p:sp>
        <p:nvSpPr>
          <p:cNvPr id="778242" name="Rectangle 2">
            <a:extLst>
              <a:ext uri="{FF2B5EF4-FFF2-40B4-BE49-F238E27FC236}">
                <a16:creationId xmlns:a16="http://schemas.microsoft.com/office/drawing/2014/main" id="{F09799E1-7024-BC78-F402-E00ECD1120CB}"/>
              </a:ext>
            </a:extLst>
          </p:cNvPr>
          <p:cNvSpPr>
            <a:spLocks noGrp="1" noRot="1" noChangeAspect="1" noChangeArrowheads="1"/>
          </p:cNvSpPr>
          <p:nvPr>
            <p:ph type="sldImg"/>
          </p:nvPr>
        </p:nvSpPr>
        <p:spPr>
          <a:ln/>
        </p:spPr>
      </p:sp>
      <p:sp>
        <p:nvSpPr>
          <p:cNvPr id="778243" name="Rectangle 3">
            <a:extLst>
              <a:ext uri="{FF2B5EF4-FFF2-40B4-BE49-F238E27FC236}">
                <a16:creationId xmlns:a16="http://schemas.microsoft.com/office/drawing/2014/main" id="{F4FD9315-2B94-BB5E-16C8-DFA3621E9A84}"/>
              </a:ext>
            </a:extLst>
          </p:cNvPr>
          <p:cNvSpPr>
            <a:spLocks noGrp="1" noChangeArrowheads="1"/>
          </p:cNvSpPr>
          <p:nvPr>
            <p:ph type="body" idx="1"/>
          </p:nvPr>
        </p:nvSpPr>
        <p:spPr/>
        <p:txBody>
          <a:bodyPr/>
          <a:lstStyle/>
          <a:p>
            <a:endParaRPr lang="en-US" altLang="en-US"/>
          </a:p>
        </p:txBody>
      </p:sp>
    </p:spTree>
    <p:extLst>
      <p:ext uri="{BB962C8B-B14F-4D97-AF65-F5344CB8AC3E}">
        <p14:creationId xmlns:p14="http://schemas.microsoft.com/office/powerpoint/2010/main" val="138482772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B7611C-BE30-D262-2232-ADF023177612}"/>
            </a:ext>
          </a:extLst>
        </p:cNvPr>
        <p:cNvGrpSpPr/>
        <p:nvPr/>
      </p:nvGrpSpPr>
      <p:grpSpPr>
        <a:xfrm>
          <a:off x="0" y="0"/>
          <a:ext cx="0" cy="0"/>
          <a:chOff x="0" y="0"/>
          <a:chExt cx="0" cy="0"/>
        </a:xfrm>
      </p:grpSpPr>
      <p:sp>
        <p:nvSpPr>
          <p:cNvPr id="778242" name="Rectangle 2">
            <a:extLst>
              <a:ext uri="{FF2B5EF4-FFF2-40B4-BE49-F238E27FC236}">
                <a16:creationId xmlns:a16="http://schemas.microsoft.com/office/drawing/2014/main" id="{8C17D5E9-F789-02EF-9762-4338D97E42E7}"/>
              </a:ext>
            </a:extLst>
          </p:cNvPr>
          <p:cNvSpPr>
            <a:spLocks noGrp="1" noRot="1" noChangeAspect="1" noChangeArrowheads="1"/>
          </p:cNvSpPr>
          <p:nvPr>
            <p:ph type="sldImg"/>
          </p:nvPr>
        </p:nvSpPr>
        <p:spPr>
          <a:ln/>
        </p:spPr>
      </p:sp>
      <p:sp>
        <p:nvSpPr>
          <p:cNvPr id="778243" name="Rectangle 3">
            <a:extLst>
              <a:ext uri="{FF2B5EF4-FFF2-40B4-BE49-F238E27FC236}">
                <a16:creationId xmlns:a16="http://schemas.microsoft.com/office/drawing/2014/main" id="{26C47A1F-1392-7653-548B-05FC0CD5EA79}"/>
              </a:ext>
            </a:extLst>
          </p:cNvPr>
          <p:cNvSpPr>
            <a:spLocks noGrp="1" noChangeArrowheads="1"/>
          </p:cNvSpPr>
          <p:nvPr>
            <p:ph type="body" idx="1"/>
          </p:nvPr>
        </p:nvSpPr>
        <p:spPr/>
        <p:txBody>
          <a:bodyPr/>
          <a:lstStyle/>
          <a:p>
            <a:endParaRPr lang="en-US" altLang="en-US"/>
          </a:p>
        </p:txBody>
      </p:sp>
    </p:spTree>
    <p:extLst>
      <p:ext uri="{BB962C8B-B14F-4D97-AF65-F5344CB8AC3E}">
        <p14:creationId xmlns:p14="http://schemas.microsoft.com/office/powerpoint/2010/main" val="19666953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77D9D1-095B-4DBA-8DEC-E405CB58DA29}"/>
              </a:ext>
            </a:extLst>
          </p:cNvPr>
          <p:cNvSpPr>
            <a:spLocks noGrp="1"/>
          </p:cNvSpPr>
          <p:nvPr>
            <p:ph type="ctrTitle"/>
          </p:nvPr>
        </p:nvSpPr>
        <p:spPr>
          <a:xfrm>
            <a:off x="838200" y="2885598"/>
            <a:ext cx="10515600" cy="1086803"/>
          </a:xfrm>
        </p:spPr>
        <p:txBody>
          <a:bodyPr anchor="ctr" anchorCtr="0">
            <a:normAutofit/>
          </a:bodyPr>
          <a:lstStyle>
            <a:lvl1pPr algn="ctr">
              <a:defRPr sz="4000" b="1" i="0">
                <a:latin typeface="Lato" panose="020F0502020204030203" pitchFamily="34" charset="77"/>
                <a:ea typeface="Inter SemiBold" panose="02000503000000020004" pitchFamily="2" charset="0"/>
              </a:defRPr>
            </a:lvl1pPr>
          </a:lstStyle>
          <a:p>
            <a:r>
              <a:rPr lang="en-US" dirty="0"/>
              <a:t>Click to edit Master title style</a:t>
            </a:r>
          </a:p>
        </p:txBody>
      </p:sp>
      <p:sp>
        <p:nvSpPr>
          <p:cNvPr id="3" name="Subtitle 2">
            <a:extLst>
              <a:ext uri="{FF2B5EF4-FFF2-40B4-BE49-F238E27FC236}">
                <a16:creationId xmlns:a16="http://schemas.microsoft.com/office/drawing/2014/main" id="{48867FBA-33D2-60ED-ED3B-6705E765909A}"/>
              </a:ext>
            </a:extLst>
          </p:cNvPr>
          <p:cNvSpPr>
            <a:spLocks noGrp="1"/>
          </p:cNvSpPr>
          <p:nvPr>
            <p:ph type="subTitle" idx="1"/>
          </p:nvPr>
        </p:nvSpPr>
        <p:spPr>
          <a:xfrm>
            <a:off x="1524000" y="4568925"/>
            <a:ext cx="9144000" cy="1086803"/>
          </a:xfrm>
        </p:spPr>
        <p:txBody>
          <a:bodyPr anchor="ctr" anchorCtr="0">
            <a:normAutofit/>
          </a:bodyPr>
          <a:lstStyle>
            <a:lvl1pPr marL="0" indent="0" algn="ctr">
              <a:buNone/>
              <a:defRPr sz="2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6930065E-44D0-1DE1-F746-2E1483108821}"/>
              </a:ext>
            </a:extLst>
          </p:cNvPr>
          <p:cNvSpPr>
            <a:spLocks noGrp="1"/>
          </p:cNvSpPr>
          <p:nvPr>
            <p:ph type="dt" sz="half" idx="10"/>
          </p:nvPr>
        </p:nvSpPr>
        <p:spPr/>
        <p:txBody>
          <a:bodyPr/>
          <a:lstStyle/>
          <a:p>
            <a:fld id="{A3AF8295-1801-B44D-A758-12B66076D675}" type="datetimeFigureOut">
              <a:rPr lang="en-US" smtClean="0"/>
              <a:t>11/10/2025</a:t>
            </a:fld>
            <a:endParaRPr lang="en-US"/>
          </a:p>
        </p:txBody>
      </p:sp>
      <p:sp>
        <p:nvSpPr>
          <p:cNvPr id="5" name="Footer Placeholder 4">
            <a:extLst>
              <a:ext uri="{FF2B5EF4-FFF2-40B4-BE49-F238E27FC236}">
                <a16:creationId xmlns:a16="http://schemas.microsoft.com/office/drawing/2014/main" id="{B1899D50-6C11-F355-3907-B7B6AA7C057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97F60BC-AE1C-EF77-D52C-0018765BE3ED}"/>
              </a:ext>
            </a:extLst>
          </p:cNvPr>
          <p:cNvSpPr>
            <a:spLocks noGrp="1"/>
          </p:cNvSpPr>
          <p:nvPr>
            <p:ph type="sldNum" sz="quarter" idx="12"/>
          </p:nvPr>
        </p:nvSpPr>
        <p:spPr/>
        <p:txBody>
          <a:bodyPr/>
          <a:lstStyle/>
          <a:p>
            <a:fld id="{A974DDEB-A76E-7746-9D36-92A1AD476462}" type="slidenum">
              <a:rPr lang="en-US" smtClean="0"/>
              <a:t>‹#›</a:t>
            </a:fld>
            <a:endParaRPr lang="en-US"/>
          </a:p>
        </p:txBody>
      </p:sp>
      <p:sp>
        <p:nvSpPr>
          <p:cNvPr id="7" name="TextBox 6">
            <a:extLst>
              <a:ext uri="{FF2B5EF4-FFF2-40B4-BE49-F238E27FC236}">
                <a16:creationId xmlns:a16="http://schemas.microsoft.com/office/drawing/2014/main" id="{3D4DA4AD-1443-FFD1-A456-D7CE21E5D5CE}"/>
              </a:ext>
            </a:extLst>
          </p:cNvPr>
          <p:cNvSpPr txBox="1"/>
          <p:nvPr userDrawn="1"/>
        </p:nvSpPr>
        <p:spPr>
          <a:xfrm>
            <a:off x="3940603" y="1600201"/>
            <a:ext cx="4310795" cy="584775"/>
          </a:xfrm>
          <a:prstGeom prst="rect">
            <a:avLst/>
          </a:prstGeom>
          <a:noFill/>
        </p:spPr>
        <p:txBody>
          <a:bodyPr wrap="none" rtlCol="0">
            <a:spAutoFit/>
          </a:bodyPr>
          <a:lstStyle/>
          <a:p>
            <a:pPr algn="ctr"/>
            <a:r>
              <a:rPr lang="en-US" sz="3200" b="1" i="0" dirty="0">
                <a:latin typeface="Lato" panose="020F0502020204030203" pitchFamily="34" charset="77"/>
                <a:ea typeface="Inter SemiBold" panose="02000503000000020004" pitchFamily="2" charset="0"/>
              </a:rPr>
              <a:t>CSE 417 Autumn 2025</a:t>
            </a:r>
          </a:p>
        </p:txBody>
      </p:sp>
    </p:spTree>
    <p:extLst>
      <p:ext uri="{BB962C8B-B14F-4D97-AF65-F5344CB8AC3E}">
        <p14:creationId xmlns:p14="http://schemas.microsoft.com/office/powerpoint/2010/main" val="6400412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A2EDD-30A1-34B8-6560-7715E9F90555}"/>
              </a:ext>
            </a:extLst>
          </p:cNvPr>
          <p:cNvSpPr>
            <a:spLocks noGrp="1"/>
          </p:cNvSpPr>
          <p:nvPr>
            <p:ph type="title"/>
          </p:nvPr>
        </p:nvSpPr>
        <p:spPr>
          <a:xfrm>
            <a:off x="831850" y="1709738"/>
            <a:ext cx="10515600" cy="2852737"/>
          </a:xfrm>
        </p:spPr>
        <p:txBody>
          <a:bodyPr anchor="b">
            <a:normAutofit/>
          </a:bodyPr>
          <a:lstStyle>
            <a:lvl1pPr>
              <a:defRPr sz="4000"/>
            </a:lvl1pPr>
          </a:lstStyle>
          <a:p>
            <a:r>
              <a:rPr lang="en-US" dirty="0"/>
              <a:t>Click to edit Master title style</a:t>
            </a:r>
          </a:p>
        </p:txBody>
      </p:sp>
      <p:sp>
        <p:nvSpPr>
          <p:cNvPr id="3" name="Text Placeholder 2">
            <a:extLst>
              <a:ext uri="{FF2B5EF4-FFF2-40B4-BE49-F238E27FC236}">
                <a16:creationId xmlns:a16="http://schemas.microsoft.com/office/drawing/2014/main" id="{35BFD3F6-B915-CECB-2EBB-967DB805B0DF}"/>
              </a:ext>
            </a:extLst>
          </p:cNvPr>
          <p:cNvSpPr>
            <a:spLocks noGrp="1"/>
          </p:cNvSpPr>
          <p:nvPr>
            <p:ph type="body" idx="1"/>
          </p:nvPr>
        </p:nvSpPr>
        <p:spPr>
          <a:xfrm>
            <a:off x="831850" y="4589463"/>
            <a:ext cx="10515600" cy="1500187"/>
          </a:xfrm>
        </p:spPr>
        <p:txBody>
          <a:bodyPr>
            <a:normAutofit/>
          </a:bodyPr>
          <a:lstStyle>
            <a:lvl1pPr marL="0" indent="0">
              <a:buNone/>
              <a:defRPr sz="2800">
                <a:solidFill>
                  <a:schemeClr val="tx1"/>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F0C9FACB-40A3-1E43-7806-281B8F17C884}"/>
              </a:ext>
            </a:extLst>
          </p:cNvPr>
          <p:cNvSpPr>
            <a:spLocks noGrp="1"/>
          </p:cNvSpPr>
          <p:nvPr>
            <p:ph type="dt" sz="half" idx="10"/>
          </p:nvPr>
        </p:nvSpPr>
        <p:spPr/>
        <p:txBody>
          <a:bodyPr/>
          <a:lstStyle/>
          <a:p>
            <a:fld id="{A3AF8295-1801-B44D-A758-12B66076D675}" type="datetimeFigureOut">
              <a:rPr lang="en-US" smtClean="0"/>
              <a:t>11/10/2025</a:t>
            </a:fld>
            <a:endParaRPr lang="en-US"/>
          </a:p>
        </p:txBody>
      </p:sp>
      <p:sp>
        <p:nvSpPr>
          <p:cNvPr id="5" name="Footer Placeholder 4">
            <a:extLst>
              <a:ext uri="{FF2B5EF4-FFF2-40B4-BE49-F238E27FC236}">
                <a16:creationId xmlns:a16="http://schemas.microsoft.com/office/drawing/2014/main" id="{1825C21D-E7FF-5E85-A629-A0BD669AC82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84C9E00-A09D-5695-0775-2A8AC61F9625}"/>
              </a:ext>
            </a:extLst>
          </p:cNvPr>
          <p:cNvSpPr>
            <a:spLocks noGrp="1"/>
          </p:cNvSpPr>
          <p:nvPr>
            <p:ph type="sldNum" sz="quarter" idx="12"/>
          </p:nvPr>
        </p:nvSpPr>
        <p:spPr/>
        <p:txBody>
          <a:bodyPr/>
          <a:lstStyle/>
          <a:p>
            <a:fld id="{A974DDEB-A76E-7746-9D36-92A1AD476462}" type="slidenum">
              <a:rPr lang="en-US" smtClean="0"/>
              <a:t>‹#›</a:t>
            </a:fld>
            <a:endParaRPr lang="en-US"/>
          </a:p>
        </p:txBody>
      </p:sp>
    </p:spTree>
    <p:extLst>
      <p:ext uri="{BB962C8B-B14F-4D97-AF65-F5344CB8AC3E}">
        <p14:creationId xmlns:p14="http://schemas.microsoft.com/office/powerpoint/2010/main" val="24102639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EB7894-C6F1-AC56-86B3-B35DACFC26A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609B395-EE52-4464-D0E0-2553F2680998}"/>
              </a:ext>
            </a:extLst>
          </p:cNvPr>
          <p:cNvSpPr>
            <a:spLocks noGrp="1"/>
          </p:cNvSpPr>
          <p:nvPr>
            <p:ph idx="1"/>
          </p:nvPr>
        </p:nvSpPr>
        <p:spPr>
          <a:xfrm>
            <a:off x="838200" y="1363980"/>
            <a:ext cx="10515600" cy="4812983"/>
          </a:xfrm>
        </p:spPr>
        <p:txBody>
          <a:bodyPr/>
          <a:lstStyle/>
          <a:p>
            <a:pPr lvl="0"/>
            <a:r>
              <a:rPr lang="en-US" dirty="0"/>
              <a:t>Click to edit Master text styles</a:t>
            </a:r>
          </a:p>
        </p:txBody>
      </p:sp>
      <p:sp>
        <p:nvSpPr>
          <p:cNvPr id="4" name="Date Placeholder 3">
            <a:extLst>
              <a:ext uri="{FF2B5EF4-FFF2-40B4-BE49-F238E27FC236}">
                <a16:creationId xmlns:a16="http://schemas.microsoft.com/office/drawing/2014/main" id="{9576F0D2-D541-330E-58FA-8B1E1FC79189}"/>
              </a:ext>
            </a:extLst>
          </p:cNvPr>
          <p:cNvSpPr>
            <a:spLocks noGrp="1"/>
          </p:cNvSpPr>
          <p:nvPr>
            <p:ph type="dt" sz="half" idx="10"/>
          </p:nvPr>
        </p:nvSpPr>
        <p:spPr/>
        <p:txBody>
          <a:bodyPr/>
          <a:lstStyle/>
          <a:p>
            <a:fld id="{A3AF8295-1801-B44D-A758-12B66076D675}" type="datetimeFigureOut">
              <a:rPr lang="en-US" smtClean="0"/>
              <a:t>11/10/2025</a:t>
            </a:fld>
            <a:endParaRPr lang="en-US"/>
          </a:p>
        </p:txBody>
      </p:sp>
      <p:sp>
        <p:nvSpPr>
          <p:cNvPr id="5" name="Footer Placeholder 4">
            <a:extLst>
              <a:ext uri="{FF2B5EF4-FFF2-40B4-BE49-F238E27FC236}">
                <a16:creationId xmlns:a16="http://schemas.microsoft.com/office/drawing/2014/main" id="{3F5230DC-F558-FF50-2FAE-AFA1220566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ACEA433-6FA7-2A8B-4EB7-521456F3C94A}"/>
              </a:ext>
            </a:extLst>
          </p:cNvPr>
          <p:cNvSpPr>
            <a:spLocks noGrp="1"/>
          </p:cNvSpPr>
          <p:nvPr>
            <p:ph type="sldNum" sz="quarter" idx="12"/>
          </p:nvPr>
        </p:nvSpPr>
        <p:spPr/>
        <p:txBody>
          <a:bodyPr/>
          <a:lstStyle/>
          <a:p>
            <a:fld id="{A974DDEB-A76E-7746-9D36-92A1AD476462}" type="slidenum">
              <a:rPr lang="en-US" smtClean="0"/>
              <a:t>‹#›</a:t>
            </a:fld>
            <a:endParaRPr lang="en-US"/>
          </a:p>
        </p:txBody>
      </p:sp>
    </p:spTree>
    <p:extLst>
      <p:ext uri="{BB962C8B-B14F-4D97-AF65-F5344CB8AC3E}">
        <p14:creationId xmlns:p14="http://schemas.microsoft.com/office/powerpoint/2010/main" val="11154588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AA062F-FC3F-83E5-372F-ECBCF596762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4A806A1-86B4-A582-ADBA-03ECDB5854CB}"/>
              </a:ext>
            </a:extLst>
          </p:cNvPr>
          <p:cNvSpPr>
            <a:spLocks noGrp="1"/>
          </p:cNvSpPr>
          <p:nvPr>
            <p:ph sz="half" idx="1"/>
          </p:nvPr>
        </p:nvSpPr>
        <p:spPr>
          <a:xfrm>
            <a:off x="838200" y="1363980"/>
            <a:ext cx="5181600" cy="4812983"/>
          </a:xfrm>
        </p:spPr>
        <p:txBody>
          <a:bodyPr/>
          <a:lstStyle/>
          <a:p>
            <a:pPr lvl="0"/>
            <a:r>
              <a:rPr lang="en-US" dirty="0"/>
              <a:t>Click to edit Master text styles</a:t>
            </a:r>
          </a:p>
        </p:txBody>
      </p:sp>
      <p:sp>
        <p:nvSpPr>
          <p:cNvPr id="4" name="Content Placeholder 3">
            <a:extLst>
              <a:ext uri="{FF2B5EF4-FFF2-40B4-BE49-F238E27FC236}">
                <a16:creationId xmlns:a16="http://schemas.microsoft.com/office/drawing/2014/main" id="{66D7F8CB-33E9-5CEA-DA3F-BAA907678426}"/>
              </a:ext>
            </a:extLst>
          </p:cNvPr>
          <p:cNvSpPr>
            <a:spLocks noGrp="1"/>
          </p:cNvSpPr>
          <p:nvPr>
            <p:ph sz="half" idx="2"/>
          </p:nvPr>
        </p:nvSpPr>
        <p:spPr>
          <a:xfrm>
            <a:off x="6172200" y="1363980"/>
            <a:ext cx="5181600" cy="4812983"/>
          </a:xfrm>
        </p:spPr>
        <p:txBody>
          <a:bodyPr/>
          <a:lstStyle/>
          <a:p>
            <a:pPr lvl="0"/>
            <a:r>
              <a:rPr lang="en-US" dirty="0"/>
              <a:t>Click to edit Master text styles</a:t>
            </a:r>
          </a:p>
        </p:txBody>
      </p:sp>
      <p:sp>
        <p:nvSpPr>
          <p:cNvPr id="5" name="Date Placeholder 4">
            <a:extLst>
              <a:ext uri="{FF2B5EF4-FFF2-40B4-BE49-F238E27FC236}">
                <a16:creationId xmlns:a16="http://schemas.microsoft.com/office/drawing/2014/main" id="{78F4E091-4E25-8F22-6B24-C7AB8376B85F}"/>
              </a:ext>
            </a:extLst>
          </p:cNvPr>
          <p:cNvSpPr>
            <a:spLocks noGrp="1"/>
          </p:cNvSpPr>
          <p:nvPr>
            <p:ph type="dt" sz="half" idx="10"/>
          </p:nvPr>
        </p:nvSpPr>
        <p:spPr/>
        <p:txBody>
          <a:bodyPr/>
          <a:lstStyle/>
          <a:p>
            <a:fld id="{A3AF8295-1801-B44D-A758-12B66076D675}" type="datetimeFigureOut">
              <a:rPr lang="en-US" smtClean="0"/>
              <a:t>11/10/2025</a:t>
            </a:fld>
            <a:endParaRPr lang="en-US"/>
          </a:p>
        </p:txBody>
      </p:sp>
      <p:sp>
        <p:nvSpPr>
          <p:cNvPr id="6" name="Footer Placeholder 5">
            <a:extLst>
              <a:ext uri="{FF2B5EF4-FFF2-40B4-BE49-F238E27FC236}">
                <a16:creationId xmlns:a16="http://schemas.microsoft.com/office/drawing/2014/main" id="{5E024DED-0F57-84CE-062B-1EA5CCCE986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EC6A2E-186F-8737-38C9-291609A1C7A2}"/>
              </a:ext>
            </a:extLst>
          </p:cNvPr>
          <p:cNvSpPr>
            <a:spLocks noGrp="1"/>
          </p:cNvSpPr>
          <p:nvPr>
            <p:ph type="sldNum" sz="quarter" idx="12"/>
          </p:nvPr>
        </p:nvSpPr>
        <p:spPr/>
        <p:txBody>
          <a:bodyPr/>
          <a:lstStyle/>
          <a:p>
            <a:fld id="{A974DDEB-A76E-7746-9D36-92A1AD476462}" type="slidenum">
              <a:rPr lang="en-US" smtClean="0"/>
              <a:t>‹#›</a:t>
            </a:fld>
            <a:endParaRPr lang="en-US"/>
          </a:p>
        </p:txBody>
      </p:sp>
    </p:spTree>
    <p:extLst>
      <p:ext uri="{BB962C8B-B14F-4D97-AF65-F5344CB8AC3E}">
        <p14:creationId xmlns:p14="http://schemas.microsoft.com/office/powerpoint/2010/main" val="42395096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4AB506-5F4A-20D8-140E-E2B46B27DB6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01BFBFF-35D0-B220-7FEC-9D3F73B06007}"/>
              </a:ext>
            </a:extLst>
          </p:cNvPr>
          <p:cNvSpPr>
            <a:spLocks noGrp="1"/>
          </p:cNvSpPr>
          <p:nvPr>
            <p:ph type="dt" sz="half" idx="10"/>
          </p:nvPr>
        </p:nvSpPr>
        <p:spPr/>
        <p:txBody>
          <a:bodyPr/>
          <a:lstStyle/>
          <a:p>
            <a:fld id="{A3AF8295-1801-B44D-A758-12B66076D675}" type="datetimeFigureOut">
              <a:rPr lang="en-US" smtClean="0"/>
              <a:t>11/10/2025</a:t>
            </a:fld>
            <a:endParaRPr lang="en-US"/>
          </a:p>
        </p:txBody>
      </p:sp>
      <p:sp>
        <p:nvSpPr>
          <p:cNvPr id="4" name="Footer Placeholder 3">
            <a:extLst>
              <a:ext uri="{FF2B5EF4-FFF2-40B4-BE49-F238E27FC236}">
                <a16:creationId xmlns:a16="http://schemas.microsoft.com/office/drawing/2014/main" id="{5103640E-124C-7CA1-38E1-C4AAE73C179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E7D5502-7B2E-4E30-9922-E894EFFC0C92}"/>
              </a:ext>
            </a:extLst>
          </p:cNvPr>
          <p:cNvSpPr>
            <a:spLocks noGrp="1"/>
          </p:cNvSpPr>
          <p:nvPr>
            <p:ph type="sldNum" sz="quarter" idx="12"/>
          </p:nvPr>
        </p:nvSpPr>
        <p:spPr/>
        <p:txBody>
          <a:bodyPr/>
          <a:lstStyle/>
          <a:p>
            <a:fld id="{A974DDEB-A76E-7746-9D36-92A1AD476462}" type="slidenum">
              <a:rPr lang="en-US" smtClean="0"/>
              <a:t>‹#›</a:t>
            </a:fld>
            <a:endParaRPr lang="en-US"/>
          </a:p>
        </p:txBody>
      </p:sp>
    </p:spTree>
    <p:extLst>
      <p:ext uri="{BB962C8B-B14F-4D97-AF65-F5344CB8AC3E}">
        <p14:creationId xmlns:p14="http://schemas.microsoft.com/office/powerpoint/2010/main" val="33308064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96A9A7C-3F21-A78F-2566-746E2026CED9}"/>
              </a:ext>
            </a:extLst>
          </p:cNvPr>
          <p:cNvSpPr>
            <a:spLocks noGrp="1"/>
          </p:cNvSpPr>
          <p:nvPr>
            <p:ph type="dt" sz="half" idx="10"/>
          </p:nvPr>
        </p:nvSpPr>
        <p:spPr/>
        <p:txBody>
          <a:bodyPr/>
          <a:lstStyle/>
          <a:p>
            <a:fld id="{A3AF8295-1801-B44D-A758-12B66076D675}" type="datetimeFigureOut">
              <a:rPr lang="en-US" smtClean="0"/>
              <a:t>11/10/2025</a:t>
            </a:fld>
            <a:endParaRPr lang="en-US"/>
          </a:p>
        </p:txBody>
      </p:sp>
      <p:sp>
        <p:nvSpPr>
          <p:cNvPr id="3" name="Footer Placeholder 2">
            <a:extLst>
              <a:ext uri="{FF2B5EF4-FFF2-40B4-BE49-F238E27FC236}">
                <a16:creationId xmlns:a16="http://schemas.microsoft.com/office/drawing/2014/main" id="{3D49725F-FEBB-B0DA-62A4-49A5734E550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6441549-BD27-5919-F7C5-449AE0555C4F}"/>
              </a:ext>
            </a:extLst>
          </p:cNvPr>
          <p:cNvSpPr>
            <a:spLocks noGrp="1"/>
          </p:cNvSpPr>
          <p:nvPr>
            <p:ph type="sldNum" sz="quarter" idx="12"/>
          </p:nvPr>
        </p:nvSpPr>
        <p:spPr/>
        <p:txBody>
          <a:bodyPr/>
          <a:lstStyle/>
          <a:p>
            <a:fld id="{A974DDEB-A76E-7746-9D36-92A1AD476462}" type="slidenum">
              <a:rPr lang="en-US" smtClean="0"/>
              <a:t>‹#›</a:t>
            </a:fld>
            <a:endParaRPr lang="en-US"/>
          </a:p>
        </p:txBody>
      </p:sp>
    </p:spTree>
    <p:extLst>
      <p:ext uri="{BB962C8B-B14F-4D97-AF65-F5344CB8AC3E}">
        <p14:creationId xmlns:p14="http://schemas.microsoft.com/office/powerpoint/2010/main" val="24220388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41DCF-5FA9-3BBE-A6DC-4C4767E77E2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57D8AAD4-9F4E-2546-4A20-345BE6926F6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EB68BC9-B242-D863-6297-36224D351B7D}"/>
              </a:ext>
            </a:extLst>
          </p:cNvPr>
          <p:cNvSpPr>
            <a:spLocks noGrp="1"/>
          </p:cNvSpPr>
          <p:nvPr>
            <p:ph type="dt" sz="half" idx="10"/>
          </p:nvPr>
        </p:nvSpPr>
        <p:spPr/>
        <p:txBody>
          <a:bodyPr/>
          <a:lstStyle/>
          <a:p>
            <a:fld id="{2DB93FBE-67AC-4C5C-B62E-CFFDEAF9BE53}" type="datetimeFigureOut">
              <a:rPr lang="en-US" smtClean="0"/>
              <a:t>11/11/2025</a:t>
            </a:fld>
            <a:endParaRPr lang="en-US"/>
          </a:p>
        </p:txBody>
      </p:sp>
      <p:sp>
        <p:nvSpPr>
          <p:cNvPr id="5" name="Footer Placeholder 4">
            <a:extLst>
              <a:ext uri="{FF2B5EF4-FFF2-40B4-BE49-F238E27FC236}">
                <a16:creationId xmlns:a16="http://schemas.microsoft.com/office/drawing/2014/main" id="{7B6D43E7-A090-881E-D908-BB9CC53DDD4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E2DFBC9-B9F9-85A6-26A1-9D7E515D0331}"/>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12341967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8BB011-50E5-247E-0EB3-D47C59C4FF2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BA71371-A022-A3A5-E49C-D2CCEC4E252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28F92F8-B436-FF4B-567C-6CF9F3F68596}"/>
              </a:ext>
            </a:extLst>
          </p:cNvPr>
          <p:cNvSpPr>
            <a:spLocks noGrp="1"/>
          </p:cNvSpPr>
          <p:nvPr>
            <p:ph type="dt" sz="half" idx="10"/>
          </p:nvPr>
        </p:nvSpPr>
        <p:spPr/>
        <p:txBody>
          <a:bodyPr/>
          <a:lstStyle/>
          <a:p>
            <a:fld id="{2DB93FBE-67AC-4C5C-B62E-CFFDEAF9BE53}" type="datetimeFigureOut">
              <a:rPr lang="en-US" smtClean="0"/>
              <a:t>11/11/2025</a:t>
            </a:fld>
            <a:endParaRPr lang="en-US"/>
          </a:p>
        </p:txBody>
      </p:sp>
      <p:sp>
        <p:nvSpPr>
          <p:cNvPr id="5" name="Footer Placeholder 4">
            <a:extLst>
              <a:ext uri="{FF2B5EF4-FFF2-40B4-BE49-F238E27FC236}">
                <a16:creationId xmlns:a16="http://schemas.microsoft.com/office/drawing/2014/main" id="{09C755B9-83BE-E117-954F-A47925F5BF5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7E45716-8D01-8E2F-8276-3A903E607C10}"/>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32795697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0264CF-1BBA-680C-4F96-017144A15A2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089E9BE-1B28-C587-A2C5-253ECF74E1D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33E3E68-CE19-CACB-1EDD-351F4F9C9466}"/>
              </a:ext>
            </a:extLst>
          </p:cNvPr>
          <p:cNvSpPr>
            <a:spLocks noGrp="1"/>
          </p:cNvSpPr>
          <p:nvPr>
            <p:ph type="dt" sz="half" idx="10"/>
          </p:nvPr>
        </p:nvSpPr>
        <p:spPr/>
        <p:txBody>
          <a:bodyPr/>
          <a:lstStyle/>
          <a:p>
            <a:fld id="{2DB93FBE-67AC-4C5C-B62E-CFFDEAF9BE53}" type="datetimeFigureOut">
              <a:rPr lang="en-US" smtClean="0"/>
              <a:t>11/11/2025</a:t>
            </a:fld>
            <a:endParaRPr lang="en-US"/>
          </a:p>
        </p:txBody>
      </p:sp>
      <p:sp>
        <p:nvSpPr>
          <p:cNvPr id="5" name="Footer Placeholder 4">
            <a:extLst>
              <a:ext uri="{FF2B5EF4-FFF2-40B4-BE49-F238E27FC236}">
                <a16:creationId xmlns:a16="http://schemas.microsoft.com/office/drawing/2014/main" id="{5DE49855-AB14-5CF9-EE88-AB42D1DF4D8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7DE2C96-8A85-4C99-39A1-9B9DB31D7A55}"/>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7010524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E89EEC-003E-DFFB-2D04-A2E70FE13D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7BFE0F4-58A0-D6D9-6AAC-CD97965C20C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77E4C68-9C36-2696-B323-CF0642D6DBE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49713B3-5A96-0F1A-CFE7-8563FD24B87E}"/>
              </a:ext>
            </a:extLst>
          </p:cNvPr>
          <p:cNvSpPr>
            <a:spLocks noGrp="1"/>
          </p:cNvSpPr>
          <p:nvPr>
            <p:ph type="dt" sz="half" idx="10"/>
          </p:nvPr>
        </p:nvSpPr>
        <p:spPr/>
        <p:txBody>
          <a:bodyPr/>
          <a:lstStyle/>
          <a:p>
            <a:fld id="{2DB93FBE-67AC-4C5C-B62E-CFFDEAF9BE53}" type="datetimeFigureOut">
              <a:rPr lang="en-US" smtClean="0"/>
              <a:t>11/11/2025</a:t>
            </a:fld>
            <a:endParaRPr lang="en-US"/>
          </a:p>
        </p:txBody>
      </p:sp>
      <p:sp>
        <p:nvSpPr>
          <p:cNvPr id="6" name="Footer Placeholder 5">
            <a:extLst>
              <a:ext uri="{FF2B5EF4-FFF2-40B4-BE49-F238E27FC236}">
                <a16:creationId xmlns:a16="http://schemas.microsoft.com/office/drawing/2014/main" id="{818D724B-C264-2548-CAFF-305FE7D37BD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193A13-EBDF-17F2-DF34-5BA3D79328AA}"/>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8484524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519F2D-6C68-B3F6-3BC7-2A9EE6BE2B4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32A2B36-9CB6-0E61-D14F-48AD642FCA8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E551B63-A4A2-BD66-BF76-72528E69BA7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3EF4911-72D8-7120-897F-434F05D8DA2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1354135-3D54-9447-778A-86081F0473D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7F52A4A-AE91-8A3A-8DE2-74205F39FDCF}"/>
              </a:ext>
            </a:extLst>
          </p:cNvPr>
          <p:cNvSpPr>
            <a:spLocks noGrp="1"/>
          </p:cNvSpPr>
          <p:nvPr>
            <p:ph type="dt" sz="half" idx="10"/>
          </p:nvPr>
        </p:nvSpPr>
        <p:spPr/>
        <p:txBody>
          <a:bodyPr/>
          <a:lstStyle/>
          <a:p>
            <a:fld id="{2DB93FBE-67AC-4C5C-B62E-CFFDEAF9BE53}" type="datetimeFigureOut">
              <a:rPr lang="en-US" smtClean="0"/>
              <a:t>11/11/2025</a:t>
            </a:fld>
            <a:endParaRPr lang="en-US"/>
          </a:p>
        </p:txBody>
      </p:sp>
      <p:sp>
        <p:nvSpPr>
          <p:cNvPr id="8" name="Footer Placeholder 7">
            <a:extLst>
              <a:ext uri="{FF2B5EF4-FFF2-40B4-BE49-F238E27FC236}">
                <a16:creationId xmlns:a16="http://schemas.microsoft.com/office/drawing/2014/main" id="{38FC667D-AA9E-21BF-66F2-755D86E708B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D8E628E-2723-30DA-D22D-BFF79CE056C7}"/>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385821060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F41984-7865-CBC1-7E39-27325050C70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D341811-B828-6912-5458-2BC9266D21E5}"/>
              </a:ext>
            </a:extLst>
          </p:cNvPr>
          <p:cNvSpPr>
            <a:spLocks noGrp="1"/>
          </p:cNvSpPr>
          <p:nvPr>
            <p:ph type="dt" sz="half" idx="10"/>
          </p:nvPr>
        </p:nvSpPr>
        <p:spPr/>
        <p:txBody>
          <a:bodyPr/>
          <a:lstStyle/>
          <a:p>
            <a:fld id="{2DB93FBE-67AC-4C5C-B62E-CFFDEAF9BE53}" type="datetimeFigureOut">
              <a:rPr lang="en-US" smtClean="0"/>
              <a:t>11/11/2025</a:t>
            </a:fld>
            <a:endParaRPr lang="en-US"/>
          </a:p>
        </p:txBody>
      </p:sp>
      <p:sp>
        <p:nvSpPr>
          <p:cNvPr id="4" name="Footer Placeholder 3">
            <a:extLst>
              <a:ext uri="{FF2B5EF4-FFF2-40B4-BE49-F238E27FC236}">
                <a16:creationId xmlns:a16="http://schemas.microsoft.com/office/drawing/2014/main" id="{DA1DF831-0A64-24F5-806E-B3EBA559140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CEFD212-56D6-B7F8-FC27-BC4BF7386DD8}"/>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205121053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5903B13-E121-53F2-65F9-41E383C574E5}"/>
              </a:ext>
            </a:extLst>
          </p:cNvPr>
          <p:cNvSpPr>
            <a:spLocks noGrp="1"/>
          </p:cNvSpPr>
          <p:nvPr>
            <p:ph type="dt" sz="half" idx="10"/>
          </p:nvPr>
        </p:nvSpPr>
        <p:spPr/>
        <p:txBody>
          <a:bodyPr/>
          <a:lstStyle/>
          <a:p>
            <a:fld id="{2DB93FBE-67AC-4C5C-B62E-CFFDEAF9BE53}" type="datetimeFigureOut">
              <a:rPr lang="en-US" smtClean="0"/>
              <a:t>11/11/2025</a:t>
            </a:fld>
            <a:endParaRPr lang="en-US"/>
          </a:p>
        </p:txBody>
      </p:sp>
      <p:sp>
        <p:nvSpPr>
          <p:cNvPr id="3" name="Footer Placeholder 2">
            <a:extLst>
              <a:ext uri="{FF2B5EF4-FFF2-40B4-BE49-F238E27FC236}">
                <a16:creationId xmlns:a16="http://schemas.microsoft.com/office/drawing/2014/main" id="{D2814793-9D7D-32F8-795A-31644DBAB34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D76B231-FE15-2561-B700-2506AC71310D}"/>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46665024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CB5398-EEBA-42F4-3948-4DF36A153ED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2E000E0-12D7-545A-0B4A-64A8B51A9F1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9585510-3798-210C-EC55-29C449719B8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CE698E8-2EE7-873D-A608-9A260F5DDDE7}"/>
              </a:ext>
            </a:extLst>
          </p:cNvPr>
          <p:cNvSpPr>
            <a:spLocks noGrp="1"/>
          </p:cNvSpPr>
          <p:nvPr>
            <p:ph type="dt" sz="half" idx="10"/>
          </p:nvPr>
        </p:nvSpPr>
        <p:spPr/>
        <p:txBody>
          <a:bodyPr/>
          <a:lstStyle/>
          <a:p>
            <a:fld id="{2DB93FBE-67AC-4C5C-B62E-CFFDEAF9BE53}" type="datetimeFigureOut">
              <a:rPr lang="en-US" smtClean="0"/>
              <a:t>11/11/2025</a:t>
            </a:fld>
            <a:endParaRPr lang="en-US"/>
          </a:p>
        </p:txBody>
      </p:sp>
      <p:sp>
        <p:nvSpPr>
          <p:cNvPr id="6" name="Footer Placeholder 5">
            <a:extLst>
              <a:ext uri="{FF2B5EF4-FFF2-40B4-BE49-F238E27FC236}">
                <a16:creationId xmlns:a16="http://schemas.microsoft.com/office/drawing/2014/main" id="{F8D5F347-CF7A-10E6-8DC6-FA1E5DB6DB3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85E452D-F82A-718F-94C2-C889F622E545}"/>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4073308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DE1DDD-DB8D-6429-4235-465780A7B8B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042B9E5-6756-3695-C94E-93A464783ED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A170C60-CA85-5E67-14F6-3176093E55F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3325D70-D5F0-5123-66A9-63D9B82E929A}"/>
              </a:ext>
            </a:extLst>
          </p:cNvPr>
          <p:cNvSpPr>
            <a:spLocks noGrp="1"/>
          </p:cNvSpPr>
          <p:nvPr>
            <p:ph type="dt" sz="half" idx="10"/>
          </p:nvPr>
        </p:nvSpPr>
        <p:spPr/>
        <p:txBody>
          <a:bodyPr/>
          <a:lstStyle/>
          <a:p>
            <a:fld id="{2DB93FBE-67AC-4C5C-B62E-CFFDEAF9BE53}" type="datetimeFigureOut">
              <a:rPr lang="en-US" smtClean="0"/>
              <a:t>11/11/2025</a:t>
            </a:fld>
            <a:endParaRPr lang="en-US"/>
          </a:p>
        </p:txBody>
      </p:sp>
      <p:sp>
        <p:nvSpPr>
          <p:cNvPr id="6" name="Footer Placeholder 5">
            <a:extLst>
              <a:ext uri="{FF2B5EF4-FFF2-40B4-BE49-F238E27FC236}">
                <a16:creationId xmlns:a16="http://schemas.microsoft.com/office/drawing/2014/main" id="{E977B62A-8600-7CE9-095E-82CDE4E1767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58F328-EF42-0E10-9C29-12A53381D4AB}"/>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280108144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424705-3181-4743-BF72-E5B55E6278E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8D9669D-6765-7CD2-C040-D4C5E44BAB3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8E5E7B0-5065-8FAA-2D02-01DC4905B366}"/>
              </a:ext>
            </a:extLst>
          </p:cNvPr>
          <p:cNvSpPr>
            <a:spLocks noGrp="1"/>
          </p:cNvSpPr>
          <p:nvPr>
            <p:ph type="dt" sz="half" idx="10"/>
          </p:nvPr>
        </p:nvSpPr>
        <p:spPr/>
        <p:txBody>
          <a:bodyPr/>
          <a:lstStyle/>
          <a:p>
            <a:fld id="{2DB93FBE-67AC-4C5C-B62E-CFFDEAF9BE53}" type="datetimeFigureOut">
              <a:rPr lang="en-US" smtClean="0"/>
              <a:t>11/11/2025</a:t>
            </a:fld>
            <a:endParaRPr lang="en-US"/>
          </a:p>
        </p:txBody>
      </p:sp>
      <p:sp>
        <p:nvSpPr>
          <p:cNvPr id="5" name="Footer Placeholder 4">
            <a:extLst>
              <a:ext uri="{FF2B5EF4-FFF2-40B4-BE49-F238E27FC236}">
                <a16:creationId xmlns:a16="http://schemas.microsoft.com/office/drawing/2014/main" id="{CA487F4E-481E-5CA4-5AC0-EF15EBAF8DC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305C81A-1EC7-F85E-A5DB-0F7CA62EC06F}"/>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360058492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0F8F565-D4D2-A972-147D-1A41777B264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8813695-1D6C-4A4F-7F94-13466638117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76AEB8A-EA17-E1E1-8CD3-B7AF8E3F2803}"/>
              </a:ext>
            </a:extLst>
          </p:cNvPr>
          <p:cNvSpPr>
            <a:spLocks noGrp="1"/>
          </p:cNvSpPr>
          <p:nvPr>
            <p:ph type="dt" sz="half" idx="10"/>
          </p:nvPr>
        </p:nvSpPr>
        <p:spPr/>
        <p:txBody>
          <a:bodyPr/>
          <a:lstStyle/>
          <a:p>
            <a:fld id="{2DB93FBE-67AC-4C5C-B62E-CFFDEAF9BE53}" type="datetimeFigureOut">
              <a:rPr lang="en-US" smtClean="0"/>
              <a:t>11/11/2025</a:t>
            </a:fld>
            <a:endParaRPr lang="en-US"/>
          </a:p>
        </p:txBody>
      </p:sp>
      <p:sp>
        <p:nvSpPr>
          <p:cNvPr id="5" name="Footer Placeholder 4">
            <a:extLst>
              <a:ext uri="{FF2B5EF4-FFF2-40B4-BE49-F238E27FC236}">
                <a16:creationId xmlns:a16="http://schemas.microsoft.com/office/drawing/2014/main" id="{AB6AF905-A88D-ED4C-DD07-098840D4AB1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1A03B8-DD10-B6B6-6B59-3EB669F3776F}"/>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158820505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4.xml"/><Relationship Id="rId3" Type="http://schemas.openxmlformats.org/officeDocument/2006/relationships/slideLayout" Target="../slideLayouts/slideLayout9.xml"/><Relationship Id="rId7" Type="http://schemas.openxmlformats.org/officeDocument/2006/relationships/slideLayout" Target="../slideLayouts/slideLayout13.xml"/><Relationship Id="rId12" Type="http://schemas.openxmlformats.org/officeDocument/2006/relationships/theme" Target="../theme/theme2.xml"/><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slideLayout" Target="../slideLayouts/slideLayout12.xml"/><Relationship Id="rId11" Type="http://schemas.openxmlformats.org/officeDocument/2006/relationships/slideLayout" Target="../slideLayouts/slideLayout17.xml"/><Relationship Id="rId5" Type="http://schemas.openxmlformats.org/officeDocument/2006/relationships/slideLayout" Target="../slideLayouts/slideLayout11.xml"/><Relationship Id="rId10" Type="http://schemas.openxmlformats.org/officeDocument/2006/relationships/slideLayout" Target="../slideLayouts/slideLayout16.xml"/><Relationship Id="rId4" Type="http://schemas.openxmlformats.org/officeDocument/2006/relationships/slideLayout" Target="../slideLayouts/slideLayout10.xml"/><Relationship Id="rId9" Type="http://schemas.openxmlformats.org/officeDocument/2006/relationships/slideLayout" Target="../slideLayouts/slideLayout1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bg1"/>
            </a:gs>
            <a:gs pos="100000">
              <a:srgbClr val="EDE8F4"/>
            </a:gs>
          </a:gsLst>
          <a:lin ang="2700000" scaled="1"/>
          <a:tileRect/>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4D7BD56-5061-2105-B4B6-29A382E67982}"/>
              </a:ext>
            </a:extLst>
          </p:cNvPr>
          <p:cNvSpPr>
            <a:spLocks noGrp="1"/>
          </p:cNvSpPr>
          <p:nvPr>
            <p:ph type="title"/>
          </p:nvPr>
        </p:nvSpPr>
        <p:spPr>
          <a:xfrm>
            <a:off x="838200" y="365125"/>
            <a:ext cx="10515600" cy="998855"/>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749E0FB9-3549-BB78-BBE6-EF2A3F35B10E}"/>
              </a:ext>
            </a:extLst>
          </p:cNvPr>
          <p:cNvSpPr>
            <a:spLocks noGrp="1"/>
          </p:cNvSpPr>
          <p:nvPr>
            <p:ph type="body" idx="1"/>
          </p:nvPr>
        </p:nvSpPr>
        <p:spPr>
          <a:xfrm>
            <a:off x="838200" y="1363980"/>
            <a:ext cx="10515600" cy="4812984"/>
          </a:xfrm>
          <a:prstGeom prst="rect">
            <a:avLst/>
          </a:prstGeom>
        </p:spPr>
        <p:txBody>
          <a:bodyPr vert="horz" lIns="91440" tIns="45720" rIns="91440" bIns="45720" rtlCol="0">
            <a:normAutofit/>
          </a:bodyPr>
          <a:lstStyle/>
          <a:p>
            <a:pPr lvl="0"/>
            <a:r>
              <a:rPr lang="en-US" dirty="0"/>
              <a:t>Click to edit Master text styles</a:t>
            </a:r>
          </a:p>
        </p:txBody>
      </p:sp>
      <p:sp>
        <p:nvSpPr>
          <p:cNvPr id="4" name="Date Placeholder 3">
            <a:extLst>
              <a:ext uri="{FF2B5EF4-FFF2-40B4-BE49-F238E27FC236}">
                <a16:creationId xmlns:a16="http://schemas.microsoft.com/office/drawing/2014/main" id="{5BE1243B-7CDA-B4EB-323F-390D84821A4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3AF8295-1801-B44D-A758-12B66076D675}" type="datetimeFigureOut">
              <a:rPr lang="en-US" smtClean="0"/>
              <a:t>11/10/2025</a:t>
            </a:fld>
            <a:endParaRPr lang="en-US"/>
          </a:p>
        </p:txBody>
      </p:sp>
      <p:sp>
        <p:nvSpPr>
          <p:cNvPr id="5" name="Footer Placeholder 4">
            <a:extLst>
              <a:ext uri="{FF2B5EF4-FFF2-40B4-BE49-F238E27FC236}">
                <a16:creationId xmlns:a16="http://schemas.microsoft.com/office/drawing/2014/main" id="{08DDE083-9D53-4F3A-3533-F85192BB2E1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068EBF9-3C79-3B56-88AE-383BAE3CCEC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974DDEB-A76E-7746-9D36-92A1AD476462}" type="slidenum">
              <a:rPr lang="en-US" smtClean="0"/>
              <a:t>‹#›</a:t>
            </a:fld>
            <a:endParaRPr lang="en-US"/>
          </a:p>
        </p:txBody>
      </p:sp>
    </p:spTree>
    <p:extLst>
      <p:ext uri="{BB962C8B-B14F-4D97-AF65-F5344CB8AC3E}">
        <p14:creationId xmlns:p14="http://schemas.microsoft.com/office/powerpoint/2010/main" val="1988448254"/>
      </p:ext>
    </p:extLst>
  </p:cSld>
  <p:clrMap bg1="lt1" tx1="dk1" bg2="lt2" tx2="dk2" accent1="accent1" accent2="accent2" accent3="accent3" accent4="accent4" accent5="accent5" accent6="accent6" hlink="hlink" folHlink="folHlink"/>
  <p:sldLayoutIdLst>
    <p:sldLayoutId id="2147483649" r:id="rId1"/>
    <p:sldLayoutId id="2147483651" r:id="rId2"/>
    <p:sldLayoutId id="2147483650" r:id="rId3"/>
    <p:sldLayoutId id="2147483652" r:id="rId4"/>
    <p:sldLayoutId id="2147483654" r:id="rId5"/>
    <p:sldLayoutId id="2147483655" r:id="rId6"/>
  </p:sldLayoutIdLst>
  <p:txStyles>
    <p:titleStyle>
      <a:lvl1pPr algn="l" defTabSz="914400" rtl="0" eaLnBrk="1" latinLnBrk="0" hangingPunct="1">
        <a:lnSpc>
          <a:spcPct val="90000"/>
        </a:lnSpc>
        <a:spcBef>
          <a:spcPct val="0"/>
        </a:spcBef>
        <a:buNone/>
        <a:defRPr sz="4000" b="1" i="0" kern="1200">
          <a:solidFill>
            <a:schemeClr val="tx1"/>
          </a:solidFill>
          <a:latin typeface="Lato" panose="020F0502020204030203" pitchFamily="34" charset="77"/>
          <a:ea typeface="Inter SemiBold" panose="02000503000000020004" pitchFamily="2" charset="0"/>
          <a:cs typeface="+mj-cs"/>
        </a:defRPr>
      </a:lvl1pPr>
    </p:titleStyle>
    <p:bodyStyle>
      <a:lvl1pPr marL="0" indent="0" algn="l" defTabSz="914400" rtl="0" eaLnBrk="1" latinLnBrk="0" hangingPunct="1">
        <a:lnSpc>
          <a:spcPct val="125000"/>
        </a:lnSpc>
        <a:spcBef>
          <a:spcPts val="2400"/>
        </a:spcBef>
        <a:spcAft>
          <a:spcPts val="0"/>
        </a:spcAft>
        <a:buFont typeface="Arial" panose="020B0604020202020204" pitchFamily="34" charset="0"/>
        <a:buNone/>
        <a:tabLst/>
        <a:defRPr sz="2800" kern="1200">
          <a:solidFill>
            <a:schemeClr val="tx1"/>
          </a:solidFill>
          <a:latin typeface="Lato" panose="020F0502020204030203" pitchFamily="34" charset="77"/>
          <a:ea typeface="Inter" panose="02000503000000020004" pitchFamily="2" charset="0"/>
          <a:cs typeface="+mn-cs"/>
        </a:defRPr>
      </a:lvl1pPr>
      <a:lvl2pPr marL="133350" indent="0" algn="l" defTabSz="914400" rtl="0" eaLnBrk="1" latinLnBrk="0" hangingPunct="1">
        <a:lnSpc>
          <a:spcPct val="125000"/>
        </a:lnSpc>
        <a:spcBef>
          <a:spcPts val="2400"/>
        </a:spcBef>
        <a:spcAft>
          <a:spcPts val="0"/>
        </a:spcAft>
        <a:buFont typeface="Arial" panose="020B0604020202020204" pitchFamily="34" charset="0"/>
        <a:buNone/>
        <a:tabLst/>
        <a:defRPr sz="2800" kern="1200">
          <a:solidFill>
            <a:schemeClr val="tx1"/>
          </a:solidFill>
          <a:latin typeface="Lato" panose="020F0502020204030203" pitchFamily="34" charset="77"/>
          <a:ea typeface="Inter" panose="02000503000000020004" pitchFamily="2" charset="0"/>
          <a:cs typeface="+mn-cs"/>
        </a:defRPr>
      </a:lvl2pPr>
      <a:lvl3pPr marL="923925" indent="-346075" algn="l" defTabSz="914400" rtl="0" eaLnBrk="1" latinLnBrk="0" hangingPunct="1">
        <a:lnSpc>
          <a:spcPct val="125000"/>
        </a:lnSpc>
        <a:spcBef>
          <a:spcPts val="2400"/>
        </a:spcBef>
        <a:spcAft>
          <a:spcPts val="0"/>
        </a:spcAft>
        <a:buFont typeface="Arial" panose="020B0604020202020204" pitchFamily="34" charset="0"/>
        <a:buChar char="•"/>
        <a:tabLst/>
        <a:defRPr sz="2800" kern="1200">
          <a:solidFill>
            <a:schemeClr val="tx1"/>
          </a:solidFill>
          <a:latin typeface="Lato" panose="020F0502020204030203" pitchFamily="34" charset="77"/>
          <a:ea typeface="Inter" panose="02000503000000020004" pitchFamily="2" charset="0"/>
          <a:cs typeface="+mn-cs"/>
        </a:defRPr>
      </a:lvl3pPr>
      <a:lvl4pPr marL="1381125" indent="-346075" algn="l" defTabSz="914400" rtl="0" eaLnBrk="1" latinLnBrk="0" hangingPunct="1">
        <a:lnSpc>
          <a:spcPct val="125000"/>
        </a:lnSpc>
        <a:spcBef>
          <a:spcPts val="2400"/>
        </a:spcBef>
        <a:spcAft>
          <a:spcPts val="0"/>
        </a:spcAft>
        <a:buFont typeface="Arial" panose="020B0604020202020204" pitchFamily="34" charset="0"/>
        <a:buChar char="•"/>
        <a:tabLst/>
        <a:defRPr sz="2800" kern="1200">
          <a:solidFill>
            <a:schemeClr val="tx1"/>
          </a:solidFill>
          <a:latin typeface="Lato" panose="020F0502020204030203" pitchFamily="34" charset="77"/>
          <a:ea typeface="Inter" panose="02000503000000020004" pitchFamily="2" charset="0"/>
          <a:cs typeface="+mn-cs"/>
        </a:defRPr>
      </a:lvl4pPr>
      <a:lvl5pPr marL="1836738" indent="-344488" algn="l" defTabSz="914400" rtl="0" eaLnBrk="1" latinLnBrk="0" hangingPunct="1">
        <a:lnSpc>
          <a:spcPct val="125000"/>
        </a:lnSpc>
        <a:spcBef>
          <a:spcPts val="2400"/>
        </a:spcBef>
        <a:spcAft>
          <a:spcPts val="0"/>
        </a:spcAft>
        <a:buFont typeface="Arial" panose="020B0604020202020204" pitchFamily="34" charset="0"/>
        <a:buChar char="•"/>
        <a:tabLst/>
        <a:defRPr sz="2800" kern="1200">
          <a:solidFill>
            <a:schemeClr val="tx1"/>
          </a:solidFill>
          <a:latin typeface="Lato" panose="020F0502020204030203" pitchFamily="34" charset="77"/>
          <a:ea typeface="Inter" panose="02000503000000020004" pitchFamily="2"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BBC2B57-F2EC-C92D-BAFA-C36FE7F31CA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40AE8E8-3549-4143-3C3F-38529FA5532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2DEB0-3161-B686-27DF-345950BFF04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DB93FBE-67AC-4C5C-B62E-CFFDEAF9BE53}" type="datetimeFigureOut">
              <a:rPr lang="en-US" smtClean="0"/>
              <a:t>11/11/2025</a:t>
            </a:fld>
            <a:endParaRPr lang="en-US"/>
          </a:p>
        </p:txBody>
      </p:sp>
      <p:sp>
        <p:nvSpPr>
          <p:cNvPr id="5" name="Footer Placeholder 4">
            <a:extLst>
              <a:ext uri="{FF2B5EF4-FFF2-40B4-BE49-F238E27FC236}">
                <a16:creationId xmlns:a16="http://schemas.microsoft.com/office/drawing/2014/main" id="{B7B5E12D-E358-B346-0620-4D8545C52B8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DEB1C4BA-D22A-5462-8F71-6F616DC8FA2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94D5A7D-FFFE-410B-BEE5-702232F4B148}" type="slidenum">
              <a:rPr lang="en-US" smtClean="0"/>
              <a:t>‹#›</a:t>
            </a:fld>
            <a:endParaRPr lang="en-US"/>
          </a:p>
        </p:txBody>
      </p:sp>
    </p:spTree>
    <p:extLst>
      <p:ext uri="{BB962C8B-B14F-4D97-AF65-F5344CB8AC3E}">
        <p14:creationId xmlns:p14="http://schemas.microsoft.com/office/powerpoint/2010/main" val="2066335784"/>
      </p:ext>
    </p:extLst>
  </p:cSld>
  <p:clrMap bg1="lt1" tx1="dk1" bg2="lt2" tx2="dk2" accent1="accent1" accent2="accent2" accent3="accent3" accent4="accent4" accent5="accent5" accent6="accent6" hlink="hlink" folHlink="folHlink"/>
  <p:sldLayoutIdLst>
    <p:sldLayoutId id="2147483657" r:id="rId1"/>
    <p:sldLayoutId id="2147483658" r:id="rId2"/>
    <p:sldLayoutId id="2147483659" r:id="rId3"/>
    <p:sldLayoutId id="2147483660" r:id="rId4"/>
    <p:sldLayoutId id="2147483661" r:id="rId5"/>
    <p:sldLayoutId id="2147483662" r:id="rId6"/>
    <p:sldLayoutId id="2147483663" r:id="rId7"/>
    <p:sldLayoutId id="2147483664" r:id="rId8"/>
    <p:sldLayoutId id="2147483665" r:id="rId9"/>
    <p:sldLayoutId id="2147483666" r:id="rId10"/>
    <p:sldLayoutId id="214748366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1.xml"/></Relationships>
</file>

<file path=ppt/slides/_rels/slide2.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1.xml"/><Relationship Id="rId1" Type="http://schemas.openxmlformats.org/officeDocument/2006/relationships/slideLayout" Target="../slideLayouts/slideLayout4.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image" Target="../media/image19.pn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23.png"/></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160.png"/></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8.xml"/><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8.xml"/><Relationship Id="rId4" Type="http://schemas.openxmlformats.org/officeDocument/2006/relationships/image" Target="../media/image11.png"/></Relationships>
</file>

<file path=ppt/slides/_rels/slide1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12.xml"/><Relationship Id="rId1" Type="http://schemas.openxmlformats.org/officeDocument/2006/relationships/slideLayout" Target="../slideLayouts/slideLayout8.xml"/><Relationship Id="rId5" Type="http://schemas.openxmlformats.org/officeDocument/2006/relationships/image" Target="../media/image410.png"/><Relationship Id="rId4" Type="http://schemas.openxmlformats.org/officeDocument/2006/relationships/image" Target="../media/image40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8" Type="http://schemas.openxmlformats.org/officeDocument/2006/relationships/image" Target="../media/image109.png"/><Relationship Id="rId13" Type="http://schemas.openxmlformats.org/officeDocument/2006/relationships/image" Target="../media/image24.png"/><Relationship Id="rId3" Type="http://schemas.openxmlformats.org/officeDocument/2006/relationships/image" Target="../media/image16.png"/><Relationship Id="rId7" Type="http://schemas.openxmlformats.org/officeDocument/2006/relationships/image" Target="../media/image92.png"/><Relationship Id="rId12" Type="http://schemas.openxmlformats.org/officeDocument/2006/relationships/image" Target="../media/image180.png"/><Relationship Id="rId2" Type="http://schemas.openxmlformats.org/officeDocument/2006/relationships/image" Target="../media/image15.png"/><Relationship Id="rId1" Type="http://schemas.openxmlformats.org/officeDocument/2006/relationships/slideLayout" Target="../slideLayouts/slideLayout8.xml"/><Relationship Id="rId6" Type="http://schemas.openxmlformats.org/officeDocument/2006/relationships/image" Target="../media/image911.png"/><Relationship Id="rId11" Type="http://schemas.openxmlformats.org/officeDocument/2006/relationships/image" Target="../media/image17.png"/><Relationship Id="rId5" Type="http://schemas.openxmlformats.org/officeDocument/2006/relationships/image" Target="../media/image900.png"/><Relationship Id="rId4" Type="http://schemas.openxmlformats.org/officeDocument/2006/relationships/image" Target="../media/image14.png"/><Relationship Id="rId9" Type="http://schemas.openxmlformats.org/officeDocument/2006/relationships/image" Target="../media/image110.png"/></Relationships>
</file>

<file path=ppt/slides/_rels/slide20.xml.rels><?xml version="1.0" encoding="UTF-8" standalone="yes"?>
<Relationships xmlns="http://schemas.openxmlformats.org/package/2006/relationships"><Relationship Id="rId7" Type="http://schemas.openxmlformats.org/officeDocument/2006/relationships/image" Target="../media/image92.png"/><Relationship Id="rId2" Type="http://schemas.openxmlformats.org/officeDocument/2006/relationships/image" Target="../media/image15.png"/><Relationship Id="rId1" Type="http://schemas.openxmlformats.org/officeDocument/2006/relationships/slideLayout" Target="../slideLayouts/slideLayout8.xml"/><Relationship Id="rId11" Type="http://schemas.openxmlformats.org/officeDocument/2006/relationships/image" Target="../media/image27.png"/><Relationship Id="rId5" Type="http://schemas.openxmlformats.org/officeDocument/2006/relationships/image" Target="../media/image900.png"/><Relationship Id="rId10" Type="http://schemas.openxmlformats.org/officeDocument/2006/relationships/image" Target="../media/image26.png"/><Relationship Id="rId9" Type="http://schemas.openxmlformats.org/officeDocument/2006/relationships/image" Target="../media/image110.png"/></Relationships>
</file>

<file path=ppt/slides/_rels/slide2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9.png"/><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490.png"/><Relationship Id="rId18" Type="http://schemas.openxmlformats.org/officeDocument/2006/relationships/image" Target="../media/image54.png"/><Relationship Id="rId26" Type="http://schemas.openxmlformats.org/officeDocument/2006/relationships/image" Target="../media/image62.png"/><Relationship Id="rId3" Type="http://schemas.openxmlformats.org/officeDocument/2006/relationships/image" Target="../media/image1410.png"/><Relationship Id="rId21" Type="http://schemas.openxmlformats.org/officeDocument/2006/relationships/image" Target="../media/image57.png"/><Relationship Id="rId7" Type="http://schemas.openxmlformats.org/officeDocument/2006/relationships/image" Target="../media/image43.png"/><Relationship Id="rId12" Type="http://schemas.openxmlformats.org/officeDocument/2006/relationships/image" Target="../media/image480.png"/><Relationship Id="rId17" Type="http://schemas.openxmlformats.org/officeDocument/2006/relationships/image" Target="../media/image53.png"/><Relationship Id="rId25" Type="http://schemas.openxmlformats.org/officeDocument/2006/relationships/image" Target="../media/image61.png"/><Relationship Id="rId2" Type="http://schemas.openxmlformats.org/officeDocument/2006/relationships/image" Target="../media/image40.png"/><Relationship Id="rId16" Type="http://schemas.openxmlformats.org/officeDocument/2006/relationships/image" Target="../media/image52.png"/><Relationship Id="rId20" Type="http://schemas.openxmlformats.org/officeDocument/2006/relationships/image" Target="../media/image56.png"/><Relationship Id="rId29" Type="http://schemas.openxmlformats.org/officeDocument/2006/relationships/image" Target="../media/image65.png"/><Relationship Id="rId1" Type="http://schemas.openxmlformats.org/officeDocument/2006/relationships/slideLayout" Target="../slideLayouts/slideLayout8.xml"/><Relationship Id="rId6" Type="http://schemas.openxmlformats.org/officeDocument/2006/relationships/image" Target="../media/image42.png"/><Relationship Id="rId11" Type="http://schemas.openxmlformats.org/officeDocument/2006/relationships/image" Target="../media/image47.png"/><Relationship Id="rId24" Type="http://schemas.openxmlformats.org/officeDocument/2006/relationships/image" Target="../media/image60.png"/><Relationship Id="rId5" Type="http://schemas.openxmlformats.org/officeDocument/2006/relationships/image" Target="../media/image41.png"/><Relationship Id="rId15" Type="http://schemas.openxmlformats.org/officeDocument/2006/relationships/image" Target="../media/image510.png"/><Relationship Id="rId23" Type="http://schemas.openxmlformats.org/officeDocument/2006/relationships/image" Target="../media/image59.png"/><Relationship Id="rId28" Type="http://schemas.openxmlformats.org/officeDocument/2006/relationships/image" Target="../media/image64.png"/><Relationship Id="rId10" Type="http://schemas.openxmlformats.org/officeDocument/2006/relationships/image" Target="../media/image46.png"/><Relationship Id="rId19" Type="http://schemas.openxmlformats.org/officeDocument/2006/relationships/image" Target="../media/image55.png"/><Relationship Id="rId4" Type="http://schemas.openxmlformats.org/officeDocument/2006/relationships/image" Target="../media/image152.png"/><Relationship Id="rId9" Type="http://schemas.openxmlformats.org/officeDocument/2006/relationships/image" Target="../media/image45.png"/><Relationship Id="rId14" Type="http://schemas.openxmlformats.org/officeDocument/2006/relationships/image" Target="../media/image50.png"/><Relationship Id="rId22" Type="http://schemas.openxmlformats.org/officeDocument/2006/relationships/image" Target="../media/image58.png"/><Relationship Id="rId27" Type="http://schemas.openxmlformats.org/officeDocument/2006/relationships/image" Target="../media/image63.png"/></Relationships>
</file>

<file path=ppt/slides/_rels/slide24.xml.rels><?xml version="1.0" encoding="UTF-8" standalone="yes"?>
<Relationships xmlns="http://schemas.openxmlformats.org/package/2006/relationships"><Relationship Id="rId26" Type="http://schemas.openxmlformats.org/officeDocument/2006/relationships/image" Target="../media/image33.png"/><Relationship Id="rId39" Type="http://schemas.openxmlformats.org/officeDocument/2006/relationships/image" Target="../media/image75.png"/><Relationship Id="rId21" Type="http://schemas.openxmlformats.org/officeDocument/2006/relationships/image" Target="../media/image28.png"/><Relationship Id="rId34" Type="http://schemas.openxmlformats.org/officeDocument/2006/relationships/image" Target="../media/image70.png"/><Relationship Id="rId42" Type="http://schemas.openxmlformats.org/officeDocument/2006/relationships/image" Target="../media/image79.png"/><Relationship Id="rId25" Type="http://schemas.openxmlformats.org/officeDocument/2006/relationships/image" Target="../media/image32.png"/><Relationship Id="rId33" Type="http://schemas.openxmlformats.org/officeDocument/2006/relationships/image" Target="../media/image69.png"/><Relationship Id="rId38" Type="http://schemas.openxmlformats.org/officeDocument/2006/relationships/image" Target="../media/image74.png"/><Relationship Id="rId2" Type="http://schemas.openxmlformats.org/officeDocument/2006/relationships/image" Target="../media/image40.png"/><Relationship Id="rId20" Type="http://schemas.openxmlformats.org/officeDocument/2006/relationships/image" Target="../media/image77.png"/><Relationship Id="rId29" Type="http://schemas.openxmlformats.org/officeDocument/2006/relationships/image" Target="../media/image36.png"/><Relationship Id="rId41" Type="http://schemas.openxmlformats.org/officeDocument/2006/relationships/image" Target="../media/image78.png"/><Relationship Id="rId1" Type="http://schemas.openxmlformats.org/officeDocument/2006/relationships/slideLayout" Target="../slideLayouts/slideLayout8.xml"/><Relationship Id="rId24" Type="http://schemas.openxmlformats.org/officeDocument/2006/relationships/image" Target="../media/image31.png"/><Relationship Id="rId32" Type="http://schemas.openxmlformats.org/officeDocument/2006/relationships/image" Target="../media/image68.png"/><Relationship Id="rId37" Type="http://schemas.openxmlformats.org/officeDocument/2006/relationships/image" Target="../media/image73.png"/><Relationship Id="rId40" Type="http://schemas.openxmlformats.org/officeDocument/2006/relationships/image" Target="../media/image76.png"/><Relationship Id="rId23" Type="http://schemas.openxmlformats.org/officeDocument/2006/relationships/image" Target="../media/image30.png"/><Relationship Id="rId28" Type="http://schemas.openxmlformats.org/officeDocument/2006/relationships/image" Target="../media/image35.png"/><Relationship Id="rId36" Type="http://schemas.openxmlformats.org/officeDocument/2006/relationships/image" Target="../media/image72.png"/><Relationship Id="rId31" Type="http://schemas.openxmlformats.org/officeDocument/2006/relationships/image" Target="../media/image67.png"/><Relationship Id="rId22" Type="http://schemas.openxmlformats.org/officeDocument/2006/relationships/image" Target="../media/image29.png"/><Relationship Id="rId27" Type="http://schemas.openxmlformats.org/officeDocument/2006/relationships/image" Target="../media/image34.png"/><Relationship Id="rId30" Type="http://schemas.openxmlformats.org/officeDocument/2006/relationships/image" Target="../media/image66.png"/><Relationship Id="rId35" Type="http://schemas.openxmlformats.org/officeDocument/2006/relationships/image" Target="../media/image71.png"/><Relationship Id="rId43" Type="http://schemas.openxmlformats.org/officeDocument/2006/relationships/image" Target="../media/image80.png"/></Relationships>
</file>

<file path=ppt/slides/_rels/slide25.xml.rels><?xml version="1.0" encoding="UTF-8" standalone="yes"?>
<Relationships xmlns="http://schemas.openxmlformats.org/package/2006/relationships"><Relationship Id="rId13" Type="http://schemas.openxmlformats.org/officeDocument/2006/relationships/image" Target="../media/image93.png"/><Relationship Id="rId18" Type="http://schemas.openxmlformats.org/officeDocument/2006/relationships/image" Target="../media/image98.png"/><Relationship Id="rId26" Type="http://schemas.openxmlformats.org/officeDocument/2006/relationships/image" Target="../media/image106.png"/><Relationship Id="rId21" Type="http://schemas.openxmlformats.org/officeDocument/2006/relationships/image" Target="../media/image101.png"/><Relationship Id="rId34" Type="http://schemas.openxmlformats.org/officeDocument/2006/relationships/image" Target="../media/image116.png"/><Relationship Id="rId7" Type="http://schemas.openxmlformats.org/officeDocument/2006/relationships/image" Target="../media/image86.png"/><Relationship Id="rId12" Type="http://schemas.openxmlformats.org/officeDocument/2006/relationships/image" Target="../media/image91.png"/><Relationship Id="rId17" Type="http://schemas.openxmlformats.org/officeDocument/2006/relationships/image" Target="../media/image97.png"/><Relationship Id="rId25" Type="http://schemas.openxmlformats.org/officeDocument/2006/relationships/image" Target="../media/image105.png"/><Relationship Id="rId33" Type="http://schemas.openxmlformats.org/officeDocument/2006/relationships/image" Target="../media/image115.png"/><Relationship Id="rId2" Type="http://schemas.openxmlformats.org/officeDocument/2006/relationships/image" Target="../media/image81.png"/><Relationship Id="rId16" Type="http://schemas.openxmlformats.org/officeDocument/2006/relationships/image" Target="../media/image96.png"/><Relationship Id="rId20" Type="http://schemas.openxmlformats.org/officeDocument/2006/relationships/image" Target="../media/image100.png"/><Relationship Id="rId29" Type="http://schemas.openxmlformats.org/officeDocument/2006/relationships/image" Target="../media/image111.png"/><Relationship Id="rId1" Type="http://schemas.openxmlformats.org/officeDocument/2006/relationships/slideLayout" Target="../slideLayouts/slideLayout8.xml"/><Relationship Id="rId6" Type="http://schemas.openxmlformats.org/officeDocument/2006/relationships/image" Target="../media/image85.png"/><Relationship Id="rId11" Type="http://schemas.openxmlformats.org/officeDocument/2006/relationships/image" Target="../media/image90.png"/><Relationship Id="rId24" Type="http://schemas.openxmlformats.org/officeDocument/2006/relationships/image" Target="../media/image104.png"/><Relationship Id="rId32" Type="http://schemas.openxmlformats.org/officeDocument/2006/relationships/image" Target="../media/image114.png"/><Relationship Id="rId37" Type="http://schemas.openxmlformats.org/officeDocument/2006/relationships/image" Target="../media/image119.png"/><Relationship Id="rId5" Type="http://schemas.openxmlformats.org/officeDocument/2006/relationships/image" Target="../media/image84.png"/><Relationship Id="rId15" Type="http://schemas.openxmlformats.org/officeDocument/2006/relationships/image" Target="../media/image95.png"/><Relationship Id="rId23" Type="http://schemas.openxmlformats.org/officeDocument/2006/relationships/image" Target="../media/image103.png"/><Relationship Id="rId28" Type="http://schemas.openxmlformats.org/officeDocument/2006/relationships/image" Target="../media/image108.png"/><Relationship Id="rId36" Type="http://schemas.openxmlformats.org/officeDocument/2006/relationships/image" Target="../media/image118.png"/><Relationship Id="rId10" Type="http://schemas.openxmlformats.org/officeDocument/2006/relationships/image" Target="../media/image89.png"/><Relationship Id="rId19" Type="http://schemas.openxmlformats.org/officeDocument/2006/relationships/image" Target="../media/image99.png"/><Relationship Id="rId31" Type="http://schemas.openxmlformats.org/officeDocument/2006/relationships/image" Target="../media/image113.png"/><Relationship Id="rId4" Type="http://schemas.openxmlformats.org/officeDocument/2006/relationships/image" Target="../media/image83.png"/><Relationship Id="rId9" Type="http://schemas.openxmlformats.org/officeDocument/2006/relationships/image" Target="../media/image88.png"/><Relationship Id="rId14" Type="http://schemas.openxmlformats.org/officeDocument/2006/relationships/image" Target="../media/image94.png"/><Relationship Id="rId22" Type="http://schemas.openxmlformats.org/officeDocument/2006/relationships/image" Target="../media/image102.png"/><Relationship Id="rId27" Type="http://schemas.openxmlformats.org/officeDocument/2006/relationships/image" Target="../media/image107.png"/><Relationship Id="rId30" Type="http://schemas.openxmlformats.org/officeDocument/2006/relationships/image" Target="../media/image112.png"/><Relationship Id="rId35" Type="http://schemas.openxmlformats.org/officeDocument/2006/relationships/image" Target="../media/image117.png"/><Relationship Id="rId8" Type="http://schemas.openxmlformats.org/officeDocument/2006/relationships/image" Target="../media/image87.png"/><Relationship Id="rId3" Type="http://schemas.openxmlformats.org/officeDocument/2006/relationships/image" Target="../media/image82.png"/></Relationships>
</file>

<file path=ppt/slides/_rels/slide26.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490.png"/><Relationship Id="rId18" Type="http://schemas.openxmlformats.org/officeDocument/2006/relationships/image" Target="../media/image54.png"/><Relationship Id="rId26" Type="http://schemas.openxmlformats.org/officeDocument/2006/relationships/image" Target="../media/image62.png"/><Relationship Id="rId3" Type="http://schemas.openxmlformats.org/officeDocument/2006/relationships/image" Target="../media/image1410.png"/><Relationship Id="rId21" Type="http://schemas.openxmlformats.org/officeDocument/2006/relationships/image" Target="../media/image57.png"/><Relationship Id="rId7" Type="http://schemas.openxmlformats.org/officeDocument/2006/relationships/image" Target="../media/image43.png"/><Relationship Id="rId12" Type="http://schemas.openxmlformats.org/officeDocument/2006/relationships/image" Target="../media/image480.png"/><Relationship Id="rId17" Type="http://schemas.openxmlformats.org/officeDocument/2006/relationships/image" Target="../media/image53.png"/><Relationship Id="rId25" Type="http://schemas.openxmlformats.org/officeDocument/2006/relationships/image" Target="../media/image61.png"/><Relationship Id="rId2" Type="http://schemas.openxmlformats.org/officeDocument/2006/relationships/image" Target="../media/image120.png"/><Relationship Id="rId16" Type="http://schemas.openxmlformats.org/officeDocument/2006/relationships/image" Target="../media/image52.png"/><Relationship Id="rId20" Type="http://schemas.openxmlformats.org/officeDocument/2006/relationships/image" Target="../media/image56.png"/><Relationship Id="rId29" Type="http://schemas.openxmlformats.org/officeDocument/2006/relationships/image" Target="../media/image65.png"/><Relationship Id="rId1" Type="http://schemas.openxmlformats.org/officeDocument/2006/relationships/slideLayout" Target="../slideLayouts/slideLayout8.xml"/><Relationship Id="rId6" Type="http://schemas.openxmlformats.org/officeDocument/2006/relationships/image" Target="../media/image42.png"/><Relationship Id="rId11" Type="http://schemas.openxmlformats.org/officeDocument/2006/relationships/image" Target="../media/image47.png"/><Relationship Id="rId24" Type="http://schemas.openxmlformats.org/officeDocument/2006/relationships/image" Target="../media/image60.png"/><Relationship Id="rId5" Type="http://schemas.openxmlformats.org/officeDocument/2006/relationships/image" Target="../media/image41.png"/><Relationship Id="rId15" Type="http://schemas.openxmlformats.org/officeDocument/2006/relationships/image" Target="../media/image510.png"/><Relationship Id="rId23" Type="http://schemas.openxmlformats.org/officeDocument/2006/relationships/image" Target="../media/image59.png"/><Relationship Id="rId28" Type="http://schemas.openxmlformats.org/officeDocument/2006/relationships/image" Target="../media/image64.png"/><Relationship Id="rId10" Type="http://schemas.openxmlformats.org/officeDocument/2006/relationships/image" Target="../media/image46.png"/><Relationship Id="rId19" Type="http://schemas.openxmlformats.org/officeDocument/2006/relationships/image" Target="../media/image55.png"/><Relationship Id="rId4" Type="http://schemas.openxmlformats.org/officeDocument/2006/relationships/image" Target="../media/image152.png"/><Relationship Id="rId9" Type="http://schemas.openxmlformats.org/officeDocument/2006/relationships/image" Target="../media/image45.png"/><Relationship Id="rId14" Type="http://schemas.openxmlformats.org/officeDocument/2006/relationships/image" Target="../media/image50.png"/><Relationship Id="rId22" Type="http://schemas.openxmlformats.org/officeDocument/2006/relationships/image" Target="../media/image58.png"/><Relationship Id="rId27" Type="http://schemas.openxmlformats.org/officeDocument/2006/relationships/image" Target="../media/image63.png"/></Relationships>
</file>

<file path=ppt/slides/_rels/slide27.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490.png"/><Relationship Id="rId18" Type="http://schemas.openxmlformats.org/officeDocument/2006/relationships/image" Target="../media/image54.png"/><Relationship Id="rId26" Type="http://schemas.openxmlformats.org/officeDocument/2006/relationships/image" Target="../media/image62.png"/><Relationship Id="rId3" Type="http://schemas.openxmlformats.org/officeDocument/2006/relationships/image" Target="../media/image1410.png"/><Relationship Id="rId21" Type="http://schemas.openxmlformats.org/officeDocument/2006/relationships/image" Target="../media/image57.png"/><Relationship Id="rId7" Type="http://schemas.openxmlformats.org/officeDocument/2006/relationships/image" Target="../media/image43.png"/><Relationship Id="rId12" Type="http://schemas.openxmlformats.org/officeDocument/2006/relationships/image" Target="../media/image480.png"/><Relationship Id="rId17" Type="http://schemas.openxmlformats.org/officeDocument/2006/relationships/image" Target="../media/image53.png"/><Relationship Id="rId25" Type="http://schemas.openxmlformats.org/officeDocument/2006/relationships/image" Target="../media/image61.png"/><Relationship Id="rId2" Type="http://schemas.openxmlformats.org/officeDocument/2006/relationships/image" Target="../media/image850.png"/><Relationship Id="rId16" Type="http://schemas.openxmlformats.org/officeDocument/2006/relationships/image" Target="../media/image52.png"/><Relationship Id="rId20" Type="http://schemas.openxmlformats.org/officeDocument/2006/relationships/image" Target="../media/image56.png"/><Relationship Id="rId29" Type="http://schemas.openxmlformats.org/officeDocument/2006/relationships/image" Target="../media/image65.png"/><Relationship Id="rId1" Type="http://schemas.openxmlformats.org/officeDocument/2006/relationships/slideLayout" Target="../slideLayouts/slideLayout8.xml"/><Relationship Id="rId6" Type="http://schemas.openxmlformats.org/officeDocument/2006/relationships/image" Target="../media/image42.png"/><Relationship Id="rId11" Type="http://schemas.openxmlformats.org/officeDocument/2006/relationships/image" Target="../media/image47.png"/><Relationship Id="rId24" Type="http://schemas.openxmlformats.org/officeDocument/2006/relationships/image" Target="../media/image60.png"/><Relationship Id="rId5" Type="http://schemas.openxmlformats.org/officeDocument/2006/relationships/image" Target="../media/image41.png"/><Relationship Id="rId15" Type="http://schemas.openxmlformats.org/officeDocument/2006/relationships/image" Target="../media/image510.png"/><Relationship Id="rId23" Type="http://schemas.openxmlformats.org/officeDocument/2006/relationships/image" Target="../media/image59.png"/><Relationship Id="rId28" Type="http://schemas.openxmlformats.org/officeDocument/2006/relationships/image" Target="../media/image64.png"/><Relationship Id="rId10" Type="http://schemas.openxmlformats.org/officeDocument/2006/relationships/image" Target="../media/image46.png"/><Relationship Id="rId19" Type="http://schemas.openxmlformats.org/officeDocument/2006/relationships/image" Target="../media/image55.png"/><Relationship Id="rId4" Type="http://schemas.openxmlformats.org/officeDocument/2006/relationships/image" Target="../media/image152.png"/><Relationship Id="rId9" Type="http://schemas.openxmlformats.org/officeDocument/2006/relationships/image" Target="../media/image45.png"/><Relationship Id="rId14" Type="http://schemas.openxmlformats.org/officeDocument/2006/relationships/image" Target="../media/image50.png"/><Relationship Id="rId22" Type="http://schemas.openxmlformats.org/officeDocument/2006/relationships/image" Target="../media/image58.png"/><Relationship Id="rId27" Type="http://schemas.openxmlformats.org/officeDocument/2006/relationships/image" Target="../media/image63.png"/></Relationships>
</file>

<file path=ppt/slides/_rels/slide28.xml.rels><?xml version="1.0" encoding="UTF-8" standalone="yes"?>
<Relationships xmlns="http://schemas.openxmlformats.org/package/2006/relationships"><Relationship Id="rId8" Type="http://schemas.openxmlformats.org/officeDocument/2006/relationships/image" Target="../media/image127.png"/><Relationship Id="rId13" Type="http://schemas.openxmlformats.org/officeDocument/2006/relationships/image" Target="../media/image132.png"/><Relationship Id="rId3" Type="http://schemas.openxmlformats.org/officeDocument/2006/relationships/image" Target="../media/image122.png"/><Relationship Id="rId7" Type="http://schemas.openxmlformats.org/officeDocument/2006/relationships/image" Target="../media/image126.png"/><Relationship Id="rId12" Type="http://schemas.openxmlformats.org/officeDocument/2006/relationships/image" Target="../media/image131.png"/><Relationship Id="rId2" Type="http://schemas.openxmlformats.org/officeDocument/2006/relationships/image" Target="../media/image121.png"/><Relationship Id="rId1" Type="http://schemas.openxmlformats.org/officeDocument/2006/relationships/slideLayout" Target="../slideLayouts/slideLayout8.xml"/><Relationship Id="rId6" Type="http://schemas.openxmlformats.org/officeDocument/2006/relationships/image" Target="../media/image125.png"/><Relationship Id="rId11" Type="http://schemas.openxmlformats.org/officeDocument/2006/relationships/image" Target="../media/image130.png"/><Relationship Id="rId5" Type="http://schemas.openxmlformats.org/officeDocument/2006/relationships/image" Target="../media/image124.png"/><Relationship Id="rId10" Type="http://schemas.openxmlformats.org/officeDocument/2006/relationships/image" Target="../media/image129.png"/><Relationship Id="rId4" Type="http://schemas.openxmlformats.org/officeDocument/2006/relationships/image" Target="../media/image123.png"/><Relationship Id="rId9" Type="http://schemas.openxmlformats.org/officeDocument/2006/relationships/image" Target="../media/image128.png"/></Relationships>
</file>

<file path=ppt/slides/_rels/slide29.xml.rels><?xml version="1.0" encoding="UTF-8" standalone="yes"?>
<Relationships xmlns="http://schemas.openxmlformats.org/package/2006/relationships"><Relationship Id="rId3" Type="http://schemas.openxmlformats.org/officeDocument/2006/relationships/image" Target="../media/image181.png"/><Relationship Id="rId2" Type="http://schemas.openxmlformats.org/officeDocument/2006/relationships/notesSlide" Target="../notesSlides/notesSlide13.xml"/><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3" Type="http://schemas.openxmlformats.org/officeDocument/2006/relationships/image" Target="../media/image190.png"/><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8" Type="http://schemas.openxmlformats.org/officeDocument/2006/relationships/image" Target="../media/image136.png"/><Relationship Id="rId3" Type="http://schemas.openxmlformats.org/officeDocument/2006/relationships/image" Target="../media/image133.png"/><Relationship Id="rId7" Type="http://schemas.openxmlformats.org/officeDocument/2006/relationships/image" Target="../media/image135.png"/><Relationship Id="rId2" Type="http://schemas.openxmlformats.org/officeDocument/2006/relationships/notesSlide" Target="../notesSlides/notesSlide15.xml"/><Relationship Id="rId1" Type="http://schemas.openxmlformats.org/officeDocument/2006/relationships/slideLayout" Target="../slideLayouts/slideLayout10.xml"/><Relationship Id="rId6" Type="http://schemas.openxmlformats.org/officeDocument/2006/relationships/image" Target="../media/image230.png"/><Relationship Id="rId5" Type="http://schemas.openxmlformats.org/officeDocument/2006/relationships/image" Target="../media/image220.png"/><Relationship Id="rId4" Type="http://schemas.openxmlformats.org/officeDocument/2006/relationships/image" Target="../media/image134.png"/></Relationships>
</file>

<file path=ppt/slides/_rels/slide32.xml.rels><?xml version="1.0" encoding="UTF-8" standalone="yes"?>
<Relationships xmlns="http://schemas.openxmlformats.org/package/2006/relationships"><Relationship Id="rId8" Type="http://schemas.openxmlformats.org/officeDocument/2006/relationships/image" Target="../media/image143.png"/><Relationship Id="rId3" Type="http://schemas.openxmlformats.org/officeDocument/2006/relationships/image" Target="../media/image138.png"/><Relationship Id="rId7" Type="http://schemas.openxmlformats.org/officeDocument/2006/relationships/image" Target="../media/image142.png"/><Relationship Id="rId2" Type="http://schemas.openxmlformats.org/officeDocument/2006/relationships/image" Target="../media/image137.png"/><Relationship Id="rId1" Type="http://schemas.openxmlformats.org/officeDocument/2006/relationships/slideLayout" Target="../slideLayouts/slideLayout8.xml"/><Relationship Id="rId6" Type="http://schemas.openxmlformats.org/officeDocument/2006/relationships/image" Target="../media/image141.png"/><Relationship Id="rId5" Type="http://schemas.openxmlformats.org/officeDocument/2006/relationships/image" Target="../media/image140.png"/><Relationship Id="rId4" Type="http://schemas.openxmlformats.org/officeDocument/2006/relationships/image" Target="../media/image139.png"/></Relationships>
</file>

<file path=ppt/slides/_rels/slide33.xml.rels><?xml version="1.0" encoding="UTF-8" standalone="yes"?>
<Relationships xmlns="http://schemas.openxmlformats.org/package/2006/relationships"><Relationship Id="rId8" Type="http://schemas.openxmlformats.org/officeDocument/2006/relationships/image" Target="../media/image147.png"/><Relationship Id="rId3" Type="http://schemas.openxmlformats.org/officeDocument/2006/relationships/image" Target="../media/image144.png"/><Relationship Id="rId7" Type="http://schemas.openxmlformats.org/officeDocument/2006/relationships/image" Target="../media/image290.png"/><Relationship Id="rId2" Type="http://schemas.openxmlformats.org/officeDocument/2006/relationships/notesSlide" Target="../notesSlides/notesSlide16.xml"/><Relationship Id="rId1" Type="http://schemas.openxmlformats.org/officeDocument/2006/relationships/slideLayout" Target="../slideLayouts/slideLayout10.xml"/><Relationship Id="rId6" Type="http://schemas.openxmlformats.org/officeDocument/2006/relationships/image" Target="../media/image146.png"/><Relationship Id="rId5" Type="http://schemas.openxmlformats.org/officeDocument/2006/relationships/image" Target="../media/image270.png"/><Relationship Id="rId4" Type="http://schemas.openxmlformats.org/officeDocument/2006/relationships/image" Target="../media/image145.png"/></Relationships>
</file>

<file path=ppt/slides/_rels/slide34.xml.rels><?xml version="1.0" encoding="UTF-8" standalone="yes"?>
<Relationships xmlns="http://schemas.openxmlformats.org/package/2006/relationships"><Relationship Id="rId3" Type="http://schemas.openxmlformats.org/officeDocument/2006/relationships/image" Target="../media/image310.png"/><Relationship Id="rId2" Type="http://schemas.openxmlformats.org/officeDocument/2006/relationships/notesSlide" Target="../notesSlides/notesSlide17.xml"/><Relationship Id="rId1" Type="http://schemas.openxmlformats.org/officeDocument/2006/relationships/slideLayout" Target="../slideLayouts/slideLayout8.xml"/></Relationships>
</file>

<file path=ppt/slides/_rels/slide35.xml.rels><?xml version="1.0" encoding="UTF-8" standalone="yes"?>
<Relationships xmlns="http://schemas.openxmlformats.org/package/2006/relationships"><Relationship Id="rId3" Type="http://schemas.openxmlformats.org/officeDocument/2006/relationships/image" Target="../media/image320.png"/><Relationship Id="rId2" Type="http://schemas.openxmlformats.org/officeDocument/2006/relationships/notesSlide" Target="../notesSlides/notesSlide18.xml"/><Relationship Id="rId1" Type="http://schemas.openxmlformats.org/officeDocument/2006/relationships/slideLayout" Target="../slideLayouts/slideLayout8.xml"/><Relationship Id="rId5" Type="http://schemas.openxmlformats.org/officeDocument/2006/relationships/image" Target="../media/image340.png"/><Relationship Id="rId4" Type="http://schemas.openxmlformats.org/officeDocument/2006/relationships/image" Target="../media/image33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7.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notesSlide" Target="../notesSlides/notesSlide19.xml"/><Relationship Id="rId1" Type="http://schemas.openxmlformats.org/officeDocument/2006/relationships/slideLayout" Target="../slideLayouts/slideLayout10.xml"/><Relationship Id="rId4" Type="http://schemas.openxmlformats.org/officeDocument/2006/relationships/image" Target="../media/image149.png"/></Relationships>
</file>

<file path=ppt/slides/_rels/slide38.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0.xml"/><Relationship Id="rId1" Type="http://schemas.openxmlformats.org/officeDocument/2006/relationships/slideLayout" Target="../slideLayouts/slideLayout10.xml"/><Relationship Id="rId4" Type="http://schemas.openxmlformats.org/officeDocument/2006/relationships/image" Target="../media/image151.png"/></Relationships>
</file>

<file path=ppt/slides/_rels/slide39.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tags" Target="../tags/tag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05EF43-76C4-4A20-1A86-6CE0FD267AE8}"/>
              </a:ext>
            </a:extLst>
          </p:cNvPr>
          <p:cNvSpPr>
            <a:spLocks noGrp="1"/>
          </p:cNvSpPr>
          <p:nvPr>
            <p:ph type="ctrTitle"/>
          </p:nvPr>
        </p:nvSpPr>
        <p:spPr/>
        <p:txBody>
          <a:bodyPr>
            <a:normAutofit/>
          </a:bodyPr>
          <a:lstStyle/>
          <a:p>
            <a:r>
              <a:rPr lang="en-US" dirty="0"/>
              <a:t>Lecture 22: Max Flow Applications</a:t>
            </a:r>
          </a:p>
        </p:txBody>
      </p:sp>
      <p:sp>
        <p:nvSpPr>
          <p:cNvPr id="3" name="Subtitle 2">
            <a:extLst>
              <a:ext uri="{FF2B5EF4-FFF2-40B4-BE49-F238E27FC236}">
                <a16:creationId xmlns:a16="http://schemas.microsoft.com/office/drawing/2014/main" id="{D727621A-E45C-6CF2-1FF4-A38CEC2D49B5}"/>
              </a:ext>
            </a:extLst>
          </p:cNvPr>
          <p:cNvSpPr>
            <a:spLocks noGrp="1"/>
          </p:cNvSpPr>
          <p:nvPr>
            <p:ph type="subTitle" idx="1"/>
          </p:nvPr>
        </p:nvSpPr>
        <p:spPr/>
        <p:txBody>
          <a:bodyPr/>
          <a:lstStyle/>
          <a:p>
            <a:r>
              <a:rPr lang="en-US" dirty="0"/>
              <a:t>Nathan Brunelle</a:t>
            </a:r>
          </a:p>
        </p:txBody>
      </p:sp>
    </p:spTree>
    <p:custDataLst>
      <p:tags r:id="rId1"/>
    </p:custDataLst>
    <p:extLst>
      <p:ext uri="{BB962C8B-B14F-4D97-AF65-F5344CB8AC3E}">
        <p14:creationId xmlns:p14="http://schemas.microsoft.com/office/powerpoint/2010/main" val="7774255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1490" name="Rectangle 2">
            <a:extLst>
              <a:ext uri="{FF2B5EF4-FFF2-40B4-BE49-F238E27FC236}">
                <a16:creationId xmlns:a16="http://schemas.microsoft.com/office/drawing/2014/main" id="{632FDEEF-B928-4971-9D79-B6EFF2A93155}"/>
              </a:ext>
            </a:extLst>
          </p:cNvPr>
          <p:cNvSpPr>
            <a:spLocks noGrp="1" noChangeArrowheads="1"/>
          </p:cNvSpPr>
          <p:nvPr>
            <p:ph type="title"/>
          </p:nvPr>
        </p:nvSpPr>
        <p:spPr/>
        <p:txBody>
          <a:bodyPr/>
          <a:lstStyle/>
          <a:p>
            <a:r>
              <a:rPr lang="en-US" altLang="en-US" dirty="0"/>
              <a:t>Origins of Max Flow and Min Cut Problems</a:t>
            </a:r>
          </a:p>
        </p:txBody>
      </p:sp>
      <p:sp>
        <p:nvSpPr>
          <p:cNvPr id="2" name="Content Placeholder 1">
            <a:extLst>
              <a:ext uri="{FF2B5EF4-FFF2-40B4-BE49-F238E27FC236}">
                <a16:creationId xmlns:a16="http://schemas.microsoft.com/office/drawing/2014/main" id="{5939661A-25FC-452C-AC3C-80552DABA3BC}"/>
              </a:ext>
            </a:extLst>
          </p:cNvPr>
          <p:cNvSpPr>
            <a:spLocks noGrp="1"/>
          </p:cNvSpPr>
          <p:nvPr>
            <p:ph sz="half" idx="1"/>
          </p:nvPr>
        </p:nvSpPr>
        <p:spPr>
          <a:xfrm>
            <a:off x="138545" y="1363980"/>
            <a:ext cx="5881255" cy="4898275"/>
          </a:xfrm>
        </p:spPr>
        <p:txBody>
          <a:bodyPr>
            <a:noAutofit/>
          </a:bodyPr>
          <a:lstStyle/>
          <a:p>
            <a:pPr marL="0" indent="0">
              <a:spcBef>
                <a:spcPts val="0"/>
              </a:spcBef>
              <a:buNone/>
            </a:pPr>
            <a:r>
              <a:rPr lang="en-US" sz="2400" dirty="0"/>
              <a:t>Max Flow problem formulation: </a:t>
            </a:r>
          </a:p>
          <a:p>
            <a:pPr marL="0" indent="0">
              <a:spcBef>
                <a:spcPts val="0"/>
              </a:spcBef>
              <a:buNone/>
            </a:pPr>
            <a:r>
              <a:rPr lang="en-US" sz="2400" dirty="0"/>
              <a:t>	[Tolstoy 1930] Rail transportation 	planning for the Soviet Union</a:t>
            </a:r>
          </a:p>
          <a:p>
            <a:pPr>
              <a:spcBef>
                <a:spcPts val="0"/>
              </a:spcBef>
            </a:pPr>
            <a:endParaRPr lang="en-US" sz="300" dirty="0"/>
          </a:p>
          <a:p>
            <a:pPr marL="0" indent="0">
              <a:spcBef>
                <a:spcPts val="0"/>
              </a:spcBef>
              <a:buNone/>
            </a:pPr>
            <a:r>
              <a:rPr lang="en-US" sz="2400" dirty="0"/>
              <a:t>Min Cut problem formulation:</a:t>
            </a:r>
          </a:p>
          <a:p>
            <a:pPr lvl="1">
              <a:spcBef>
                <a:spcPts val="0"/>
              </a:spcBef>
            </a:pPr>
            <a:r>
              <a:rPr lang="en-US" sz="2400" dirty="0"/>
              <a:t>	Cold War:  US military planners 	want to find a way to cripple Soviet 	supply routes</a:t>
            </a:r>
          </a:p>
          <a:p>
            <a:pPr lvl="1">
              <a:spcBef>
                <a:spcPts val="0"/>
              </a:spcBef>
            </a:pPr>
            <a:r>
              <a:rPr lang="en-US" sz="2400" dirty="0"/>
              <a:t>	[Harris 1954] Secret RAND </a:t>
            </a:r>
            <a:r>
              <a:rPr lang="en-US" sz="2400" dirty="0" err="1"/>
              <a:t>corp</a:t>
            </a:r>
            <a:r>
              <a:rPr lang="en-US" sz="2400" dirty="0"/>
              <a:t> 	report for US Air Force</a:t>
            </a:r>
          </a:p>
          <a:p>
            <a:pPr lvl="1">
              <a:spcBef>
                <a:spcPts val="0"/>
              </a:spcBef>
            </a:pPr>
            <a:endParaRPr lang="en-US" sz="400" dirty="0"/>
          </a:p>
          <a:p>
            <a:pPr marL="0" indent="0">
              <a:spcBef>
                <a:spcPts val="0"/>
              </a:spcBef>
              <a:buNone/>
            </a:pPr>
            <a:r>
              <a:rPr lang="en-US" sz="2400" dirty="0"/>
              <a:t>[Ford-Fulkerson 1955] Problems are equivalent</a:t>
            </a:r>
          </a:p>
          <a:p>
            <a:pPr lvl="1">
              <a:lnSpc>
                <a:spcPct val="100000"/>
              </a:lnSpc>
              <a:spcBef>
                <a:spcPts val="0"/>
              </a:spcBef>
            </a:pPr>
            <a:endParaRPr lang="en-US" sz="2400" dirty="0"/>
          </a:p>
        </p:txBody>
      </p:sp>
      <p:sp>
        <p:nvSpPr>
          <p:cNvPr id="3" name="Content Placeholder 2">
            <a:extLst>
              <a:ext uri="{FF2B5EF4-FFF2-40B4-BE49-F238E27FC236}">
                <a16:creationId xmlns:a16="http://schemas.microsoft.com/office/drawing/2014/main" id="{017AEB2B-B5F1-475A-A2C3-8747B169BA72}"/>
              </a:ext>
            </a:extLst>
          </p:cNvPr>
          <p:cNvSpPr>
            <a:spLocks noGrp="1"/>
          </p:cNvSpPr>
          <p:nvPr>
            <p:ph sz="half" idx="2"/>
          </p:nvPr>
        </p:nvSpPr>
        <p:spPr/>
        <p:txBody>
          <a:bodyPr>
            <a:normAutofit/>
          </a:bodyPr>
          <a:lstStyle/>
          <a:p>
            <a:pPr marL="0" indent="0" algn="ctr">
              <a:buNone/>
            </a:pPr>
            <a:r>
              <a:rPr lang="en-US" sz="2800" b="1" dirty="0"/>
              <a:t>Soviet Rail Network 1955</a:t>
            </a:r>
          </a:p>
        </p:txBody>
      </p:sp>
      <p:sp>
        <p:nvSpPr>
          <p:cNvPr id="5" name="Slide Number Placeholder 3">
            <a:extLst>
              <a:ext uri="{FF2B5EF4-FFF2-40B4-BE49-F238E27FC236}">
                <a16:creationId xmlns:a16="http://schemas.microsoft.com/office/drawing/2014/main" id="{F44CA66D-A2EA-4B3B-B27D-339AC2585519}"/>
              </a:ext>
            </a:extLst>
          </p:cNvPr>
          <p:cNvSpPr>
            <a:spLocks noGrp="1"/>
          </p:cNvSpPr>
          <p:nvPr>
            <p:ph type="sldNum" sz="quarter" idx="12"/>
          </p:nvPr>
        </p:nvSpPr>
        <p:spPr/>
        <p:txBody>
          <a:bodyPr/>
          <a:lstStyle/>
          <a:p>
            <a:fld id="{84D950A6-719E-4083-B21D-F2E792D93990}" type="slidenum">
              <a:rPr lang="en-US" altLang="en-US"/>
              <a:pPr/>
              <a:t>2</a:t>
            </a:fld>
            <a:endParaRPr lang="en-US" altLang="en-US" sz="1400"/>
          </a:p>
        </p:txBody>
      </p:sp>
      <p:graphicFrame>
        <p:nvGraphicFramePr>
          <p:cNvPr id="831491" name="Object 3">
            <a:extLst>
              <a:ext uri="{FF2B5EF4-FFF2-40B4-BE49-F238E27FC236}">
                <a16:creationId xmlns:a16="http://schemas.microsoft.com/office/drawing/2014/main" id="{904F467B-7FD8-4C2F-9DD8-CE93E8BC4470}"/>
              </a:ext>
            </a:extLst>
          </p:cNvPr>
          <p:cNvGraphicFramePr>
            <a:graphicFrameLocks noChangeAspect="1"/>
          </p:cNvGraphicFramePr>
          <p:nvPr/>
        </p:nvGraphicFramePr>
        <p:xfrm>
          <a:off x="6139181" y="1474688"/>
          <a:ext cx="5424171" cy="3972020"/>
        </p:xfrm>
        <a:graphic>
          <a:graphicData uri="http://schemas.openxmlformats.org/presentationml/2006/ole">
            <mc:AlternateContent xmlns:mc="http://schemas.openxmlformats.org/markup-compatibility/2006">
              <mc:Choice xmlns:v="urn:schemas-microsoft-com:vml" Requires="v">
                <p:oleObj name="Photo Editor Photo" r:id="rId3" imgW="13590476" imgH="9952381" progId="MSPhotoEd.3">
                  <p:embed/>
                </p:oleObj>
              </mc:Choice>
              <mc:Fallback>
                <p:oleObj name="Photo Editor Photo" r:id="rId3" imgW="13590476" imgH="9952381" progId="MSPhotoEd.3">
                  <p:embed/>
                  <p:pic>
                    <p:nvPicPr>
                      <p:cNvPr id="831491" name="Object 3">
                        <a:extLst>
                          <a:ext uri="{FF2B5EF4-FFF2-40B4-BE49-F238E27FC236}">
                            <a16:creationId xmlns:a16="http://schemas.microsoft.com/office/drawing/2014/main" id="{904F467B-7FD8-4C2F-9DD8-CE93E8BC447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39181" y="1474688"/>
                        <a:ext cx="5424171" cy="3972020"/>
                      </a:xfrm>
                      <a:prstGeom prst="rect">
                        <a:avLst/>
                      </a:prstGeom>
                      <a:noFill/>
                      <a:ln>
                        <a:noFill/>
                      </a:ln>
                      <a:effectLst/>
                    </p:spPr>
                  </p:pic>
                </p:oleObj>
              </mc:Fallback>
            </mc:AlternateContent>
          </a:graphicData>
        </a:graphic>
      </p:graphicFrame>
      <p:sp>
        <p:nvSpPr>
          <p:cNvPr id="831492" name="Text Box 4">
            <a:extLst>
              <a:ext uri="{FF2B5EF4-FFF2-40B4-BE49-F238E27FC236}">
                <a16:creationId xmlns:a16="http://schemas.microsoft.com/office/drawing/2014/main" id="{8EED1509-692D-43AD-9E88-ED7D9CCC7E60}"/>
              </a:ext>
            </a:extLst>
          </p:cNvPr>
          <p:cNvSpPr txBox="1">
            <a:spLocks noChangeArrowheads="1"/>
          </p:cNvSpPr>
          <p:nvPr/>
        </p:nvSpPr>
        <p:spPr bwMode="auto">
          <a:xfrm>
            <a:off x="6269675" y="5548330"/>
            <a:ext cx="5163184" cy="462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92020" tIns="46011" rIns="92020" bIns="46011">
            <a:spAutoFit/>
          </a:bodyPr>
          <a:lstStyle/>
          <a:p>
            <a:pPr>
              <a:spcBef>
                <a:spcPct val="50000"/>
              </a:spcBef>
            </a:pPr>
            <a:r>
              <a:rPr lang="en-US" altLang="en-US" sz="1200" dirty="0"/>
              <a:t>Reference:  </a:t>
            </a:r>
            <a:r>
              <a:rPr lang="en-US" altLang="en-US" sz="1200" i="1" dirty="0"/>
              <a:t>On the history of the transportation and maximum flow problems</a:t>
            </a:r>
            <a:r>
              <a:rPr lang="en-US" altLang="en-US" sz="1200" dirty="0"/>
              <a:t>.</a:t>
            </a:r>
            <a:br>
              <a:rPr lang="en-US" altLang="en-US" sz="1200" dirty="0"/>
            </a:br>
            <a:r>
              <a:rPr lang="en-US" altLang="en-US" sz="1200" dirty="0"/>
              <a:t>Alexander Schrijver in Math Programming, 91: 3, 2002.</a:t>
            </a:r>
          </a:p>
        </p:txBody>
      </p:sp>
    </p:spTree>
    <p:extLst>
      <p:ext uri="{BB962C8B-B14F-4D97-AF65-F5344CB8AC3E}">
        <p14:creationId xmlns:p14="http://schemas.microsoft.com/office/powerpoint/2010/main" val="11904784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Slide Number Placeholder 3">
            <a:extLst>
              <a:ext uri="{FF2B5EF4-FFF2-40B4-BE49-F238E27FC236}">
                <a16:creationId xmlns:a16="http://schemas.microsoft.com/office/drawing/2014/main" id="{8682F2DF-919C-413D-9B59-A40AF3ACD726}"/>
              </a:ext>
            </a:extLst>
          </p:cNvPr>
          <p:cNvSpPr>
            <a:spLocks noGrp="1"/>
          </p:cNvSpPr>
          <p:nvPr>
            <p:ph type="sldNum" sz="quarter" idx="10"/>
          </p:nvPr>
        </p:nvSpPr>
        <p:spPr/>
        <p:txBody>
          <a:bodyPr/>
          <a:lstStyle/>
          <a:p>
            <a:fld id="{E962C5CE-5F29-4369-A268-DF953E3BBA7B}" type="slidenum">
              <a:rPr lang="en-US" altLang="en-US"/>
              <a:pPr/>
              <a:t>3</a:t>
            </a:fld>
            <a:endParaRPr lang="en-US" altLang="en-US" sz="1400"/>
          </a:p>
        </p:txBody>
      </p:sp>
      <p:sp>
        <p:nvSpPr>
          <p:cNvPr id="710659" name="Rectangle 3">
            <a:extLst>
              <a:ext uri="{FF2B5EF4-FFF2-40B4-BE49-F238E27FC236}">
                <a16:creationId xmlns:a16="http://schemas.microsoft.com/office/drawing/2014/main" id="{5F4FD653-3E81-4970-A885-9A04BFB66492}"/>
              </a:ext>
            </a:extLst>
          </p:cNvPr>
          <p:cNvSpPr>
            <a:spLocks noGrp="1" noChangeArrowheads="1"/>
          </p:cNvSpPr>
          <p:nvPr>
            <p:ph type="title"/>
          </p:nvPr>
        </p:nvSpPr>
        <p:spPr/>
        <p:txBody>
          <a:bodyPr/>
          <a:lstStyle/>
          <a:p>
            <a:r>
              <a:rPr lang="en-US" altLang="en-US" dirty="0"/>
              <a:t>Flow Graph</a:t>
            </a:r>
          </a:p>
        </p:txBody>
      </p:sp>
      <p:grpSp>
        <p:nvGrpSpPr>
          <p:cNvPr id="28" name="Group 27">
            <a:extLst>
              <a:ext uri="{FF2B5EF4-FFF2-40B4-BE49-F238E27FC236}">
                <a16:creationId xmlns:a16="http://schemas.microsoft.com/office/drawing/2014/main" id="{2F886C7A-5F8C-4D5A-B1FC-3D24401D8DE7}"/>
              </a:ext>
            </a:extLst>
          </p:cNvPr>
          <p:cNvGrpSpPr/>
          <p:nvPr/>
        </p:nvGrpSpPr>
        <p:grpSpPr>
          <a:xfrm>
            <a:off x="4395659" y="3250309"/>
            <a:ext cx="6599476" cy="3137327"/>
            <a:chOff x="4395659" y="2923138"/>
            <a:chExt cx="6599476" cy="3137327"/>
          </a:xfrm>
        </p:grpSpPr>
        <p:cxnSp>
          <p:nvCxnSpPr>
            <p:cNvPr id="51" name="AutoShape 68">
              <a:extLst>
                <a:ext uri="{FF2B5EF4-FFF2-40B4-BE49-F238E27FC236}">
                  <a16:creationId xmlns:a16="http://schemas.microsoft.com/office/drawing/2014/main" id="{CAB3C207-5366-428C-872E-7F5DDD5A8A0A}"/>
                </a:ext>
              </a:extLst>
            </p:cNvPr>
            <p:cNvCxnSpPr>
              <a:cxnSpLocks noChangeShapeType="1"/>
              <a:stCxn id="710721" idx="1"/>
              <a:endCxn id="710708" idx="5"/>
            </p:cNvCxnSpPr>
            <p:nvPr/>
          </p:nvCxnSpPr>
          <p:spPr bwMode="auto">
            <a:xfrm flipH="1" flipV="1">
              <a:off x="6575184" y="4634480"/>
              <a:ext cx="2273571" cy="112970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06" name="Oval 50">
              <a:extLst>
                <a:ext uri="{FF2B5EF4-FFF2-40B4-BE49-F238E27FC236}">
                  <a16:creationId xmlns:a16="http://schemas.microsoft.com/office/drawing/2014/main" id="{5EDB66B3-A335-46A8-B0A4-E18E80459647}"/>
                </a:ext>
              </a:extLst>
            </p:cNvPr>
            <p:cNvSpPr>
              <a:spLocks noChangeAspect="1" noChangeArrowheads="1"/>
            </p:cNvSpPr>
            <p:nvPr/>
          </p:nvSpPr>
          <p:spPr bwMode="auto">
            <a:xfrm>
              <a:off x="4395659"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solidFill>
                    <a:srgbClr val="C00000"/>
                  </a:solidFill>
                </a:rPr>
                <a:t>s</a:t>
              </a:r>
            </a:p>
          </p:txBody>
        </p:sp>
        <p:sp>
          <p:nvSpPr>
            <p:cNvPr id="710707" name="Oval 51">
              <a:extLst>
                <a:ext uri="{FF2B5EF4-FFF2-40B4-BE49-F238E27FC236}">
                  <a16:creationId xmlns:a16="http://schemas.microsoft.com/office/drawing/2014/main" id="{C791F0FD-59F6-4EAA-9A7F-5FEB226AA91C}"/>
                </a:ext>
              </a:extLst>
            </p:cNvPr>
            <p:cNvSpPr>
              <a:spLocks noChangeAspect="1" noChangeArrowheads="1"/>
            </p:cNvSpPr>
            <p:nvPr/>
          </p:nvSpPr>
          <p:spPr bwMode="auto">
            <a:xfrm>
              <a:off x="6278899" y="2923138"/>
              <a:ext cx="347119" cy="35151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a</a:t>
              </a:r>
            </a:p>
          </p:txBody>
        </p:sp>
        <p:sp>
          <p:nvSpPr>
            <p:cNvPr id="710708" name="Oval 52">
              <a:extLst>
                <a:ext uri="{FF2B5EF4-FFF2-40B4-BE49-F238E27FC236}">
                  <a16:creationId xmlns:a16="http://schemas.microsoft.com/office/drawing/2014/main" id="{7433E6CD-DBA9-4397-BB73-2328DC47DBFF}"/>
                </a:ext>
              </a:extLst>
            </p:cNvPr>
            <p:cNvSpPr>
              <a:spLocks noChangeAspect="1" noChangeArrowheads="1"/>
            </p:cNvSpPr>
            <p:nvPr/>
          </p:nvSpPr>
          <p:spPr bwMode="auto">
            <a:xfrm>
              <a:off x="6278899"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b</a:t>
              </a:r>
            </a:p>
          </p:txBody>
        </p:sp>
        <p:sp>
          <p:nvSpPr>
            <p:cNvPr id="710709" name="Oval 53">
              <a:extLst>
                <a:ext uri="{FF2B5EF4-FFF2-40B4-BE49-F238E27FC236}">
                  <a16:creationId xmlns:a16="http://schemas.microsoft.com/office/drawing/2014/main" id="{DB0B1551-4016-4996-9CB3-8D6736D27F5C}"/>
                </a:ext>
              </a:extLst>
            </p:cNvPr>
            <p:cNvSpPr>
              <a:spLocks noChangeAspect="1" noChangeArrowheads="1"/>
            </p:cNvSpPr>
            <p:nvPr/>
          </p:nvSpPr>
          <p:spPr bwMode="auto">
            <a:xfrm>
              <a:off x="6278899" y="5713346"/>
              <a:ext cx="347119" cy="347119"/>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c</a:t>
              </a:r>
            </a:p>
          </p:txBody>
        </p:sp>
        <p:cxnSp>
          <p:nvCxnSpPr>
            <p:cNvPr id="710710" name="AutoShape 54">
              <a:extLst>
                <a:ext uri="{FF2B5EF4-FFF2-40B4-BE49-F238E27FC236}">
                  <a16:creationId xmlns:a16="http://schemas.microsoft.com/office/drawing/2014/main" id="{3963BDDA-EEB2-4C16-A1BE-D107140B66AB}"/>
                </a:ext>
              </a:extLst>
            </p:cNvPr>
            <p:cNvCxnSpPr>
              <a:cxnSpLocks noChangeShapeType="1"/>
              <a:stCxn id="710706" idx="7"/>
              <a:endCxn id="710707" idx="3"/>
            </p:cNvCxnSpPr>
            <p:nvPr/>
          </p:nvCxnSpPr>
          <p:spPr bwMode="auto">
            <a:xfrm flipV="1">
              <a:off x="4691944" y="3223173"/>
              <a:ext cx="1637789" cy="1164304"/>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1" name="AutoShape 55">
              <a:extLst>
                <a:ext uri="{FF2B5EF4-FFF2-40B4-BE49-F238E27FC236}">
                  <a16:creationId xmlns:a16="http://schemas.microsoft.com/office/drawing/2014/main" id="{500797BD-7630-4137-AC5D-99C13711BAB5}"/>
                </a:ext>
              </a:extLst>
            </p:cNvPr>
            <p:cNvCxnSpPr>
              <a:cxnSpLocks noChangeShapeType="1"/>
              <a:stCxn id="710706" idx="6"/>
              <a:endCxn id="710708" idx="2"/>
            </p:cNvCxnSpPr>
            <p:nvPr/>
          </p:nvCxnSpPr>
          <p:spPr bwMode="auto">
            <a:xfrm>
              <a:off x="4742778" y="4510979"/>
              <a:ext cx="1536121" cy="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2" name="AutoShape 56">
              <a:extLst>
                <a:ext uri="{FF2B5EF4-FFF2-40B4-BE49-F238E27FC236}">
                  <a16:creationId xmlns:a16="http://schemas.microsoft.com/office/drawing/2014/main" id="{04F6A8EE-5010-42E5-9B2F-E956649EB9DD}"/>
                </a:ext>
              </a:extLst>
            </p:cNvPr>
            <p:cNvCxnSpPr>
              <a:cxnSpLocks noChangeShapeType="1"/>
              <a:stCxn id="710706" idx="5"/>
              <a:endCxn id="710709" idx="1"/>
            </p:cNvCxnSpPr>
            <p:nvPr/>
          </p:nvCxnSpPr>
          <p:spPr bwMode="auto">
            <a:xfrm>
              <a:off x="4691944" y="4634480"/>
              <a:ext cx="1637789" cy="112970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3" name="AutoShape 57">
              <a:extLst>
                <a:ext uri="{FF2B5EF4-FFF2-40B4-BE49-F238E27FC236}">
                  <a16:creationId xmlns:a16="http://schemas.microsoft.com/office/drawing/2014/main" id="{CB5CA9F1-C5CC-4E55-8567-407127EDD6FD}"/>
                </a:ext>
              </a:extLst>
            </p:cNvPr>
            <p:cNvCxnSpPr>
              <a:cxnSpLocks noChangeShapeType="1"/>
              <a:stCxn id="710708" idx="6"/>
              <a:endCxn id="710720" idx="2"/>
            </p:cNvCxnSpPr>
            <p:nvPr/>
          </p:nvCxnSpPr>
          <p:spPr bwMode="auto">
            <a:xfrm>
              <a:off x="6626018" y="4510979"/>
              <a:ext cx="2171903" cy="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5" name="AutoShape 59">
              <a:extLst>
                <a:ext uri="{FF2B5EF4-FFF2-40B4-BE49-F238E27FC236}">
                  <a16:creationId xmlns:a16="http://schemas.microsoft.com/office/drawing/2014/main" id="{FF578E0C-BCE9-4BDC-BE4D-1C3233FE9069}"/>
                </a:ext>
              </a:extLst>
            </p:cNvPr>
            <p:cNvCxnSpPr>
              <a:cxnSpLocks noChangeShapeType="1"/>
              <a:stCxn id="710708" idx="4"/>
              <a:endCxn id="710709" idx="0"/>
            </p:cNvCxnSpPr>
            <p:nvPr/>
          </p:nvCxnSpPr>
          <p:spPr bwMode="auto">
            <a:xfrm>
              <a:off x="6452459" y="4685636"/>
              <a:ext cx="0" cy="102771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6" name="AutoShape 60">
              <a:extLst>
                <a:ext uri="{FF2B5EF4-FFF2-40B4-BE49-F238E27FC236}">
                  <a16:creationId xmlns:a16="http://schemas.microsoft.com/office/drawing/2014/main" id="{5D951401-EF5F-40F8-8FF8-28BC78F6A7BA}"/>
                </a:ext>
              </a:extLst>
            </p:cNvPr>
            <p:cNvCxnSpPr>
              <a:cxnSpLocks noChangeShapeType="1"/>
              <a:stCxn id="710707" idx="6"/>
              <a:endCxn id="710719" idx="2"/>
            </p:cNvCxnSpPr>
            <p:nvPr/>
          </p:nvCxnSpPr>
          <p:spPr bwMode="auto">
            <a:xfrm>
              <a:off x="6626018" y="3098894"/>
              <a:ext cx="2171903" cy="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7" name="AutoShape 61">
              <a:extLst>
                <a:ext uri="{FF2B5EF4-FFF2-40B4-BE49-F238E27FC236}">
                  <a16:creationId xmlns:a16="http://schemas.microsoft.com/office/drawing/2014/main" id="{A929A23E-9723-40FB-8B80-4463475544AE}"/>
                </a:ext>
              </a:extLst>
            </p:cNvPr>
            <p:cNvCxnSpPr>
              <a:cxnSpLocks noChangeShapeType="1"/>
              <a:stCxn id="710709" idx="6"/>
              <a:endCxn id="710721" idx="2"/>
            </p:cNvCxnSpPr>
            <p:nvPr/>
          </p:nvCxnSpPr>
          <p:spPr bwMode="auto">
            <a:xfrm>
              <a:off x="6626018" y="5886906"/>
              <a:ext cx="2171903" cy="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8" name="AutoShape 62">
              <a:extLst>
                <a:ext uri="{FF2B5EF4-FFF2-40B4-BE49-F238E27FC236}">
                  <a16:creationId xmlns:a16="http://schemas.microsoft.com/office/drawing/2014/main" id="{56B2200F-0095-48E8-A6B5-E08D3FED1F4F}"/>
                </a:ext>
              </a:extLst>
            </p:cNvPr>
            <p:cNvCxnSpPr>
              <a:cxnSpLocks noChangeShapeType="1"/>
              <a:stCxn id="710707" idx="4"/>
              <a:endCxn id="710708" idx="0"/>
            </p:cNvCxnSpPr>
            <p:nvPr/>
          </p:nvCxnSpPr>
          <p:spPr bwMode="auto">
            <a:xfrm>
              <a:off x="6452459" y="3274651"/>
              <a:ext cx="0" cy="106167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19" name="Oval 63">
              <a:extLst>
                <a:ext uri="{FF2B5EF4-FFF2-40B4-BE49-F238E27FC236}">
                  <a16:creationId xmlns:a16="http://schemas.microsoft.com/office/drawing/2014/main" id="{6D6CA7B8-81FA-4ECF-9EC2-0188554C97F8}"/>
                </a:ext>
              </a:extLst>
            </p:cNvPr>
            <p:cNvSpPr>
              <a:spLocks noChangeAspect="1" noChangeArrowheads="1"/>
            </p:cNvSpPr>
            <p:nvPr/>
          </p:nvSpPr>
          <p:spPr bwMode="auto">
            <a:xfrm>
              <a:off x="8797921" y="2923138"/>
              <a:ext cx="347119" cy="35151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d</a:t>
              </a:r>
            </a:p>
          </p:txBody>
        </p:sp>
        <p:sp>
          <p:nvSpPr>
            <p:cNvPr id="710720" name="Oval 64">
              <a:extLst>
                <a:ext uri="{FF2B5EF4-FFF2-40B4-BE49-F238E27FC236}">
                  <a16:creationId xmlns:a16="http://schemas.microsoft.com/office/drawing/2014/main" id="{5FADFF93-67BC-4F3C-BA9D-F45E800F686D}"/>
                </a:ext>
              </a:extLst>
            </p:cNvPr>
            <p:cNvSpPr>
              <a:spLocks noChangeAspect="1" noChangeArrowheads="1"/>
            </p:cNvSpPr>
            <p:nvPr/>
          </p:nvSpPr>
          <p:spPr bwMode="auto">
            <a:xfrm>
              <a:off x="8797921"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e</a:t>
              </a:r>
            </a:p>
          </p:txBody>
        </p:sp>
        <p:sp>
          <p:nvSpPr>
            <p:cNvPr id="710721" name="Oval 65">
              <a:extLst>
                <a:ext uri="{FF2B5EF4-FFF2-40B4-BE49-F238E27FC236}">
                  <a16:creationId xmlns:a16="http://schemas.microsoft.com/office/drawing/2014/main" id="{5FF356EB-F06B-477C-AA8F-9ACC5EDE5A9F}"/>
                </a:ext>
              </a:extLst>
            </p:cNvPr>
            <p:cNvSpPr>
              <a:spLocks noChangeAspect="1" noChangeArrowheads="1"/>
            </p:cNvSpPr>
            <p:nvPr/>
          </p:nvSpPr>
          <p:spPr bwMode="auto">
            <a:xfrm>
              <a:off x="8797921" y="5713346"/>
              <a:ext cx="347119" cy="347119"/>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f</a:t>
              </a:r>
            </a:p>
          </p:txBody>
        </p:sp>
        <p:cxnSp>
          <p:nvCxnSpPr>
            <p:cNvPr id="710722" name="AutoShape 66">
              <a:extLst>
                <a:ext uri="{FF2B5EF4-FFF2-40B4-BE49-F238E27FC236}">
                  <a16:creationId xmlns:a16="http://schemas.microsoft.com/office/drawing/2014/main" id="{6CAC5FAF-7C24-4B59-9E5B-970C57F85D75}"/>
                </a:ext>
              </a:extLst>
            </p:cNvPr>
            <p:cNvCxnSpPr>
              <a:cxnSpLocks noChangeShapeType="1"/>
              <a:stCxn id="710720" idx="4"/>
              <a:endCxn id="710721" idx="0"/>
            </p:cNvCxnSpPr>
            <p:nvPr/>
          </p:nvCxnSpPr>
          <p:spPr bwMode="auto">
            <a:xfrm>
              <a:off x="8971480" y="4685636"/>
              <a:ext cx="0" cy="102771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3" name="AutoShape 67">
              <a:extLst>
                <a:ext uri="{FF2B5EF4-FFF2-40B4-BE49-F238E27FC236}">
                  <a16:creationId xmlns:a16="http://schemas.microsoft.com/office/drawing/2014/main" id="{02A1F7FD-3A69-496D-A0C6-9E0B7498F083}"/>
                </a:ext>
              </a:extLst>
            </p:cNvPr>
            <p:cNvCxnSpPr>
              <a:cxnSpLocks noChangeShapeType="1"/>
              <a:stCxn id="710719" idx="4"/>
              <a:endCxn id="710720" idx="0"/>
            </p:cNvCxnSpPr>
            <p:nvPr/>
          </p:nvCxnSpPr>
          <p:spPr bwMode="auto">
            <a:xfrm>
              <a:off x="8971480" y="3274651"/>
              <a:ext cx="0" cy="106167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4" name="AutoShape 68">
              <a:extLst>
                <a:ext uri="{FF2B5EF4-FFF2-40B4-BE49-F238E27FC236}">
                  <a16:creationId xmlns:a16="http://schemas.microsoft.com/office/drawing/2014/main" id="{A59DDDAD-046C-41D6-AD72-EFD283E2916C}"/>
                </a:ext>
              </a:extLst>
            </p:cNvPr>
            <p:cNvCxnSpPr>
              <a:cxnSpLocks noChangeShapeType="1"/>
              <a:stCxn id="710707" idx="5"/>
              <a:endCxn id="710720" idx="1"/>
            </p:cNvCxnSpPr>
            <p:nvPr/>
          </p:nvCxnSpPr>
          <p:spPr bwMode="auto">
            <a:xfrm>
              <a:off x="6575184" y="3223173"/>
              <a:ext cx="2273571" cy="1164304"/>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25" name="Oval 69">
              <a:extLst>
                <a:ext uri="{FF2B5EF4-FFF2-40B4-BE49-F238E27FC236}">
                  <a16:creationId xmlns:a16="http://schemas.microsoft.com/office/drawing/2014/main" id="{5DBB04F5-4A14-4512-B3D9-38E24230652F}"/>
                </a:ext>
              </a:extLst>
            </p:cNvPr>
            <p:cNvSpPr>
              <a:spLocks noChangeAspect="1" noChangeArrowheads="1"/>
            </p:cNvSpPr>
            <p:nvPr/>
          </p:nvSpPr>
          <p:spPr bwMode="auto">
            <a:xfrm>
              <a:off x="10648016"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solidFill>
                    <a:srgbClr val="C00000"/>
                  </a:solidFill>
                </a:rPr>
                <a:t>t</a:t>
              </a:r>
            </a:p>
          </p:txBody>
        </p:sp>
        <p:cxnSp>
          <p:nvCxnSpPr>
            <p:cNvPr id="710726" name="AutoShape 70">
              <a:extLst>
                <a:ext uri="{FF2B5EF4-FFF2-40B4-BE49-F238E27FC236}">
                  <a16:creationId xmlns:a16="http://schemas.microsoft.com/office/drawing/2014/main" id="{D1F58022-A270-4460-9379-D0A7FAF1B20E}"/>
                </a:ext>
              </a:extLst>
            </p:cNvPr>
            <p:cNvCxnSpPr>
              <a:cxnSpLocks noChangeShapeType="1"/>
              <a:stCxn id="710719" idx="6"/>
              <a:endCxn id="710725" idx="1"/>
            </p:cNvCxnSpPr>
            <p:nvPr/>
          </p:nvCxnSpPr>
          <p:spPr bwMode="auto">
            <a:xfrm>
              <a:off x="9145040" y="3098894"/>
              <a:ext cx="1553810" cy="1288583"/>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7" name="AutoShape 71">
              <a:extLst>
                <a:ext uri="{FF2B5EF4-FFF2-40B4-BE49-F238E27FC236}">
                  <a16:creationId xmlns:a16="http://schemas.microsoft.com/office/drawing/2014/main" id="{8009E4A0-472B-406A-AFD6-0553FE5CC77C}"/>
                </a:ext>
              </a:extLst>
            </p:cNvPr>
            <p:cNvCxnSpPr>
              <a:cxnSpLocks noChangeShapeType="1"/>
              <a:stCxn id="710720" idx="6"/>
              <a:endCxn id="710725" idx="2"/>
            </p:cNvCxnSpPr>
            <p:nvPr/>
          </p:nvCxnSpPr>
          <p:spPr bwMode="auto">
            <a:xfrm>
              <a:off x="9145040" y="4510979"/>
              <a:ext cx="1502976" cy="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8" name="AutoShape 72">
              <a:extLst>
                <a:ext uri="{FF2B5EF4-FFF2-40B4-BE49-F238E27FC236}">
                  <a16:creationId xmlns:a16="http://schemas.microsoft.com/office/drawing/2014/main" id="{E5CB0D21-BAA0-4835-A49D-49FE212797CB}"/>
                </a:ext>
              </a:extLst>
            </p:cNvPr>
            <p:cNvCxnSpPr>
              <a:cxnSpLocks noChangeShapeType="1"/>
              <a:stCxn id="710721" idx="7"/>
              <a:endCxn id="710725" idx="4"/>
            </p:cNvCxnSpPr>
            <p:nvPr/>
          </p:nvCxnSpPr>
          <p:spPr bwMode="auto">
            <a:xfrm flipV="1">
              <a:off x="9094206" y="4685636"/>
              <a:ext cx="1727370" cy="1078544"/>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29" name="Text Box 73">
              <a:extLst>
                <a:ext uri="{FF2B5EF4-FFF2-40B4-BE49-F238E27FC236}">
                  <a16:creationId xmlns:a16="http://schemas.microsoft.com/office/drawing/2014/main" id="{AAAB09A9-EC8D-4414-8817-65353064DC87}"/>
                </a:ext>
              </a:extLst>
            </p:cNvPr>
            <p:cNvSpPr txBox="1">
              <a:spLocks noChangeArrowheads="1"/>
            </p:cNvSpPr>
            <p:nvPr/>
          </p:nvSpPr>
          <p:spPr bwMode="auto">
            <a:xfrm>
              <a:off x="5140633" y="5112122"/>
              <a:ext cx="892815"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a:t>
              </a:r>
              <a:r>
                <a:rPr lang="en-US" altLang="en-US" sz="2000" b="1" dirty="0">
                  <a:solidFill>
                    <a:srgbClr val="C00000"/>
                  </a:solidFill>
                  <a:latin typeface="Arial" panose="020B0604020202020204" pitchFamily="34" charset="0"/>
                  <a:cs typeface="Arial" panose="020B0604020202020204" pitchFamily="34" charset="0"/>
                </a:rPr>
                <a:t>11/</a:t>
              </a:r>
              <a:r>
                <a:rPr lang="en-US" altLang="en-US" sz="2000" dirty="0">
                  <a:latin typeface="Arial" panose="020B0604020202020204" pitchFamily="34" charset="0"/>
                  <a:cs typeface="Arial" panose="020B0604020202020204" pitchFamily="34" charset="0"/>
                </a:rPr>
                <a:t>15</a:t>
              </a:r>
            </a:p>
          </p:txBody>
        </p:sp>
        <p:sp>
          <p:nvSpPr>
            <p:cNvPr id="710730" name="Text Box 74">
              <a:extLst>
                <a:ext uri="{FF2B5EF4-FFF2-40B4-BE49-F238E27FC236}">
                  <a16:creationId xmlns:a16="http://schemas.microsoft.com/office/drawing/2014/main" id="{876DCB81-C2CB-43B6-8640-CF55C1427FEF}"/>
                </a:ext>
              </a:extLst>
            </p:cNvPr>
            <p:cNvSpPr txBox="1">
              <a:spLocks noChangeArrowheads="1"/>
            </p:cNvSpPr>
            <p:nvPr/>
          </p:nvSpPr>
          <p:spPr bwMode="auto">
            <a:xfrm>
              <a:off x="5458549" y="4352895"/>
              <a:ext cx="453335"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600" dirty="0">
                  <a:latin typeface="Arial" panose="020B0604020202020204" pitchFamily="34" charset="0"/>
                  <a:cs typeface="Arial" panose="020B0604020202020204" pitchFamily="34" charset="0"/>
                </a:rPr>
                <a:t> </a:t>
              </a:r>
              <a:r>
                <a:rPr lang="en-US" altLang="en-US" sz="2000" b="1" dirty="0">
                  <a:solidFill>
                    <a:srgbClr val="C00000"/>
                  </a:solidFill>
                  <a:latin typeface="Arial" panose="020B0604020202020204" pitchFamily="34" charset="0"/>
                  <a:cs typeface="Arial" panose="020B0604020202020204" pitchFamily="34" charset="0"/>
                </a:rPr>
                <a:t>3</a:t>
              </a:r>
              <a:r>
                <a:rPr lang="en-US" altLang="en-US" sz="1600" b="1" dirty="0">
                  <a:solidFill>
                    <a:srgbClr val="C00000"/>
                  </a:solidFill>
                  <a:latin typeface="Arial" panose="020B0604020202020204" pitchFamily="34" charset="0"/>
                  <a:cs typeface="Arial" panose="020B0604020202020204" pitchFamily="34" charset="0"/>
                </a:rPr>
                <a:t>/</a:t>
              </a:r>
              <a:r>
                <a:rPr lang="en-US" altLang="en-US" sz="2000" dirty="0">
                  <a:latin typeface="Arial" panose="020B0604020202020204" pitchFamily="34" charset="0"/>
                  <a:cs typeface="Arial" panose="020B0604020202020204" pitchFamily="34" charset="0"/>
                </a:rPr>
                <a:t>5</a:t>
              </a:r>
              <a:endParaRPr lang="en-US" altLang="en-US" sz="1600" dirty="0">
                <a:latin typeface="Arial" panose="020B0604020202020204" pitchFamily="34" charset="0"/>
                <a:cs typeface="Arial" panose="020B0604020202020204" pitchFamily="34" charset="0"/>
              </a:endParaRPr>
            </a:p>
          </p:txBody>
        </p:sp>
        <p:sp>
          <p:nvSpPr>
            <p:cNvPr id="710731" name="Text Box 75">
              <a:extLst>
                <a:ext uri="{FF2B5EF4-FFF2-40B4-BE49-F238E27FC236}">
                  <a16:creationId xmlns:a16="http://schemas.microsoft.com/office/drawing/2014/main" id="{987DF8DB-99E2-4C14-B47B-F33F6E8164DE}"/>
                </a:ext>
              </a:extLst>
            </p:cNvPr>
            <p:cNvSpPr txBox="1">
              <a:spLocks noChangeArrowheads="1"/>
            </p:cNvSpPr>
            <p:nvPr/>
          </p:nvSpPr>
          <p:spPr bwMode="auto">
            <a:xfrm>
              <a:off x="7331165" y="5713346"/>
              <a:ext cx="718833" cy="307777"/>
            </a:xfrm>
            <a:prstGeom prst="rect">
              <a:avLst/>
            </a:prstGeom>
            <a:solidFill>
              <a:schemeClr val="bg1"/>
            </a:solidFill>
            <a:ln w="12700">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a:t>
              </a:r>
              <a:r>
                <a:rPr lang="en-US" altLang="en-US" sz="2000" b="1" dirty="0">
                  <a:solidFill>
                    <a:srgbClr val="C00000"/>
                  </a:solidFill>
                  <a:latin typeface="Arial" panose="020B0604020202020204" pitchFamily="34" charset="0"/>
                  <a:cs typeface="Arial" panose="020B0604020202020204" pitchFamily="34" charset="0"/>
                </a:rPr>
                <a:t>11/</a:t>
              </a:r>
              <a:r>
                <a:rPr lang="en-US" altLang="en-US" sz="2000" dirty="0">
                  <a:latin typeface="Arial" panose="020B0604020202020204" pitchFamily="34" charset="0"/>
                  <a:cs typeface="Arial" panose="020B0604020202020204" pitchFamily="34" charset="0"/>
                </a:rPr>
                <a:t>30</a:t>
              </a:r>
            </a:p>
          </p:txBody>
        </p:sp>
        <p:sp>
          <p:nvSpPr>
            <p:cNvPr id="710732" name="Text Box 76">
              <a:extLst>
                <a:ext uri="{FF2B5EF4-FFF2-40B4-BE49-F238E27FC236}">
                  <a16:creationId xmlns:a16="http://schemas.microsoft.com/office/drawing/2014/main" id="{9B3B7885-AA6D-45BF-BF0E-9859076B1F0F}"/>
                </a:ext>
              </a:extLst>
            </p:cNvPr>
            <p:cNvSpPr txBox="1">
              <a:spLocks noChangeArrowheads="1"/>
            </p:cNvSpPr>
            <p:nvPr/>
          </p:nvSpPr>
          <p:spPr bwMode="auto">
            <a:xfrm>
              <a:off x="8736366" y="4983795"/>
              <a:ext cx="600782"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15</a:t>
              </a:r>
            </a:p>
          </p:txBody>
        </p:sp>
        <p:sp>
          <p:nvSpPr>
            <p:cNvPr id="710733" name="Text Box 77">
              <a:extLst>
                <a:ext uri="{FF2B5EF4-FFF2-40B4-BE49-F238E27FC236}">
                  <a16:creationId xmlns:a16="http://schemas.microsoft.com/office/drawing/2014/main" id="{B8E7733D-771B-4363-B990-E50FE4B44B69}"/>
                </a:ext>
              </a:extLst>
            </p:cNvPr>
            <p:cNvSpPr txBox="1">
              <a:spLocks noChangeArrowheads="1"/>
            </p:cNvSpPr>
            <p:nvPr/>
          </p:nvSpPr>
          <p:spPr bwMode="auto">
            <a:xfrm>
              <a:off x="5300960" y="3595078"/>
              <a:ext cx="68567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10/</a:t>
              </a:r>
              <a:r>
                <a:rPr lang="en-US" altLang="en-US" sz="2000" dirty="0">
                  <a:latin typeface="Arial" panose="020B0604020202020204" pitchFamily="34" charset="0"/>
                  <a:cs typeface="Arial" panose="020B0604020202020204" pitchFamily="34" charset="0"/>
                </a:rPr>
                <a:t>10</a:t>
              </a:r>
            </a:p>
          </p:txBody>
        </p:sp>
        <p:sp>
          <p:nvSpPr>
            <p:cNvPr id="710734" name="Text Box 78">
              <a:extLst>
                <a:ext uri="{FF2B5EF4-FFF2-40B4-BE49-F238E27FC236}">
                  <a16:creationId xmlns:a16="http://schemas.microsoft.com/office/drawing/2014/main" id="{7EF45083-C70B-47F5-AFFB-7C03B08F5B21}"/>
                </a:ext>
              </a:extLst>
            </p:cNvPr>
            <p:cNvSpPr txBox="1">
              <a:spLocks noChangeArrowheads="1"/>
            </p:cNvSpPr>
            <p:nvPr/>
          </p:nvSpPr>
          <p:spPr bwMode="auto">
            <a:xfrm>
              <a:off x="7486213" y="4352895"/>
              <a:ext cx="469223"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 8</a:t>
              </a:r>
              <a:r>
                <a:rPr lang="en-US" altLang="en-US" sz="2000" dirty="0">
                  <a:latin typeface="Arial" panose="020B0604020202020204" pitchFamily="34" charset="0"/>
                  <a:cs typeface="Arial" panose="020B0604020202020204" pitchFamily="34" charset="0"/>
                </a:rPr>
                <a:t>/8</a:t>
              </a:r>
            </a:p>
          </p:txBody>
        </p:sp>
        <p:sp>
          <p:nvSpPr>
            <p:cNvPr id="710735" name="Text Box 79">
              <a:extLst>
                <a:ext uri="{FF2B5EF4-FFF2-40B4-BE49-F238E27FC236}">
                  <a16:creationId xmlns:a16="http://schemas.microsoft.com/office/drawing/2014/main" id="{2AF06533-A0D6-429A-B95A-970349B525E9}"/>
                </a:ext>
              </a:extLst>
            </p:cNvPr>
            <p:cNvSpPr txBox="1">
              <a:spLocks noChangeArrowheads="1"/>
            </p:cNvSpPr>
            <p:nvPr/>
          </p:nvSpPr>
          <p:spPr bwMode="auto">
            <a:xfrm>
              <a:off x="7425727" y="3622107"/>
              <a:ext cx="624271"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15</a:t>
              </a:r>
            </a:p>
          </p:txBody>
        </p:sp>
        <p:sp>
          <p:nvSpPr>
            <p:cNvPr id="710736" name="Text Box 80">
              <a:extLst>
                <a:ext uri="{FF2B5EF4-FFF2-40B4-BE49-F238E27FC236}">
                  <a16:creationId xmlns:a16="http://schemas.microsoft.com/office/drawing/2014/main" id="{8E2CA782-EF26-454E-82E8-A7C0ACB122B9}"/>
                </a:ext>
              </a:extLst>
            </p:cNvPr>
            <p:cNvSpPr txBox="1">
              <a:spLocks noChangeArrowheads="1"/>
            </p:cNvSpPr>
            <p:nvPr/>
          </p:nvSpPr>
          <p:spPr bwMode="auto">
            <a:xfrm>
              <a:off x="7444248" y="2939710"/>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1400" b="1" dirty="0">
                  <a:solidFill>
                    <a:srgbClr val="C00000"/>
                  </a:solidFill>
                  <a:latin typeface="Arial" panose="020B0604020202020204" pitchFamily="34" charset="0"/>
                  <a:cs typeface="Arial" panose="020B0604020202020204" pitchFamily="34" charset="0"/>
                </a:rPr>
                <a:t> </a:t>
              </a:r>
              <a:r>
                <a:rPr lang="en-US" altLang="en-US" sz="2000" b="1" dirty="0">
                  <a:solidFill>
                    <a:srgbClr val="C00000"/>
                  </a:solidFill>
                  <a:latin typeface="Arial" panose="020B0604020202020204" pitchFamily="34" charset="0"/>
                  <a:cs typeface="Arial" panose="020B0604020202020204" pitchFamily="34" charset="0"/>
                </a:rPr>
                <a:t>6/</a:t>
              </a:r>
              <a:r>
                <a:rPr lang="en-US" altLang="en-US" sz="2000" dirty="0">
                  <a:latin typeface="Arial" panose="020B0604020202020204" pitchFamily="34" charset="0"/>
                  <a:cs typeface="Arial" panose="020B0604020202020204" pitchFamily="34" charset="0"/>
                </a:rPr>
                <a:t>9</a:t>
              </a:r>
            </a:p>
          </p:txBody>
        </p:sp>
        <p:sp>
          <p:nvSpPr>
            <p:cNvPr id="710737" name="Text Box 81">
              <a:extLst>
                <a:ext uri="{FF2B5EF4-FFF2-40B4-BE49-F238E27FC236}">
                  <a16:creationId xmlns:a16="http://schemas.microsoft.com/office/drawing/2014/main" id="{5EEB67EA-FA04-42E4-9A86-1D24118DC709}"/>
                </a:ext>
              </a:extLst>
            </p:cNvPr>
            <p:cNvSpPr txBox="1">
              <a:spLocks noChangeArrowheads="1"/>
            </p:cNvSpPr>
            <p:nvPr/>
          </p:nvSpPr>
          <p:spPr bwMode="auto">
            <a:xfrm>
              <a:off x="7444248" y="5043023"/>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1/</a:t>
              </a:r>
              <a:r>
                <a:rPr lang="en-US" altLang="en-US" sz="2000" dirty="0">
                  <a:latin typeface="Arial" panose="020B0604020202020204" pitchFamily="34" charset="0"/>
                  <a:cs typeface="Arial" panose="020B0604020202020204" pitchFamily="34" charset="0"/>
                </a:rPr>
                <a:t>6</a:t>
              </a:r>
            </a:p>
          </p:txBody>
        </p:sp>
        <p:sp>
          <p:nvSpPr>
            <p:cNvPr id="710738" name="Text Box 82">
              <a:extLst>
                <a:ext uri="{FF2B5EF4-FFF2-40B4-BE49-F238E27FC236}">
                  <a16:creationId xmlns:a16="http://schemas.microsoft.com/office/drawing/2014/main" id="{205F31AB-659B-4FEC-B166-3C1CABADD2CF}"/>
                </a:ext>
              </a:extLst>
            </p:cNvPr>
            <p:cNvSpPr txBox="1">
              <a:spLocks noChangeArrowheads="1"/>
            </p:cNvSpPr>
            <p:nvPr/>
          </p:nvSpPr>
          <p:spPr bwMode="auto">
            <a:xfrm>
              <a:off x="9600403" y="5160001"/>
              <a:ext cx="714975"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10/</a:t>
              </a:r>
              <a:r>
                <a:rPr lang="en-US" altLang="en-US" sz="2000" dirty="0">
                  <a:latin typeface="Arial" panose="020B0604020202020204" pitchFamily="34" charset="0"/>
                  <a:cs typeface="Arial" panose="020B0604020202020204" pitchFamily="34" charset="0"/>
                </a:rPr>
                <a:t>10</a:t>
              </a:r>
            </a:p>
          </p:txBody>
        </p:sp>
        <p:sp>
          <p:nvSpPr>
            <p:cNvPr id="710739" name="Text Box 83">
              <a:extLst>
                <a:ext uri="{FF2B5EF4-FFF2-40B4-BE49-F238E27FC236}">
                  <a16:creationId xmlns:a16="http://schemas.microsoft.com/office/drawing/2014/main" id="{8296BE71-6B6F-463B-8C0A-94F5E736B46E}"/>
                </a:ext>
              </a:extLst>
            </p:cNvPr>
            <p:cNvSpPr txBox="1">
              <a:spLocks noChangeArrowheads="1"/>
            </p:cNvSpPr>
            <p:nvPr/>
          </p:nvSpPr>
          <p:spPr bwMode="auto">
            <a:xfrm>
              <a:off x="9704822" y="4352895"/>
              <a:ext cx="596075"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 8/</a:t>
              </a:r>
              <a:r>
                <a:rPr lang="en-US" altLang="en-US" sz="2000" dirty="0">
                  <a:latin typeface="Arial" panose="020B0604020202020204" pitchFamily="34" charset="0"/>
                  <a:cs typeface="Arial" panose="020B0604020202020204" pitchFamily="34" charset="0"/>
                </a:rPr>
                <a:t>10</a:t>
              </a:r>
              <a:endParaRPr lang="en-US" altLang="en-US" sz="1600" dirty="0">
                <a:latin typeface="Arial" panose="020B0604020202020204" pitchFamily="34" charset="0"/>
                <a:cs typeface="Arial" panose="020B0604020202020204" pitchFamily="34" charset="0"/>
              </a:endParaRPr>
            </a:p>
          </p:txBody>
        </p:sp>
        <p:sp>
          <p:nvSpPr>
            <p:cNvPr id="710740" name="Text Box 84">
              <a:extLst>
                <a:ext uri="{FF2B5EF4-FFF2-40B4-BE49-F238E27FC236}">
                  <a16:creationId xmlns:a16="http://schemas.microsoft.com/office/drawing/2014/main" id="{0F354EAC-9BAF-4735-9DC8-6E0300D4C60E}"/>
                </a:ext>
              </a:extLst>
            </p:cNvPr>
            <p:cNvSpPr txBox="1">
              <a:spLocks noChangeArrowheads="1"/>
            </p:cNvSpPr>
            <p:nvPr/>
          </p:nvSpPr>
          <p:spPr bwMode="auto">
            <a:xfrm>
              <a:off x="9703383" y="3588301"/>
              <a:ext cx="689644"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6/</a:t>
              </a:r>
              <a:r>
                <a:rPr lang="en-US" altLang="en-US" sz="2000" dirty="0">
                  <a:latin typeface="Arial" panose="020B0604020202020204" pitchFamily="34" charset="0"/>
                  <a:cs typeface="Arial" panose="020B0604020202020204" pitchFamily="34" charset="0"/>
                </a:rPr>
                <a:t>10</a:t>
              </a:r>
            </a:p>
          </p:txBody>
        </p:sp>
        <p:sp>
          <p:nvSpPr>
            <p:cNvPr id="710741" name="Text Box 85">
              <a:extLst>
                <a:ext uri="{FF2B5EF4-FFF2-40B4-BE49-F238E27FC236}">
                  <a16:creationId xmlns:a16="http://schemas.microsoft.com/office/drawing/2014/main" id="{DA3836EF-7B4F-4F15-B0F6-032168C5D6FA}"/>
                </a:ext>
              </a:extLst>
            </p:cNvPr>
            <p:cNvSpPr txBox="1">
              <a:spLocks noChangeArrowheads="1"/>
            </p:cNvSpPr>
            <p:nvPr/>
          </p:nvSpPr>
          <p:spPr bwMode="auto">
            <a:xfrm>
              <a:off x="8791308" y="3595078"/>
              <a:ext cx="545059"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15</a:t>
              </a:r>
            </a:p>
          </p:txBody>
        </p:sp>
        <p:sp>
          <p:nvSpPr>
            <p:cNvPr id="710742" name="Text Box 86">
              <a:extLst>
                <a:ext uri="{FF2B5EF4-FFF2-40B4-BE49-F238E27FC236}">
                  <a16:creationId xmlns:a16="http://schemas.microsoft.com/office/drawing/2014/main" id="{90B2F1EE-6551-462E-B731-7BC0ECF13613}"/>
                </a:ext>
              </a:extLst>
            </p:cNvPr>
            <p:cNvSpPr txBox="1">
              <a:spLocks noChangeArrowheads="1"/>
            </p:cNvSpPr>
            <p:nvPr/>
          </p:nvSpPr>
          <p:spPr bwMode="auto">
            <a:xfrm>
              <a:off x="6276229" y="3653451"/>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4/</a:t>
              </a:r>
              <a:r>
                <a:rPr lang="en-US" altLang="en-US" sz="2000" dirty="0">
                  <a:latin typeface="Arial" panose="020B0604020202020204" pitchFamily="34" charset="0"/>
                  <a:cs typeface="Arial" panose="020B0604020202020204" pitchFamily="34" charset="0"/>
                </a:rPr>
                <a:t>4</a:t>
              </a:r>
            </a:p>
          </p:txBody>
        </p:sp>
        <p:sp>
          <p:nvSpPr>
            <p:cNvPr id="710743" name="Text Box 87">
              <a:extLst>
                <a:ext uri="{FF2B5EF4-FFF2-40B4-BE49-F238E27FC236}">
                  <a16:creationId xmlns:a16="http://schemas.microsoft.com/office/drawing/2014/main" id="{4ECC4A50-EA5B-4BE9-8AA2-AA53B6EA7E58}"/>
                </a:ext>
              </a:extLst>
            </p:cNvPr>
            <p:cNvSpPr txBox="1">
              <a:spLocks noChangeArrowheads="1"/>
            </p:cNvSpPr>
            <p:nvPr/>
          </p:nvSpPr>
          <p:spPr bwMode="auto">
            <a:xfrm>
              <a:off x="6268652" y="5012007"/>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4</a:t>
              </a:r>
            </a:p>
          </p:txBody>
        </p:sp>
      </p:grpSp>
      <p:sp>
        <p:nvSpPr>
          <p:cNvPr id="15" name="Rectangle 14">
            <a:extLst>
              <a:ext uri="{FF2B5EF4-FFF2-40B4-BE49-F238E27FC236}">
                <a16:creationId xmlns:a16="http://schemas.microsoft.com/office/drawing/2014/main" id="{40C02F7C-FAE9-3FA4-6F3C-A6F61DD010F7}"/>
              </a:ext>
            </a:extLst>
          </p:cNvPr>
          <p:cNvSpPr/>
          <p:nvPr/>
        </p:nvSpPr>
        <p:spPr bwMode="auto">
          <a:xfrm>
            <a:off x="3840479" y="1732644"/>
            <a:ext cx="2432304" cy="402059"/>
          </a:xfrm>
          <a:prstGeom prst="rect">
            <a:avLst/>
          </a:prstGeom>
          <a:solidFill>
            <a:schemeClr val="accent6">
              <a:lumMod val="20000"/>
              <a:lumOff val="80000"/>
            </a:schemeClr>
          </a:solidFill>
          <a:ln w="38100" cap="flat" cmpd="sng">
            <a:noFill/>
            <a:prstDash val="solid"/>
            <a:round/>
            <a:headEnd type="triangle" w="med" len="med"/>
            <a:tailEnd type="none" w="med" len="med"/>
          </a:ln>
          <a:effectLst/>
        </p:spPr>
        <p:txBody>
          <a:bodyPr wrap="square" rtlCol="0" anchor="ctr">
            <a:spAutoFit/>
          </a:bodyPr>
          <a:lstStyle/>
          <a:p>
            <a:pPr algn="l"/>
            <a:endParaRPr lang="en-US"/>
          </a:p>
        </p:txBody>
      </p:sp>
      <mc:AlternateContent xmlns:mc="http://schemas.openxmlformats.org/markup-compatibility/2006">
        <mc:Choice xmlns:a14="http://schemas.microsoft.com/office/drawing/2010/main" Requires="a14">
          <p:sp>
            <p:nvSpPr>
              <p:cNvPr id="16" name="Rectangle 2">
                <a:extLst>
                  <a:ext uri="{FF2B5EF4-FFF2-40B4-BE49-F238E27FC236}">
                    <a16:creationId xmlns:a16="http://schemas.microsoft.com/office/drawing/2014/main" id="{1B0D5780-20B5-31F8-4359-A6AAB0BFEA3B}"/>
                  </a:ext>
                </a:extLst>
              </p:cNvPr>
              <p:cNvSpPr txBox="1">
                <a:spLocks noChangeArrowheads="1"/>
              </p:cNvSpPr>
              <p:nvPr/>
            </p:nvSpPr>
            <p:spPr>
              <a:xfrm>
                <a:off x="628650" y="1278147"/>
                <a:ext cx="10811510" cy="5200045"/>
              </a:xfrm>
              <a:prstGeom prst="rect">
                <a:avLst/>
              </a:prstGeom>
            </p:spPr>
            <p:txBody>
              <a:bodyPr vert="horz" lIns="91440" tIns="45720" rIns="91440" bIns="45720" rtlCol="0">
                <a:normAutofit/>
              </a:bodyPr>
              <a:lstStyle>
                <a:lvl1pPr marL="0" indent="0" algn="l" defTabSz="914400" rtl="0" eaLnBrk="1" latinLnBrk="0" hangingPunct="1">
                  <a:lnSpc>
                    <a:spcPct val="125000"/>
                  </a:lnSpc>
                  <a:spcBef>
                    <a:spcPts val="2400"/>
                  </a:spcBef>
                  <a:spcAft>
                    <a:spcPts val="0"/>
                  </a:spcAft>
                  <a:buFont typeface="Arial" panose="020B0604020202020204" pitchFamily="34" charset="0"/>
                  <a:buNone/>
                  <a:tabLst/>
                  <a:defRPr sz="2800" kern="1200">
                    <a:solidFill>
                      <a:schemeClr val="tx1"/>
                    </a:solidFill>
                    <a:latin typeface="Lato" panose="020F0502020204030203" pitchFamily="34" charset="77"/>
                    <a:ea typeface="Inter" panose="02000503000000020004" pitchFamily="2" charset="0"/>
                    <a:cs typeface="+mn-cs"/>
                  </a:defRPr>
                </a:lvl1pPr>
                <a:lvl2pPr marL="133350" indent="0" algn="l" defTabSz="914400" rtl="0" eaLnBrk="1" latinLnBrk="0" hangingPunct="1">
                  <a:lnSpc>
                    <a:spcPct val="125000"/>
                  </a:lnSpc>
                  <a:spcBef>
                    <a:spcPts val="2400"/>
                  </a:spcBef>
                  <a:spcAft>
                    <a:spcPts val="0"/>
                  </a:spcAft>
                  <a:buFont typeface="Arial" panose="020B0604020202020204" pitchFamily="34" charset="0"/>
                  <a:buNone/>
                  <a:tabLst/>
                  <a:defRPr sz="2800" kern="1200">
                    <a:solidFill>
                      <a:schemeClr val="tx1"/>
                    </a:solidFill>
                    <a:latin typeface="Lato" panose="020F0502020204030203" pitchFamily="34" charset="77"/>
                    <a:ea typeface="Inter" panose="02000503000000020004" pitchFamily="2" charset="0"/>
                    <a:cs typeface="+mn-cs"/>
                  </a:defRPr>
                </a:lvl2pPr>
                <a:lvl3pPr marL="923925" indent="-346075" algn="l" defTabSz="914400" rtl="0" eaLnBrk="1" latinLnBrk="0" hangingPunct="1">
                  <a:lnSpc>
                    <a:spcPct val="125000"/>
                  </a:lnSpc>
                  <a:spcBef>
                    <a:spcPts val="2400"/>
                  </a:spcBef>
                  <a:spcAft>
                    <a:spcPts val="0"/>
                  </a:spcAft>
                  <a:buFont typeface="Arial" panose="020B0604020202020204" pitchFamily="34" charset="0"/>
                  <a:buChar char="•"/>
                  <a:tabLst/>
                  <a:defRPr sz="2800" kern="1200">
                    <a:solidFill>
                      <a:schemeClr val="tx1"/>
                    </a:solidFill>
                    <a:latin typeface="Lato" panose="020F0502020204030203" pitchFamily="34" charset="77"/>
                    <a:ea typeface="Inter" panose="02000503000000020004" pitchFamily="2" charset="0"/>
                    <a:cs typeface="+mn-cs"/>
                  </a:defRPr>
                </a:lvl3pPr>
                <a:lvl4pPr marL="1381125" indent="-346075" algn="l" defTabSz="914400" rtl="0" eaLnBrk="1" latinLnBrk="0" hangingPunct="1">
                  <a:lnSpc>
                    <a:spcPct val="125000"/>
                  </a:lnSpc>
                  <a:spcBef>
                    <a:spcPts val="2400"/>
                  </a:spcBef>
                  <a:spcAft>
                    <a:spcPts val="0"/>
                  </a:spcAft>
                  <a:buFont typeface="Arial" panose="020B0604020202020204" pitchFamily="34" charset="0"/>
                  <a:buChar char="•"/>
                  <a:tabLst/>
                  <a:defRPr sz="2800" kern="1200">
                    <a:solidFill>
                      <a:schemeClr val="tx1"/>
                    </a:solidFill>
                    <a:latin typeface="Lato" panose="020F0502020204030203" pitchFamily="34" charset="77"/>
                    <a:ea typeface="Inter" panose="02000503000000020004" pitchFamily="2" charset="0"/>
                    <a:cs typeface="+mn-cs"/>
                  </a:defRPr>
                </a:lvl4pPr>
                <a:lvl5pPr marL="1836738" indent="-344488" algn="l" defTabSz="914400" rtl="0" eaLnBrk="1" latinLnBrk="0" hangingPunct="1">
                  <a:lnSpc>
                    <a:spcPct val="125000"/>
                  </a:lnSpc>
                  <a:spcBef>
                    <a:spcPts val="2400"/>
                  </a:spcBef>
                  <a:spcAft>
                    <a:spcPts val="0"/>
                  </a:spcAft>
                  <a:buFont typeface="Arial" panose="020B0604020202020204" pitchFamily="34" charset="0"/>
                  <a:buChar char="•"/>
                  <a:tabLst/>
                  <a:defRPr sz="2800" kern="1200">
                    <a:solidFill>
                      <a:schemeClr val="tx1"/>
                    </a:solidFill>
                    <a:latin typeface="Lato" panose="020F0502020204030203" pitchFamily="34" charset="77"/>
                    <a:ea typeface="Inter" panose="02000503000000020004" pitchFamily="2"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85000"/>
                  </a:lnSpc>
                  <a:spcBef>
                    <a:spcPts val="1000"/>
                  </a:spcBef>
                  <a:defRPr/>
                </a:pPr>
                <a:r>
                  <a:rPr lang="en-US" altLang="en-US" b="1" dirty="0">
                    <a:solidFill>
                      <a:srgbClr val="695082"/>
                    </a:solidFill>
                    <a:latin typeface="Calibri" panose="020F0502020204030204"/>
                    <a:ea typeface="+mn-ea"/>
                  </a:rPr>
                  <a:t>Defn: </a:t>
                </a:r>
                <a:r>
                  <a:rPr lang="en-US" altLang="en-US" dirty="0">
                    <a:solidFill>
                      <a:prstClr val="black"/>
                    </a:solidFill>
                    <a:latin typeface="Calibri" panose="020F0502020204030204"/>
                    <a:ea typeface="+mn-ea"/>
                  </a:rPr>
                  <a:t>An </a:t>
                </a:r>
                <a14:m>
                  <m:oMath xmlns:m="http://schemas.openxmlformats.org/officeDocument/2006/math">
                    <m:r>
                      <a:rPr lang="en-US" altLang="en-US" b="1" i="1" dirty="0" smtClean="0">
                        <a:solidFill>
                          <a:srgbClr val="C00000"/>
                        </a:solidFill>
                        <a:latin typeface="Cambria Math" panose="02040503050406030204" pitchFamily="18" charset="0"/>
                        <a:ea typeface="+mn-ea"/>
                      </a:rPr>
                      <m:t>𝒔</m:t>
                    </m:r>
                  </m:oMath>
                </a14:m>
                <a:r>
                  <a:rPr lang="en-US" altLang="en-US" dirty="0">
                    <a:solidFill>
                      <a:srgbClr val="C00000"/>
                    </a:solidFill>
                    <a:latin typeface="Calibri" panose="020F0502020204030204"/>
                    <a:ea typeface="+mn-ea"/>
                  </a:rPr>
                  <a:t>-</a:t>
                </a:r>
                <a14:m>
                  <m:oMath xmlns:m="http://schemas.openxmlformats.org/officeDocument/2006/math">
                    <m:r>
                      <a:rPr lang="en-US" altLang="en-US" b="1" i="1" dirty="0" smtClean="0">
                        <a:solidFill>
                          <a:srgbClr val="C00000"/>
                        </a:solidFill>
                        <a:latin typeface="Cambria Math" panose="02040503050406030204" pitchFamily="18" charset="0"/>
                        <a:ea typeface="+mn-ea"/>
                      </a:rPr>
                      <m:t>𝒕</m:t>
                    </m:r>
                  </m:oMath>
                </a14:m>
                <a:r>
                  <a:rPr lang="en-US" altLang="en-US" dirty="0">
                    <a:solidFill>
                      <a:srgbClr val="C00000"/>
                    </a:solidFill>
                    <a:latin typeface="Calibri" panose="020F0502020204030204"/>
                    <a:ea typeface="+mn-ea"/>
                  </a:rPr>
                  <a:t> flow</a:t>
                </a:r>
                <a:r>
                  <a:rPr lang="en-US" altLang="en-US" dirty="0">
                    <a:solidFill>
                      <a:prstClr val="black"/>
                    </a:solidFill>
                    <a:latin typeface="Calibri" panose="020F0502020204030204"/>
                    <a:ea typeface="+mn-ea"/>
                  </a:rPr>
                  <a:t> in a flow network is a function </a:t>
                </a:r>
                <a14:m>
                  <m:oMath xmlns:m="http://schemas.openxmlformats.org/officeDocument/2006/math">
                    <m:r>
                      <a:rPr lang="en-US" altLang="en-US" b="1" i="1" dirty="0">
                        <a:solidFill>
                          <a:srgbClr val="0066CC"/>
                        </a:solidFill>
                        <a:latin typeface="Cambria Math" panose="02040503050406030204" pitchFamily="18" charset="0"/>
                        <a:ea typeface="+mn-ea"/>
                      </a:rPr>
                      <m:t>𝒇</m:t>
                    </m:r>
                    <m:r>
                      <a:rPr lang="en-US" altLang="en-US" i="1" dirty="0">
                        <a:solidFill>
                          <a:srgbClr val="0066CC"/>
                        </a:solidFill>
                        <a:latin typeface="Cambria Math" panose="02040503050406030204" pitchFamily="18" charset="0"/>
                        <a:ea typeface="+mn-ea"/>
                      </a:rPr>
                      <m:t>: </m:t>
                    </m:r>
                    <m:r>
                      <a:rPr lang="en-US" altLang="en-US" b="1" i="1" dirty="0">
                        <a:solidFill>
                          <a:srgbClr val="0066CC"/>
                        </a:solidFill>
                        <a:latin typeface="Cambria Math" panose="02040503050406030204" pitchFamily="18" charset="0"/>
                        <a:ea typeface="+mn-ea"/>
                      </a:rPr>
                      <m:t>𝑬</m:t>
                    </m:r>
                    <m:r>
                      <a:rPr lang="en-US" altLang="en-US" i="1" dirty="0">
                        <a:solidFill>
                          <a:srgbClr val="0066CC"/>
                        </a:solidFill>
                        <a:latin typeface="Cambria Math" panose="02040503050406030204" pitchFamily="18" charset="0"/>
                        <a:ea typeface="+mn-ea"/>
                      </a:rPr>
                      <m:t> </m:t>
                    </m:r>
                    <m:r>
                      <a:rPr lang="en-US" altLang="en-US" i="1" dirty="0">
                        <a:solidFill>
                          <a:srgbClr val="0066CC"/>
                        </a:solidFill>
                        <a:latin typeface="Cambria Math" panose="02040503050406030204" pitchFamily="18" charset="0"/>
                        <a:ea typeface="+mn-ea"/>
                        <a:sym typeface="Symbol" panose="05050102010706020507" pitchFamily="18" charset="2"/>
                      </a:rPr>
                      <m:t> </m:t>
                    </m:r>
                    <m:r>
                      <a:rPr lang="en-US" altLang="en-US" b="1" i="1" dirty="0">
                        <a:solidFill>
                          <a:srgbClr val="0066CC"/>
                        </a:solidFill>
                        <a:latin typeface="Cambria Math" panose="02040503050406030204" pitchFamily="18" charset="0"/>
                        <a:ea typeface="Cambria Math" panose="02040503050406030204" pitchFamily="18" charset="0"/>
                        <a:sym typeface="Symbol" panose="05050102010706020507" pitchFamily="18" charset="2"/>
                      </a:rPr>
                      <m:t>ℝ</m:t>
                    </m:r>
                  </m:oMath>
                </a14:m>
                <a:r>
                  <a:rPr lang="en-US" altLang="en-US" dirty="0">
                    <a:solidFill>
                      <a:prstClr val="black"/>
                    </a:solidFill>
                    <a:latin typeface="Calibri" panose="020F0502020204030204"/>
                    <a:ea typeface="+mn-ea"/>
                  </a:rPr>
                  <a:t> that satisfies:</a:t>
                </a:r>
              </a:p>
              <a:p>
                <a:pPr marL="1143000" lvl="2" indent="-228600">
                  <a:lnSpc>
                    <a:spcPct val="90000"/>
                  </a:lnSpc>
                  <a:spcBef>
                    <a:spcPts val="500"/>
                  </a:spcBef>
                  <a:defRPr/>
                </a:pPr>
                <a:r>
                  <a:rPr lang="en-US" altLang="en-US" sz="2400" dirty="0">
                    <a:solidFill>
                      <a:prstClr val="black"/>
                    </a:solidFill>
                    <a:latin typeface="Calibri" panose="020F0502020204030204"/>
                    <a:ea typeface="+mn-ea"/>
                  </a:rPr>
                  <a:t>For each </a:t>
                </a:r>
                <a14:m>
                  <m:oMath xmlns:m="http://schemas.openxmlformats.org/officeDocument/2006/math">
                    <m:r>
                      <a:rPr lang="en-US" altLang="en-US" sz="2400" b="1" i="1" smtClean="0">
                        <a:solidFill>
                          <a:srgbClr val="0066CC"/>
                        </a:solidFill>
                        <a:latin typeface="Cambria Math" panose="02040503050406030204" pitchFamily="18" charset="0"/>
                        <a:ea typeface="+mn-ea"/>
                      </a:rPr>
                      <m:t>𝒆</m:t>
                    </m:r>
                    <m:r>
                      <a:rPr lang="en-US" altLang="en-US" sz="2400" b="1" i="1" smtClean="0">
                        <a:solidFill>
                          <a:srgbClr val="0066CC"/>
                        </a:solidFill>
                        <a:latin typeface="Cambria Math" panose="02040503050406030204" pitchFamily="18" charset="0"/>
                        <a:ea typeface="+mn-ea"/>
                      </a:rPr>
                      <m:t>∈</m:t>
                    </m:r>
                    <m:r>
                      <a:rPr lang="en-US" altLang="en-US" sz="2400" b="1" i="1" smtClean="0">
                        <a:solidFill>
                          <a:srgbClr val="0066CC"/>
                        </a:solidFill>
                        <a:latin typeface="Cambria Math" panose="02040503050406030204" pitchFamily="18" charset="0"/>
                        <a:ea typeface="+mn-ea"/>
                      </a:rPr>
                      <m:t>𝑬</m:t>
                    </m:r>
                  </m:oMath>
                </a14:m>
                <a:r>
                  <a:rPr lang="en-US" altLang="en-US" sz="2400" dirty="0">
                    <a:solidFill>
                      <a:prstClr val="black"/>
                    </a:solidFill>
                    <a:latin typeface="Calibri" panose="020F0502020204030204"/>
                    <a:ea typeface="+mn-ea"/>
                  </a:rPr>
                  <a:t>: </a:t>
                </a:r>
                <a14:m>
                  <m:oMath xmlns:m="http://schemas.openxmlformats.org/officeDocument/2006/math">
                    <m:r>
                      <a:rPr lang="en-US" altLang="en-US" sz="2400" b="1" i="1" dirty="0">
                        <a:solidFill>
                          <a:srgbClr val="0066CC"/>
                        </a:solidFill>
                        <a:latin typeface="Cambria Math" panose="02040503050406030204" pitchFamily="18" charset="0"/>
                        <a:ea typeface="+mn-ea"/>
                      </a:rPr>
                      <m:t>𝟎</m:t>
                    </m:r>
                    <m:r>
                      <a:rPr lang="en-US" altLang="en-US" sz="2400" b="1" i="1" dirty="0">
                        <a:solidFill>
                          <a:srgbClr val="0066CC"/>
                        </a:solidFill>
                        <a:latin typeface="Cambria Math" panose="02040503050406030204" pitchFamily="18" charset="0"/>
                        <a:ea typeface="+mn-ea"/>
                        <a:sym typeface="Symbol" panose="05050102010706020507" pitchFamily="18" charset="2"/>
                      </a:rPr>
                      <m:t>≤ </m:t>
                    </m:r>
                    <m:r>
                      <a:rPr lang="en-US" altLang="en-US" sz="2400" b="1" i="1" dirty="0">
                        <a:solidFill>
                          <a:srgbClr val="0066CC"/>
                        </a:solidFill>
                        <a:latin typeface="Cambria Math" panose="02040503050406030204" pitchFamily="18" charset="0"/>
                        <a:ea typeface="+mn-ea"/>
                      </a:rPr>
                      <m:t>𝒇</m:t>
                    </m:r>
                    <m:d>
                      <m:dPr>
                        <m:ctrlPr>
                          <a:rPr lang="en-US" altLang="en-US" sz="2400" b="1" i="1" dirty="0">
                            <a:solidFill>
                              <a:srgbClr val="0066CC"/>
                            </a:solidFill>
                            <a:latin typeface="Cambria Math" panose="02040503050406030204" pitchFamily="18" charset="0"/>
                            <a:ea typeface="+mn-ea"/>
                          </a:rPr>
                        </m:ctrlPr>
                      </m:dPr>
                      <m:e>
                        <m:r>
                          <a:rPr lang="en-US" altLang="en-US" sz="2400" b="1" i="1" dirty="0" smtClean="0">
                            <a:solidFill>
                              <a:srgbClr val="0066CC"/>
                            </a:solidFill>
                            <a:latin typeface="Cambria Math" panose="02040503050406030204" pitchFamily="18" charset="0"/>
                            <a:ea typeface="+mn-ea"/>
                          </a:rPr>
                          <m:t>𝒆</m:t>
                        </m:r>
                      </m:e>
                    </m:d>
                    <m:r>
                      <a:rPr lang="en-US" altLang="en-US" sz="2400" i="1" dirty="0">
                        <a:solidFill>
                          <a:srgbClr val="0066CC"/>
                        </a:solidFill>
                        <a:latin typeface="Cambria Math" panose="02040503050406030204" pitchFamily="18" charset="0"/>
                        <a:ea typeface="+mn-ea"/>
                        <a:sym typeface="Symbol" panose="05050102010706020507" pitchFamily="18" charset="2"/>
                      </a:rPr>
                      <m:t>≤ </m:t>
                    </m:r>
                    <m:r>
                      <a:rPr lang="en-US" altLang="en-US" sz="2400" b="1" i="1" dirty="0">
                        <a:solidFill>
                          <a:srgbClr val="0066CC"/>
                        </a:solidFill>
                        <a:latin typeface="Cambria Math" panose="02040503050406030204" pitchFamily="18" charset="0"/>
                        <a:ea typeface="+mn-ea"/>
                        <a:sym typeface="Symbol" panose="05050102010706020507" pitchFamily="18" charset="2"/>
                      </a:rPr>
                      <m:t>𝒄</m:t>
                    </m:r>
                    <m:r>
                      <a:rPr lang="en-US" altLang="en-US" sz="2400" i="1" dirty="0">
                        <a:solidFill>
                          <a:srgbClr val="0066CC"/>
                        </a:solidFill>
                        <a:latin typeface="Cambria Math" panose="02040503050406030204" pitchFamily="18" charset="0"/>
                        <a:ea typeface="+mn-ea"/>
                        <a:sym typeface="Symbol" panose="05050102010706020507" pitchFamily="18" charset="2"/>
                      </a:rPr>
                      <m:t>(</m:t>
                    </m:r>
                    <m:r>
                      <a:rPr lang="en-US" altLang="en-US" sz="2400" b="1" i="1" dirty="0" smtClean="0">
                        <a:solidFill>
                          <a:srgbClr val="0066CC"/>
                        </a:solidFill>
                        <a:latin typeface="Cambria Math" panose="02040503050406030204" pitchFamily="18" charset="0"/>
                        <a:ea typeface="+mn-ea"/>
                        <a:sym typeface="Symbol" panose="05050102010706020507" pitchFamily="18" charset="2"/>
                      </a:rPr>
                      <m:t>𝒆</m:t>
                    </m:r>
                    <m:r>
                      <a:rPr lang="en-US" altLang="en-US" sz="2400" i="1" dirty="0">
                        <a:solidFill>
                          <a:srgbClr val="0066CC"/>
                        </a:solidFill>
                        <a:latin typeface="Cambria Math" panose="02040503050406030204" pitchFamily="18" charset="0"/>
                        <a:ea typeface="+mn-ea"/>
                        <a:sym typeface="Symbol" panose="05050102010706020507" pitchFamily="18" charset="2"/>
                      </a:rPr>
                      <m:t>)</m:t>
                    </m:r>
                  </m:oMath>
                </a14:m>
                <a:r>
                  <a:rPr lang="en-US" altLang="en-US" sz="2400" dirty="0">
                    <a:solidFill>
                      <a:prstClr val="black"/>
                    </a:solidFill>
                    <a:latin typeface="Calibri" panose="020F0502020204030204"/>
                    <a:ea typeface="+mn-ea"/>
                  </a:rPr>
                  <a:t>                               </a:t>
                </a:r>
                <a:r>
                  <a:rPr lang="en-US" altLang="en-US" sz="2400" dirty="0">
                    <a:solidFill>
                      <a:srgbClr val="695082"/>
                    </a:solidFill>
                    <a:latin typeface="Calibri" panose="020F0502020204030204"/>
                    <a:ea typeface="+mn-ea"/>
                  </a:rPr>
                  <a:t>[capacity constraints]</a:t>
                </a:r>
              </a:p>
              <a:p>
                <a:pPr marL="1143000" lvl="2" indent="-228600">
                  <a:lnSpc>
                    <a:spcPct val="90000"/>
                  </a:lnSpc>
                  <a:spcBef>
                    <a:spcPts val="1800"/>
                  </a:spcBef>
                  <a:defRPr/>
                </a:pPr>
                <a:r>
                  <a:rPr lang="en-US" altLang="en-US" sz="2400" dirty="0">
                    <a:solidFill>
                      <a:srgbClr val="695082"/>
                    </a:solidFill>
                    <a:latin typeface="Calibri" panose="020F0502020204030204"/>
                    <a:ea typeface="+mn-ea"/>
                  </a:rPr>
                  <a:t>For each </a:t>
                </a:r>
                <a14:m>
                  <m:oMath xmlns:m="http://schemas.openxmlformats.org/officeDocument/2006/math">
                    <m:r>
                      <a:rPr lang="en-US" altLang="en-US" sz="2400" b="1" i="1" smtClean="0">
                        <a:solidFill>
                          <a:srgbClr val="0066CC"/>
                        </a:solidFill>
                        <a:latin typeface="Cambria Math" panose="02040503050406030204" pitchFamily="18" charset="0"/>
                        <a:ea typeface="+mn-ea"/>
                      </a:rPr>
                      <m:t>𝒗</m:t>
                    </m:r>
                    <m:r>
                      <a:rPr lang="en-US" altLang="en-US" sz="2400" b="1" i="1" smtClean="0">
                        <a:solidFill>
                          <a:srgbClr val="0066CC"/>
                        </a:solidFill>
                        <a:latin typeface="Cambria Math" panose="02040503050406030204" pitchFamily="18" charset="0"/>
                        <a:ea typeface="+mn-ea"/>
                      </a:rPr>
                      <m:t>∈</m:t>
                    </m:r>
                    <m:r>
                      <a:rPr lang="en-US" altLang="en-US" sz="2400" b="1" i="1" smtClean="0">
                        <a:solidFill>
                          <a:srgbClr val="0066CC"/>
                        </a:solidFill>
                        <a:latin typeface="Cambria Math" panose="02040503050406030204" pitchFamily="18" charset="0"/>
                        <a:ea typeface="+mn-ea"/>
                      </a:rPr>
                      <m:t>𝑽</m:t>
                    </m:r>
                    <m:r>
                      <a:rPr lang="en-US" altLang="en-US" sz="2400" b="1" i="1" smtClean="0">
                        <a:solidFill>
                          <a:srgbClr val="0066CC"/>
                        </a:solidFill>
                        <a:latin typeface="Cambria Math" panose="02040503050406030204" pitchFamily="18" charset="0"/>
                        <a:ea typeface="+mn-ea"/>
                      </a:rPr>
                      <m:t>−{</m:t>
                    </m:r>
                    <m:r>
                      <a:rPr lang="en-US" altLang="en-US" sz="2400" b="1" i="1" smtClean="0">
                        <a:solidFill>
                          <a:srgbClr val="0066CC"/>
                        </a:solidFill>
                        <a:latin typeface="Cambria Math" panose="02040503050406030204" pitchFamily="18" charset="0"/>
                        <a:ea typeface="+mn-ea"/>
                      </a:rPr>
                      <m:t>𝒔</m:t>
                    </m:r>
                    <m:r>
                      <a:rPr lang="en-US" altLang="en-US" sz="2400" b="1" i="1" smtClean="0">
                        <a:solidFill>
                          <a:srgbClr val="0066CC"/>
                        </a:solidFill>
                        <a:latin typeface="Cambria Math" panose="02040503050406030204" pitchFamily="18" charset="0"/>
                        <a:ea typeface="+mn-ea"/>
                      </a:rPr>
                      <m:t>,</m:t>
                    </m:r>
                    <m:r>
                      <a:rPr lang="en-US" altLang="en-US" sz="2400" b="1" i="1" smtClean="0">
                        <a:solidFill>
                          <a:srgbClr val="0066CC"/>
                        </a:solidFill>
                        <a:latin typeface="Cambria Math" panose="02040503050406030204" pitchFamily="18" charset="0"/>
                        <a:ea typeface="+mn-ea"/>
                      </a:rPr>
                      <m:t>𝒕</m:t>
                    </m:r>
                    <m:r>
                      <a:rPr lang="en-US" altLang="en-US" sz="2400" b="1" i="1" smtClean="0">
                        <a:solidFill>
                          <a:srgbClr val="0066CC"/>
                        </a:solidFill>
                        <a:latin typeface="Cambria Math" panose="02040503050406030204" pitchFamily="18" charset="0"/>
                        <a:ea typeface="+mn-ea"/>
                      </a:rPr>
                      <m:t>} </m:t>
                    </m:r>
                  </m:oMath>
                </a14:m>
                <a:r>
                  <a:rPr lang="en-US" altLang="en-US" sz="2400" dirty="0">
                    <a:solidFill>
                      <a:srgbClr val="695082"/>
                    </a:solidFill>
                    <a:latin typeface="Calibri" panose="020F0502020204030204"/>
                    <a:ea typeface="+mn-ea"/>
                  </a:rPr>
                  <a:t>:</a:t>
                </a:r>
                <a:endParaRPr lang="en-US" altLang="en-US" sz="700" dirty="0">
                  <a:solidFill>
                    <a:srgbClr val="695082"/>
                  </a:solidFill>
                  <a:latin typeface="Calibri" panose="020F0502020204030204"/>
                  <a:ea typeface="+mn-ea"/>
                </a:endParaRPr>
              </a:p>
              <a:p>
                <a:pPr>
                  <a:lnSpc>
                    <a:spcPct val="90000"/>
                  </a:lnSpc>
                  <a:spcBef>
                    <a:spcPts val="3000"/>
                  </a:spcBef>
                  <a:defRPr/>
                </a:pPr>
                <a:r>
                  <a:rPr lang="en-US" altLang="en-US" b="1" dirty="0" err="1">
                    <a:solidFill>
                      <a:srgbClr val="695082"/>
                    </a:solidFill>
                    <a:latin typeface="Calibri" panose="020F0502020204030204"/>
                    <a:ea typeface="+mn-ea"/>
                  </a:rPr>
                  <a:t>Defn</a:t>
                </a:r>
                <a:r>
                  <a:rPr lang="en-US" altLang="en-US" b="1" dirty="0">
                    <a:solidFill>
                      <a:srgbClr val="695082"/>
                    </a:solidFill>
                    <a:latin typeface="Calibri" panose="020F0502020204030204"/>
                    <a:ea typeface="+mn-ea"/>
                  </a:rPr>
                  <a:t>:</a:t>
                </a:r>
                <a:r>
                  <a:rPr lang="en-US" altLang="en-US" dirty="0">
                    <a:solidFill>
                      <a:srgbClr val="695082"/>
                    </a:solidFill>
                    <a:latin typeface="Calibri" panose="020F0502020204030204"/>
                    <a:ea typeface="+mn-ea"/>
                  </a:rPr>
                  <a:t> The </a:t>
                </a:r>
                <a:r>
                  <a:rPr lang="en-US" altLang="en-US" dirty="0">
                    <a:solidFill>
                      <a:srgbClr val="C00000"/>
                    </a:solidFill>
                    <a:latin typeface="Calibri" panose="020F0502020204030204"/>
                    <a:ea typeface="+mn-ea"/>
                  </a:rPr>
                  <a:t>value</a:t>
                </a:r>
                <a:r>
                  <a:rPr lang="en-US" altLang="en-US" dirty="0">
                    <a:solidFill>
                      <a:srgbClr val="695082"/>
                    </a:solidFill>
                    <a:latin typeface="Calibri" panose="020F0502020204030204"/>
                    <a:ea typeface="+mn-ea"/>
                  </a:rPr>
                  <a:t> of flow </a:t>
                </a:r>
                <a14:m>
                  <m:oMath xmlns:m="http://schemas.openxmlformats.org/officeDocument/2006/math">
                    <m:r>
                      <a:rPr lang="en-US" altLang="en-US" b="1" i="1" dirty="0" smtClean="0">
                        <a:solidFill>
                          <a:srgbClr val="0066CC"/>
                        </a:solidFill>
                        <a:latin typeface="Cambria Math" panose="02040503050406030204" pitchFamily="18" charset="0"/>
                        <a:ea typeface="+mn-ea"/>
                      </a:rPr>
                      <m:t>𝒇</m:t>
                    </m:r>
                  </m:oMath>
                </a14:m>
                <a:r>
                  <a:rPr lang="en-US" altLang="en-US" dirty="0">
                    <a:solidFill>
                      <a:srgbClr val="695082"/>
                    </a:solidFill>
                    <a:latin typeface="Calibri" panose="020F0502020204030204"/>
                    <a:ea typeface="+mn-ea"/>
                  </a:rPr>
                  <a:t>,</a:t>
                </a:r>
              </a:p>
              <a:p>
                <a:pPr>
                  <a:lnSpc>
                    <a:spcPct val="85000"/>
                  </a:lnSpc>
                  <a:spcBef>
                    <a:spcPts val="1000"/>
                  </a:spcBef>
                  <a:defRPr/>
                </a:pPr>
                <a:r>
                  <a:rPr lang="en-US" altLang="en-US" dirty="0">
                    <a:solidFill>
                      <a:prstClr val="black"/>
                    </a:solidFill>
                    <a:latin typeface="Calibri" panose="020F0502020204030204"/>
                    <a:ea typeface="+mn-ea"/>
                  </a:rPr>
                  <a:t> </a:t>
                </a:r>
              </a:p>
              <a:p>
                <a:pPr>
                  <a:lnSpc>
                    <a:spcPct val="85000"/>
                  </a:lnSpc>
                </a:pPr>
                <a:endParaRPr lang="en-US" altLang="en-US" dirty="0"/>
              </a:p>
            </p:txBody>
          </p:sp>
        </mc:Choice>
        <mc:Fallback>
          <p:sp>
            <p:nvSpPr>
              <p:cNvPr id="16" name="Rectangle 2">
                <a:extLst>
                  <a:ext uri="{FF2B5EF4-FFF2-40B4-BE49-F238E27FC236}">
                    <a16:creationId xmlns:a16="http://schemas.microsoft.com/office/drawing/2014/main" id="{1B0D5780-20B5-31F8-4359-A6AAB0BFEA3B}"/>
                  </a:ext>
                </a:extLst>
              </p:cNvPr>
              <p:cNvSpPr txBox="1">
                <a:spLocks noRot="1" noChangeAspect="1" noMove="1" noResize="1" noEditPoints="1" noAdjustHandles="1" noChangeArrowheads="1" noChangeShapeType="1" noTextEdit="1"/>
              </p:cNvSpPr>
              <p:nvPr/>
            </p:nvSpPr>
            <p:spPr>
              <a:xfrm>
                <a:off x="628650" y="1278147"/>
                <a:ext cx="10811510" cy="5200045"/>
              </a:xfrm>
              <a:prstGeom prst="rect">
                <a:avLst/>
              </a:prstGeom>
              <a:blipFill>
                <a:blip r:embed="rId3"/>
                <a:stretch>
                  <a:fillRect l="-1127" t="-234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027739AD-B27A-673D-1541-67831511C00E}"/>
                  </a:ext>
                </a:extLst>
              </p:cNvPr>
              <p:cNvSpPr txBox="1"/>
              <p:nvPr/>
            </p:nvSpPr>
            <p:spPr>
              <a:xfrm>
                <a:off x="5004850" y="2180836"/>
                <a:ext cx="3140668" cy="839269"/>
              </a:xfrm>
              <a:prstGeom prst="rect">
                <a:avLst/>
              </a:prstGeom>
              <a:solidFill>
                <a:schemeClr val="accent6">
                  <a:lumMod val="20000"/>
                  <a:lumOff val="80000"/>
                </a:schemeClr>
              </a:solidFill>
            </p:spPr>
            <p:txBody>
              <a:bodyPr wrap="none" rtlCol="0">
                <a:spAutoFit/>
              </a:bodyPr>
              <a:lstStyle/>
              <a:p>
                <a:pPr/>
                <a14:m>
                  <m:oMathPara xmlns:m="http://schemas.openxmlformats.org/officeDocument/2006/math">
                    <m:oMathParaPr>
                      <m:jc m:val="centerGroup"/>
                    </m:oMathParaPr>
                    <m:oMath xmlns:m="http://schemas.openxmlformats.org/officeDocument/2006/math">
                      <m:nary>
                        <m:naryPr>
                          <m:chr m:val="∑"/>
                          <m:supHide m:val="on"/>
                          <m:ctrlPr>
                            <a:rPr lang="en-US" sz="2000" b="1" i="1" smtClean="0">
                              <a:solidFill>
                                <a:srgbClr val="0066CC"/>
                              </a:solidFill>
                              <a:latin typeface="Cambria Math" panose="02040503050406030204" pitchFamily="18" charset="0"/>
                            </a:rPr>
                          </m:ctrlPr>
                        </m:naryPr>
                        <m:sub>
                          <m:r>
                            <a:rPr lang="en-US" sz="2000" b="1" i="1" smtClean="0">
                              <a:solidFill>
                                <a:srgbClr val="0066CC"/>
                              </a:solidFill>
                              <a:latin typeface="Cambria Math" panose="02040503050406030204" pitchFamily="18" charset="0"/>
                            </a:rPr>
                            <m:t>𝒆</m:t>
                          </m:r>
                          <m:r>
                            <a:rPr lang="en-US" sz="2000" b="1" i="1" smtClean="0">
                              <a:solidFill>
                                <a:srgbClr val="0066CC"/>
                              </a:solidFill>
                              <a:latin typeface="Cambria Math" panose="02040503050406030204" pitchFamily="18" charset="0"/>
                            </a:rPr>
                            <m:t> </m:t>
                          </m:r>
                          <m:r>
                            <m:rPr>
                              <m:sty m:val="p"/>
                            </m:rPr>
                            <a:rPr lang="en-US" sz="2000" b="0" i="0" smtClean="0">
                              <a:solidFill>
                                <a:schemeClr val="tx1"/>
                              </a:solidFill>
                              <a:latin typeface="Cambria Math" panose="02040503050406030204" pitchFamily="18" charset="0"/>
                            </a:rPr>
                            <m:t>into</m:t>
                          </m:r>
                          <m:r>
                            <a:rPr lang="en-US" sz="2000" b="1" i="1" smtClean="0">
                              <a:solidFill>
                                <a:srgbClr val="0066CC"/>
                              </a:solidFill>
                              <a:latin typeface="Cambria Math" panose="02040503050406030204" pitchFamily="18" charset="0"/>
                            </a:rPr>
                            <m:t> </m:t>
                          </m:r>
                          <m:r>
                            <a:rPr lang="en-US" sz="2000" b="1" i="1" smtClean="0">
                              <a:solidFill>
                                <a:srgbClr val="0066CC"/>
                              </a:solidFill>
                              <a:latin typeface="Cambria Math" panose="02040503050406030204" pitchFamily="18" charset="0"/>
                            </a:rPr>
                            <m:t>𝒗</m:t>
                          </m:r>
                        </m:sub>
                        <m:sup/>
                        <m:e>
                          <m:r>
                            <a:rPr lang="en-US" sz="2000" b="1" i="1" smtClean="0">
                              <a:solidFill>
                                <a:srgbClr val="0066CC"/>
                              </a:solidFill>
                              <a:latin typeface="Cambria Math" panose="02040503050406030204" pitchFamily="18" charset="0"/>
                            </a:rPr>
                            <m:t>𝒇</m:t>
                          </m:r>
                          <m:d>
                            <m:dPr>
                              <m:ctrlPr>
                                <a:rPr lang="en-US" sz="2000" b="1" i="1" smtClean="0">
                                  <a:solidFill>
                                    <a:srgbClr val="0066CC"/>
                                  </a:solidFill>
                                  <a:latin typeface="Cambria Math" panose="02040503050406030204" pitchFamily="18" charset="0"/>
                                </a:rPr>
                              </m:ctrlPr>
                            </m:dPr>
                            <m:e>
                              <m:r>
                                <a:rPr lang="en-US" sz="2000" b="1" i="1" smtClean="0">
                                  <a:solidFill>
                                    <a:srgbClr val="0066CC"/>
                                  </a:solidFill>
                                  <a:latin typeface="Cambria Math" panose="02040503050406030204" pitchFamily="18" charset="0"/>
                                </a:rPr>
                                <m:t>𝒆</m:t>
                              </m:r>
                            </m:e>
                          </m:d>
                          <m:r>
                            <a:rPr lang="en-US" sz="2000" b="1" i="1" smtClean="0">
                              <a:solidFill>
                                <a:srgbClr val="0066CC"/>
                              </a:solidFill>
                              <a:latin typeface="Cambria Math" panose="02040503050406030204" pitchFamily="18" charset="0"/>
                            </a:rPr>
                            <m:t>=</m:t>
                          </m:r>
                          <m:nary>
                            <m:naryPr>
                              <m:chr m:val="∑"/>
                              <m:supHide m:val="on"/>
                              <m:ctrlPr>
                                <a:rPr lang="en-US" sz="2000" b="1" i="1" smtClean="0">
                                  <a:solidFill>
                                    <a:srgbClr val="0066CC"/>
                                  </a:solidFill>
                                  <a:latin typeface="Cambria Math" panose="02040503050406030204" pitchFamily="18" charset="0"/>
                                </a:rPr>
                              </m:ctrlPr>
                            </m:naryPr>
                            <m:sub>
                              <m:r>
                                <a:rPr lang="en-US" sz="2000" b="1" i="1" smtClean="0">
                                  <a:solidFill>
                                    <a:srgbClr val="0066CC"/>
                                  </a:solidFill>
                                  <a:latin typeface="Cambria Math" panose="02040503050406030204" pitchFamily="18" charset="0"/>
                                </a:rPr>
                                <m:t>𝒆</m:t>
                              </m:r>
                              <m:r>
                                <a:rPr lang="en-US" sz="2000" b="1" i="1" smtClean="0">
                                  <a:solidFill>
                                    <a:srgbClr val="0066CC"/>
                                  </a:solidFill>
                                  <a:latin typeface="Cambria Math" panose="02040503050406030204" pitchFamily="18" charset="0"/>
                                </a:rPr>
                                <m:t> </m:t>
                              </m:r>
                              <m:r>
                                <m:rPr>
                                  <m:sty m:val="p"/>
                                </m:rPr>
                                <a:rPr lang="en-US" sz="2000" b="0" i="0" smtClean="0">
                                  <a:solidFill>
                                    <a:schemeClr val="tx1"/>
                                  </a:solidFill>
                                  <a:latin typeface="Cambria Math" panose="02040503050406030204" pitchFamily="18" charset="0"/>
                                </a:rPr>
                                <m:t>out</m:t>
                              </m:r>
                              <m:r>
                                <a:rPr lang="en-US" sz="2000" b="0" i="0" smtClean="0">
                                  <a:solidFill>
                                    <a:schemeClr val="tx1"/>
                                  </a:solidFill>
                                  <a:latin typeface="Cambria Math" panose="02040503050406030204" pitchFamily="18" charset="0"/>
                                </a:rPr>
                                <m:t> </m:t>
                              </m:r>
                              <m:r>
                                <m:rPr>
                                  <m:sty m:val="p"/>
                                </m:rPr>
                                <a:rPr lang="en-US" sz="2000" b="0" i="0" smtClean="0">
                                  <a:solidFill>
                                    <a:schemeClr val="tx1"/>
                                  </a:solidFill>
                                  <a:latin typeface="Cambria Math" panose="02040503050406030204" pitchFamily="18" charset="0"/>
                                </a:rPr>
                                <m:t>of</m:t>
                              </m:r>
                              <m:r>
                                <a:rPr lang="en-US" sz="2000" b="1" i="1" smtClean="0">
                                  <a:solidFill>
                                    <a:srgbClr val="0066CC"/>
                                  </a:solidFill>
                                  <a:latin typeface="Cambria Math" panose="02040503050406030204" pitchFamily="18" charset="0"/>
                                </a:rPr>
                                <m:t> </m:t>
                              </m:r>
                              <m:r>
                                <a:rPr lang="en-US" sz="2000" b="1" i="1" smtClean="0">
                                  <a:solidFill>
                                    <a:srgbClr val="0066CC"/>
                                  </a:solidFill>
                                  <a:latin typeface="Cambria Math" panose="02040503050406030204" pitchFamily="18" charset="0"/>
                                </a:rPr>
                                <m:t>𝒗</m:t>
                              </m:r>
                            </m:sub>
                            <m:sup/>
                            <m:e>
                              <m:r>
                                <a:rPr lang="en-US" sz="2000" b="1" i="1" smtClean="0">
                                  <a:solidFill>
                                    <a:srgbClr val="0066CC"/>
                                  </a:solidFill>
                                  <a:latin typeface="Cambria Math" panose="02040503050406030204" pitchFamily="18" charset="0"/>
                                </a:rPr>
                                <m:t>𝒇</m:t>
                              </m:r>
                              <m:r>
                                <a:rPr lang="en-US" sz="2000" b="1" i="1" smtClean="0">
                                  <a:solidFill>
                                    <a:srgbClr val="0066CC"/>
                                  </a:solidFill>
                                  <a:latin typeface="Cambria Math" panose="02040503050406030204" pitchFamily="18" charset="0"/>
                                </a:rPr>
                                <m:t>(</m:t>
                              </m:r>
                              <m:r>
                                <a:rPr lang="en-US" sz="2000" b="1" i="1" smtClean="0">
                                  <a:solidFill>
                                    <a:srgbClr val="0066CC"/>
                                  </a:solidFill>
                                  <a:latin typeface="Cambria Math" panose="02040503050406030204" pitchFamily="18" charset="0"/>
                                </a:rPr>
                                <m:t>𝒆</m:t>
                              </m:r>
                              <m:r>
                                <a:rPr lang="en-US" sz="2000" b="1" i="1" smtClean="0">
                                  <a:solidFill>
                                    <a:srgbClr val="0066CC"/>
                                  </a:solidFill>
                                  <a:latin typeface="Cambria Math" panose="02040503050406030204" pitchFamily="18" charset="0"/>
                                </a:rPr>
                                <m:t>)</m:t>
                              </m:r>
                            </m:e>
                          </m:nary>
                        </m:e>
                      </m:nary>
                    </m:oMath>
                  </m:oMathPara>
                </a14:m>
                <a:endParaRPr lang="en-US" b="1" dirty="0"/>
              </a:p>
            </p:txBody>
          </p:sp>
        </mc:Choice>
        <mc:Fallback>
          <p:sp>
            <p:nvSpPr>
              <p:cNvPr id="17" name="TextBox 16">
                <a:extLst>
                  <a:ext uri="{FF2B5EF4-FFF2-40B4-BE49-F238E27FC236}">
                    <a16:creationId xmlns:a16="http://schemas.microsoft.com/office/drawing/2014/main" id="{027739AD-B27A-673D-1541-67831511C00E}"/>
                  </a:ext>
                </a:extLst>
              </p:cNvPr>
              <p:cNvSpPr txBox="1">
                <a:spLocks noRot="1" noChangeAspect="1" noMove="1" noResize="1" noEditPoints="1" noAdjustHandles="1" noChangeArrowheads="1" noChangeShapeType="1" noTextEdit="1"/>
              </p:cNvSpPr>
              <p:nvPr/>
            </p:nvSpPr>
            <p:spPr>
              <a:xfrm>
                <a:off x="5004850" y="2180836"/>
                <a:ext cx="3140668" cy="839269"/>
              </a:xfrm>
              <a:prstGeom prst="rect">
                <a:avLst/>
              </a:prstGeom>
              <a:blipFill>
                <a:blip r:embed="rId4"/>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A413C017-F1F1-DAAA-B8D6-3753D66BCA3B}"/>
              </a:ext>
            </a:extLst>
          </p:cNvPr>
          <p:cNvSpPr txBox="1"/>
          <p:nvPr/>
        </p:nvSpPr>
        <p:spPr>
          <a:xfrm>
            <a:off x="8229705" y="2164190"/>
            <a:ext cx="2765430" cy="461665"/>
          </a:xfrm>
          <a:prstGeom prst="rect">
            <a:avLst/>
          </a:prstGeom>
          <a:noFill/>
        </p:spPr>
        <p:txBody>
          <a:bodyPr wrap="square" rtlCol="0">
            <a:spAutoFit/>
          </a:bodyPr>
          <a:lstStyle/>
          <a:p>
            <a:r>
              <a:rPr lang="en-US" altLang="en-US" sz="2400" dirty="0">
                <a:solidFill>
                  <a:srgbClr val="695082"/>
                </a:solidFill>
              </a:rPr>
              <a:t>[flow conservation]</a:t>
            </a:r>
          </a:p>
        </p:txBody>
      </p:sp>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2328F2F1-CCED-721B-6583-ACAED560FE02}"/>
                  </a:ext>
                </a:extLst>
              </p:cNvPr>
              <p:cNvSpPr txBox="1"/>
              <p:nvPr/>
            </p:nvSpPr>
            <p:spPr>
              <a:xfrm>
                <a:off x="1718008" y="3468858"/>
                <a:ext cx="2432333" cy="839269"/>
              </a:xfrm>
              <a:prstGeom prst="rect">
                <a:avLst/>
              </a:prstGeom>
              <a:solidFill>
                <a:schemeClr val="accent6">
                  <a:lumMod val="20000"/>
                  <a:lumOff val="80000"/>
                </a:schemeClr>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1" i="1" smtClean="0">
                          <a:solidFill>
                            <a:srgbClr val="C00000"/>
                          </a:solidFill>
                          <a:latin typeface="Cambria Math" panose="02040503050406030204" pitchFamily="18" charset="0"/>
                        </a:rPr>
                        <m:t>𝒗</m:t>
                      </m:r>
                      <m:d>
                        <m:dPr>
                          <m:ctrlPr>
                            <a:rPr lang="en-US" sz="2000" b="1" i="1" smtClean="0">
                              <a:solidFill>
                                <a:srgbClr val="C00000"/>
                              </a:solidFill>
                              <a:latin typeface="Cambria Math" panose="02040503050406030204" pitchFamily="18" charset="0"/>
                            </a:rPr>
                          </m:ctrlPr>
                        </m:dPr>
                        <m:e>
                          <m:r>
                            <a:rPr lang="en-US" sz="2000" b="1" i="1" smtClean="0">
                              <a:solidFill>
                                <a:srgbClr val="C00000"/>
                              </a:solidFill>
                              <a:latin typeface="Cambria Math" panose="02040503050406030204" pitchFamily="18" charset="0"/>
                            </a:rPr>
                            <m:t>𝒇</m:t>
                          </m:r>
                        </m:e>
                      </m:d>
                      <m:r>
                        <a:rPr lang="en-US" sz="2000" b="1" i="1" smtClean="0">
                          <a:solidFill>
                            <a:srgbClr val="0066CC"/>
                          </a:solidFill>
                          <a:latin typeface="Cambria Math" panose="02040503050406030204" pitchFamily="18" charset="0"/>
                        </a:rPr>
                        <m:t>=</m:t>
                      </m:r>
                      <m:nary>
                        <m:naryPr>
                          <m:chr m:val="∑"/>
                          <m:supHide m:val="on"/>
                          <m:ctrlPr>
                            <a:rPr lang="en-US" sz="2000" b="1" i="1" smtClean="0">
                              <a:solidFill>
                                <a:srgbClr val="0066CC"/>
                              </a:solidFill>
                              <a:latin typeface="Cambria Math" panose="02040503050406030204" pitchFamily="18" charset="0"/>
                            </a:rPr>
                          </m:ctrlPr>
                        </m:naryPr>
                        <m:sub>
                          <m:r>
                            <a:rPr lang="en-US" sz="2000" b="1" i="1" smtClean="0">
                              <a:solidFill>
                                <a:srgbClr val="0066CC"/>
                              </a:solidFill>
                              <a:latin typeface="Cambria Math" panose="02040503050406030204" pitchFamily="18" charset="0"/>
                            </a:rPr>
                            <m:t>𝒆</m:t>
                          </m:r>
                          <m:r>
                            <a:rPr lang="en-US" sz="2000" b="1" i="1" smtClean="0">
                              <a:solidFill>
                                <a:srgbClr val="0066CC"/>
                              </a:solidFill>
                              <a:latin typeface="Cambria Math" panose="02040503050406030204" pitchFamily="18" charset="0"/>
                            </a:rPr>
                            <m:t> </m:t>
                          </m:r>
                          <m:r>
                            <m:rPr>
                              <m:sty m:val="p"/>
                            </m:rPr>
                            <a:rPr lang="en-US" sz="2000" b="0" i="0" smtClean="0">
                              <a:solidFill>
                                <a:schemeClr val="tx1"/>
                              </a:solidFill>
                              <a:latin typeface="Cambria Math" panose="02040503050406030204" pitchFamily="18" charset="0"/>
                            </a:rPr>
                            <m:t>out</m:t>
                          </m:r>
                          <m:r>
                            <a:rPr lang="en-US" sz="2000" b="0" i="0" smtClean="0">
                              <a:solidFill>
                                <a:schemeClr val="tx1"/>
                              </a:solidFill>
                              <a:latin typeface="Cambria Math" panose="02040503050406030204" pitchFamily="18" charset="0"/>
                            </a:rPr>
                            <m:t> </m:t>
                          </m:r>
                          <m:r>
                            <m:rPr>
                              <m:sty m:val="p"/>
                            </m:rPr>
                            <a:rPr lang="en-US" sz="2000" b="0" i="0" smtClean="0">
                              <a:solidFill>
                                <a:schemeClr val="tx1"/>
                              </a:solidFill>
                              <a:latin typeface="Cambria Math" panose="02040503050406030204" pitchFamily="18" charset="0"/>
                            </a:rPr>
                            <m:t>of</m:t>
                          </m:r>
                          <m:r>
                            <a:rPr lang="en-US" sz="2000" b="1" i="1" smtClean="0">
                              <a:solidFill>
                                <a:srgbClr val="0066CC"/>
                              </a:solidFill>
                              <a:latin typeface="Cambria Math" panose="02040503050406030204" pitchFamily="18" charset="0"/>
                            </a:rPr>
                            <m:t> </m:t>
                          </m:r>
                          <m:r>
                            <a:rPr lang="en-US" sz="2000" b="1" i="1" smtClean="0">
                              <a:solidFill>
                                <a:srgbClr val="0066CC"/>
                              </a:solidFill>
                              <a:latin typeface="Cambria Math" panose="02040503050406030204" pitchFamily="18" charset="0"/>
                            </a:rPr>
                            <m:t>𝒔</m:t>
                          </m:r>
                        </m:sub>
                        <m:sup/>
                        <m:e>
                          <m:r>
                            <a:rPr lang="en-US" sz="2000" b="1" i="1" smtClean="0">
                              <a:solidFill>
                                <a:srgbClr val="0066CC"/>
                              </a:solidFill>
                              <a:latin typeface="Cambria Math" panose="02040503050406030204" pitchFamily="18" charset="0"/>
                            </a:rPr>
                            <m:t>𝒇</m:t>
                          </m:r>
                          <m:d>
                            <m:dPr>
                              <m:ctrlPr>
                                <a:rPr lang="en-US" sz="2000" b="1" i="1" smtClean="0">
                                  <a:solidFill>
                                    <a:srgbClr val="0066CC"/>
                                  </a:solidFill>
                                  <a:latin typeface="Cambria Math" panose="02040503050406030204" pitchFamily="18" charset="0"/>
                                </a:rPr>
                              </m:ctrlPr>
                            </m:dPr>
                            <m:e>
                              <m:r>
                                <a:rPr lang="en-US" sz="2000" b="1" i="1" smtClean="0">
                                  <a:solidFill>
                                    <a:srgbClr val="0066CC"/>
                                  </a:solidFill>
                                  <a:latin typeface="Cambria Math" panose="02040503050406030204" pitchFamily="18" charset="0"/>
                                </a:rPr>
                                <m:t>𝒆</m:t>
                              </m:r>
                            </m:e>
                          </m:d>
                        </m:e>
                      </m:nary>
                    </m:oMath>
                  </m:oMathPara>
                </a14:m>
                <a:endParaRPr lang="en-US" b="1" dirty="0"/>
              </a:p>
            </p:txBody>
          </p:sp>
        </mc:Choice>
        <mc:Fallback>
          <p:sp>
            <p:nvSpPr>
              <p:cNvPr id="19" name="TextBox 18">
                <a:extLst>
                  <a:ext uri="{FF2B5EF4-FFF2-40B4-BE49-F238E27FC236}">
                    <a16:creationId xmlns:a16="http://schemas.microsoft.com/office/drawing/2014/main" id="{2328F2F1-CCED-721B-6583-ACAED560FE02}"/>
                  </a:ext>
                </a:extLst>
              </p:cNvPr>
              <p:cNvSpPr txBox="1">
                <a:spLocks noRot="1" noChangeAspect="1" noMove="1" noResize="1" noEditPoints="1" noAdjustHandles="1" noChangeArrowheads="1" noChangeShapeType="1" noTextEdit="1"/>
              </p:cNvSpPr>
              <p:nvPr/>
            </p:nvSpPr>
            <p:spPr>
              <a:xfrm>
                <a:off x="1718008" y="3468858"/>
                <a:ext cx="2432333" cy="839269"/>
              </a:xfrm>
              <a:prstGeom prst="rect">
                <a:avLst/>
              </a:prstGeom>
              <a:blipFill>
                <a:blip r:embed="rId5"/>
                <a:stretch>
                  <a:fillRect/>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BF8AF87-DC45-D8F5-84F4-4BC4A4EB54AB}"/>
              </a:ext>
            </a:extLst>
          </p:cNvPr>
          <p:cNvSpPr txBox="1"/>
          <p:nvPr/>
        </p:nvSpPr>
        <p:spPr>
          <a:xfrm>
            <a:off x="1351578" y="5677971"/>
            <a:ext cx="1520544" cy="461665"/>
          </a:xfrm>
          <a:prstGeom prst="rect">
            <a:avLst/>
          </a:prstGeom>
          <a:noFill/>
        </p:spPr>
        <p:txBody>
          <a:bodyPr wrap="none" rtlCol="0">
            <a:spAutoFit/>
          </a:bodyPr>
          <a:lstStyle/>
          <a:p>
            <a:r>
              <a:rPr lang="en-US" sz="2400" dirty="0"/>
              <a:t>value = </a:t>
            </a:r>
            <a:r>
              <a:rPr lang="en-US" sz="2400" b="1" dirty="0">
                <a:solidFill>
                  <a:srgbClr val="C00000"/>
                </a:solidFill>
              </a:rPr>
              <a:t>24</a:t>
            </a:r>
          </a:p>
        </p:txBody>
      </p:sp>
      <mc:AlternateContent xmlns:mc="http://schemas.openxmlformats.org/markup-compatibility/2006">
        <mc:Choice xmlns:a14="http://schemas.microsoft.com/office/drawing/2010/main" Requires="a14">
          <p:sp>
            <p:nvSpPr>
              <p:cNvPr id="21" name="TextBox 20">
                <a:extLst>
                  <a:ext uri="{FF2B5EF4-FFF2-40B4-BE49-F238E27FC236}">
                    <a16:creationId xmlns:a16="http://schemas.microsoft.com/office/drawing/2014/main" id="{2C52516A-9003-EAC4-C2B4-7A540FDE2E7B}"/>
                  </a:ext>
                </a:extLst>
              </p:cNvPr>
              <p:cNvSpPr txBox="1"/>
              <p:nvPr/>
            </p:nvSpPr>
            <p:spPr>
              <a:xfrm>
                <a:off x="-47715" y="5016882"/>
                <a:ext cx="4099264" cy="461665"/>
              </a:xfrm>
              <a:prstGeom prst="rect">
                <a:avLst/>
              </a:prstGeom>
              <a:noFill/>
            </p:spPr>
            <p:txBody>
              <a:bodyPr wrap="none" rtlCol="0">
                <a:spAutoFit/>
              </a:bodyPr>
              <a:lstStyle/>
              <a:p>
                <a:r>
                  <a:rPr lang="en-US" sz="2400" dirty="0"/>
                  <a:t>Only show non-zero values of </a:t>
                </a:r>
                <a14:m>
                  <m:oMath xmlns:m="http://schemas.openxmlformats.org/officeDocument/2006/math">
                    <m:r>
                      <a:rPr lang="en-US" sz="2400" b="1" i="1" dirty="0" smtClean="0">
                        <a:solidFill>
                          <a:srgbClr val="C00000"/>
                        </a:solidFill>
                        <a:latin typeface="Cambria Math" panose="02040503050406030204" pitchFamily="18" charset="0"/>
                      </a:rPr>
                      <m:t>𝒇</m:t>
                    </m:r>
                  </m:oMath>
                </a14:m>
                <a:endParaRPr lang="en-US" sz="2400" b="1" dirty="0">
                  <a:solidFill>
                    <a:srgbClr val="0066CC"/>
                  </a:solidFill>
                </a:endParaRPr>
              </a:p>
            </p:txBody>
          </p:sp>
        </mc:Choice>
        <mc:Fallback>
          <p:sp>
            <p:nvSpPr>
              <p:cNvPr id="21" name="TextBox 20">
                <a:extLst>
                  <a:ext uri="{FF2B5EF4-FFF2-40B4-BE49-F238E27FC236}">
                    <a16:creationId xmlns:a16="http://schemas.microsoft.com/office/drawing/2014/main" id="{2C52516A-9003-EAC4-C2B4-7A540FDE2E7B}"/>
                  </a:ext>
                </a:extLst>
              </p:cNvPr>
              <p:cNvSpPr txBox="1">
                <a:spLocks noRot="1" noChangeAspect="1" noMove="1" noResize="1" noEditPoints="1" noAdjustHandles="1" noChangeArrowheads="1" noChangeShapeType="1" noTextEdit="1"/>
              </p:cNvSpPr>
              <p:nvPr/>
            </p:nvSpPr>
            <p:spPr>
              <a:xfrm>
                <a:off x="-47715" y="5016882"/>
                <a:ext cx="4099264" cy="461665"/>
              </a:xfrm>
              <a:prstGeom prst="rect">
                <a:avLst/>
              </a:prstGeom>
              <a:blipFill>
                <a:blip r:embed="rId6"/>
                <a:stretch>
                  <a:fillRect l="-2229" t="-10526" r="-5052" b="-28947"/>
                </a:stretch>
              </a:blipFill>
            </p:spPr>
            <p:txBody>
              <a:bodyPr/>
              <a:lstStyle/>
              <a:p>
                <a:r>
                  <a:rPr lang="en-US">
                    <a:noFill/>
                  </a:rPr>
                  <a:t> </a:t>
                </a:r>
              </a:p>
            </p:txBody>
          </p:sp>
        </mc:Fallback>
      </mc:AlternateContent>
    </p:spTree>
    <p:extLst>
      <p:ext uri="{BB962C8B-B14F-4D97-AF65-F5344CB8AC3E}">
        <p14:creationId xmlns:p14="http://schemas.microsoft.com/office/powerpoint/2010/main" val="35055449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710658" name="Rectangle 2">
                <a:extLst>
                  <a:ext uri="{FF2B5EF4-FFF2-40B4-BE49-F238E27FC236}">
                    <a16:creationId xmlns:a16="http://schemas.microsoft.com/office/drawing/2014/main" id="{CB091DDF-2BE4-491C-910B-E6A98B6859F5}"/>
                  </a:ext>
                </a:extLst>
              </p:cNvPr>
              <p:cNvSpPr>
                <a:spLocks noGrp="1" noChangeArrowheads="1"/>
              </p:cNvSpPr>
              <p:nvPr>
                <p:ph type="body" idx="1"/>
              </p:nvPr>
            </p:nvSpPr>
            <p:spPr>
              <a:xfrm>
                <a:off x="628650" y="1437538"/>
                <a:ext cx="10811510" cy="5200045"/>
              </a:xfrm>
            </p:spPr>
            <p:txBody>
              <a:bodyPr>
                <a:normAutofit/>
              </a:bodyPr>
              <a:lstStyle/>
              <a:p>
                <a:pPr marL="0" indent="0">
                  <a:lnSpc>
                    <a:spcPct val="85000"/>
                  </a:lnSpc>
                  <a:buNone/>
                </a:pPr>
                <a:r>
                  <a:rPr lang="en-US" altLang="en-US" sz="2800" b="1" dirty="0">
                    <a:solidFill>
                      <a:srgbClr val="0066CC"/>
                    </a:solidFill>
                  </a:rPr>
                  <a:t>Given:</a:t>
                </a:r>
                <a:r>
                  <a:rPr lang="en-US" altLang="en-US" sz="2800" b="1" dirty="0">
                    <a:solidFill>
                      <a:srgbClr val="695082"/>
                    </a:solidFill>
                  </a:rPr>
                  <a:t> </a:t>
                </a:r>
                <a:r>
                  <a:rPr lang="en-US" altLang="en-US" sz="2800" dirty="0"/>
                  <a:t>a flow network </a:t>
                </a:r>
              </a:p>
              <a:p>
                <a:pPr marL="0" indent="0">
                  <a:lnSpc>
                    <a:spcPct val="85000"/>
                  </a:lnSpc>
                  <a:buNone/>
                </a:pPr>
                <a:r>
                  <a:rPr lang="en-US" altLang="en-US" sz="2800" b="1" dirty="0">
                    <a:solidFill>
                      <a:srgbClr val="006600"/>
                    </a:solidFill>
                  </a:rPr>
                  <a:t>Find:</a:t>
                </a:r>
                <a:r>
                  <a:rPr lang="en-US" altLang="en-US" sz="2800" b="1" dirty="0">
                    <a:solidFill>
                      <a:srgbClr val="695082"/>
                    </a:solidFill>
                  </a:rPr>
                  <a:t> </a:t>
                </a:r>
                <a:r>
                  <a:rPr lang="en-US" altLang="en-US" sz="2800" dirty="0"/>
                  <a:t>an </a:t>
                </a:r>
                <a14:m>
                  <m:oMath xmlns:m="http://schemas.openxmlformats.org/officeDocument/2006/math">
                    <m:r>
                      <a:rPr lang="en-US" altLang="en-US" sz="2800" b="1" i="1" dirty="0" smtClean="0">
                        <a:solidFill>
                          <a:srgbClr val="0066CC"/>
                        </a:solidFill>
                        <a:latin typeface="Cambria Math" panose="02040503050406030204" pitchFamily="18" charset="0"/>
                      </a:rPr>
                      <m:t>𝒔</m:t>
                    </m:r>
                  </m:oMath>
                </a14:m>
                <a:r>
                  <a:rPr lang="en-US" altLang="en-US" sz="2800" dirty="0"/>
                  <a:t>-</a:t>
                </a:r>
                <a14:m>
                  <m:oMath xmlns:m="http://schemas.openxmlformats.org/officeDocument/2006/math">
                    <m:r>
                      <a:rPr lang="en-US" altLang="en-US" sz="2800" b="1" i="1" dirty="0" smtClean="0">
                        <a:solidFill>
                          <a:srgbClr val="0066CC"/>
                        </a:solidFill>
                        <a:latin typeface="Cambria Math" panose="02040503050406030204" pitchFamily="18" charset="0"/>
                      </a:rPr>
                      <m:t>𝒕</m:t>
                    </m:r>
                  </m:oMath>
                </a14:m>
                <a:r>
                  <a:rPr lang="en-US" altLang="en-US" sz="2800" dirty="0"/>
                  <a:t> flow of maximum value</a:t>
                </a:r>
              </a:p>
            </p:txBody>
          </p:sp>
        </mc:Choice>
        <mc:Fallback xmlns="">
          <p:sp>
            <p:nvSpPr>
              <p:cNvPr id="710658" name="Rectangle 2">
                <a:extLst>
                  <a:ext uri="{FF2B5EF4-FFF2-40B4-BE49-F238E27FC236}">
                    <a16:creationId xmlns:a16="http://schemas.microsoft.com/office/drawing/2014/main" id="{CB091DDF-2BE4-491C-910B-E6A98B6859F5}"/>
                  </a:ext>
                </a:extLst>
              </p:cNvPr>
              <p:cNvSpPr>
                <a:spLocks noGrp="1" noRot="1" noChangeAspect="1" noMove="1" noResize="1" noEditPoints="1" noAdjustHandles="1" noChangeArrowheads="1" noChangeShapeType="1" noTextEdit="1"/>
              </p:cNvSpPr>
              <p:nvPr>
                <p:ph type="body" idx="1"/>
              </p:nvPr>
            </p:nvSpPr>
            <p:spPr>
              <a:xfrm>
                <a:off x="628650" y="1437538"/>
                <a:ext cx="10811510" cy="5200045"/>
              </a:xfrm>
              <a:blipFill>
                <a:blip r:embed="rId3"/>
                <a:stretch>
                  <a:fillRect l="-1127" t="-2345"/>
                </a:stretch>
              </a:blipFill>
            </p:spPr>
            <p:txBody>
              <a:bodyPr/>
              <a:lstStyle/>
              <a:p>
                <a:r>
                  <a:rPr lang="en-US">
                    <a:noFill/>
                  </a:rPr>
                  <a:t> </a:t>
                </a:r>
              </a:p>
            </p:txBody>
          </p:sp>
        </mc:Fallback>
      </mc:AlternateContent>
      <p:sp>
        <p:nvSpPr>
          <p:cNvPr id="46" name="Slide Number Placeholder 3">
            <a:extLst>
              <a:ext uri="{FF2B5EF4-FFF2-40B4-BE49-F238E27FC236}">
                <a16:creationId xmlns:a16="http://schemas.microsoft.com/office/drawing/2014/main" id="{8682F2DF-919C-413D-9B59-A40AF3ACD726}"/>
              </a:ext>
            </a:extLst>
          </p:cNvPr>
          <p:cNvSpPr>
            <a:spLocks noGrp="1"/>
          </p:cNvSpPr>
          <p:nvPr>
            <p:ph type="sldNum" sz="quarter" idx="10"/>
          </p:nvPr>
        </p:nvSpPr>
        <p:spPr/>
        <p:txBody>
          <a:bodyPr/>
          <a:lstStyle/>
          <a:p>
            <a:fld id="{E962C5CE-5F29-4369-A268-DF953E3BBA7B}" type="slidenum">
              <a:rPr lang="en-US" altLang="en-US"/>
              <a:pPr/>
              <a:t>4</a:t>
            </a:fld>
            <a:endParaRPr lang="en-US" altLang="en-US" sz="1400"/>
          </a:p>
        </p:txBody>
      </p:sp>
      <p:sp>
        <p:nvSpPr>
          <p:cNvPr id="710659" name="Rectangle 3">
            <a:extLst>
              <a:ext uri="{FF2B5EF4-FFF2-40B4-BE49-F238E27FC236}">
                <a16:creationId xmlns:a16="http://schemas.microsoft.com/office/drawing/2014/main" id="{5F4FD653-3E81-4970-A885-9A04BFB66492}"/>
              </a:ext>
            </a:extLst>
          </p:cNvPr>
          <p:cNvSpPr>
            <a:spLocks noGrp="1" noChangeArrowheads="1"/>
          </p:cNvSpPr>
          <p:nvPr>
            <p:ph type="title"/>
          </p:nvPr>
        </p:nvSpPr>
        <p:spPr/>
        <p:txBody>
          <a:bodyPr/>
          <a:lstStyle/>
          <a:p>
            <a:r>
              <a:rPr lang="en-US" altLang="en-US" dirty="0"/>
              <a:t>Maximum Flow Problem</a:t>
            </a:r>
          </a:p>
        </p:txBody>
      </p:sp>
      <p:grpSp>
        <p:nvGrpSpPr>
          <p:cNvPr id="28" name="Group 27">
            <a:extLst>
              <a:ext uri="{FF2B5EF4-FFF2-40B4-BE49-F238E27FC236}">
                <a16:creationId xmlns:a16="http://schemas.microsoft.com/office/drawing/2014/main" id="{2F886C7A-5F8C-4D5A-B1FC-3D24401D8DE7}"/>
              </a:ext>
            </a:extLst>
          </p:cNvPr>
          <p:cNvGrpSpPr/>
          <p:nvPr/>
        </p:nvGrpSpPr>
        <p:grpSpPr>
          <a:xfrm>
            <a:off x="4395659" y="2923138"/>
            <a:ext cx="6599476" cy="3137327"/>
            <a:chOff x="4395659" y="2923138"/>
            <a:chExt cx="6599476" cy="3137327"/>
          </a:xfrm>
        </p:grpSpPr>
        <p:cxnSp>
          <p:nvCxnSpPr>
            <p:cNvPr id="51" name="AutoShape 68">
              <a:extLst>
                <a:ext uri="{FF2B5EF4-FFF2-40B4-BE49-F238E27FC236}">
                  <a16:creationId xmlns:a16="http://schemas.microsoft.com/office/drawing/2014/main" id="{CAB3C207-5366-428C-872E-7F5DDD5A8A0A}"/>
                </a:ext>
              </a:extLst>
            </p:cNvPr>
            <p:cNvCxnSpPr>
              <a:cxnSpLocks noChangeShapeType="1"/>
              <a:stCxn id="710721" idx="1"/>
              <a:endCxn id="710708" idx="5"/>
            </p:cNvCxnSpPr>
            <p:nvPr/>
          </p:nvCxnSpPr>
          <p:spPr bwMode="auto">
            <a:xfrm flipH="1" flipV="1">
              <a:off x="6575184" y="4634480"/>
              <a:ext cx="2273571" cy="112970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06" name="Oval 50">
              <a:extLst>
                <a:ext uri="{FF2B5EF4-FFF2-40B4-BE49-F238E27FC236}">
                  <a16:creationId xmlns:a16="http://schemas.microsoft.com/office/drawing/2014/main" id="{5EDB66B3-A335-46A8-B0A4-E18E80459647}"/>
                </a:ext>
              </a:extLst>
            </p:cNvPr>
            <p:cNvSpPr>
              <a:spLocks noChangeAspect="1" noChangeArrowheads="1"/>
            </p:cNvSpPr>
            <p:nvPr/>
          </p:nvSpPr>
          <p:spPr bwMode="auto">
            <a:xfrm>
              <a:off x="4395659"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solidFill>
                    <a:srgbClr val="C00000"/>
                  </a:solidFill>
                </a:rPr>
                <a:t>s</a:t>
              </a:r>
            </a:p>
          </p:txBody>
        </p:sp>
        <p:sp>
          <p:nvSpPr>
            <p:cNvPr id="710707" name="Oval 51">
              <a:extLst>
                <a:ext uri="{FF2B5EF4-FFF2-40B4-BE49-F238E27FC236}">
                  <a16:creationId xmlns:a16="http://schemas.microsoft.com/office/drawing/2014/main" id="{C791F0FD-59F6-4EAA-9A7F-5FEB226AA91C}"/>
                </a:ext>
              </a:extLst>
            </p:cNvPr>
            <p:cNvSpPr>
              <a:spLocks noChangeAspect="1" noChangeArrowheads="1"/>
            </p:cNvSpPr>
            <p:nvPr/>
          </p:nvSpPr>
          <p:spPr bwMode="auto">
            <a:xfrm>
              <a:off x="6278899" y="2923138"/>
              <a:ext cx="347119" cy="35151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a</a:t>
              </a:r>
            </a:p>
          </p:txBody>
        </p:sp>
        <p:sp>
          <p:nvSpPr>
            <p:cNvPr id="710708" name="Oval 52">
              <a:extLst>
                <a:ext uri="{FF2B5EF4-FFF2-40B4-BE49-F238E27FC236}">
                  <a16:creationId xmlns:a16="http://schemas.microsoft.com/office/drawing/2014/main" id="{7433E6CD-DBA9-4397-BB73-2328DC47DBFF}"/>
                </a:ext>
              </a:extLst>
            </p:cNvPr>
            <p:cNvSpPr>
              <a:spLocks noChangeAspect="1" noChangeArrowheads="1"/>
            </p:cNvSpPr>
            <p:nvPr/>
          </p:nvSpPr>
          <p:spPr bwMode="auto">
            <a:xfrm>
              <a:off x="6278899"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b</a:t>
              </a:r>
            </a:p>
          </p:txBody>
        </p:sp>
        <p:sp>
          <p:nvSpPr>
            <p:cNvPr id="710709" name="Oval 53">
              <a:extLst>
                <a:ext uri="{FF2B5EF4-FFF2-40B4-BE49-F238E27FC236}">
                  <a16:creationId xmlns:a16="http://schemas.microsoft.com/office/drawing/2014/main" id="{DB0B1551-4016-4996-9CB3-8D6736D27F5C}"/>
                </a:ext>
              </a:extLst>
            </p:cNvPr>
            <p:cNvSpPr>
              <a:spLocks noChangeAspect="1" noChangeArrowheads="1"/>
            </p:cNvSpPr>
            <p:nvPr/>
          </p:nvSpPr>
          <p:spPr bwMode="auto">
            <a:xfrm>
              <a:off x="6278899" y="5713346"/>
              <a:ext cx="347119" cy="347119"/>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c</a:t>
              </a:r>
            </a:p>
          </p:txBody>
        </p:sp>
        <p:cxnSp>
          <p:nvCxnSpPr>
            <p:cNvPr id="710710" name="AutoShape 54">
              <a:extLst>
                <a:ext uri="{FF2B5EF4-FFF2-40B4-BE49-F238E27FC236}">
                  <a16:creationId xmlns:a16="http://schemas.microsoft.com/office/drawing/2014/main" id="{3963BDDA-EEB2-4C16-A1BE-D107140B66AB}"/>
                </a:ext>
              </a:extLst>
            </p:cNvPr>
            <p:cNvCxnSpPr>
              <a:cxnSpLocks noChangeShapeType="1"/>
              <a:stCxn id="710706" idx="7"/>
              <a:endCxn id="710707" idx="3"/>
            </p:cNvCxnSpPr>
            <p:nvPr/>
          </p:nvCxnSpPr>
          <p:spPr bwMode="auto">
            <a:xfrm flipV="1">
              <a:off x="4691944" y="3223173"/>
              <a:ext cx="1637789" cy="1164304"/>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1" name="AutoShape 55">
              <a:extLst>
                <a:ext uri="{FF2B5EF4-FFF2-40B4-BE49-F238E27FC236}">
                  <a16:creationId xmlns:a16="http://schemas.microsoft.com/office/drawing/2014/main" id="{500797BD-7630-4137-AC5D-99C13711BAB5}"/>
                </a:ext>
              </a:extLst>
            </p:cNvPr>
            <p:cNvCxnSpPr>
              <a:cxnSpLocks noChangeShapeType="1"/>
              <a:stCxn id="710706" idx="6"/>
              <a:endCxn id="710708" idx="2"/>
            </p:cNvCxnSpPr>
            <p:nvPr/>
          </p:nvCxnSpPr>
          <p:spPr bwMode="auto">
            <a:xfrm>
              <a:off x="4742778" y="4510979"/>
              <a:ext cx="1536121" cy="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2" name="AutoShape 56">
              <a:extLst>
                <a:ext uri="{FF2B5EF4-FFF2-40B4-BE49-F238E27FC236}">
                  <a16:creationId xmlns:a16="http://schemas.microsoft.com/office/drawing/2014/main" id="{04F6A8EE-5010-42E5-9B2F-E956649EB9DD}"/>
                </a:ext>
              </a:extLst>
            </p:cNvPr>
            <p:cNvCxnSpPr>
              <a:cxnSpLocks noChangeShapeType="1"/>
              <a:stCxn id="710706" idx="5"/>
              <a:endCxn id="710709" idx="1"/>
            </p:cNvCxnSpPr>
            <p:nvPr/>
          </p:nvCxnSpPr>
          <p:spPr bwMode="auto">
            <a:xfrm>
              <a:off x="4691944" y="4634480"/>
              <a:ext cx="1637789" cy="112970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3" name="AutoShape 57">
              <a:extLst>
                <a:ext uri="{FF2B5EF4-FFF2-40B4-BE49-F238E27FC236}">
                  <a16:creationId xmlns:a16="http://schemas.microsoft.com/office/drawing/2014/main" id="{CB5CA9F1-C5CC-4E55-8567-407127EDD6FD}"/>
                </a:ext>
              </a:extLst>
            </p:cNvPr>
            <p:cNvCxnSpPr>
              <a:cxnSpLocks noChangeShapeType="1"/>
              <a:stCxn id="710708" idx="6"/>
              <a:endCxn id="710720" idx="2"/>
            </p:cNvCxnSpPr>
            <p:nvPr/>
          </p:nvCxnSpPr>
          <p:spPr bwMode="auto">
            <a:xfrm>
              <a:off x="6626018" y="4510979"/>
              <a:ext cx="2171903" cy="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5" name="AutoShape 59">
              <a:extLst>
                <a:ext uri="{FF2B5EF4-FFF2-40B4-BE49-F238E27FC236}">
                  <a16:creationId xmlns:a16="http://schemas.microsoft.com/office/drawing/2014/main" id="{FF578E0C-BCE9-4BDC-BE4D-1C3233FE9069}"/>
                </a:ext>
              </a:extLst>
            </p:cNvPr>
            <p:cNvCxnSpPr>
              <a:cxnSpLocks noChangeShapeType="1"/>
              <a:stCxn id="710708" idx="4"/>
              <a:endCxn id="710709" idx="0"/>
            </p:cNvCxnSpPr>
            <p:nvPr/>
          </p:nvCxnSpPr>
          <p:spPr bwMode="auto">
            <a:xfrm>
              <a:off x="6452459" y="4685636"/>
              <a:ext cx="0" cy="102771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6" name="AutoShape 60">
              <a:extLst>
                <a:ext uri="{FF2B5EF4-FFF2-40B4-BE49-F238E27FC236}">
                  <a16:creationId xmlns:a16="http://schemas.microsoft.com/office/drawing/2014/main" id="{5D951401-EF5F-40F8-8FF8-28BC78F6A7BA}"/>
                </a:ext>
              </a:extLst>
            </p:cNvPr>
            <p:cNvCxnSpPr>
              <a:cxnSpLocks noChangeShapeType="1"/>
              <a:stCxn id="710707" idx="6"/>
              <a:endCxn id="710719" idx="2"/>
            </p:cNvCxnSpPr>
            <p:nvPr/>
          </p:nvCxnSpPr>
          <p:spPr bwMode="auto">
            <a:xfrm>
              <a:off x="6626018" y="3098894"/>
              <a:ext cx="2171903" cy="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7" name="AutoShape 61">
              <a:extLst>
                <a:ext uri="{FF2B5EF4-FFF2-40B4-BE49-F238E27FC236}">
                  <a16:creationId xmlns:a16="http://schemas.microsoft.com/office/drawing/2014/main" id="{A929A23E-9723-40FB-8B80-4463475544AE}"/>
                </a:ext>
              </a:extLst>
            </p:cNvPr>
            <p:cNvCxnSpPr>
              <a:cxnSpLocks noChangeShapeType="1"/>
              <a:stCxn id="710709" idx="6"/>
              <a:endCxn id="710721" idx="2"/>
            </p:cNvCxnSpPr>
            <p:nvPr/>
          </p:nvCxnSpPr>
          <p:spPr bwMode="auto">
            <a:xfrm>
              <a:off x="6626018" y="5886906"/>
              <a:ext cx="2171903" cy="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8" name="AutoShape 62">
              <a:extLst>
                <a:ext uri="{FF2B5EF4-FFF2-40B4-BE49-F238E27FC236}">
                  <a16:creationId xmlns:a16="http://schemas.microsoft.com/office/drawing/2014/main" id="{56B2200F-0095-48E8-A6B5-E08D3FED1F4F}"/>
                </a:ext>
              </a:extLst>
            </p:cNvPr>
            <p:cNvCxnSpPr>
              <a:cxnSpLocks noChangeShapeType="1"/>
              <a:stCxn id="710707" idx="4"/>
              <a:endCxn id="710708" idx="0"/>
            </p:cNvCxnSpPr>
            <p:nvPr/>
          </p:nvCxnSpPr>
          <p:spPr bwMode="auto">
            <a:xfrm>
              <a:off x="6452459" y="3274651"/>
              <a:ext cx="0" cy="106167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19" name="Oval 63">
              <a:extLst>
                <a:ext uri="{FF2B5EF4-FFF2-40B4-BE49-F238E27FC236}">
                  <a16:creationId xmlns:a16="http://schemas.microsoft.com/office/drawing/2014/main" id="{6D6CA7B8-81FA-4ECF-9EC2-0188554C97F8}"/>
                </a:ext>
              </a:extLst>
            </p:cNvPr>
            <p:cNvSpPr>
              <a:spLocks noChangeAspect="1" noChangeArrowheads="1"/>
            </p:cNvSpPr>
            <p:nvPr/>
          </p:nvSpPr>
          <p:spPr bwMode="auto">
            <a:xfrm>
              <a:off x="8797921" y="2923138"/>
              <a:ext cx="347119" cy="35151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d</a:t>
              </a:r>
            </a:p>
          </p:txBody>
        </p:sp>
        <p:sp>
          <p:nvSpPr>
            <p:cNvPr id="710720" name="Oval 64">
              <a:extLst>
                <a:ext uri="{FF2B5EF4-FFF2-40B4-BE49-F238E27FC236}">
                  <a16:creationId xmlns:a16="http://schemas.microsoft.com/office/drawing/2014/main" id="{5FADFF93-67BC-4F3C-BA9D-F45E800F686D}"/>
                </a:ext>
              </a:extLst>
            </p:cNvPr>
            <p:cNvSpPr>
              <a:spLocks noChangeAspect="1" noChangeArrowheads="1"/>
            </p:cNvSpPr>
            <p:nvPr/>
          </p:nvSpPr>
          <p:spPr bwMode="auto">
            <a:xfrm>
              <a:off x="8797921"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e</a:t>
              </a:r>
            </a:p>
          </p:txBody>
        </p:sp>
        <p:sp>
          <p:nvSpPr>
            <p:cNvPr id="710721" name="Oval 65">
              <a:extLst>
                <a:ext uri="{FF2B5EF4-FFF2-40B4-BE49-F238E27FC236}">
                  <a16:creationId xmlns:a16="http://schemas.microsoft.com/office/drawing/2014/main" id="{5FF356EB-F06B-477C-AA8F-9ACC5EDE5A9F}"/>
                </a:ext>
              </a:extLst>
            </p:cNvPr>
            <p:cNvSpPr>
              <a:spLocks noChangeAspect="1" noChangeArrowheads="1"/>
            </p:cNvSpPr>
            <p:nvPr/>
          </p:nvSpPr>
          <p:spPr bwMode="auto">
            <a:xfrm>
              <a:off x="8797921" y="5713346"/>
              <a:ext cx="347119" cy="347119"/>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f</a:t>
              </a:r>
            </a:p>
          </p:txBody>
        </p:sp>
        <p:cxnSp>
          <p:nvCxnSpPr>
            <p:cNvPr id="710722" name="AutoShape 66">
              <a:extLst>
                <a:ext uri="{FF2B5EF4-FFF2-40B4-BE49-F238E27FC236}">
                  <a16:creationId xmlns:a16="http://schemas.microsoft.com/office/drawing/2014/main" id="{6CAC5FAF-7C24-4B59-9E5B-970C57F85D75}"/>
                </a:ext>
              </a:extLst>
            </p:cNvPr>
            <p:cNvCxnSpPr>
              <a:cxnSpLocks noChangeShapeType="1"/>
              <a:stCxn id="710720" idx="4"/>
              <a:endCxn id="710721" idx="0"/>
            </p:cNvCxnSpPr>
            <p:nvPr/>
          </p:nvCxnSpPr>
          <p:spPr bwMode="auto">
            <a:xfrm>
              <a:off x="8971480" y="4685636"/>
              <a:ext cx="0" cy="102771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3" name="AutoShape 67">
              <a:extLst>
                <a:ext uri="{FF2B5EF4-FFF2-40B4-BE49-F238E27FC236}">
                  <a16:creationId xmlns:a16="http://schemas.microsoft.com/office/drawing/2014/main" id="{02A1F7FD-3A69-496D-A0C6-9E0B7498F083}"/>
                </a:ext>
              </a:extLst>
            </p:cNvPr>
            <p:cNvCxnSpPr>
              <a:cxnSpLocks noChangeShapeType="1"/>
              <a:stCxn id="710719" idx="4"/>
              <a:endCxn id="710720" idx="0"/>
            </p:cNvCxnSpPr>
            <p:nvPr/>
          </p:nvCxnSpPr>
          <p:spPr bwMode="auto">
            <a:xfrm>
              <a:off x="8971480" y="3274651"/>
              <a:ext cx="0" cy="106167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4" name="AutoShape 68">
              <a:extLst>
                <a:ext uri="{FF2B5EF4-FFF2-40B4-BE49-F238E27FC236}">
                  <a16:creationId xmlns:a16="http://schemas.microsoft.com/office/drawing/2014/main" id="{A59DDDAD-046C-41D6-AD72-EFD283E2916C}"/>
                </a:ext>
              </a:extLst>
            </p:cNvPr>
            <p:cNvCxnSpPr>
              <a:cxnSpLocks noChangeShapeType="1"/>
              <a:stCxn id="710707" idx="5"/>
              <a:endCxn id="710720" idx="1"/>
            </p:cNvCxnSpPr>
            <p:nvPr/>
          </p:nvCxnSpPr>
          <p:spPr bwMode="auto">
            <a:xfrm>
              <a:off x="6575184" y="3223173"/>
              <a:ext cx="2273571" cy="1164304"/>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25" name="Oval 69">
              <a:extLst>
                <a:ext uri="{FF2B5EF4-FFF2-40B4-BE49-F238E27FC236}">
                  <a16:creationId xmlns:a16="http://schemas.microsoft.com/office/drawing/2014/main" id="{5DBB04F5-4A14-4512-B3D9-38E24230652F}"/>
                </a:ext>
              </a:extLst>
            </p:cNvPr>
            <p:cNvSpPr>
              <a:spLocks noChangeAspect="1" noChangeArrowheads="1"/>
            </p:cNvSpPr>
            <p:nvPr/>
          </p:nvSpPr>
          <p:spPr bwMode="auto">
            <a:xfrm>
              <a:off x="10648016"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solidFill>
                    <a:srgbClr val="C00000"/>
                  </a:solidFill>
                </a:rPr>
                <a:t>t</a:t>
              </a:r>
            </a:p>
          </p:txBody>
        </p:sp>
        <p:cxnSp>
          <p:nvCxnSpPr>
            <p:cNvPr id="710726" name="AutoShape 70">
              <a:extLst>
                <a:ext uri="{FF2B5EF4-FFF2-40B4-BE49-F238E27FC236}">
                  <a16:creationId xmlns:a16="http://schemas.microsoft.com/office/drawing/2014/main" id="{D1F58022-A270-4460-9379-D0A7FAF1B20E}"/>
                </a:ext>
              </a:extLst>
            </p:cNvPr>
            <p:cNvCxnSpPr>
              <a:cxnSpLocks noChangeShapeType="1"/>
              <a:stCxn id="710719" idx="6"/>
              <a:endCxn id="710725" idx="1"/>
            </p:cNvCxnSpPr>
            <p:nvPr/>
          </p:nvCxnSpPr>
          <p:spPr bwMode="auto">
            <a:xfrm>
              <a:off x="9145040" y="3098894"/>
              <a:ext cx="1553810" cy="1288583"/>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7" name="AutoShape 71">
              <a:extLst>
                <a:ext uri="{FF2B5EF4-FFF2-40B4-BE49-F238E27FC236}">
                  <a16:creationId xmlns:a16="http://schemas.microsoft.com/office/drawing/2014/main" id="{8009E4A0-472B-406A-AFD6-0553FE5CC77C}"/>
                </a:ext>
              </a:extLst>
            </p:cNvPr>
            <p:cNvCxnSpPr>
              <a:cxnSpLocks noChangeShapeType="1"/>
              <a:stCxn id="710720" idx="6"/>
              <a:endCxn id="710725" idx="2"/>
            </p:cNvCxnSpPr>
            <p:nvPr/>
          </p:nvCxnSpPr>
          <p:spPr bwMode="auto">
            <a:xfrm>
              <a:off x="9145040" y="4510979"/>
              <a:ext cx="1502976" cy="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8" name="AutoShape 72">
              <a:extLst>
                <a:ext uri="{FF2B5EF4-FFF2-40B4-BE49-F238E27FC236}">
                  <a16:creationId xmlns:a16="http://schemas.microsoft.com/office/drawing/2014/main" id="{E5CB0D21-BAA0-4835-A49D-49FE212797CB}"/>
                </a:ext>
              </a:extLst>
            </p:cNvPr>
            <p:cNvCxnSpPr>
              <a:cxnSpLocks noChangeShapeType="1"/>
              <a:stCxn id="710721" idx="7"/>
              <a:endCxn id="710725" idx="4"/>
            </p:cNvCxnSpPr>
            <p:nvPr/>
          </p:nvCxnSpPr>
          <p:spPr bwMode="auto">
            <a:xfrm flipV="1">
              <a:off x="9094206" y="4685636"/>
              <a:ext cx="1727370" cy="1078544"/>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29" name="Text Box 73">
              <a:extLst>
                <a:ext uri="{FF2B5EF4-FFF2-40B4-BE49-F238E27FC236}">
                  <a16:creationId xmlns:a16="http://schemas.microsoft.com/office/drawing/2014/main" id="{AAAB09A9-EC8D-4414-8817-65353064DC87}"/>
                </a:ext>
              </a:extLst>
            </p:cNvPr>
            <p:cNvSpPr txBox="1">
              <a:spLocks noChangeArrowheads="1"/>
            </p:cNvSpPr>
            <p:nvPr/>
          </p:nvSpPr>
          <p:spPr bwMode="auto">
            <a:xfrm>
              <a:off x="5140633" y="5112122"/>
              <a:ext cx="892815"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a:t>
              </a:r>
              <a:r>
                <a:rPr lang="en-US" altLang="en-US" sz="2000" b="1" dirty="0">
                  <a:solidFill>
                    <a:srgbClr val="C00000"/>
                  </a:solidFill>
                  <a:latin typeface="Arial" panose="020B0604020202020204" pitchFamily="34" charset="0"/>
                  <a:cs typeface="Arial" panose="020B0604020202020204" pitchFamily="34" charset="0"/>
                </a:rPr>
                <a:t>11/</a:t>
              </a:r>
              <a:r>
                <a:rPr lang="en-US" altLang="en-US" sz="2000" dirty="0">
                  <a:latin typeface="Arial" panose="020B0604020202020204" pitchFamily="34" charset="0"/>
                  <a:cs typeface="Arial" panose="020B0604020202020204" pitchFamily="34" charset="0"/>
                </a:rPr>
                <a:t>15</a:t>
              </a:r>
            </a:p>
          </p:txBody>
        </p:sp>
        <p:sp>
          <p:nvSpPr>
            <p:cNvPr id="710730" name="Text Box 74">
              <a:extLst>
                <a:ext uri="{FF2B5EF4-FFF2-40B4-BE49-F238E27FC236}">
                  <a16:creationId xmlns:a16="http://schemas.microsoft.com/office/drawing/2014/main" id="{876DCB81-C2CB-43B6-8640-CF55C1427FEF}"/>
                </a:ext>
              </a:extLst>
            </p:cNvPr>
            <p:cNvSpPr txBox="1">
              <a:spLocks noChangeArrowheads="1"/>
            </p:cNvSpPr>
            <p:nvPr/>
          </p:nvSpPr>
          <p:spPr bwMode="auto">
            <a:xfrm>
              <a:off x="5458549" y="4352895"/>
              <a:ext cx="453335"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600" dirty="0">
                  <a:latin typeface="Arial" panose="020B0604020202020204" pitchFamily="34" charset="0"/>
                  <a:cs typeface="Arial" panose="020B0604020202020204" pitchFamily="34" charset="0"/>
                </a:rPr>
                <a:t> </a:t>
              </a:r>
              <a:r>
                <a:rPr lang="en-US" altLang="en-US" sz="2000" b="1" dirty="0">
                  <a:solidFill>
                    <a:srgbClr val="C00000"/>
                  </a:solidFill>
                  <a:latin typeface="Arial" panose="020B0604020202020204" pitchFamily="34" charset="0"/>
                  <a:cs typeface="Arial" panose="020B0604020202020204" pitchFamily="34" charset="0"/>
                </a:rPr>
                <a:t>3</a:t>
              </a:r>
              <a:r>
                <a:rPr lang="en-US" altLang="en-US" sz="1600" b="1" dirty="0">
                  <a:solidFill>
                    <a:srgbClr val="C00000"/>
                  </a:solidFill>
                  <a:latin typeface="Arial" panose="020B0604020202020204" pitchFamily="34" charset="0"/>
                  <a:cs typeface="Arial" panose="020B0604020202020204" pitchFamily="34" charset="0"/>
                </a:rPr>
                <a:t>/</a:t>
              </a:r>
              <a:r>
                <a:rPr lang="en-US" altLang="en-US" sz="2000" dirty="0">
                  <a:latin typeface="Arial" panose="020B0604020202020204" pitchFamily="34" charset="0"/>
                  <a:cs typeface="Arial" panose="020B0604020202020204" pitchFamily="34" charset="0"/>
                </a:rPr>
                <a:t>5</a:t>
              </a:r>
              <a:endParaRPr lang="en-US" altLang="en-US" sz="1600" dirty="0">
                <a:latin typeface="Arial" panose="020B0604020202020204" pitchFamily="34" charset="0"/>
                <a:cs typeface="Arial" panose="020B0604020202020204" pitchFamily="34" charset="0"/>
              </a:endParaRPr>
            </a:p>
          </p:txBody>
        </p:sp>
        <p:sp>
          <p:nvSpPr>
            <p:cNvPr id="710731" name="Text Box 75">
              <a:extLst>
                <a:ext uri="{FF2B5EF4-FFF2-40B4-BE49-F238E27FC236}">
                  <a16:creationId xmlns:a16="http://schemas.microsoft.com/office/drawing/2014/main" id="{987DF8DB-99E2-4C14-B47B-F33F6E8164DE}"/>
                </a:ext>
              </a:extLst>
            </p:cNvPr>
            <p:cNvSpPr txBox="1">
              <a:spLocks noChangeArrowheads="1"/>
            </p:cNvSpPr>
            <p:nvPr/>
          </p:nvSpPr>
          <p:spPr bwMode="auto">
            <a:xfrm>
              <a:off x="7331165" y="5713346"/>
              <a:ext cx="718833" cy="307777"/>
            </a:xfrm>
            <a:prstGeom prst="rect">
              <a:avLst/>
            </a:prstGeom>
            <a:solidFill>
              <a:schemeClr val="bg1"/>
            </a:solidFill>
            <a:ln w="12700">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a:t>
              </a:r>
              <a:r>
                <a:rPr lang="en-US" altLang="en-US" sz="2000" b="1" dirty="0">
                  <a:solidFill>
                    <a:srgbClr val="C00000"/>
                  </a:solidFill>
                  <a:latin typeface="Arial" panose="020B0604020202020204" pitchFamily="34" charset="0"/>
                  <a:cs typeface="Arial" panose="020B0604020202020204" pitchFamily="34" charset="0"/>
                </a:rPr>
                <a:t>11/</a:t>
              </a:r>
              <a:r>
                <a:rPr lang="en-US" altLang="en-US" sz="2000" dirty="0">
                  <a:latin typeface="Arial" panose="020B0604020202020204" pitchFamily="34" charset="0"/>
                  <a:cs typeface="Arial" panose="020B0604020202020204" pitchFamily="34" charset="0"/>
                </a:rPr>
                <a:t>30</a:t>
              </a:r>
            </a:p>
          </p:txBody>
        </p:sp>
        <p:sp>
          <p:nvSpPr>
            <p:cNvPr id="710732" name="Text Box 76">
              <a:extLst>
                <a:ext uri="{FF2B5EF4-FFF2-40B4-BE49-F238E27FC236}">
                  <a16:creationId xmlns:a16="http://schemas.microsoft.com/office/drawing/2014/main" id="{9B3B7885-AA6D-45BF-BF0E-9859076B1F0F}"/>
                </a:ext>
              </a:extLst>
            </p:cNvPr>
            <p:cNvSpPr txBox="1">
              <a:spLocks noChangeArrowheads="1"/>
            </p:cNvSpPr>
            <p:nvPr/>
          </p:nvSpPr>
          <p:spPr bwMode="auto">
            <a:xfrm>
              <a:off x="8736366" y="4983795"/>
              <a:ext cx="600782"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15</a:t>
              </a:r>
            </a:p>
          </p:txBody>
        </p:sp>
        <p:sp>
          <p:nvSpPr>
            <p:cNvPr id="710733" name="Text Box 77">
              <a:extLst>
                <a:ext uri="{FF2B5EF4-FFF2-40B4-BE49-F238E27FC236}">
                  <a16:creationId xmlns:a16="http://schemas.microsoft.com/office/drawing/2014/main" id="{B8E7733D-771B-4363-B990-E50FE4B44B69}"/>
                </a:ext>
              </a:extLst>
            </p:cNvPr>
            <p:cNvSpPr txBox="1">
              <a:spLocks noChangeArrowheads="1"/>
            </p:cNvSpPr>
            <p:nvPr/>
          </p:nvSpPr>
          <p:spPr bwMode="auto">
            <a:xfrm>
              <a:off x="5300960" y="3595078"/>
              <a:ext cx="68567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10/</a:t>
              </a:r>
              <a:r>
                <a:rPr lang="en-US" altLang="en-US" sz="2000" dirty="0">
                  <a:latin typeface="Arial" panose="020B0604020202020204" pitchFamily="34" charset="0"/>
                  <a:cs typeface="Arial" panose="020B0604020202020204" pitchFamily="34" charset="0"/>
                </a:rPr>
                <a:t>10</a:t>
              </a:r>
            </a:p>
          </p:txBody>
        </p:sp>
        <p:sp>
          <p:nvSpPr>
            <p:cNvPr id="710734" name="Text Box 78">
              <a:extLst>
                <a:ext uri="{FF2B5EF4-FFF2-40B4-BE49-F238E27FC236}">
                  <a16:creationId xmlns:a16="http://schemas.microsoft.com/office/drawing/2014/main" id="{7EF45083-C70B-47F5-AFFB-7C03B08F5B21}"/>
                </a:ext>
              </a:extLst>
            </p:cNvPr>
            <p:cNvSpPr txBox="1">
              <a:spLocks noChangeArrowheads="1"/>
            </p:cNvSpPr>
            <p:nvPr/>
          </p:nvSpPr>
          <p:spPr bwMode="auto">
            <a:xfrm>
              <a:off x="7486213" y="4352895"/>
              <a:ext cx="469223"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 8</a:t>
              </a:r>
              <a:r>
                <a:rPr lang="en-US" altLang="en-US" sz="2000" dirty="0">
                  <a:latin typeface="Arial" panose="020B0604020202020204" pitchFamily="34" charset="0"/>
                  <a:cs typeface="Arial" panose="020B0604020202020204" pitchFamily="34" charset="0"/>
                </a:rPr>
                <a:t>/8</a:t>
              </a:r>
            </a:p>
          </p:txBody>
        </p:sp>
        <p:sp>
          <p:nvSpPr>
            <p:cNvPr id="710735" name="Text Box 79">
              <a:extLst>
                <a:ext uri="{FF2B5EF4-FFF2-40B4-BE49-F238E27FC236}">
                  <a16:creationId xmlns:a16="http://schemas.microsoft.com/office/drawing/2014/main" id="{2AF06533-A0D6-429A-B95A-970349B525E9}"/>
                </a:ext>
              </a:extLst>
            </p:cNvPr>
            <p:cNvSpPr txBox="1">
              <a:spLocks noChangeArrowheads="1"/>
            </p:cNvSpPr>
            <p:nvPr/>
          </p:nvSpPr>
          <p:spPr bwMode="auto">
            <a:xfrm>
              <a:off x="7425727" y="3622107"/>
              <a:ext cx="624271"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15</a:t>
              </a:r>
            </a:p>
          </p:txBody>
        </p:sp>
        <p:sp>
          <p:nvSpPr>
            <p:cNvPr id="710736" name="Text Box 80">
              <a:extLst>
                <a:ext uri="{FF2B5EF4-FFF2-40B4-BE49-F238E27FC236}">
                  <a16:creationId xmlns:a16="http://schemas.microsoft.com/office/drawing/2014/main" id="{8E2CA782-EF26-454E-82E8-A7C0ACB122B9}"/>
                </a:ext>
              </a:extLst>
            </p:cNvPr>
            <p:cNvSpPr txBox="1">
              <a:spLocks noChangeArrowheads="1"/>
            </p:cNvSpPr>
            <p:nvPr/>
          </p:nvSpPr>
          <p:spPr bwMode="auto">
            <a:xfrm>
              <a:off x="7444248" y="2939710"/>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1400" b="1" dirty="0">
                  <a:solidFill>
                    <a:srgbClr val="C00000"/>
                  </a:solidFill>
                  <a:latin typeface="Arial" panose="020B0604020202020204" pitchFamily="34" charset="0"/>
                  <a:cs typeface="Arial" panose="020B0604020202020204" pitchFamily="34" charset="0"/>
                </a:rPr>
                <a:t> </a:t>
              </a:r>
              <a:r>
                <a:rPr lang="en-US" altLang="en-US" sz="2000" b="1" dirty="0">
                  <a:solidFill>
                    <a:srgbClr val="C00000"/>
                  </a:solidFill>
                  <a:latin typeface="Arial" panose="020B0604020202020204" pitchFamily="34" charset="0"/>
                  <a:cs typeface="Arial" panose="020B0604020202020204" pitchFamily="34" charset="0"/>
                </a:rPr>
                <a:t>6/</a:t>
              </a:r>
              <a:r>
                <a:rPr lang="en-US" altLang="en-US" sz="2000" dirty="0">
                  <a:latin typeface="Arial" panose="020B0604020202020204" pitchFamily="34" charset="0"/>
                  <a:cs typeface="Arial" panose="020B0604020202020204" pitchFamily="34" charset="0"/>
                </a:rPr>
                <a:t>9</a:t>
              </a:r>
            </a:p>
          </p:txBody>
        </p:sp>
        <p:sp>
          <p:nvSpPr>
            <p:cNvPr id="710737" name="Text Box 81">
              <a:extLst>
                <a:ext uri="{FF2B5EF4-FFF2-40B4-BE49-F238E27FC236}">
                  <a16:creationId xmlns:a16="http://schemas.microsoft.com/office/drawing/2014/main" id="{5EEB67EA-FA04-42E4-9A86-1D24118DC709}"/>
                </a:ext>
              </a:extLst>
            </p:cNvPr>
            <p:cNvSpPr txBox="1">
              <a:spLocks noChangeArrowheads="1"/>
            </p:cNvSpPr>
            <p:nvPr/>
          </p:nvSpPr>
          <p:spPr bwMode="auto">
            <a:xfrm>
              <a:off x="7444248" y="5043023"/>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1/</a:t>
              </a:r>
              <a:r>
                <a:rPr lang="en-US" altLang="en-US" sz="2000" dirty="0">
                  <a:latin typeface="Arial" panose="020B0604020202020204" pitchFamily="34" charset="0"/>
                  <a:cs typeface="Arial" panose="020B0604020202020204" pitchFamily="34" charset="0"/>
                </a:rPr>
                <a:t>6</a:t>
              </a:r>
            </a:p>
          </p:txBody>
        </p:sp>
        <p:sp>
          <p:nvSpPr>
            <p:cNvPr id="710738" name="Text Box 82">
              <a:extLst>
                <a:ext uri="{FF2B5EF4-FFF2-40B4-BE49-F238E27FC236}">
                  <a16:creationId xmlns:a16="http://schemas.microsoft.com/office/drawing/2014/main" id="{205F31AB-659B-4FEC-B166-3C1CABADD2CF}"/>
                </a:ext>
              </a:extLst>
            </p:cNvPr>
            <p:cNvSpPr txBox="1">
              <a:spLocks noChangeArrowheads="1"/>
            </p:cNvSpPr>
            <p:nvPr/>
          </p:nvSpPr>
          <p:spPr bwMode="auto">
            <a:xfrm>
              <a:off x="9600403" y="5160001"/>
              <a:ext cx="714975"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10/</a:t>
              </a:r>
              <a:r>
                <a:rPr lang="en-US" altLang="en-US" sz="2000" dirty="0">
                  <a:latin typeface="Arial" panose="020B0604020202020204" pitchFamily="34" charset="0"/>
                  <a:cs typeface="Arial" panose="020B0604020202020204" pitchFamily="34" charset="0"/>
                </a:rPr>
                <a:t>10</a:t>
              </a:r>
            </a:p>
          </p:txBody>
        </p:sp>
        <p:sp>
          <p:nvSpPr>
            <p:cNvPr id="710739" name="Text Box 83">
              <a:extLst>
                <a:ext uri="{FF2B5EF4-FFF2-40B4-BE49-F238E27FC236}">
                  <a16:creationId xmlns:a16="http://schemas.microsoft.com/office/drawing/2014/main" id="{8296BE71-6B6F-463B-8C0A-94F5E736B46E}"/>
                </a:ext>
              </a:extLst>
            </p:cNvPr>
            <p:cNvSpPr txBox="1">
              <a:spLocks noChangeArrowheads="1"/>
            </p:cNvSpPr>
            <p:nvPr/>
          </p:nvSpPr>
          <p:spPr bwMode="auto">
            <a:xfrm>
              <a:off x="9704822" y="4352895"/>
              <a:ext cx="596075"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 8/</a:t>
              </a:r>
              <a:r>
                <a:rPr lang="en-US" altLang="en-US" sz="2000" dirty="0">
                  <a:latin typeface="Arial" panose="020B0604020202020204" pitchFamily="34" charset="0"/>
                  <a:cs typeface="Arial" panose="020B0604020202020204" pitchFamily="34" charset="0"/>
                </a:rPr>
                <a:t>10</a:t>
              </a:r>
              <a:endParaRPr lang="en-US" altLang="en-US" sz="1600" dirty="0">
                <a:latin typeface="Arial" panose="020B0604020202020204" pitchFamily="34" charset="0"/>
                <a:cs typeface="Arial" panose="020B0604020202020204" pitchFamily="34" charset="0"/>
              </a:endParaRPr>
            </a:p>
          </p:txBody>
        </p:sp>
        <p:sp>
          <p:nvSpPr>
            <p:cNvPr id="710740" name="Text Box 84">
              <a:extLst>
                <a:ext uri="{FF2B5EF4-FFF2-40B4-BE49-F238E27FC236}">
                  <a16:creationId xmlns:a16="http://schemas.microsoft.com/office/drawing/2014/main" id="{0F354EAC-9BAF-4735-9DC8-6E0300D4C60E}"/>
                </a:ext>
              </a:extLst>
            </p:cNvPr>
            <p:cNvSpPr txBox="1">
              <a:spLocks noChangeArrowheads="1"/>
            </p:cNvSpPr>
            <p:nvPr/>
          </p:nvSpPr>
          <p:spPr bwMode="auto">
            <a:xfrm>
              <a:off x="9703383" y="3588301"/>
              <a:ext cx="689644"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6/</a:t>
              </a:r>
              <a:r>
                <a:rPr lang="en-US" altLang="en-US" sz="2000" dirty="0">
                  <a:latin typeface="Arial" panose="020B0604020202020204" pitchFamily="34" charset="0"/>
                  <a:cs typeface="Arial" panose="020B0604020202020204" pitchFamily="34" charset="0"/>
                </a:rPr>
                <a:t>10</a:t>
              </a:r>
            </a:p>
          </p:txBody>
        </p:sp>
        <p:sp>
          <p:nvSpPr>
            <p:cNvPr id="710741" name="Text Box 85">
              <a:extLst>
                <a:ext uri="{FF2B5EF4-FFF2-40B4-BE49-F238E27FC236}">
                  <a16:creationId xmlns:a16="http://schemas.microsoft.com/office/drawing/2014/main" id="{DA3836EF-7B4F-4F15-B0F6-032168C5D6FA}"/>
                </a:ext>
              </a:extLst>
            </p:cNvPr>
            <p:cNvSpPr txBox="1">
              <a:spLocks noChangeArrowheads="1"/>
            </p:cNvSpPr>
            <p:nvPr/>
          </p:nvSpPr>
          <p:spPr bwMode="auto">
            <a:xfrm>
              <a:off x="8791308" y="3595078"/>
              <a:ext cx="545059"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15</a:t>
              </a:r>
            </a:p>
          </p:txBody>
        </p:sp>
        <p:sp>
          <p:nvSpPr>
            <p:cNvPr id="710742" name="Text Box 86">
              <a:extLst>
                <a:ext uri="{FF2B5EF4-FFF2-40B4-BE49-F238E27FC236}">
                  <a16:creationId xmlns:a16="http://schemas.microsoft.com/office/drawing/2014/main" id="{90B2F1EE-6551-462E-B731-7BC0ECF13613}"/>
                </a:ext>
              </a:extLst>
            </p:cNvPr>
            <p:cNvSpPr txBox="1">
              <a:spLocks noChangeArrowheads="1"/>
            </p:cNvSpPr>
            <p:nvPr/>
          </p:nvSpPr>
          <p:spPr bwMode="auto">
            <a:xfrm>
              <a:off x="6276229" y="3653451"/>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4/</a:t>
              </a:r>
              <a:r>
                <a:rPr lang="en-US" altLang="en-US" sz="2000" dirty="0">
                  <a:latin typeface="Arial" panose="020B0604020202020204" pitchFamily="34" charset="0"/>
                  <a:cs typeface="Arial" panose="020B0604020202020204" pitchFamily="34" charset="0"/>
                </a:rPr>
                <a:t>4</a:t>
              </a:r>
            </a:p>
          </p:txBody>
        </p:sp>
        <p:sp>
          <p:nvSpPr>
            <p:cNvPr id="710743" name="Text Box 87">
              <a:extLst>
                <a:ext uri="{FF2B5EF4-FFF2-40B4-BE49-F238E27FC236}">
                  <a16:creationId xmlns:a16="http://schemas.microsoft.com/office/drawing/2014/main" id="{4ECC4A50-EA5B-4BE9-8AA2-AA53B6EA7E58}"/>
                </a:ext>
              </a:extLst>
            </p:cNvPr>
            <p:cNvSpPr txBox="1">
              <a:spLocks noChangeArrowheads="1"/>
            </p:cNvSpPr>
            <p:nvPr/>
          </p:nvSpPr>
          <p:spPr bwMode="auto">
            <a:xfrm>
              <a:off x="6268652" y="5012007"/>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4</a:t>
              </a:r>
            </a:p>
          </p:txBody>
        </p:sp>
      </p:grpSp>
      <p:sp>
        <p:nvSpPr>
          <p:cNvPr id="52" name="TextBox 51">
            <a:extLst>
              <a:ext uri="{FF2B5EF4-FFF2-40B4-BE49-F238E27FC236}">
                <a16:creationId xmlns:a16="http://schemas.microsoft.com/office/drawing/2014/main" id="{D95B3B17-292E-4FC0-A21F-07FA171C2F7F}"/>
              </a:ext>
            </a:extLst>
          </p:cNvPr>
          <p:cNvSpPr txBox="1"/>
          <p:nvPr/>
        </p:nvSpPr>
        <p:spPr>
          <a:xfrm>
            <a:off x="3456432" y="5230368"/>
            <a:ext cx="1456168" cy="461665"/>
          </a:xfrm>
          <a:prstGeom prst="rect">
            <a:avLst/>
          </a:prstGeom>
          <a:noFill/>
        </p:spPr>
        <p:txBody>
          <a:bodyPr wrap="none" rtlCol="0">
            <a:spAutoFit/>
          </a:bodyPr>
          <a:lstStyle/>
          <a:p>
            <a:r>
              <a:rPr lang="en-US" sz="2400" dirty="0"/>
              <a:t>value = </a:t>
            </a:r>
            <a:r>
              <a:rPr lang="en-US" sz="2400" b="1" dirty="0">
                <a:solidFill>
                  <a:srgbClr val="C00000"/>
                </a:solidFill>
              </a:rPr>
              <a:t>24</a:t>
            </a:r>
          </a:p>
        </p:txBody>
      </p:sp>
    </p:spTree>
    <p:extLst>
      <p:ext uri="{BB962C8B-B14F-4D97-AF65-F5344CB8AC3E}">
        <p14:creationId xmlns:p14="http://schemas.microsoft.com/office/powerpoint/2010/main" val="22757739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6739" name="Rectangle 99">
            <a:extLst>
              <a:ext uri="{FF2B5EF4-FFF2-40B4-BE49-F238E27FC236}">
                <a16:creationId xmlns:a16="http://schemas.microsoft.com/office/drawing/2014/main" id="{77CB5AF2-D7A8-47A3-85DE-EAE717229329}"/>
              </a:ext>
            </a:extLst>
          </p:cNvPr>
          <p:cNvSpPr>
            <a:spLocks noChangeArrowheads="1"/>
          </p:cNvSpPr>
          <p:nvPr/>
        </p:nvSpPr>
        <p:spPr bwMode="auto">
          <a:xfrm>
            <a:off x="6419170" y="1419693"/>
            <a:ext cx="3429000" cy="1600200"/>
          </a:xfrm>
          <a:prstGeom prst="rect">
            <a:avLst/>
          </a:prstGeom>
          <a:noFill/>
          <a:ln>
            <a:noFill/>
          </a:ln>
          <a:effectLst/>
        </p:spPr>
        <p:txBody>
          <a:bodyPr wrap="none" anchor="ctr"/>
          <a:lstStyle/>
          <a:p>
            <a:endParaRPr lang="en-US"/>
          </a:p>
        </p:txBody>
      </p:sp>
      <p:sp>
        <p:nvSpPr>
          <p:cNvPr id="496642" name="Rectangle 2">
            <a:extLst>
              <a:ext uri="{FF2B5EF4-FFF2-40B4-BE49-F238E27FC236}">
                <a16:creationId xmlns:a16="http://schemas.microsoft.com/office/drawing/2014/main" id="{642D2A95-9E0F-4AE9-968E-BD35C489410B}"/>
              </a:ext>
            </a:extLst>
          </p:cNvPr>
          <p:cNvSpPr>
            <a:spLocks noGrp="1" noChangeArrowheads="1"/>
          </p:cNvSpPr>
          <p:nvPr>
            <p:ph type="title"/>
          </p:nvPr>
        </p:nvSpPr>
        <p:spPr/>
        <p:txBody>
          <a:bodyPr/>
          <a:lstStyle/>
          <a:p>
            <a:r>
              <a:rPr lang="en-US" altLang="en-US" dirty="0"/>
              <a:t>Residual Graphs</a:t>
            </a:r>
          </a:p>
        </p:txBody>
      </p:sp>
      <mc:AlternateContent xmlns:mc="http://schemas.openxmlformats.org/markup-compatibility/2006">
        <mc:Choice xmlns:a14="http://schemas.microsoft.com/office/drawing/2010/main" Requires="a14">
          <p:sp>
            <p:nvSpPr>
              <p:cNvPr id="496643" name="Rectangle 3">
                <a:extLst>
                  <a:ext uri="{FF2B5EF4-FFF2-40B4-BE49-F238E27FC236}">
                    <a16:creationId xmlns:a16="http://schemas.microsoft.com/office/drawing/2014/main" id="{492BF5EA-E352-4CF9-9D58-59B2493F7287}"/>
                  </a:ext>
                </a:extLst>
              </p:cNvPr>
              <p:cNvSpPr>
                <a:spLocks noGrp="1" noChangeArrowheads="1"/>
              </p:cNvSpPr>
              <p:nvPr>
                <p:ph type="body" idx="1"/>
              </p:nvPr>
            </p:nvSpPr>
            <p:spPr>
              <a:xfrm>
                <a:off x="628649" y="1676868"/>
                <a:ext cx="9801025" cy="5200045"/>
              </a:xfrm>
            </p:spPr>
            <p:txBody>
              <a:bodyPr>
                <a:noAutofit/>
              </a:bodyPr>
              <a:lstStyle/>
              <a:p>
                <a:pPr marL="0" indent="0">
                  <a:spcBef>
                    <a:spcPts val="0"/>
                  </a:spcBef>
                  <a:buNone/>
                </a:pPr>
                <a:r>
                  <a:rPr lang="en-US" altLang="en-US" sz="2000" dirty="0"/>
                  <a:t>An alternative way to represent a flow network</a:t>
                </a:r>
              </a:p>
              <a:p>
                <a:pPr lvl="1">
                  <a:spcBef>
                    <a:spcPts val="0"/>
                  </a:spcBef>
                </a:pPr>
                <a:r>
                  <a:rPr lang="en-US" altLang="en-US" sz="2000" dirty="0"/>
                  <a:t>Represents the net available flow between two nodes</a:t>
                </a:r>
              </a:p>
              <a:p>
                <a:pPr marL="0" indent="0">
                  <a:spcBef>
                    <a:spcPts val="0"/>
                  </a:spcBef>
                  <a:buNone/>
                </a:pPr>
                <a:endParaRPr lang="en-US" altLang="en-US" sz="100" dirty="0"/>
              </a:p>
              <a:p>
                <a:pPr marL="0" indent="0">
                  <a:spcBef>
                    <a:spcPts val="0"/>
                  </a:spcBef>
                  <a:buNone/>
                </a:pPr>
                <a:r>
                  <a:rPr lang="en-US" altLang="en-US" sz="2000" dirty="0"/>
                  <a:t>Original edge:  </a:t>
                </a:r>
                <a14:m>
                  <m:oMath xmlns:m="http://schemas.openxmlformats.org/officeDocument/2006/math">
                    <m:r>
                      <a:rPr lang="en-US" altLang="en-US" sz="2000" b="1" i="1" dirty="0" smtClean="0">
                        <a:solidFill>
                          <a:srgbClr val="0066CC"/>
                        </a:solidFill>
                        <a:latin typeface="Cambria Math" panose="02040503050406030204" pitchFamily="18" charset="0"/>
                      </a:rPr>
                      <m:t>𝒆</m:t>
                    </m:r>
                    <m:r>
                      <a:rPr lang="en-US" altLang="en-US" sz="2000" b="1" i="1" dirty="0" smtClean="0">
                        <a:solidFill>
                          <a:srgbClr val="0066CC"/>
                        </a:solidFill>
                        <a:latin typeface="Cambria Math" panose="02040503050406030204" pitchFamily="18" charset="0"/>
                      </a:rPr>
                      <m:t>=</m:t>
                    </m:r>
                    <m:d>
                      <m:dPr>
                        <m:ctrlPr>
                          <a:rPr lang="en-US" altLang="en-US" sz="2000" b="1" i="1" dirty="0" smtClean="0">
                            <a:solidFill>
                              <a:srgbClr val="0066CC"/>
                            </a:solidFill>
                            <a:latin typeface="Cambria Math" panose="02040503050406030204" pitchFamily="18" charset="0"/>
                          </a:rPr>
                        </m:ctrlPr>
                      </m:dPr>
                      <m:e>
                        <m:r>
                          <a:rPr lang="en-US" altLang="en-US" sz="2000" b="1" i="1" dirty="0" smtClean="0">
                            <a:solidFill>
                              <a:srgbClr val="0066CC"/>
                            </a:solidFill>
                            <a:latin typeface="Cambria Math" panose="02040503050406030204" pitchFamily="18" charset="0"/>
                          </a:rPr>
                          <m:t>𝒖</m:t>
                        </m:r>
                        <m:r>
                          <a:rPr lang="en-US" altLang="en-US" sz="2000" b="1" i="1" dirty="0" smtClean="0">
                            <a:solidFill>
                              <a:srgbClr val="0066CC"/>
                            </a:solidFill>
                            <a:latin typeface="Cambria Math" panose="02040503050406030204" pitchFamily="18" charset="0"/>
                          </a:rPr>
                          <m:t>, </m:t>
                        </m:r>
                        <m:r>
                          <a:rPr lang="en-US" altLang="en-US" sz="2000" b="1" i="1" dirty="0" smtClean="0">
                            <a:solidFill>
                              <a:srgbClr val="0066CC"/>
                            </a:solidFill>
                            <a:latin typeface="Cambria Math" panose="02040503050406030204" pitchFamily="18" charset="0"/>
                          </a:rPr>
                          <m:t>𝒗</m:t>
                        </m:r>
                      </m:e>
                    </m:d>
                    <m:r>
                      <a:rPr lang="en-US" altLang="en-US" sz="2000" b="1" i="1" dirty="0" smtClean="0">
                        <a:solidFill>
                          <a:srgbClr val="0066CC"/>
                        </a:solidFill>
                        <a:latin typeface="Cambria Math" panose="02040503050406030204" pitchFamily="18" charset="0"/>
                      </a:rPr>
                      <m:t>∈</m:t>
                    </m:r>
                    <m:r>
                      <a:rPr lang="en-US" altLang="en-US" sz="2000" b="1" i="1" dirty="0">
                        <a:solidFill>
                          <a:srgbClr val="0066CC"/>
                        </a:solidFill>
                        <a:latin typeface="Cambria Math" panose="02040503050406030204" pitchFamily="18" charset="0"/>
                        <a:sym typeface="Symbol" panose="05050102010706020507" pitchFamily="18" charset="2"/>
                      </a:rPr>
                      <m:t>𝑬</m:t>
                    </m:r>
                  </m:oMath>
                </a14:m>
                <a:r>
                  <a:rPr lang="en-US" altLang="en-US" sz="2000" dirty="0">
                    <a:solidFill>
                      <a:schemeClr val="tx1"/>
                    </a:solidFill>
                    <a:sym typeface="Symbol" panose="05050102010706020507" pitchFamily="18" charset="2"/>
                  </a:rPr>
                  <a:t>.</a:t>
                </a:r>
              </a:p>
              <a:p>
                <a:pPr lvl="1">
                  <a:spcBef>
                    <a:spcPts val="0"/>
                  </a:spcBef>
                </a:pPr>
                <a:r>
                  <a:rPr lang="en-US" altLang="en-US" sz="2000" dirty="0">
                    <a:sym typeface="Symbol" panose="05050102010706020507" pitchFamily="18" charset="2"/>
                  </a:rPr>
                  <a:t>Flow</a:t>
                </a:r>
                <a:r>
                  <a:rPr lang="en-US" altLang="en-US" sz="2000" dirty="0"/>
                  <a:t> </a:t>
                </a:r>
                <a14:m>
                  <m:oMath xmlns:m="http://schemas.openxmlformats.org/officeDocument/2006/math">
                    <m:r>
                      <a:rPr lang="en-US" altLang="en-US" sz="2000" b="1" i="1" dirty="0" smtClean="0">
                        <a:solidFill>
                          <a:srgbClr val="0066CC"/>
                        </a:solidFill>
                        <a:latin typeface="Cambria Math" panose="02040503050406030204" pitchFamily="18" charset="0"/>
                      </a:rPr>
                      <m:t>𝒇</m:t>
                    </m:r>
                    <m:r>
                      <a:rPr lang="en-US" altLang="en-US" sz="2000" b="1" i="1" dirty="0" smtClean="0">
                        <a:solidFill>
                          <a:srgbClr val="0066CC"/>
                        </a:solidFill>
                        <a:latin typeface="Cambria Math" panose="02040503050406030204" pitchFamily="18" charset="0"/>
                      </a:rPr>
                      <m:t>(</m:t>
                    </m:r>
                    <m:r>
                      <a:rPr lang="en-US" altLang="en-US" sz="2000" b="1" i="1" dirty="0" smtClean="0">
                        <a:solidFill>
                          <a:srgbClr val="0066CC"/>
                        </a:solidFill>
                        <a:latin typeface="Cambria Math" panose="02040503050406030204" pitchFamily="18" charset="0"/>
                      </a:rPr>
                      <m:t>𝒆</m:t>
                    </m:r>
                    <m:r>
                      <a:rPr lang="en-US" altLang="en-US" sz="2000" b="1" i="1" dirty="0" smtClean="0">
                        <a:solidFill>
                          <a:srgbClr val="0066CC"/>
                        </a:solidFill>
                        <a:latin typeface="Cambria Math" panose="02040503050406030204" pitchFamily="18" charset="0"/>
                      </a:rPr>
                      <m:t>)</m:t>
                    </m:r>
                  </m:oMath>
                </a14:m>
                <a:r>
                  <a:rPr lang="en-US" altLang="en-US" sz="2000" dirty="0"/>
                  <a:t>, capacity </a:t>
                </a:r>
                <a14:m>
                  <m:oMath xmlns:m="http://schemas.openxmlformats.org/officeDocument/2006/math">
                    <m:r>
                      <a:rPr lang="en-US" altLang="en-US" sz="2000" b="1" i="1" dirty="0" smtClean="0">
                        <a:solidFill>
                          <a:srgbClr val="0066CC"/>
                        </a:solidFill>
                        <a:latin typeface="Cambria Math" panose="02040503050406030204" pitchFamily="18" charset="0"/>
                      </a:rPr>
                      <m:t>𝒄</m:t>
                    </m:r>
                    <m:r>
                      <a:rPr lang="en-US" altLang="en-US" sz="2000" b="1" i="1" dirty="0" smtClean="0">
                        <a:solidFill>
                          <a:srgbClr val="0066CC"/>
                        </a:solidFill>
                        <a:latin typeface="Cambria Math" panose="02040503050406030204" pitchFamily="18" charset="0"/>
                      </a:rPr>
                      <m:t>(</m:t>
                    </m:r>
                    <m:r>
                      <a:rPr lang="en-US" altLang="en-US" sz="2000" b="1" i="1" dirty="0" smtClean="0">
                        <a:solidFill>
                          <a:srgbClr val="0066CC"/>
                        </a:solidFill>
                        <a:latin typeface="Cambria Math" panose="02040503050406030204" pitchFamily="18" charset="0"/>
                      </a:rPr>
                      <m:t>𝒆</m:t>
                    </m:r>
                    <m:r>
                      <a:rPr lang="en-US" altLang="en-US" sz="2000" b="1" i="1" dirty="0" smtClean="0">
                        <a:solidFill>
                          <a:srgbClr val="0066CC"/>
                        </a:solidFill>
                        <a:latin typeface="Cambria Math" panose="02040503050406030204" pitchFamily="18" charset="0"/>
                      </a:rPr>
                      <m:t>)</m:t>
                    </m:r>
                  </m:oMath>
                </a14:m>
                <a:r>
                  <a:rPr lang="en-US" altLang="en-US" sz="2000" dirty="0"/>
                  <a:t>.</a:t>
                </a:r>
                <a:endParaRPr lang="en-US" altLang="en-US" sz="2000" dirty="0">
                  <a:sym typeface="Symbol" panose="05050102010706020507" pitchFamily="18" charset="2"/>
                </a:endParaRPr>
              </a:p>
              <a:p>
                <a:pPr>
                  <a:spcBef>
                    <a:spcPts val="0"/>
                  </a:spcBef>
                </a:pPr>
                <a:endParaRPr lang="en-US" altLang="en-US" sz="100" dirty="0">
                  <a:sym typeface="Symbol" panose="05050102010706020507" pitchFamily="18" charset="2"/>
                </a:endParaRPr>
              </a:p>
              <a:p>
                <a:pPr marL="0" indent="0">
                  <a:spcBef>
                    <a:spcPts val="0"/>
                  </a:spcBef>
                  <a:buNone/>
                </a:pPr>
                <a:r>
                  <a:rPr lang="en-US" altLang="en-US" sz="2000" dirty="0">
                    <a:solidFill>
                      <a:srgbClr val="C00000"/>
                    </a:solidFill>
                  </a:rPr>
                  <a:t>Residual edges </a:t>
                </a:r>
                <a:r>
                  <a:rPr lang="en-US" altLang="en-US" sz="2000" dirty="0"/>
                  <a:t>of two kinds:</a:t>
                </a:r>
                <a:endParaRPr lang="en-US" altLang="en-US" sz="2000" dirty="0">
                  <a:solidFill>
                    <a:schemeClr val="tx1"/>
                  </a:solidFill>
                </a:endParaRPr>
              </a:p>
              <a:p>
                <a:pPr lvl="1">
                  <a:spcBef>
                    <a:spcPts val="0"/>
                  </a:spcBef>
                </a:pPr>
                <a:r>
                  <a:rPr lang="en-US" altLang="en-US" sz="2000" dirty="0">
                    <a:solidFill>
                      <a:srgbClr val="C00000"/>
                    </a:solidFill>
                    <a:sym typeface="Symbol" panose="05050102010706020507" pitchFamily="18" charset="2"/>
                  </a:rPr>
                  <a:t>Forward</a:t>
                </a:r>
                <a:r>
                  <a:rPr lang="en-US" altLang="en-US" sz="2000" dirty="0">
                    <a:sym typeface="Symbol" panose="05050102010706020507" pitchFamily="18" charset="2"/>
                  </a:rPr>
                  <a:t>:  </a:t>
                </a:r>
                <a14:m>
                  <m:oMath xmlns:m="http://schemas.openxmlformats.org/officeDocument/2006/math">
                    <m:r>
                      <a:rPr lang="en-US" altLang="en-US" sz="2000" b="1" i="1" dirty="0" smtClean="0">
                        <a:solidFill>
                          <a:srgbClr val="0066CC"/>
                        </a:solidFill>
                        <a:latin typeface="Cambria Math" panose="02040503050406030204" pitchFamily="18" charset="0"/>
                        <a:sym typeface="Symbol" panose="05050102010706020507" pitchFamily="18" charset="2"/>
                      </a:rPr>
                      <m:t>𝒆</m:t>
                    </m:r>
                    <m:r>
                      <a:rPr lang="en-US" altLang="en-US" sz="2000" b="1" i="1" dirty="0" smtClean="0">
                        <a:solidFill>
                          <a:srgbClr val="0066CC"/>
                        </a:solidFill>
                        <a:latin typeface="Cambria Math" panose="02040503050406030204" pitchFamily="18" charset="0"/>
                        <a:sym typeface="Symbol" panose="05050102010706020507" pitchFamily="18" charset="2"/>
                      </a:rPr>
                      <m:t>=(</m:t>
                    </m:r>
                    <m:r>
                      <a:rPr lang="en-US" altLang="en-US" sz="2000" b="1" i="1" dirty="0" smtClean="0">
                        <a:solidFill>
                          <a:srgbClr val="0066CC"/>
                        </a:solidFill>
                        <a:latin typeface="Cambria Math" panose="02040503050406030204" pitchFamily="18" charset="0"/>
                        <a:sym typeface="Symbol" panose="05050102010706020507" pitchFamily="18" charset="2"/>
                      </a:rPr>
                      <m:t>𝒖</m:t>
                    </m:r>
                    <m:r>
                      <a:rPr lang="en-US" altLang="en-US" sz="2000" b="1" i="1" dirty="0" smtClean="0">
                        <a:solidFill>
                          <a:srgbClr val="0066CC"/>
                        </a:solidFill>
                        <a:latin typeface="Cambria Math" panose="02040503050406030204" pitchFamily="18" charset="0"/>
                        <a:sym typeface="Symbol" panose="05050102010706020507" pitchFamily="18" charset="2"/>
                      </a:rPr>
                      <m:t>, </m:t>
                    </m:r>
                    <m:r>
                      <a:rPr lang="en-US" altLang="en-US" sz="2000" b="1" i="1" dirty="0" smtClean="0">
                        <a:solidFill>
                          <a:srgbClr val="0066CC"/>
                        </a:solidFill>
                        <a:latin typeface="Cambria Math" panose="02040503050406030204" pitchFamily="18" charset="0"/>
                        <a:sym typeface="Symbol" panose="05050102010706020507" pitchFamily="18" charset="2"/>
                      </a:rPr>
                      <m:t>𝒗</m:t>
                    </m:r>
                    <m:r>
                      <a:rPr lang="en-US" altLang="en-US" sz="2000" b="1" i="1" dirty="0" smtClean="0">
                        <a:solidFill>
                          <a:srgbClr val="0066CC"/>
                        </a:solidFill>
                        <a:latin typeface="Cambria Math" panose="02040503050406030204" pitchFamily="18" charset="0"/>
                        <a:sym typeface="Symbol" panose="05050102010706020507" pitchFamily="18" charset="2"/>
                      </a:rPr>
                      <m:t>)</m:t>
                    </m:r>
                  </m:oMath>
                </a14:m>
                <a:r>
                  <a:rPr lang="en-US" altLang="en-US" sz="2000" dirty="0">
                    <a:sym typeface="Symbol" panose="05050102010706020507" pitchFamily="18" charset="2"/>
                  </a:rPr>
                  <a:t> with capacity </a:t>
                </a:r>
                <a14:m>
                  <m:oMath xmlns:m="http://schemas.openxmlformats.org/officeDocument/2006/math">
                    <m:sSub>
                      <m:sSubPr>
                        <m:ctrlPr>
                          <a:rPr lang="en-US" altLang="en-US" sz="2000" b="1" i="1" smtClean="0">
                            <a:solidFill>
                              <a:srgbClr val="0066CC"/>
                            </a:solidFill>
                            <a:latin typeface="Cambria Math" panose="02040503050406030204" pitchFamily="18" charset="0"/>
                            <a:sym typeface="Symbol" panose="05050102010706020507" pitchFamily="18" charset="2"/>
                          </a:rPr>
                        </m:ctrlPr>
                      </m:sSubPr>
                      <m:e>
                        <m:r>
                          <a:rPr lang="en-US" altLang="en-US" sz="2000" b="1" i="1" smtClean="0">
                            <a:solidFill>
                              <a:srgbClr val="0066CC"/>
                            </a:solidFill>
                            <a:latin typeface="Cambria Math" panose="02040503050406030204" pitchFamily="18" charset="0"/>
                            <a:sym typeface="Symbol" panose="05050102010706020507" pitchFamily="18" charset="2"/>
                          </a:rPr>
                          <m:t>𝒄</m:t>
                        </m:r>
                      </m:e>
                      <m:sub>
                        <m:r>
                          <a:rPr lang="en-US" altLang="en-US" sz="2000" b="1" i="1" smtClean="0">
                            <a:solidFill>
                              <a:srgbClr val="0066CC"/>
                            </a:solidFill>
                            <a:latin typeface="Cambria Math" panose="02040503050406030204" pitchFamily="18" charset="0"/>
                            <a:sym typeface="Symbol" panose="05050102010706020507" pitchFamily="18" charset="2"/>
                          </a:rPr>
                          <m:t>𝒇</m:t>
                        </m:r>
                      </m:sub>
                    </m:sSub>
                    <m:d>
                      <m:dPr>
                        <m:ctrlPr>
                          <a:rPr lang="en-US" altLang="en-US" sz="2000" b="1" i="1" smtClean="0">
                            <a:solidFill>
                              <a:srgbClr val="0066CC"/>
                            </a:solidFill>
                            <a:latin typeface="Cambria Math" panose="02040503050406030204" pitchFamily="18" charset="0"/>
                            <a:sym typeface="Symbol" panose="05050102010706020507" pitchFamily="18" charset="2"/>
                          </a:rPr>
                        </m:ctrlPr>
                      </m:dPr>
                      <m:e>
                        <m:r>
                          <a:rPr lang="en-US" altLang="en-US" sz="2000" b="1" i="1" smtClean="0">
                            <a:solidFill>
                              <a:srgbClr val="0066CC"/>
                            </a:solidFill>
                            <a:latin typeface="Cambria Math" panose="02040503050406030204" pitchFamily="18" charset="0"/>
                            <a:sym typeface="Symbol" panose="05050102010706020507" pitchFamily="18" charset="2"/>
                          </a:rPr>
                          <m:t>𝒆</m:t>
                        </m:r>
                      </m:e>
                    </m:d>
                    <m:r>
                      <a:rPr lang="en-US" altLang="en-US" sz="2000" b="0" i="0" smtClean="0">
                        <a:solidFill>
                          <a:srgbClr val="0066CC"/>
                        </a:solidFill>
                        <a:latin typeface="Cambria Math" panose="02040503050406030204" pitchFamily="18" charset="0"/>
                        <a:sym typeface="Symbol" panose="05050102010706020507" pitchFamily="18" charset="2"/>
                      </a:rPr>
                      <m:t>=</m:t>
                    </m:r>
                    <m:r>
                      <a:rPr lang="en-US" altLang="en-US" sz="2000" b="1" i="1" smtClean="0">
                        <a:solidFill>
                          <a:srgbClr val="0066CC"/>
                        </a:solidFill>
                        <a:latin typeface="Cambria Math" panose="02040503050406030204" pitchFamily="18" charset="0"/>
                        <a:sym typeface="Symbol" panose="05050102010706020507" pitchFamily="18" charset="2"/>
                      </a:rPr>
                      <m:t>𝒄</m:t>
                    </m:r>
                    <m:d>
                      <m:dPr>
                        <m:ctrlPr>
                          <a:rPr lang="en-US" altLang="en-US" sz="2000" b="1" i="1" smtClean="0">
                            <a:solidFill>
                              <a:srgbClr val="0066CC"/>
                            </a:solidFill>
                            <a:latin typeface="Cambria Math" panose="02040503050406030204" pitchFamily="18" charset="0"/>
                            <a:sym typeface="Symbol" panose="05050102010706020507" pitchFamily="18" charset="2"/>
                          </a:rPr>
                        </m:ctrlPr>
                      </m:dPr>
                      <m:e>
                        <m:r>
                          <a:rPr lang="en-US" altLang="en-US" sz="2000" b="1" i="1" smtClean="0">
                            <a:solidFill>
                              <a:srgbClr val="0066CC"/>
                            </a:solidFill>
                            <a:latin typeface="Cambria Math" panose="02040503050406030204" pitchFamily="18" charset="0"/>
                            <a:sym typeface="Symbol" panose="05050102010706020507" pitchFamily="18" charset="2"/>
                          </a:rPr>
                          <m:t>𝒆</m:t>
                        </m:r>
                      </m:e>
                    </m:d>
                    <m:r>
                      <a:rPr lang="en-US" altLang="en-US" sz="2000" b="1" i="1" smtClean="0">
                        <a:solidFill>
                          <a:srgbClr val="0066CC"/>
                        </a:solidFill>
                        <a:latin typeface="Cambria Math" panose="02040503050406030204" pitchFamily="18" charset="0"/>
                        <a:sym typeface="Symbol" panose="05050102010706020507" pitchFamily="18" charset="2"/>
                      </a:rPr>
                      <m:t>−</m:t>
                    </m:r>
                    <m:r>
                      <a:rPr lang="en-US" altLang="en-US" sz="2000" b="1" i="1" smtClean="0">
                        <a:solidFill>
                          <a:srgbClr val="0066CC"/>
                        </a:solidFill>
                        <a:latin typeface="Cambria Math" panose="02040503050406030204" pitchFamily="18" charset="0"/>
                        <a:sym typeface="Symbol" panose="05050102010706020507" pitchFamily="18" charset="2"/>
                      </a:rPr>
                      <m:t>𝒇</m:t>
                    </m:r>
                    <m:d>
                      <m:dPr>
                        <m:ctrlPr>
                          <a:rPr lang="en-US" altLang="en-US" sz="2000" b="1" i="1" smtClean="0">
                            <a:solidFill>
                              <a:srgbClr val="0066CC"/>
                            </a:solidFill>
                            <a:latin typeface="Cambria Math" panose="02040503050406030204" pitchFamily="18" charset="0"/>
                            <a:sym typeface="Symbol" panose="05050102010706020507" pitchFamily="18" charset="2"/>
                          </a:rPr>
                        </m:ctrlPr>
                      </m:dPr>
                      <m:e>
                        <m:r>
                          <a:rPr lang="en-US" altLang="en-US" sz="2000" b="1" i="1" smtClean="0">
                            <a:solidFill>
                              <a:srgbClr val="0066CC"/>
                            </a:solidFill>
                            <a:latin typeface="Cambria Math" panose="02040503050406030204" pitchFamily="18" charset="0"/>
                            <a:sym typeface="Symbol" panose="05050102010706020507" pitchFamily="18" charset="2"/>
                          </a:rPr>
                          <m:t>𝒆</m:t>
                        </m:r>
                      </m:e>
                    </m:d>
                  </m:oMath>
                </a14:m>
                <a:endParaRPr lang="en-US" altLang="en-US" sz="2000" b="1" dirty="0">
                  <a:solidFill>
                    <a:srgbClr val="0066CC"/>
                  </a:solidFill>
                  <a:sym typeface="Symbol" panose="05050102010706020507" pitchFamily="18" charset="2"/>
                </a:endParaRPr>
              </a:p>
              <a:p>
                <a:pPr lvl="2">
                  <a:spcBef>
                    <a:spcPts val="0"/>
                  </a:spcBef>
                </a:pPr>
                <a:r>
                  <a:rPr lang="en-US" altLang="en-US" sz="2000" dirty="0">
                    <a:sym typeface="Symbol" panose="05050102010706020507" pitchFamily="18" charset="2"/>
                  </a:rPr>
                  <a:t>Amount of extra flow we can add along</a:t>
                </a:r>
                <a:r>
                  <a:rPr lang="en-US" altLang="en-US" sz="2000" b="1" dirty="0">
                    <a:solidFill>
                      <a:srgbClr val="0066CC"/>
                    </a:solidFill>
                    <a:sym typeface="Symbol" panose="05050102010706020507" pitchFamily="18" charset="2"/>
                  </a:rPr>
                  <a:t> </a:t>
                </a:r>
                <a14:m>
                  <m:oMath xmlns:m="http://schemas.openxmlformats.org/officeDocument/2006/math">
                    <m:r>
                      <a:rPr lang="en-US" altLang="en-US" sz="2000" b="1" i="1" dirty="0" smtClean="0">
                        <a:solidFill>
                          <a:srgbClr val="0066CC"/>
                        </a:solidFill>
                        <a:latin typeface="Cambria Math" panose="02040503050406030204" pitchFamily="18" charset="0"/>
                        <a:sym typeface="Symbol" panose="05050102010706020507" pitchFamily="18" charset="2"/>
                      </a:rPr>
                      <m:t>𝒆</m:t>
                    </m:r>
                  </m:oMath>
                </a14:m>
                <a:endParaRPr lang="en-US" altLang="en-US" sz="2000" b="1" dirty="0">
                  <a:solidFill>
                    <a:srgbClr val="0066CC"/>
                  </a:solidFill>
                  <a:sym typeface="Symbol" panose="05050102010706020507" pitchFamily="18" charset="2"/>
                </a:endParaRPr>
              </a:p>
              <a:p>
                <a:pPr lvl="1">
                  <a:spcBef>
                    <a:spcPts val="0"/>
                  </a:spcBef>
                </a:pPr>
                <a:r>
                  <a:rPr lang="en-US" altLang="en-US" sz="2000" dirty="0">
                    <a:solidFill>
                      <a:srgbClr val="C00000"/>
                    </a:solidFill>
                    <a:sym typeface="Symbol" panose="05050102010706020507" pitchFamily="18" charset="2"/>
                  </a:rPr>
                  <a:t>Backward</a:t>
                </a:r>
                <a:r>
                  <a:rPr lang="en-US" altLang="en-US" sz="2000" dirty="0">
                    <a:sym typeface="Symbol" panose="05050102010706020507" pitchFamily="18" charset="2"/>
                  </a:rPr>
                  <a:t>: </a:t>
                </a:r>
                <a14:m>
                  <m:oMath xmlns:m="http://schemas.openxmlformats.org/officeDocument/2006/math">
                    <m:sSup>
                      <m:sSupPr>
                        <m:ctrlPr>
                          <a:rPr lang="en-US" altLang="en-US" sz="2000" b="1" i="1" dirty="0" smtClean="0">
                            <a:solidFill>
                              <a:srgbClr val="0066CC"/>
                            </a:solidFill>
                            <a:latin typeface="Cambria Math" panose="02040503050406030204" pitchFamily="18" charset="0"/>
                            <a:sym typeface="Symbol" panose="05050102010706020507" pitchFamily="18" charset="2"/>
                          </a:rPr>
                        </m:ctrlPr>
                      </m:sSupPr>
                      <m:e>
                        <m:r>
                          <a:rPr lang="en-US" altLang="en-US" sz="2000" b="1" i="1" dirty="0" smtClean="0">
                            <a:solidFill>
                              <a:srgbClr val="0066CC"/>
                            </a:solidFill>
                            <a:latin typeface="Cambria Math" panose="02040503050406030204" pitchFamily="18" charset="0"/>
                            <a:sym typeface="Symbol" panose="05050102010706020507" pitchFamily="18" charset="2"/>
                          </a:rPr>
                          <m:t>𝒆</m:t>
                        </m:r>
                      </m:e>
                      <m:sup>
                        <m:r>
                          <m:rPr>
                            <m:sty m:val="p"/>
                          </m:rPr>
                          <a:rPr lang="en-US" altLang="en-US" sz="2000" b="0" i="0" dirty="0" smtClean="0">
                            <a:solidFill>
                              <a:srgbClr val="0066CC"/>
                            </a:solidFill>
                            <a:latin typeface="Cambria Math" panose="02040503050406030204" pitchFamily="18" charset="0"/>
                            <a:sym typeface="Symbol" panose="05050102010706020507" pitchFamily="18" charset="2"/>
                          </a:rPr>
                          <m:t>R</m:t>
                        </m:r>
                      </m:sup>
                    </m:sSup>
                    <m:r>
                      <a:rPr lang="en-US" altLang="en-US" sz="2000" b="1" i="1" dirty="0" smtClean="0">
                        <a:solidFill>
                          <a:srgbClr val="0066CC"/>
                        </a:solidFill>
                        <a:latin typeface="Cambria Math" panose="02040503050406030204" pitchFamily="18" charset="0"/>
                        <a:sym typeface="Symbol" panose="05050102010706020507" pitchFamily="18" charset="2"/>
                      </a:rPr>
                      <m:t> =(</m:t>
                    </m:r>
                    <m:r>
                      <a:rPr lang="en-US" altLang="en-US" sz="2000" b="1" i="1" dirty="0" smtClean="0">
                        <a:solidFill>
                          <a:srgbClr val="0066CC"/>
                        </a:solidFill>
                        <a:latin typeface="Cambria Math" panose="02040503050406030204" pitchFamily="18" charset="0"/>
                        <a:sym typeface="Symbol" panose="05050102010706020507" pitchFamily="18" charset="2"/>
                      </a:rPr>
                      <m:t>𝒗</m:t>
                    </m:r>
                    <m:r>
                      <a:rPr lang="en-US" altLang="en-US" sz="2000" b="1" i="1" dirty="0" smtClean="0">
                        <a:solidFill>
                          <a:srgbClr val="0066CC"/>
                        </a:solidFill>
                        <a:latin typeface="Cambria Math" panose="02040503050406030204" pitchFamily="18" charset="0"/>
                        <a:sym typeface="Symbol" panose="05050102010706020507" pitchFamily="18" charset="2"/>
                      </a:rPr>
                      <m:t>, </m:t>
                    </m:r>
                    <m:r>
                      <a:rPr lang="en-US" altLang="en-US" sz="2000" b="1" i="1" dirty="0" smtClean="0">
                        <a:solidFill>
                          <a:srgbClr val="0066CC"/>
                        </a:solidFill>
                        <a:latin typeface="Cambria Math" panose="02040503050406030204" pitchFamily="18" charset="0"/>
                        <a:sym typeface="Symbol" panose="05050102010706020507" pitchFamily="18" charset="2"/>
                      </a:rPr>
                      <m:t>𝒖</m:t>
                    </m:r>
                    <m:r>
                      <a:rPr lang="en-US" altLang="en-US" sz="2000" b="1" i="1" dirty="0" smtClean="0">
                        <a:solidFill>
                          <a:srgbClr val="0066CC"/>
                        </a:solidFill>
                        <a:latin typeface="Cambria Math" panose="02040503050406030204" pitchFamily="18" charset="0"/>
                        <a:sym typeface="Symbol" panose="05050102010706020507" pitchFamily="18" charset="2"/>
                      </a:rPr>
                      <m:t>)</m:t>
                    </m:r>
                  </m:oMath>
                </a14:m>
                <a:r>
                  <a:rPr lang="en-US" altLang="en-US" sz="2000" dirty="0">
                    <a:sym typeface="Symbol" panose="05050102010706020507" pitchFamily="18" charset="2"/>
                  </a:rPr>
                  <a:t> with capacity </a:t>
                </a:r>
                <a14:m>
                  <m:oMath xmlns:m="http://schemas.openxmlformats.org/officeDocument/2006/math">
                    <m:sSub>
                      <m:sSubPr>
                        <m:ctrlPr>
                          <a:rPr lang="en-US" altLang="en-US" sz="2000" b="1" i="1" smtClean="0">
                            <a:solidFill>
                              <a:srgbClr val="0066CC"/>
                            </a:solidFill>
                            <a:latin typeface="Cambria Math" panose="02040503050406030204" pitchFamily="18" charset="0"/>
                            <a:sym typeface="Symbol" panose="05050102010706020507" pitchFamily="18" charset="2"/>
                          </a:rPr>
                        </m:ctrlPr>
                      </m:sSubPr>
                      <m:e>
                        <m:r>
                          <a:rPr lang="en-US" altLang="en-US" sz="2000" b="1" i="1" smtClean="0">
                            <a:solidFill>
                              <a:srgbClr val="0066CC"/>
                            </a:solidFill>
                            <a:latin typeface="Cambria Math" panose="02040503050406030204" pitchFamily="18" charset="0"/>
                            <a:sym typeface="Symbol" panose="05050102010706020507" pitchFamily="18" charset="2"/>
                          </a:rPr>
                          <m:t>𝒄</m:t>
                        </m:r>
                      </m:e>
                      <m:sub>
                        <m:r>
                          <a:rPr lang="en-US" altLang="en-US" sz="2000" b="1" i="1" smtClean="0">
                            <a:solidFill>
                              <a:srgbClr val="0066CC"/>
                            </a:solidFill>
                            <a:latin typeface="Cambria Math" panose="02040503050406030204" pitchFamily="18" charset="0"/>
                            <a:sym typeface="Symbol" panose="05050102010706020507" pitchFamily="18" charset="2"/>
                          </a:rPr>
                          <m:t>𝒇</m:t>
                        </m:r>
                      </m:sub>
                    </m:sSub>
                    <m:d>
                      <m:dPr>
                        <m:ctrlPr>
                          <a:rPr lang="en-US" altLang="en-US" sz="2000" b="1" i="1" smtClean="0">
                            <a:solidFill>
                              <a:srgbClr val="0066CC"/>
                            </a:solidFill>
                            <a:latin typeface="Cambria Math" panose="02040503050406030204" pitchFamily="18" charset="0"/>
                            <a:sym typeface="Symbol" panose="05050102010706020507" pitchFamily="18" charset="2"/>
                          </a:rPr>
                        </m:ctrlPr>
                      </m:dPr>
                      <m:e>
                        <m:r>
                          <a:rPr lang="en-US" altLang="en-US" sz="2000" b="1" i="1" smtClean="0">
                            <a:solidFill>
                              <a:srgbClr val="0066CC"/>
                            </a:solidFill>
                            <a:latin typeface="Cambria Math" panose="02040503050406030204" pitchFamily="18" charset="0"/>
                            <a:sym typeface="Symbol" panose="05050102010706020507" pitchFamily="18" charset="2"/>
                          </a:rPr>
                          <m:t>𝒆</m:t>
                        </m:r>
                      </m:e>
                    </m:d>
                    <m:r>
                      <a:rPr lang="en-US" altLang="en-US" sz="2000" b="0" i="0" smtClean="0">
                        <a:solidFill>
                          <a:srgbClr val="0066CC"/>
                        </a:solidFill>
                        <a:latin typeface="Cambria Math" panose="02040503050406030204" pitchFamily="18" charset="0"/>
                        <a:sym typeface="Symbol" panose="05050102010706020507" pitchFamily="18" charset="2"/>
                      </a:rPr>
                      <m:t>=</m:t>
                    </m:r>
                    <m:r>
                      <a:rPr lang="en-US" altLang="en-US" sz="2000" b="1" i="1">
                        <a:solidFill>
                          <a:srgbClr val="0066CC"/>
                        </a:solidFill>
                        <a:latin typeface="Cambria Math" panose="02040503050406030204" pitchFamily="18" charset="0"/>
                        <a:sym typeface="Symbol" panose="05050102010706020507" pitchFamily="18" charset="2"/>
                      </a:rPr>
                      <m:t>𝒇</m:t>
                    </m:r>
                    <m:d>
                      <m:dPr>
                        <m:ctrlPr>
                          <a:rPr lang="en-US" altLang="en-US" sz="2000" b="1" i="1">
                            <a:solidFill>
                              <a:srgbClr val="0066CC"/>
                            </a:solidFill>
                            <a:latin typeface="Cambria Math" panose="02040503050406030204" pitchFamily="18" charset="0"/>
                            <a:sym typeface="Symbol" panose="05050102010706020507" pitchFamily="18" charset="2"/>
                          </a:rPr>
                        </m:ctrlPr>
                      </m:dPr>
                      <m:e>
                        <m:r>
                          <a:rPr lang="en-US" altLang="en-US" sz="2000" b="1" i="1">
                            <a:solidFill>
                              <a:srgbClr val="0066CC"/>
                            </a:solidFill>
                            <a:latin typeface="Cambria Math" panose="02040503050406030204" pitchFamily="18" charset="0"/>
                            <a:sym typeface="Symbol" panose="05050102010706020507" pitchFamily="18" charset="2"/>
                          </a:rPr>
                          <m:t>𝒆</m:t>
                        </m:r>
                      </m:e>
                    </m:d>
                  </m:oMath>
                </a14:m>
                <a:endParaRPr lang="en-US" altLang="en-US" sz="2000" dirty="0">
                  <a:sym typeface="Symbol" panose="05050102010706020507" pitchFamily="18" charset="2"/>
                </a:endParaRPr>
              </a:p>
              <a:p>
                <a:pPr lvl="2">
                  <a:spcBef>
                    <a:spcPts val="0"/>
                  </a:spcBef>
                </a:pPr>
                <a:r>
                  <a:rPr lang="en-US" altLang="en-US" sz="2000" dirty="0">
                    <a:sym typeface="Symbol" panose="05050102010706020507" pitchFamily="18" charset="2"/>
                  </a:rPr>
                  <a:t>Amount we can reduce/undo flow along</a:t>
                </a:r>
                <a:r>
                  <a:rPr lang="en-US" altLang="en-US" sz="2000" b="1" dirty="0">
                    <a:solidFill>
                      <a:srgbClr val="0066CC"/>
                    </a:solidFill>
                    <a:sym typeface="Symbol" panose="05050102010706020507" pitchFamily="18" charset="2"/>
                  </a:rPr>
                  <a:t> </a:t>
                </a:r>
                <a14:m>
                  <m:oMath xmlns:m="http://schemas.openxmlformats.org/officeDocument/2006/math">
                    <m:r>
                      <a:rPr lang="en-US" altLang="en-US" sz="2000" b="1" i="1" dirty="0" smtClean="0">
                        <a:solidFill>
                          <a:srgbClr val="0066CC"/>
                        </a:solidFill>
                        <a:latin typeface="Cambria Math" panose="02040503050406030204" pitchFamily="18" charset="0"/>
                        <a:sym typeface="Symbol" panose="05050102010706020507" pitchFamily="18" charset="2"/>
                      </a:rPr>
                      <m:t>𝒆</m:t>
                    </m:r>
                  </m:oMath>
                </a14:m>
                <a:endParaRPr lang="en-US" altLang="en-US" sz="2000" dirty="0">
                  <a:sym typeface="Symbol" panose="05050102010706020507" pitchFamily="18" charset="2"/>
                </a:endParaRPr>
              </a:p>
              <a:p>
                <a:pPr marL="0" indent="0">
                  <a:spcBef>
                    <a:spcPts val="0"/>
                  </a:spcBef>
                  <a:buNone/>
                </a:pPr>
                <a:endParaRPr lang="en-US" altLang="en-US" sz="100" dirty="0">
                  <a:solidFill>
                    <a:schemeClr val="tx1"/>
                  </a:solidFill>
                  <a:sym typeface="Symbol" panose="05050102010706020507" pitchFamily="18" charset="2"/>
                </a:endParaRPr>
              </a:p>
              <a:p>
                <a:pPr marL="0" indent="0">
                  <a:spcBef>
                    <a:spcPts val="0"/>
                  </a:spcBef>
                  <a:buNone/>
                </a:pPr>
                <a:r>
                  <a:rPr lang="en-US" altLang="en-US" sz="2000" dirty="0">
                    <a:solidFill>
                      <a:srgbClr val="C00000"/>
                    </a:solidFill>
                  </a:rPr>
                  <a:t>Residual graph</a:t>
                </a:r>
                <a:r>
                  <a:rPr lang="en-US" altLang="en-US" sz="2000" dirty="0"/>
                  <a:t>:  </a:t>
                </a:r>
                <a14:m>
                  <m:oMath xmlns:m="http://schemas.openxmlformats.org/officeDocument/2006/math">
                    <m:sSub>
                      <m:sSubPr>
                        <m:ctrlPr>
                          <a:rPr lang="en-US" altLang="en-US" sz="2000" b="1" i="1" dirty="0" smtClean="0">
                            <a:solidFill>
                              <a:srgbClr val="0066CC"/>
                            </a:solidFill>
                            <a:latin typeface="Cambria Math" panose="02040503050406030204" pitchFamily="18" charset="0"/>
                          </a:rPr>
                        </m:ctrlPr>
                      </m:sSubPr>
                      <m:e>
                        <m:r>
                          <a:rPr lang="en-US" altLang="en-US" sz="2000" b="1" i="1" dirty="0" smtClean="0">
                            <a:solidFill>
                              <a:srgbClr val="0066CC"/>
                            </a:solidFill>
                            <a:latin typeface="Cambria Math" panose="02040503050406030204" pitchFamily="18" charset="0"/>
                          </a:rPr>
                          <m:t>𝑮</m:t>
                        </m:r>
                      </m:e>
                      <m:sub>
                        <m:r>
                          <a:rPr lang="en-US" altLang="en-US" sz="2000" b="1" i="1" dirty="0" smtClean="0">
                            <a:solidFill>
                              <a:srgbClr val="0066CC"/>
                            </a:solidFill>
                            <a:latin typeface="Cambria Math" panose="02040503050406030204" pitchFamily="18" charset="0"/>
                          </a:rPr>
                          <m:t>𝒇</m:t>
                        </m:r>
                      </m:sub>
                    </m:sSub>
                    <m:r>
                      <a:rPr lang="en-US" altLang="en-US" sz="2000" b="1" i="1" dirty="0" smtClean="0">
                        <a:solidFill>
                          <a:srgbClr val="0066CC"/>
                        </a:solidFill>
                        <a:latin typeface="Cambria Math" panose="02040503050406030204" pitchFamily="18" charset="0"/>
                      </a:rPr>
                      <m:t>=</m:t>
                    </m:r>
                    <m:r>
                      <a:rPr lang="en-US" altLang="en-US" sz="2000" b="1" i="1" dirty="0">
                        <a:solidFill>
                          <a:srgbClr val="0066CC"/>
                        </a:solidFill>
                        <a:latin typeface="Cambria Math" panose="02040503050406030204" pitchFamily="18" charset="0"/>
                      </a:rPr>
                      <m:t>(</m:t>
                    </m:r>
                    <m:r>
                      <a:rPr lang="en-US" altLang="en-US" sz="2000" b="1" i="1" dirty="0">
                        <a:solidFill>
                          <a:srgbClr val="0066CC"/>
                        </a:solidFill>
                        <a:latin typeface="Cambria Math" panose="02040503050406030204" pitchFamily="18" charset="0"/>
                      </a:rPr>
                      <m:t>𝑽</m:t>
                    </m:r>
                    <m:r>
                      <a:rPr lang="en-US" altLang="en-US" sz="2000" b="1" i="1" dirty="0">
                        <a:solidFill>
                          <a:srgbClr val="0066CC"/>
                        </a:solidFill>
                        <a:latin typeface="Cambria Math" panose="02040503050406030204" pitchFamily="18" charset="0"/>
                      </a:rPr>
                      <m:t>, </m:t>
                    </m:r>
                    <m:sSub>
                      <m:sSubPr>
                        <m:ctrlPr>
                          <a:rPr lang="en-US" altLang="en-US" sz="2000" b="1" i="1" dirty="0" smtClean="0">
                            <a:solidFill>
                              <a:srgbClr val="0066CC"/>
                            </a:solidFill>
                            <a:latin typeface="Cambria Math" panose="02040503050406030204" pitchFamily="18" charset="0"/>
                          </a:rPr>
                        </m:ctrlPr>
                      </m:sSubPr>
                      <m:e>
                        <m:r>
                          <a:rPr lang="en-US" altLang="en-US" sz="2000" b="1" i="1" dirty="0" smtClean="0">
                            <a:solidFill>
                              <a:srgbClr val="0066CC"/>
                            </a:solidFill>
                            <a:latin typeface="Cambria Math" panose="02040503050406030204" pitchFamily="18" charset="0"/>
                          </a:rPr>
                          <m:t>𝑬</m:t>
                        </m:r>
                      </m:e>
                      <m:sub>
                        <m:r>
                          <a:rPr lang="en-US" altLang="en-US" sz="2000" b="1" i="1" dirty="0" smtClean="0">
                            <a:solidFill>
                              <a:srgbClr val="0066CC"/>
                            </a:solidFill>
                            <a:latin typeface="Cambria Math" panose="02040503050406030204" pitchFamily="18" charset="0"/>
                          </a:rPr>
                          <m:t>𝒇</m:t>
                        </m:r>
                      </m:sub>
                    </m:sSub>
                    <m:r>
                      <a:rPr lang="en-US" altLang="en-US" sz="2000" b="1" i="1" dirty="0" smtClean="0">
                        <a:solidFill>
                          <a:srgbClr val="0066CC"/>
                        </a:solidFill>
                        <a:latin typeface="Cambria Math" panose="02040503050406030204" pitchFamily="18" charset="0"/>
                      </a:rPr>
                      <m:t>)</m:t>
                    </m:r>
                  </m:oMath>
                </a14:m>
                <a:r>
                  <a:rPr lang="en-US" altLang="en-US" sz="2000" dirty="0">
                    <a:solidFill>
                      <a:schemeClr val="tx1"/>
                    </a:solidFill>
                  </a:rPr>
                  <a:t>.</a:t>
                </a:r>
              </a:p>
              <a:p>
                <a:pPr lvl="1">
                  <a:spcBef>
                    <a:spcPts val="0"/>
                  </a:spcBef>
                </a:pPr>
                <a:r>
                  <a:rPr lang="en-US" altLang="en-US" sz="2000" dirty="0"/>
                  <a:t>Residual edges with residual capacity </a:t>
                </a:r>
                <a14:m>
                  <m:oMath xmlns:m="http://schemas.openxmlformats.org/officeDocument/2006/math">
                    <m:sSub>
                      <m:sSubPr>
                        <m:ctrlPr>
                          <a:rPr lang="en-US" altLang="en-US" sz="2000" b="1" i="1" smtClean="0">
                            <a:solidFill>
                              <a:srgbClr val="0066CC"/>
                            </a:solidFill>
                            <a:latin typeface="Cambria Math" panose="02040503050406030204" pitchFamily="18" charset="0"/>
                            <a:sym typeface="Symbol" panose="05050102010706020507" pitchFamily="18" charset="2"/>
                          </a:rPr>
                        </m:ctrlPr>
                      </m:sSubPr>
                      <m:e>
                        <m:r>
                          <a:rPr lang="en-US" altLang="en-US" sz="2000" b="1" i="1" smtClean="0">
                            <a:solidFill>
                              <a:srgbClr val="0066CC"/>
                            </a:solidFill>
                            <a:latin typeface="Cambria Math" panose="02040503050406030204" pitchFamily="18" charset="0"/>
                            <a:sym typeface="Symbol" panose="05050102010706020507" pitchFamily="18" charset="2"/>
                          </a:rPr>
                          <m:t>𝒄</m:t>
                        </m:r>
                      </m:e>
                      <m:sub>
                        <m:r>
                          <a:rPr lang="en-US" altLang="en-US" sz="2000" b="1" i="1" smtClean="0">
                            <a:solidFill>
                              <a:srgbClr val="0066CC"/>
                            </a:solidFill>
                            <a:latin typeface="Cambria Math" panose="02040503050406030204" pitchFamily="18" charset="0"/>
                            <a:sym typeface="Symbol" panose="05050102010706020507" pitchFamily="18" charset="2"/>
                          </a:rPr>
                          <m:t>𝒇</m:t>
                        </m:r>
                      </m:sub>
                    </m:sSub>
                    <m:d>
                      <m:dPr>
                        <m:ctrlPr>
                          <a:rPr lang="en-US" altLang="en-US" sz="2000" b="1" i="1" smtClean="0">
                            <a:solidFill>
                              <a:srgbClr val="0066CC"/>
                            </a:solidFill>
                            <a:latin typeface="Cambria Math" panose="02040503050406030204" pitchFamily="18" charset="0"/>
                            <a:sym typeface="Symbol" panose="05050102010706020507" pitchFamily="18" charset="2"/>
                          </a:rPr>
                        </m:ctrlPr>
                      </m:dPr>
                      <m:e>
                        <m:r>
                          <a:rPr lang="en-US" altLang="en-US" sz="2000" b="1" i="1" smtClean="0">
                            <a:solidFill>
                              <a:srgbClr val="0066CC"/>
                            </a:solidFill>
                            <a:latin typeface="Cambria Math" panose="02040503050406030204" pitchFamily="18" charset="0"/>
                            <a:sym typeface="Symbol" panose="05050102010706020507" pitchFamily="18" charset="2"/>
                          </a:rPr>
                          <m:t>𝒆</m:t>
                        </m:r>
                      </m:e>
                    </m:d>
                    <m:r>
                      <a:rPr lang="en-US" altLang="en-US" sz="2000" b="1" i="1" smtClean="0">
                        <a:solidFill>
                          <a:srgbClr val="0066CC"/>
                        </a:solidFill>
                        <a:latin typeface="Cambria Math" panose="02040503050406030204" pitchFamily="18" charset="0"/>
                        <a:sym typeface="Symbol" panose="05050102010706020507" pitchFamily="18" charset="2"/>
                      </a:rPr>
                      <m:t>&gt;</m:t>
                    </m:r>
                    <m:r>
                      <a:rPr lang="en-US" altLang="en-US" sz="2000" b="1" i="1" smtClean="0">
                        <a:solidFill>
                          <a:srgbClr val="0066CC"/>
                        </a:solidFill>
                        <a:latin typeface="Cambria Math" panose="02040503050406030204" pitchFamily="18" charset="0"/>
                        <a:sym typeface="Symbol" panose="05050102010706020507" pitchFamily="18" charset="2"/>
                      </a:rPr>
                      <m:t>𝟎</m:t>
                    </m:r>
                  </m:oMath>
                </a14:m>
                <a:r>
                  <a:rPr lang="en-US" altLang="en-US" sz="2000" dirty="0"/>
                  <a:t>.</a:t>
                </a:r>
              </a:p>
              <a:p>
                <a:pPr lvl="1">
                  <a:spcBef>
                    <a:spcPts val="0"/>
                  </a:spcBef>
                </a:pPr>
                <a14:m>
                  <m:oMath xmlns:m="http://schemas.openxmlformats.org/officeDocument/2006/math">
                    <m:sSub>
                      <m:sSubPr>
                        <m:ctrlPr>
                          <a:rPr lang="en-US" altLang="en-US" sz="2000" b="1" i="1" dirty="0" smtClean="0">
                            <a:solidFill>
                              <a:srgbClr val="0066CC"/>
                            </a:solidFill>
                            <a:latin typeface="Cambria Math" panose="02040503050406030204" pitchFamily="18" charset="0"/>
                          </a:rPr>
                        </m:ctrlPr>
                      </m:sSubPr>
                      <m:e>
                        <m:r>
                          <a:rPr lang="en-US" altLang="en-US" sz="2000" b="1" i="1" dirty="0" smtClean="0">
                            <a:solidFill>
                              <a:srgbClr val="0066CC"/>
                            </a:solidFill>
                            <a:latin typeface="Cambria Math" panose="02040503050406030204" pitchFamily="18" charset="0"/>
                          </a:rPr>
                          <m:t>𝑬</m:t>
                        </m:r>
                      </m:e>
                      <m:sub>
                        <m:r>
                          <a:rPr lang="en-US" altLang="en-US" sz="2000" b="1" i="1" dirty="0" smtClean="0">
                            <a:solidFill>
                              <a:srgbClr val="0066CC"/>
                            </a:solidFill>
                            <a:latin typeface="Cambria Math" panose="02040503050406030204" pitchFamily="18" charset="0"/>
                          </a:rPr>
                          <m:t>𝒇</m:t>
                        </m:r>
                      </m:sub>
                    </m:sSub>
                    <m:r>
                      <a:rPr lang="en-US" altLang="en-US" sz="2000" b="1" i="1" dirty="0" smtClean="0">
                        <a:solidFill>
                          <a:srgbClr val="0066CC"/>
                        </a:solidFill>
                        <a:latin typeface="Cambria Math" panose="02040503050406030204" pitchFamily="18" charset="0"/>
                      </a:rPr>
                      <m:t>= </m:t>
                    </m:r>
                    <m:d>
                      <m:dPr>
                        <m:begChr m:val="{"/>
                        <m:endChr m:val="}"/>
                        <m:ctrlPr>
                          <a:rPr lang="en-US" altLang="en-US" sz="2000" b="1" i="1" dirty="0">
                            <a:solidFill>
                              <a:srgbClr val="0066CC"/>
                            </a:solidFill>
                            <a:latin typeface="Cambria Math" panose="02040503050406030204" pitchFamily="18" charset="0"/>
                          </a:rPr>
                        </m:ctrlPr>
                      </m:dPr>
                      <m:e>
                        <m:r>
                          <a:rPr lang="en-US" altLang="en-US" sz="2000" b="1" i="1" dirty="0">
                            <a:solidFill>
                              <a:srgbClr val="0066CC"/>
                            </a:solidFill>
                            <a:latin typeface="Cambria Math" panose="02040503050406030204" pitchFamily="18" charset="0"/>
                          </a:rPr>
                          <m:t>𝒆</m:t>
                        </m:r>
                        <m:r>
                          <a:rPr lang="en-US" altLang="en-US" sz="2000" b="1" i="1" dirty="0">
                            <a:solidFill>
                              <a:srgbClr val="0066CC"/>
                            </a:solidFill>
                            <a:latin typeface="Cambria Math" panose="02040503050406030204" pitchFamily="18" charset="0"/>
                          </a:rPr>
                          <m:t> : </m:t>
                        </m:r>
                        <m:r>
                          <a:rPr lang="en-US" altLang="en-US" sz="2000" b="1" i="1" dirty="0">
                            <a:solidFill>
                              <a:srgbClr val="0066CC"/>
                            </a:solidFill>
                            <a:latin typeface="Cambria Math" panose="02040503050406030204" pitchFamily="18" charset="0"/>
                          </a:rPr>
                          <m:t>𝒇</m:t>
                        </m:r>
                        <m:d>
                          <m:dPr>
                            <m:ctrlPr>
                              <a:rPr lang="en-US" altLang="en-US" sz="2000" b="1" i="1" dirty="0">
                                <a:solidFill>
                                  <a:srgbClr val="0066CC"/>
                                </a:solidFill>
                                <a:latin typeface="Cambria Math" panose="02040503050406030204" pitchFamily="18" charset="0"/>
                              </a:rPr>
                            </m:ctrlPr>
                          </m:dPr>
                          <m:e>
                            <m:r>
                              <a:rPr lang="en-US" altLang="en-US" sz="2000" b="1" i="1" dirty="0">
                                <a:solidFill>
                                  <a:srgbClr val="0066CC"/>
                                </a:solidFill>
                                <a:latin typeface="Cambria Math" panose="02040503050406030204" pitchFamily="18" charset="0"/>
                              </a:rPr>
                              <m:t>𝒆</m:t>
                            </m:r>
                          </m:e>
                        </m:d>
                        <m:r>
                          <a:rPr lang="en-US" altLang="en-US" sz="2000" b="1" i="1" dirty="0" smtClean="0">
                            <a:solidFill>
                              <a:srgbClr val="0066CC"/>
                            </a:solidFill>
                            <a:latin typeface="Cambria Math" panose="02040503050406030204" pitchFamily="18" charset="0"/>
                          </a:rPr>
                          <m:t>&lt;</m:t>
                        </m:r>
                        <m:r>
                          <a:rPr lang="en-US" altLang="en-US" sz="2000" b="1" i="1" dirty="0">
                            <a:solidFill>
                              <a:srgbClr val="0066CC"/>
                            </a:solidFill>
                            <a:latin typeface="Cambria Math" panose="02040503050406030204" pitchFamily="18" charset="0"/>
                          </a:rPr>
                          <m:t>𝒄</m:t>
                        </m:r>
                        <m:d>
                          <m:dPr>
                            <m:ctrlPr>
                              <a:rPr lang="en-US" altLang="en-US" sz="2000" b="1" i="1" dirty="0">
                                <a:solidFill>
                                  <a:srgbClr val="0066CC"/>
                                </a:solidFill>
                                <a:latin typeface="Cambria Math" panose="02040503050406030204" pitchFamily="18" charset="0"/>
                              </a:rPr>
                            </m:ctrlPr>
                          </m:dPr>
                          <m:e>
                            <m:r>
                              <a:rPr lang="en-US" altLang="en-US" sz="2000" b="1" i="1" dirty="0">
                                <a:solidFill>
                                  <a:srgbClr val="0066CC"/>
                                </a:solidFill>
                                <a:latin typeface="Cambria Math" panose="02040503050406030204" pitchFamily="18" charset="0"/>
                              </a:rPr>
                              <m:t>𝒆</m:t>
                            </m:r>
                          </m:e>
                        </m:d>
                      </m:e>
                    </m:d>
                    <m:r>
                      <a:rPr lang="en-US" altLang="en-US" sz="2000" b="1" i="1" dirty="0" smtClean="0">
                        <a:solidFill>
                          <a:srgbClr val="0066CC"/>
                        </a:solidFill>
                        <a:latin typeface="Cambria Math" panose="02040503050406030204" pitchFamily="18" charset="0"/>
                        <a:sym typeface="Symbol" panose="05050102010706020507" pitchFamily="18" charset="2"/>
                      </a:rPr>
                      <m:t>∪</m:t>
                    </m:r>
                    <m:r>
                      <a:rPr lang="en-US" altLang="en-US" sz="2000" b="1" i="1" dirty="0">
                        <a:solidFill>
                          <a:srgbClr val="0066CC"/>
                        </a:solidFill>
                        <a:latin typeface="Cambria Math" panose="02040503050406030204" pitchFamily="18" charset="0"/>
                        <a:sym typeface="Symbol" panose="05050102010706020507" pitchFamily="18" charset="2"/>
                      </a:rPr>
                      <m:t> </m:t>
                    </m:r>
                    <m:r>
                      <a:rPr lang="en-US" altLang="en-US" sz="2000" b="1" i="1" dirty="0">
                        <a:solidFill>
                          <a:srgbClr val="0066CC"/>
                        </a:solidFill>
                        <a:latin typeface="Cambria Math" panose="02040503050406030204" pitchFamily="18" charset="0"/>
                      </a:rPr>
                      <m:t>{</m:t>
                    </m:r>
                    <m:sSup>
                      <m:sSupPr>
                        <m:ctrlPr>
                          <a:rPr lang="en-US" altLang="en-US" sz="2000" b="1" i="1" dirty="0">
                            <a:solidFill>
                              <a:srgbClr val="0066CC"/>
                            </a:solidFill>
                            <a:latin typeface="Cambria Math" panose="02040503050406030204" pitchFamily="18" charset="0"/>
                            <a:sym typeface="Symbol" panose="05050102010706020507" pitchFamily="18" charset="2"/>
                          </a:rPr>
                        </m:ctrlPr>
                      </m:sSupPr>
                      <m:e>
                        <m:r>
                          <a:rPr lang="en-US" altLang="en-US" sz="2000" b="1" i="1" dirty="0">
                            <a:solidFill>
                              <a:srgbClr val="0066CC"/>
                            </a:solidFill>
                            <a:latin typeface="Cambria Math" panose="02040503050406030204" pitchFamily="18" charset="0"/>
                            <a:sym typeface="Symbol" panose="05050102010706020507" pitchFamily="18" charset="2"/>
                          </a:rPr>
                          <m:t>𝒆</m:t>
                        </m:r>
                      </m:e>
                      <m:sup>
                        <m:r>
                          <m:rPr>
                            <m:sty m:val="p"/>
                          </m:rPr>
                          <a:rPr lang="en-US" altLang="en-US" sz="2000" dirty="0">
                            <a:solidFill>
                              <a:srgbClr val="0066CC"/>
                            </a:solidFill>
                            <a:latin typeface="Cambria Math" panose="02040503050406030204" pitchFamily="18" charset="0"/>
                            <a:sym typeface="Symbol" panose="05050102010706020507" pitchFamily="18" charset="2"/>
                          </a:rPr>
                          <m:t>R</m:t>
                        </m:r>
                      </m:sup>
                    </m:sSup>
                    <m:r>
                      <a:rPr lang="en-US" altLang="en-US" sz="2000" b="1" i="1" dirty="0">
                        <a:solidFill>
                          <a:srgbClr val="0066CC"/>
                        </a:solidFill>
                        <a:latin typeface="Cambria Math" panose="02040503050406030204" pitchFamily="18" charset="0"/>
                      </a:rPr>
                      <m:t>: </m:t>
                    </m:r>
                    <m:r>
                      <a:rPr lang="en-US" altLang="en-US" sz="2000" b="1" i="1" dirty="0">
                        <a:solidFill>
                          <a:srgbClr val="0066CC"/>
                        </a:solidFill>
                        <a:latin typeface="Cambria Math" panose="02040503050406030204" pitchFamily="18" charset="0"/>
                      </a:rPr>
                      <m:t>𝒇</m:t>
                    </m:r>
                    <m:d>
                      <m:dPr>
                        <m:ctrlPr>
                          <a:rPr lang="en-US" altLang="en-US" sz="2000" b="1" i="1" dirty="0">
                            <a:solidFill>
                              <a:srgbClr val="0066CC"/>
                            </a:solidFill>
                            <a:latin typeface="Cambria Math" panose="02040503050406030204" pitchFamily="18" charset="0"/>
                          </a:rPr>
                        </m:ctrlPr>
                      </m:dPr>
                      <m:e>
                        <m:r>
                          <a:rPr lang="en-US" altLang="en-US" sz="2000" b="1" i="1" dirty="0">
                            <a:solidFill>
                              <a:srgbClr val="0066CC"/>
                            </a:solidFill>
                            <a:latin typeface="Cambria Math" panose="02040503050406030204" pitchFamily="18" charset="0"/>
                          </a:rPr>
                          <m:t>𝒆</m:t>
                        </m:r>
                      </m:e>
                    </m:d>
                    <m:r>
                      <a:rPr lang="en-US" altLang="en-US" sz="2000" b="1" i="1" dirty="0" smtClean="0">
                        <a:solidFill>
                          <a:srgbClr val="0066CC"/>
                        </a:solidFill>
                        <a:latin typeface="Cambria Math" panose="02040503050406030204" pitchFamily="18" charset="0"/>
                      </a:rPr>
                      <m:t>&gt;</m:t>
                    </m:r>
                    <m:r>
                      <a:rPr lang="en-US" altLang="en-US" sz="2000" b="1" i="1" dirty="0">
                        <a:solidFill>
                          <a:srgbClr val="0066CC"/>
                        </a:solidFill>
                        <a:latin typeface="Cambria Math" panose="02040503050406030204" pitchFamily="18" charset="0"/>
                      </a:rPr>
                      <m:t> </m:t>
                    </m:r>
                    <m:r>
                      <a:rPr lang="en-US" altLang="en-US" sz="2000" b="1" i="1" dirty="0">
                        <a:solidFill>
                          <a:srgbClr val="0066CC"/>
                        </a:solidFill>
                        <a:latin typeface="Cambria Math" panose="02040503050406030204" pitchFamily="18" charset="0"/>
                      </a:rPr>
                      <m:t>𝟎</m:t>
                    </m:r>
                    <m:r>
                      <a:rPr lang="en-US" altLang="en-US" sz="2000" b="1" i="1" dirty="0">
                        <a:solidFill>
                          <a:srgbClr val="0066CC"/>
                        </a:solidFill>
                        <a:latin typeface="Cambria Math" panose="02040503050406030204" pitchFamily="18" charset="0"/>
                      </a:rPr>
                      <m:t>}</m:t>
                    </m:r>
                  </m:oMath>
                </a14:m>
                <a:r>
                  <a:rPr lang="en-US" altLang="en-US" sz="2000" dirty="0"/>
                  <a:t>.</a:t>
                </a:r>
              </a:p>
              <a:p>
                <a:pPr lvl="1">
                  <a:spcBef>
                    <a:spcPts val="0"/>
                  </a:spcBef>
                </a:pPr>
                <a:endParaRPr lang="en-US" altLang="en-US" sz="100" dirty="0"/>
              </a:p>
            </p:txBody>
          </p:sp>
        </mc:Choice>
        <mc:Fallback>
          <p:sp>
            <p:nvSpPr>
              <p:cNvPr id="496643" name="Rectangle 3">
                <a:extLst>
                  <a:ext uri="{FF2B5EF4-FFF2-40B4-BE49-F238E27FC236}">
                    <a16:creationId xmlns:a16="http://schemas.microsoft.com/office/drawing/2014/main" id="{492BF5EA-E352-4CF9-9D58-59B2493F7287}"/>
                  </a:ext>
                </a:extLst>
              </p:cNvPr>
              <p:cNvSpPr>
                <a:spLocks noGrp="1" noRot="1" noChangeAspect="1" noMove="1" noResize="1" noEditPoints="1" noAdjustHandles="1" noChangeArrowheads="1" noChangeShapeType="1" noTextEdit="1"/>
              </p:cNvSpPr>
              <p:nvPr>
                <p:ph type="body" idx="1"/>
              </p:nvPr>
            </p:nvSpPr>
            <p:spPr>
              <a:xfrm>
                <a:off x="628649" y="1676868"/>
                <a:ext cx="9801025" cy="5200045"/>
              </a:xfrm>
              <a:blipFill>
                <a:blip r:embed="rId3"/>
                <a:stretch>
                  <a:fillRect l="-622"/>
                </a:stretch>
              </a:blipFill>
            </p:spPr>
            <p:txBody>
              <a:bodyPr/>
              <a:lstStyle/>
              <a:p>
                <a:r>
                  <a:rPr lang="en-US">
                    <a:noFill/>
                  </a:rPr>
                  <a:t> </a:t>
                </a:r>
              </a:p>
            </p:txBody>
          </p:sp>
        </mc:Fallback>
      </mc:AlternateContent>
      <p:grpSp>
        <p:nvGrpSpPr>
          <p:cNvPr id="5" name="Group 4"/>
          <p:cNvGrpSpPr/>
          <p:nvPr/>
        </p:nvGrpSpPr>
        <p:grpSpPr>
          <a:xfrm>
            <a:off x="7880836" y="1960656"/>
            <a:ext cx="2812863" cy="307777"/>
            <a:chOff x="8425162" y="1275863"/>
            <a:chExt cx="2812863" cy="307777"/>
          </a:xfrm>
        </p:grpSpPr>
        <p:sp>
          <p:nvSpPr>
            <p:cNvPr id="496647" name="Oval 7">
              <a:extLst>
                <a:ext uri="{FF2B5EF4-FFF2-40B4-BE49-F238E27FC236}">
                  <a16:creationId xmlns:a16="http://schemas.microsoft.com/office/drawing/2014/main" id="{1322B9F1-E81F-41F2-8136-4B1D37AAF102}"/>
                </a:ext>
              </a:extLst>
            </p:cNvPr>
            <p:cNvSpPr>
              <a:spLocks noChangeAspect="1" noChangeArrowheads="1"/>
            </p:cNvSpPr>
            <p:nvPr/>
          </p:nvSpPr>
          <p:spPr bwMode="auto">
            <a:xfrm>
              <a:off x="8425162" y="1276734"/>
              <a:ext cx="274638" cy="274638"/>
            </a:xfrm>
            <a:prstGeom prst="ellipse">
              <a:avLst/>
            </a:prstGeom>
            <a:solidFill>
              <a:schemeClr val="accent4">
                <a:lumMod val="20000"/>
                <a:lumOff val="80000"/>
              </a:schemeClr>
            </a:solidFill>
            <a:ln w="9525">
              <a:solidFill>
                <a:schemeClr val="tx1"/>
              </a:solidFill>
              <a:round/>
              <a:headEnd/>
              <a:tailEnd/>
            </a:ln>
            <a:effectLst/>
          </p:spPr>
          <p:txBody>
            <a:bodyPr wrap="none" lIns="91924" tIns="45963" rIns="91924" bIns="45963" anchor="ctr"/>
            <a:lstStyle/>
            <a:p>
              <a:pPr algn="ctr"/>
              <a:r>
                <a:rPr lang="en-US" altLang="en-US" sz="2000" b="1" dirty="0"/>
                <a:t>u</a:t>
              </a:r>
            </a:p>
          </p:txBody>
        </p:sp>
        <p:cxnSp>
          <p:nvCxnSpPr>
            <p:cNvPr id="496650" name="AutoShape 10">
              <a:extLst>
                <a:ext uri="{FF2B5EF4-FFF2-40B4-BE49-F238E27FC236}">
                  <a16:creationId xmlns:a16="http://schemas.microsoft.com/office/drawing/2014/main" id="{F18676F7-59E3-4EE2-ABDC-6435A72EC9D0}"/>
                </a:ext>
              </a:extLst>
            </p:cNvPr>
            <p:cNvCxnSpPr>
              <a:cxnSpLocks noChangeShapeType="1"/>
              <a:stCxn id="496647" idx="6"/>
              <a:endCxn id="496653" idx="2"/>
            </p:cNvCxnSpPr>
            <p:nvPr/>
          </p:nvCxnSpPr>
          <p:spPr bwMode="auto">
            <a:xfrm>
              <a:off x="8699800" y="1414053"/>
              <a:ext cx="2263587" cy="0"/>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96653" name="Oval 13">
              <a:extLst>
                <a:ext uri="{FF2B5EF4-FFF2-40B4-BE49-F238E27FC236}">
                  <a16:creationId xmlns:a16="http://schemas.microsoft.com/office/drawing/2014/main" id="{1D488F4D-7EFD-4867-86E0-0A3EA049CE08}"/>
                </a:ext>
              </a:extLst>
            </p:cNvPr>
            <p:cNvSpPr>
              <a:spLocks noChangeAspect="1" noChangeArrowheads="1"/>
            </p:cNvSpPr>
            <p:nvPr/>
          </p:nvSpPr>
          <p:spPr bwMode="auto">
            <a:xfrm>
              <a:off x="10963387" y="1276734"/>
              <a:ext cx="274638" cy="274638"/>
            </a:xfrm>
            <a:prstGeom prst="ellipse">
              <a:avLst/>
            </a:prstGeom>
            <a:solidFill>
              <a:schemeClr val="accent4">
                <a:lumMod val="20000"/>
                <a:lumOff val="80000"/>
              </a:schemeClr>
            </a:solidFill>
            <a:ln w="9525">
              <a:solidFill>
                <a:schemeClr val="tx1"/>
              </a:solidFill>
              <a:round/>
              <a:headEnd/>
              <a:tailEnd/>
            </a:ln>
            <a:effectLst/>
          </p:spPr>
          <p:txBody>
            <a:bodyPr wrap="none" lIns="91924" tIns="45963" rIns="91924" bIns="45963" anchor="ctr"/>
            <a:lstStyle/>
            <a:p>
              <a:pPr algn="ctr"/>
              <a:r>
                <a:rPr lang="en-US" altLang="en-US" sz="2000" b="1" dirty="0"/>
                <a:t>v</a:t>
              </a:r>
            </a:p>
          </p:txBody>
        </p:sp>
        <p:sp>
          <p:nvSpPr>
            <p:cNvPr id="496659" name="Text Box 19">
              <a:extLst>
                <a:ext uri="{FF2B5EF4-FFF2-40B4-BE49-F238E27FC236}">
                  <a16:creationId xmlns:a16="http://schemas.microsoft.com/office/drawing/2014/main" id="{A81970F0-E9DC-4C9B-B134-39DA929E1E10}"/>
                </a:ext>
              </a:extLst>
            </p:cNvPr>
            <p:cNvSpPr txBox="1">
              <a:spLocks noChangeArrowheads="1"/>
            </p:cNvSpPr>
            <p:nvPr/>
          </p:nvSpPr>
          <p:spPr bwMode="auto">
            <a:xfrm>
              <a:off x="9611517" y="1275863"/>
              <a:ext cx="577850" cy="307777"/>
            </a:xfrm>
            <a:prstGeom prst="rect">
              <a:avLst/>
            </a:prstGeom>
            <a:solidFill>
              <a:schemeClr val="bg1"/>
            </a:solidFill>
            <a:ln>
              <a:noFill/>
            </a:ln>
            <a:effectLst/>
          </p:spPr>
          <p:txBody>
            <a:bodyPr wrap="square"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a:t>
              </a:r>
              <a:r>
                <a:rPr lang="en-US" altLang="en-US" sz="2000" dirty="0">
                  <a:solidFill>
                    <a:srgbClr val="C00000"/>
                  </a:solidFill>
                  <a:latin typeface="Arial" panose="020B0604020202020204" pitchFamily="34" charset="0"/>
                  <a:cs typeface="Arial" panose="020B0604020202020204" pitchFamily="34" charset="0"/>
                </a:rPr>
                <a:t>6/</a:t>
              </a:r>
              <a:r>
                <a:rPr lang="en-US" altLang="en-US" sz="2000" dirty="0">
                  <a:latin typeface="Arial" panose="020B0604020202020204" pitchFamily="34" charset="0"/>
                  <a:cs typeface="Arial" panose="020B0604020202020204" pitchFamily="34" charset="0"/>
                </a:rPr>
                <a:t>17</a:t>
              </a:r>
            </a:p>
          </p:txBody>
        </p:sp>
      </p:grpSp>
      <p:grpSp>
        <p:nvGrpSpPr>
          <p:cNvPr id="6" name="Group 5"/>
          <p:cNvGrpSpPr/>
          <p:nvPr/>
        </p:nvGrpSpPr>
        <p:grpSpPr>
          <a:xfrm>
            <a:off x="7711484" y="3157212"/>
            <a:ext cx="3448441" cy="1752600"/>
            <a:chOff x="8425162" y="3507770"/>
            <a:chExt cx="3448441" cy="1752600"/>
          </a:xfrm>
        </p:grpSpPr>
        <p:sp>
          <p:nvSpPr>
            <p:cNvPr id="496740" name="Rectangle 100">
              <a:extLst>
                <a:ext uri="{FF2B5EF4-FFF2-40B4-BE49-F238E27FC236}">
                  <a16:creationId xmlns:a16="http://schemas.microsoft.com/office/drawing/2014/main" id="{A0082830-5CE5-4AE1-B01F-92F26857A23C}"/>
                </a:ext>
              </a:extLst>
            </p:cNvPr>
            <p:cNvSpPr>
              <a:spLocks noChangeArrowheads="1"/>
            </p:cNvSpPr>
            <p:nvPr/>
          </p:nvSpPr>
          <p:spPr bwMode="auto">
            <a:xfrm>
              <a:off x="8425162" y="3507770"/>
              <a:ext cx="3429000" cy="1752600"/>
            </a:xfrm>
            <a:prstGeom prst="rect">
              <a:avLst/>
            </a:prstGeom>
            <a:noFill/>
            <a:ln>
              <a:noFill/>
            </a:ln>
            <a:effectLst/>
          </p:spPr>
          <p:txBody>
            <a:bodyPr wrap="none" anchor="ctr"/>
            <a:lstStyle/>
            <a:p>
              <a:endParaRPr lang="en-US"/>
            </a:p>
          </p:txBody>
        </p:sp>
        <p:sp>
          <p:nvSpPr>
            <p:cNvPr id="496719" name="Oval 79">
              <a:extLst>
                <a:ext uri="{FF2B5EF4-FFF2-40B4-BE49-F238E27FC236}">
                  <a16:creationId xmlns:a16="http://schemas.microsoft.com/office/drawing/2014/main" id="{EFF8F64C-486A-4360-B2BA-CDA10DFE81B1}"/>
                </a:ext>
              </a:extLst>
            </p:cNvPr>
            <p:cNvSpPr>
              <a:spLocks noChangeAspect="1" noChangeArrowheads="1"/>
            </p:cNvSpPr>
            <p:nvPr/>
          </p:nvSpPr>
          <p:spPr bwMode="auto">
            <a:xfrm>
              <a:off x="8605127" y="4079668"/>
              <a:ext cx="274638" cy="274637"/>
            </a:xfrm>
            <a:prstGeom prst="ellipse">
              <a:avLst/>
            </a:prstGeom>
            <a:solidFill>
              <a:schemeClr val="accent4">
                <a:lumMod val="20000"/>
                <a:lumOff val="80000"/>
              </a:schemeClr>
            </a:solidFill>
            <a:ln w="9525">
              <a:solidFill>
                <a:schemeClr val="tx1"/>
              </a:solidFill>
              <a:round/>
              <a:headEnd/>
              <a:tailEnd/>
            </a:ln>
            <a:effectLst/>
          </p:spPr>
          <p:txBody>
            <a:bodyPr wrap="none" lIns="91924" tIns="45963" rIns="91924" bIns="45963" anchor="ctr"/>
            <a:lstStyle/>
            <a:p>
              <a:pPr algn="ctr"/>
              <a:r>
                <a:rPr lang="en-US" altLang="en-US" sz="2000" b="1" dirty="0"/>
                <a:t>u</a:t>
              </a:r>
            </a:p>
          </p:txBody>
        </p:sp>
        <p:cxnSp>
          <p:nvCxnSpPr>
            <p:cNvPr id="496720" name="AutoShape 80">
              <a:extLst>
                <a:ext uri="{FF2B5EF4-FFF2-40B4-BE49-F238E27FC236}">
                  <a16:creationId xmlns:a16="http://schemas.microsoft.com/office/drawing/2014/main" id="{986A0166-6819-4BB2-9E56-23628C52C824}"/>
                </a:ext>
              </a:extLst>
            </p:cNvPr>
            <p:cNvCxnSpPr>
              <a:cxnSpLocks noChangeShapeType="1"/>
              <a:stCxn id="496719" idx="6"/>
              <a:endCxn id="496721" idx="2"/>
            </p:cNvCxnSpPr>
            <p:nvPr/>
          </p:nvCxnSpPr>
          <p:spPr bwMode="auto">
            <a:xfrm>
              <a:off x="8879765" y="4216987"/>
              <a:ext cx="2263587" cy="0"/>
            </a:xfrm>
            <a:prstGeom prst="straightConnector1">
              <a:avLst/>
            </a:prstGeom>
            <a:noFill/>
            <a:ln w="381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96721" name="Oval 81">
              <a:extLst>
                <a:ext uri="{FF2B5EF4-FFF2-40B4-BE49-F238E27FC236}">
                  <a16:creationId xmlns:a16="http://schemas.microsoft.com/office/drawing/2014/main" id="{DD8DE13C-66E9-4AE4-ACB1-F969C0807479}"/>
                </a:ext>
              </a:extLst>
            </p:cNvPr>
            <p:cNvSpPr>
              <a:spLocks noChangeAspect="1" noChangeArrowheads="1"/>
            </p:cNvSpPr>
            <p:nvPr/>
          </p:nvSpPr>
          <p:spPr bwMode="auto">
            <a:xfrm>
              <a:off x="11143352" y="4079668"/>
              <a:ext cx="274638" cy="274637"/>
            </a:xfrm>
            <a:prstGeom prst="ellipse">
              <a:avLst/>
            </a:prstGeom>
            <a:solidFill>
              <a:schemeClr val="accent4">
                <a:lumMod val="20000"/>
                <a:lumOff val="80000"/>
              </a:schemeClr>
            </a:solidFill>
            <a:ln w="9525">
              <a:solidFill>
                <a:schemeClr val="tx1"/>
              </a:solidFill>
              <a:round/>
              <a:headEnd/>
              <a:tailEnd/>
            </a:ln>
            <a:effectLst/>
          </p:spPr>
          <p:txBody>
            <a:bodyPr wrap="none" lIns="91924" tIns="45963" rIns="91924" bIns="45963" anchor="ctr"/>
            <a:lstStyle/>
            <a:p>
              <a:pPr algn="ctr"/>
              <a:r>
                <a:rPr lang="en-US" altLang="en-US" sz="2000" b="1" dirty="0"/>
                <a:t>v</a:t>
              </a:r>
            </a:p>
          </p:txBody>
        </p:sp>
        <p:sp>
          <p:nvSpPr>
            <p:cNvPr id="496722" name="Text Box 82">
              <a:extLst>
                <a:ext uri="{FF2B5EF4-FFF2-40B4-BE49-F238E27FC236}">
                  <a16:creationId xmlns:a16="http://schemas.microsoft.com/office/drawing/2014/main" id="{1BE0FEFC-B148-44C7-9D80-FEBB5542BA18}"/>
                </a:ext>
              </a:extLst>
            </p:cNvPr>
            <p:cNvSpPr txBox="1">
              <a:spLocks noChangeArrowheads="1"/>
            </p:cNvSpPr>
            <p:nvPr/>
          </p:nvSpPr>
          <p:spPr bwMode="auto">
            <a:xfrm>
              <a:off x="9820450" y="4079668"/>
              <a:ext cx="425450" cy="307777"/>
            </a:xfrm>
            <a:prstGeom prst="rect">
              <a:avLst/>
            </a:prstGeom>
            <a:solidFill>
              <a:schemeClr val="bg1"/>
            </a:solidFill>
            <a:ln>
              <a:noFill/>
            </a:ln>
            <a:effec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11</a:t>
              </a:r>
            </a:p>
          </p:txBody>
        </p:sp>
        <p:sp>
          <p:nvSpPr>
            <p:cNvPr id="496724" name="Text Box 84">
              <a:extLst>
                <a:ext uri="{FF2B5EF4-FFF2-40B4-BE49-F238E27FC236}">
                  <a16:creationId xmlns:a16="http://schemas.microsoft.com/office/drawing/2014/main" id="{048D6900-CA29-4735-B2D8-65CA3C60DDC0}"/>
                </a:ext>
              </a:extLst>
            </p:cNvPr>
            <p:cNvSpPr txBox="1">
              <a:spLocks noChangeArrowheads="1"/>
            </p:cNvSpPr>
            <p:nvPr/>
          </p:nvSpPr>
          <p:spPr bwMode="auto">
            <a:xfrm>
              <a:off x="10213078" y="3560554"/>
              <a:ext cx="1660525"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1291" tIns="45646" rIns="91291" bIns="45646">
              <a:spAutoFit/>
            </a:bodyPr>
            <a:lstStyle/>
            <a:p>
              <a:pPr>
                <a:spcBef>
                  <a:spcPct val="50000"/>
                </a:spcBef>
              </a:pPr>
              <a:r>
                <a:rPr lang="en-US" altLang="en-US" sz="1400"/>
                <a:t>residual capacity</a:t>
              </a:r>
            </a:p>
          </p:txBody>
        </p:sp>
        <p:cxnSp>
          <p:nvCxnSpPr>
            <p:cNvPr id="496728" name="AutoShape 88">
              <a:extLst>
                <a:ext uri="{FF2B5EF4-FFF2-40B4-BE49-F238E27FC236}">
                  <a16:creationId xmlns:a16="http://schemas.microsoft.com/office/drawing/2014/main" id="{D296AF87-F12C-4090-96DE-C18177EC90D0}"/>
                </a:ext>
              </a:extLst>
            </p:cNvPr>
            <p:cNvCxnSpPr>
              <a:cxnSpLocks noChangeShapeType="1"/>
              <a:stCxn id="496721" idx="3"/>
              <a:endCxn id="496719" idx="5"/>
            </p:cNvCxnSpPr>
            <p:nvPr/>
          </p:nvCxnSpPr>
          <p:spPr bwMode="auto">
            <a:xfrm rot="5400000">
              <a:off x="10011559" y="3142072"/>
              <a:ext cx="12700" cy="2344027"/>
            </a:xfrm>
            <a:prstGeom prst="curvedConnector3">
              <a:avLst>
                <a:gd name="adj1" fmla="val 2116693"/>
              </a:avLst>
            </a:prstGeom>
            <a:noFill/>
            <a:ln w="381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96729" name="Text Box 89">
              <a:extLst>
                <a:ext uri="{FF2B5EF4-FFF2-40B4-BE49-F238E27FC236}">
                  <a16:creationId xmlns:a16="http://schemas.microsoft.com/office/drawing/2014/main" id="{E0C249CA-792E-44BB-B1C2-4C7666CFD435}"/>
                </a:ext>
              </a:extLst>
            </p:cNvPr>
            <p:cNvSpPr txBox="1">
              <a:spLocks noChangeArrowheads="1"/>
            </p:cNvSpPr>
            <p:nvPr/>
          </p:nvSpPr>
          <p:spPr bwMode="auto">
            <a:xfrm>
              <a:off x="9820450" y="4457212"/>
              <a:ext cx="425450" cy="307777"/>
            </a:xfrm>
            <a:prstGeom prst="rect">
              <a:avLst/>
            </a:prstGeom>
            <a:solidFill>
              <a:schemeClr val="bg1"/>
            </a:solidFill>
            <a:ln>
              <a:noFill/>
            </a:ln>
            <a:effec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6</a:t>
              </a:r>
            </a:p>
          </p:txBody>
        </p:sp>
        <p:sp>
          <p:nvSpPr>
            <p:cNvPr id="496730" name="Text Box 90">
              <a:extLst>
                <a:ext uri="{FF2B5EF4-FFF2-40B4-BE49-F238E27FC236}">
                  <a16:creationId xmlns:a16="http://schemas.microsoft.com/office/drawing/2014/main" id="{35D752D2-BD3B-4A3A-8E3C-DE35AAC7E45E}"/>
                </a:ext>
              </a:extLst>
            </p:cNvPr>
            <p:cNvSpPr txBox="1">
              <a:spLocks noChangeArrowheads="1"/>
            </p:cNvSpPr>
            <p:nvPr/>
          </p:nvSpPr>
          <p:spPr bwMode="auto">
            <a:xfrm>
              <a:off x="9850737" y="4955570"/>
              <a:ext cx="1685925"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1291" tIns="45646" rIns="91291" bIns="45646">
              <a:spAutoFit/>
            </a:bodyPr>
            <a:lstStyle/>
            <a:p>
              <a:pPr>
                <a:spcBef>
                  <a:spcPct val="50000"/>
                </a:spcBef>
              </a:pPr>
              <a:r>
                <a:rPr lang="en-US" altLang="en-US" sz="1400"/>
                <a:t>residual capacity</a:t>
              </a:r>
            </a:p>
          </p:txBody>
        </p:sp>
        <p:sp>
          <p:nvSpPr>
            <p:cNvPr id="496735" name="Line 95">
              <a:extLst>
                <a:ext uri="{FF2B5EF4-FFF2-40B4-BE49-F238E27FC236}">
                  <a16:creationId xmlns:a16="http://schemas.microsoft.com/office/drawing/2014/main" id="{E51FCE8B-C547-416F-9216-7C60AD021F01}"/>
                </a:ext>
              </a:extLst>
            </p:cNvPr>
            <p:cNvSpPr>
              <a:spLocks noChangeShapeType="1"/>
            </p:cNvSpPr>
            <p:nvPr/>
          </p:nvSpPr>
          <p:spPr bwMode="auto">
            <a:xfrm flipH="1">
              <a:off x="10079727" y="3865354"/>
              <a:ext cx="152400" cy="152400"/>
            </a:xfrm>
            <a:prstGeom prst="line">
              <a:avLst/>
            </a:prstGeom>
            <a:noFill/>
            <a:ln w="9525">
              <a:solidFill>
                <a:schemeClr val="tx1"/>
              </a:solidFill>
              <a:round/>
              <a:headEnd/>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2000"/>
            </a:p>
          </p:txBody>
        </p:sp>
        <p:sp>
          <p:nvSpPr>
            <p:cNvPr id="496737" name="Line 97">
              <a:extLst>
                <a:ext uri="{FF2B5EF4-FFF2-40B4-BE49-F238E27FC236}">
                  <a16:creationId xmlns:a16="http://schemas.microsoft.com/office/drawing/2014/main" id="{6C11D554-24AC-4C93-9241-45AD61DB4052}"/>
                </a:ext>
              </a:extLst>
            </p:cNvPr>
            <p:cNvSpPr>
              <a:spLocks noChangeShapeType="1"/>
            </p:cNvSpPr>
            <p:nvPr/>
          </p:nvSpPr>
          <p:spPr bwMode="auto">
            <a:xfrm flipH="1" flipV="1">
              <a:off x="10079727" y="4779754"/>
              <a:ext cx="152400" cy="152400"/>
            </a:xfrm>
            <a:prstGeom prst="line">
              <a:avLst/>
            </a:prstGeom>
            <a:noFill/>
            <a:ln w="9525">
              <a:solidFill>
                <a:schemeClr val="tx1"/>
              </a:solidFill>
              <a:round/>
              <a:headEnd/>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2000"/>
            </a:p>
          </p:txBody>
        </p:sp>
      </p:grpSp>
      <p:sp>
        <p:nvSpPr>
          <p:cNvPr id="23" name="Slide Number Placeholder 1">
            <a:extLst>
              <a:ext uri="{FF2B5EF4-FFF2-40B4-BE49-F238E27FC236}">
                <a16:creationId xmlns:a16="http://schemas.microsoft.com/office/drawing/2014/main" id="{12D3803D-E1C7-4E0D-BD85-A2AE59BF038B}"/>
              </a:ext>
            </a:extLst>
          </p:cNvPr>
          <p:cNvSpPr>
            <a:spLocks noGrp="1"/>
          </p:cNvSpPr>
          <p:nvPr>
            <p:ph type="sldNum" sz="quarter" idx="12"/>
          </p:nvPr>
        </p:nvSpPr>
        <p:spPr>
          <a:xfrm>
            <a:off x="9880286" y="6336770"/>
            <a:ext cx="2057400" cy="365125"/>
          </a:xfrm>
        </p:spPr>
        <p:txBody>
          <a:bodyPr/>
          <a:lstStyle/>
          <a:p>
            <a:fld id="{859767C1-1CFC-4BF3-A3D8-E4104FCBBC17}" type="slidenum">
              <a:rPr lang="en-US" smtClean="0"/>
              <a:t>5</a:t>
            </a:fld>
            <a:endParaRPr lang="en-US" dirty="0"/>
          </a:p>
        </p:txBody>
      </p:sp>
    </p:spTree>
    <p:extLst>
      <p:ext uri="{BB962C8B-B14F-4D97-AF65-F5344CB8AC3E}">
        <p14:creationId xmlns:p14="http://schemas.microsoft.com/office/powerpoint/2010/main" val="14125977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9664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96643">
                                            <p:txEl>
                                              <p:pRg st="7" end="7"/>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96643">
                                            <p:txEl>
                                              <p:pRg st="8" end="8"/>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96643">
                                            <p:txEl>
                                              <p:pRg st="9" end="9"/>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96643">
                                            <p:txEl>
                                              <p:pRg st="10" end="10"/>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496643">
                                            <p:txEl>
                                              <p:pRg st="12" end="12"/>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96643">
                                            <p:txEl>
                                              <p:pRg st="13" end="13"/>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96643">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Slide Number Placeholder 3">
            <a:extLst>
              <a:ext uri="{FF2B5EF4-FFF2-40B4-BE49-F238E27FC236}">
                <a16:creationId xmlns:a16="http://schemas.microsoft.com/office/drawing/2014/main" id="{454D7E86-B7E5-4DBB-B5CA-759DAD68D77E}"/>
              </a:ext>
            </a:extLst>
          </p:cNvPr>
          <p:cNvSpPr>
            <a:spLocks noGrp="1"/>
          </p:cNvSpPr>
          <p:nvPr>
            <p:ph type="sldNum" sz="quarter" idx="10"/>
          </p:nvPr>
        </p:nvSpPr>
        <p:spPr/>
        <p:txBody>
          <a:bodyPr/>
          <a:lstStyle/>
          <a:p>
            <a:fld id="{BC7D8AED-18E9-43C1-BBDD-655A7044627F}" type="slidenum">
              <a:rPr lang="en-US" altLang="en-US"/>
              <a:pPr/>
              <a:t>6</a:t>
            </a:fld>
            <a:endParaRPr lang="en-US" altLang="en-US" sz="1400"/>
          </a:p>
        </p:txBody>
      </p:sp>
      <p:sp>
        <p:nvSpPr>
          <p:cNvPr id="496739" name="Rectangle 99">
            <a:extLst>
              <a:ext uri="{FF2B5EF4-FFF2-40B4-BE49-F238E27FC236}">
                <a16:creationId xmlns:a16="http://schemas.microsoft.com/office/drawing/2014/main" id="{77CB5AF2-D7A8-47A3-85DE-EAE717229329}"/>
              </a:ext>
            </a:extLst>
          </p:cNvPr>
          <p:cNvSpPr>
            <a:spLocks noChangeArrowheads="1"/>
          </p:cNvSpPr>
          <p:nvPr/>
        </p:nvSpPr>
        <p:spPr bwMode="auto">
          <a:xfrm>
            <a:off x="6419170" y="715017"/>
            <a:ext cx="3429000" cy="1600200"/>
          </a:xfrm>
          <a:prstGeom prst="rect">
            <a:avLst/>
          </a:prstGeom>
          <a:noFill/>
          <a:ln>
            <a:noFill/>
          </a:ln>
          <a:effectLst/>
        </p:spPr>
        <p:txBody>
          <a:bodyPr wrap="none" anchor="ctr"/>
          <a:lstStyle/>
          <a:p>
            <a:endParaRPr lang="en-US"/>
          </a:p>
        </p:txBody>
      </p:sp>
      <p:sp>
        <p:nvSpPr>
          <p:cNvPr id="496642" name="Rectangle 2">
            <a:extLst>
              <a:ext uri="{FF2B5EF4-FFF2-40B4-BE49-F238E27FC236}">
                <a16:creationId xmlns:a16="http://schemas.microsoft.com/office/drawing/2014/main" id="{642D2A95-9E0F-4AE9-968E-BD35C489410B}"/>
              </a:ext>
            </a:extLst>
          </p:cNvPr>
          <p:cNvSpPr>
            <a:spLocks noGrp="1" noChangeArrowheads="1"/>
          </p:cNvSpPr>
          <p:nvPr>
            <p:ph type="title"/>
          </p:nvPr>
        </p:nvSpPr>
        <p:spPr/>
        <p:txBody>
          <a:bodyPr/>
          <a:lstStyle/>
          <a:p>
            <a:r>
              <a:rPr lang="en-US" altLang="en-US" dirty="0"/>
              <a:t>Residual Graphs and Augmenting Paths</a:t>
            </a:r>
          </a:p>
        </p:txBody>
      </p:sp>
      <mc:AlternateContent xmlns:mc="http://schemas.openxmlformats.org/markup-compatibility/2006">
        <mc:Choice xmlns:a14="http://schemas.microsoft.com/office/drawing/2010/main" Requires="a14">
          <p:sp>
            <p:nvSpPr>
              <p:cNvPr id="496643" name="Rectangle 3">
                <a:extLst>
                  <a:ext uri="{FF2B5EF4-FFF2-40B4-BE49-F238E27FC236}">
                    <a16:creationId xmlns:a16="http://schemas.microsoft.com/office/drawing/2014/main" id="{492BF5EA-E352-4CF9-9D58-59B2493F7287}"/>
                  </a:ext>
                </a:extLst>
              </p:cNvPr>
              <p:cNvSpPr>
                <a:spLocks noGrp="1" noChangeArrowheads="1"/>
              </p:cNvSpPr>
              <p:nvPr>
                <p:ph type="body" idx="1"/>
              </p:nvPr>
            </p:nvSpPr>
            <p:spPr>
              <a:xfrm>
                <a:off x="628649" y="1509088"/>
                <a:ext cx="10779049" cy="5200045"/>
              </a:xfrm>
            </p:spPr>
            <p:txBody>
              <a:bodyPr>
                <a:noAutofit/>
              </a:bodyPr>
              <a:lstStyle/>
              <a:p>
                <a:pPr marL="0" indent="0">
                  <a:spcBef>
                    <a:spcPts val="0"/>
                  </a:spcBef>
                  <a:buNone/>
                </a:pPr>
                <a:r>
                  <a:rPr lang="en-US" altLang="en-US" sz="2000" dirty="0">
                    <a:solidFill>
                      <a:srgbClr val="C00000"/>
                    </a:solidFill>
                  </a:rPr>
                  <a:t>Residual edges </a:t>
                </a:r>
                <a:r>
                  <a:rPr lang="en-US" altLang="en-US" sz="2000" dirty="0"/>
                  <a:t>of two kinds:</a:t>
                </a:r>
                <a:endParaRPr lang="en-US" altLang="en-US" sz="2000" dirty="0">
                  <a:solidFill>
                    <a:schemeClr val="tx1"/>
                  </a:solidFill>
                </a:endParaRPr>
              </a:p>
              <a:p>
                <a:pPr lvl="1">
                  <a:spcBef>
                    <a:spcPts val="0"/>
                  </a:spcBef>
                </a:pPr>
                <a:r>
                  <a:rPr lang="en-US" altLang="en-US" sz="2000" dirty="0">
                    <a:solidFill>
                      <a:srgbClr val="C00000"/>
                    </a:solidFill>
                    <a:sym typeface="Symbol" panose="05050102010706020507" pitchFamily="18" charset="2"/>
                  </a:rPr>
                  <a:t>Forward</a:t>
                </a:r>
                <a:r>
                  <a:rPr lang="en-US" altLang="en-US" sz="2000" dirty="0">
                    <a:sym typeface="Symbol" panose="05050102010706020507" pitchFamily="18" charset="2"/>
                  </a:rPr>
                  <a:t>:  </a:t>
                </a:r>
                <a14:m>
                  <m:oMath xmlns:m="http://schemas.openxmlformats.org/officeDocument/2006/math">
                    <m:r>
                      <a:rPr lang="en-US" altLang="en-US" sz="2000" b="1" i="1" dirty="0" smtClean="0">
                        <a:solidFill>
                          <a:srgbClr val="0066CC"/>
                        </a:solidFill>
                        <a:latin typeface="Cambria Math" panose="02040503050406030204" pitchFamily="18" charset="0"/>
                        <a:sym typeface="Symbol" panose="05050102010706020507" pitchFamily="18" charset="2"/>
                      </a:rPr>
                      <m:t>𝒆</m:t>
                    </m:r>
                    <m:r>
                      <a:rPr lang="en-US" altLang="en-US" sz="2000" b="1" i="1" dirty="0" smtClean="0">
                        <a:solidFill>
                          <a:srgbClr val="0066CC"/>
                        </a:solidFill>
                        <a:latin typeface="Cambria Math" panose="02040503050406030204" pitchFamily="18" charset="0"/>
                        <a:sym typeface="Symbol" panose="05050102010706020507" pitchFamily="18" charset="2"/>
                      </a:rPr>
                      <m:t>=(</m:t>
                    </m:r>
                    <m:r>
                      <a:rPr lang="en-US" altLang="en-US" sz="2000" b="1" i="1" dirty="0" smtClean="0">
                        <a:solidFill>
                          <a:srgbClr val="0066CC"/>
                        </a:solidFill>
                        <a:latin typeface="Cambria Math" panose="02040503050406030204" pitchFamily="18" charset="0"/>
                        <a:sym typeface="Symbol" panose="05050102010706020507" pitchFamily="18" charset="2"/>
                      </a:rPr>
                      <m:t>𝒖</m:t>
                    </m:r>
                    <m:r>
                      <a:rPr lang="en-US" altLang="en-US" sz="2000" b="1" i="1" dirty="0" smtClean="0">
                        <a:solidFill>
                          <a:srgbClr val="0066CC"/>
                        </a:solidFill>
                        <a:latin typeface="Cambria Math" panose="02040503050406030204" pitchFamily="18" charset="0"/>
                        <a:sym typeface="Symbol" panose="05050102010706020507" pitchFamily="18" charset="2"/>
                      </a:rPr>
                      <m:t>, </m:t>
                    </m:r>
                    <m:r>
                      <a:rPr lang="en-US" altLang="en-US" sz="2000" b="1" i="1" dirty="0" smtClean="0">
                        <a:solidFill>
                          <a:srgbClr val="0066CC"/>
                        </a:solidFill>
                        <a:latin typeface="Cambria Math" panose="02040503050406030204" pitchFamily="18" charset="0"/>
                        <a:sym typeface="Symbol" panose="05050102010706020507" pitchFamily="18" charset="2"/>
                      </a:rPr>
                      <m:t>𝒗</m:t>
                    </m:r>
                    <m:r>
                      <a:rPr lang="en-US" altLang="en-US" sz="2000" b="1" i="1" dirty="0" smtClean="0">
                        <a:solidFill>
                          <a:srgbClr val="0066CC"/>
                        </a:solidFill>
                        <a:latin typeface="Cambria Math" panose="02040503050406030204" pitchFamily="18" charset="0"/>
                        <a:sym typeface="Symbol" panose="05050102010706020507" pitchFamily="18" charset="2"/>
                      </a:rPr>
                      <m:t>)</m:t>
                    </m:r>
                  </m:oMath>
                </a14:m>
                <a:r>
                  <a:rPr lang="en-US" altLang="en-US" sz="2000" dirty="0">
                    <a:sym typeface="Symbol" panose="05050102010706020507" pitchFamily="18" charset="2"/>
                  </a:rPr>
                  <a:t> with capacity </a:t>
                </a:r>
                <a14:m>
                  <m:oMath xmlns:m="http://schemas.openxmlformats.org/officeDocument/2006/math">
                    <m:sSub>
                      <m:sSubPr>
                        <m:ctrlPr>
                          <a:rPr lang="en-US" altLang="en-US" sz="2000" b="1" i="1" smtClean="0">
                            <a:solidFill>
                              <a:srgbClr val="0066CC"/>
                            </a:solidFill>
                            <a:latin typeface="Cambria Math" panose="02040503050406030204" pitchFamily="18" charset="0"/>
                            <a:sym typeface="Symbol" panose="05050102010706020507" pitchFamily="18" charset="2"/>
                          </a:rPr>
                        </m:ctrlPr>
                      </m:sSubPr>
                      <m:e>
                        <m:r>
                          <a:rPr lang="en-US" altLang="en-US" sz="2000" b="1" i="1" smtClean="0">
                            <a:solidFill>
                              <a:srgbClr val="0066CC"/>
                            </a:solidFill>
                            <a:latin typeface="Cambria Math" panose="02040503050406030204" pitchFamily="18" charset="0"/>
                            <a:sym typeface="Symbol" panose="05050102010706020507" pitchFamily="18" charset="2"/>
                          </a:rPr>
                          <m:t>𝒄</m:t>
                        </m:r>
                      </m:e>
                      <m:sub>
                        <m:r>
                          <a:rPr lang="en-US" altLang="en-US" sz="2000" b="1" i="1" smtClean="0">
                            <a:solidFill>
                              <a:srgbClr val="0066CC"/>
                            </a:solidFill>
                            <a:latin typeface="Cambria Math" panose="02040503050406030204" pitchFamily="18" charset="0"/>
                            <a:sym typeface="Symbol" panose="05050102010706020507" pitchFamily="18" charset="2"/>
                          </a:rPr>
                          <m:t>𝒇</m:t>
                        </m:r>
                      </m:sub>
                    </m:sSub>
                    <m:d>
                      <m:dPr>
                        <m:ctrlPr>
                          <a:rPr lang="en-US" altLang="en-US" sz="2000" b="1" i="1" smtClean="0">
                            <a:solidFill>
                              <a:srgbClr val="0066CC"/>
                            </a:solidFill>
                            <a:latin typeface="Cambria Math" panose="02040503050406030204" pitchFamily="18" charset="0"/>
                            <a:sym typeface="Symbol" panose="05050102010706020507" pitchFamily="18" charset="2"/>
                          </a:rPr>
                        </m:ctrlPr>
                      </m:dPr>
                      <m:e>
                        <m:r>
                          <a:rPr lang="en-US" altLang="en-US" sz="2000" b="1" i="1" smtClean="0">
                            <a:solidFill>
                              <a:srgbClr val="0066CC"/>
                            </a:solidFill>
                            <a:latin typeface="Cambria Math" panose="02040503050406030204" pitchFamily="18" charset="0"/>
                            <a:sym typeface="Symbol" panose="05050102010706020507" pitchFamily="18" charset="2"/>
                          </a:rPr>
                          <m:t>𝒆</m:t>
                        </m:r>
                      </m:e>
                    </m:d>
                    <m:r>
                      <a:rPr lang="en-US" altLang="en-US" sz="2000" b="0" i="0" smtClean="0">
                        <a:solidFill>
                          <a:srgbClr val="0066CC"/>
                        </a:solidFill>
                        <a:latin typeface="Cambria Math" panose="02040503050406030204" pitchFamily="18" charset="0"/>
                        <a:sym typeface="Symbol" panose="05050102010706020507" pitchFamily="18" charset="2"/>
                      </a:rPr>
                      <m:t>=</m:t>
                    </m:r>
                    <m:r>
                      <a:rPr lang="en-US" altLang="en-US" sz="2000" b="1" i="1" smtClean="0">
                        <a:solidFill>
                          <a:srgbClr val="0066CC"/>
                        </a:solidFill>
                        <a:latin typeface="Cambria Math" panose="02040503050406030204" pitchFamily="18" charset="0"/>
                        <a:sym typeface="Symbol" panose="05050102010706020507" pitchFamily="18" charset="2"/>
                      </a:rPr>
                      <m:t>𝒄</m:t>
                    </m:r>
                    <m:d>
                      <m:dPr>
                        <m:ctrlPr>
                          <a:rPr lang="en-US" altLang="en-US" sz="2000" b="1" i="1" smtClean="0">
                            <a:solidFill>
                              <a:srgbClr val="0066CC"/>
                            </a:solidFill>
                            <a:latin typeface="Cambria Math" panose="02040503050406030204" pitchFamily="18" charset="0"/>
                            <a:sym typeface="Symbol" panose="05050102010706020507" pitchFamily="18" charset="2"/>
                          </a:rPr>
                        </m:ctrlPr>
                      </m:dPr>
                      <m:e>
                        <m:r>
                          <a:rPr lang="en-US" altLang="en-US" sz="2000" b="1" i="1" smtClean="0">
                            <a:solidFill>
                              <a:srgbClr val="0066CC"/>
                            </a:solidFill>
                            <a:latin typeface="Cambria Math" panose="02040503050406030204" pitchFamily="18" charset="0"/>
                            <a:sym typeface="Symbol" panose="05050102010706020507" pitchFamily="18" charset="2"/>
                          </a:rPr>
                          <m:t>𝒆</m:t>
                        </m:r>
                      </m:e>
                    </m:d>
                    <m:r>
                      <a:rPr lang="en-US" altLang="en-US" sz="2000" b="1" i="1" smtClean="0">
                        <a:solidFill>
                          <a:srgbClr val="0066CC"/>
                        </a:solidFill>
                        <a:latin typeface="Cambria Math" panose="02040503050406030204" pitchFamily="18" charset="0"/>
                        <a:sym typeface="Symbol" panose="05050102010706020507" pitchFamily="18" charset="2"/>
                      </a:rPr>
                      <m:t>−</m:t>
                    </m:r>
                    <m:r>
                      <a:rPr lang="en-US" altLang="en-US" sz="2000" b="1" i="1" smtClean="0">
                        <a:solidFill>
                          <a:srgbClr val="0066CC"/>
                        </a:solidFill>
                        <a:latin typeface="Cambria Math" panose="02040503050406030204" pitchFamily="18" charset="0"/>
                        <a:sym typeface="Symbol" panose="05050102010706020507" pitchFamily="18" charset="2"/>
                      </a:rPr>
                      <m:t>𝒇</m:t>
                    </m:r>
                    <m:d>
                      <m:dPr>
                        <m:ctrlPr>
                          <a:rPr lang="en-US" altLang="en-US" sz="2000" b="1" i="1" smtClean="0">
                            <a:solidFill>
                              <a:srgbClr val="0066CC"/>
                            </a:solidFill>
                            <a:latin typeface="Cambria Math" panose="02040503050406030204" pitchFamily="18" charset="0"/>
                            <a:sym typeface="Symbol" panose="05050102010706020507" pitchFamily="18" charset="2"/>
                          </a:rPr>
                        </m:ctrlPr>
                      </m:dPr>
                      <m:e>
                        <m:r>
                          <a:rPr lang="en-US" altLang="en-US" sz="2000" b="1" i="1" smtClean="0">
                            <a:solidFill>
                              <a:srgbClr val="0066CC"/>
                            </a:solidFill>
                            <a:latin typeface="Cambria Math" panose="02040503050406030204" pitchFamily="18" charset="0"/>
                            <a:sym typeface="Symbol" panose="05050102010706020507" pitchFamily="18" charset="2"/>
                          </a:rPr>
                          <m:t>𝒆</m:t>
                        </m:r>
                      </m:e>
                    </m:d>
                  </m:oMath>
                </a14:m>
                <a:endParaRPr lang="en-US" altLang="en-US" sz="2000" b="1" dirty="0">
                  <a:solidFill>
                    <a:srgbClr val="0066CC"/>
                  </a:solidFill>
                  <a:sym typeface="Symbol" panose="05050102010706020507" pitchFamily="18" charset="2"/>
                </a:endParaRPr>
              </a:p>
              <a:p>
                <a:pPr lvl="2">
                  <a:spcBef>
                    <a:spcPts val="0"/>
                  </a:spcBef>
                </a:pPr>
                <a:r>
                  <a:rPr lang="en-US" altLang="en-US" sz="2000" dirty="0">
                    <a:sym typeface="Symbol" panose="05050102010706020507" pitchFamily="18" charset="2"/>
                  </a:rPr>
                  <a:t>Amount of extra flow we can add along</a:t>
                </a:r>
                <a:r>
                  <a:rPr lang="en-US" altLang="en-US" sz="2000" b="1" dirty="0">
                    <a:solidFill>
                      <a:srgbClr val="0066CC"/>
                    </a:solidFill>
                    <a:sym typeface="Symbol" panose="05050102010706020507" pitchFamily="18" charset="2"/>
                  </a:rPr>
                  <a:t> </a:t>
                </a:r>
                <a14:m>
                  <m:oMath xmlns:m="http://schemas.openxmlformats.org/officeDocument/2006/math">
                    <m:r>
                      <a:rPr lang="en-US" altLang="en-US" sz="2000" b="1" i="1" dirty="0" smtClean="0">
                        <a:solidFill>
                          <a:srgbClr val="0066CC"/>
                        </a:solidFill>
                        <a:latin typeface="Cambria Math" panose="02040503050406030204" pitchFamily="18" charset="0"/>
                        <a:sym typeface="Symbol" panose="05050102010706020507" pitchFamily="18" charset="2"/>
                      </a:rPr>
                      <m:t>𝒆</m:t>
                    </m:r>
                  </m:oMath>
                </a14:m>
                <a:endParaRPr lang="en-US" altLang="en-US" sz="2000" b="1" dirty="0">
                  <a:solidFill>
                    <a:srgbClr val="0066CC"/>
                  </a:solidFill>
                  <a:sym typeface="Symbol" panose="05050102010706020507" pitchFamily="18" charset="2"/>
                </a:endParaRPr>
              </a:p>
              <a:p>
                <a:pPr lvl="1">
                  <a:spcBef>
                    <a:spcPts val="0"/>
                  </a:spcBef>
                </a:pPr>
                <a:r>
                  <a:rPr lang="en-US" altLang="en-US" sz="2000" dirty="0">
                    <a:solidFill>
                      <a:srgbClr val="C00000"/>
                    </a:solidFill>
                    <a:sym typeface="Symbol" panose="05050102010706020507" pitchFamily="18" charset="2"/>
                  </a:rPr>
                  <a:t>Backward</a:t>
                </a:r>
                <a:r>
                  <a:rPr lang="en-US" altLang="en-US" sz="2000" dirty="0">
                    <a:sym typeface="Symbol" panose="05050102010706020507" pitchFamily="18" charset="2"/>
                  </a:rPr>
                  <a:t>: </a:t>
                </a:r>
                <a14:m>
                  <m:oMath xmlns:m="http://schemas.openxmlformats.org/officeDocument/2006/math">
                    <m:sSup>
                      <m:sSupPr>
                        <m:ctrlPr>
                          <a:rPr lang="en-US" altLang="en-US" sz="2000" b="1" i="1" dirty="0" smtClean="0">
                            <a:solidFill>
                              <a:srgbClr val="0066CC"/>
                            </a:solidFill>
                            <a:latin typeface="Cambria Math" panose="02040503050406030204" pitchFamily="18" charset="0"/>
                            <a:sym typeface="Symbol" panose="05050102010706020507" pitchFamily="18" charset="2"/>
                          </a:rPr>
                        </m:ctrlPr>
                      </m:sSupPr>
                      <m:e>
                        <m:r>
                          <a:rPr lang="en-US" altLang="en-US" sz="2000" b="1" i="1" dirty="0" smtClean="0">
                            <a:solidFill>
                              <a:srgbClr val="0066CC"/>
                            </a:solidFill>
                            <a:latin typeface="Cambria Math" panose="02040503050406030204" pitchFamily="18" charset="0"/>
                            <a:sym typeface="Symbol" panose="05050102010706020507" pitchFamily="18" charset="2"/>
                          </a:rPr>
                          <m:t>𝒆</m:t>
                        </m:r>
                      </m:e>
                      <m:sup>
                        <m:r>
                          <m:rPr>
                            <m:sty m:val="p"/>
                          </m:rPr>
                          <a:rPr lang="en-US" altLang="en-US" sz="2000" b="0" i="0" dirty="0" smtClean="0">
                            <a:solidFill>
                              <a:srgbClr val="0066CC"/>
                            </a:solidFill>
                            <a:latin typeface="Cambria Math" panose="02040503050406030204" pitchFamily="18" charset="0"/>
                            <a:sym typeface="Symbol" panose="05050102010706020507" pitchFamily="18" charset="2"/>
                          </a:rPr>
                          <m:t>R</m:t>
                        </m:r>
                      </m:sup>
                    </m:sSup>
                    <m:r>
                      <a:rPr lang="en-US" altLang="en-US" sz="2000" b="1" i="1" dirty="0" smtClean="0">
                        <a:solidFill>
                          <a:srgbClr val="0066CC"/>
                        </a:solidFill>
                        <a:latin typeface="Cambria Math" panose="02040503050406030204" pitchFamily="18" charset="0"/>
                        <a:sym typeface="Symbol" panose="05050102010706020507" pitchFamily="18" charset="2"/>
                      </a:rPr>
                      <m:t> =(</m:t>
                    </m:r>
                    <m:r>
                      <a:rPr lang="en-US" altLang="en-US" sz="2000" b="1" i="1" dirty="0" smtClean="0">
                        <a:solidFill>
                          <a:srgbClr val="0066CC"/>
                        </a:solidFill>
                        <a:latin typeface="Cambria Math" panose="02040503050406030204" pitchFamily="18" charset="0"/>
                        <a:sym typeface="Symbol" panose="05050102010706020507" pitchFamily="18" charset="2"/>
                      </a:rPr>
                      <m:t>𝒗</m:t>
                    </m:r>
                    <m:r>
                      <a:rPr lang="en-US" altLang="en-US" sz="2000" b="1" i="1" dirty="0" smtClean="0">
                        <a:solidFill>
                          <a:srgbClr val="0066CC"/>
                        </a:solidFill>
                        <a:latin typeface="Cambria Math" panose="02040503050406030204" pitchFamily="18" charset="0"/>
                        <a:sym typeface="Symbol" panose="05050102010706020507" pitchFamily="18" charset="2"/>
                      </a:rPr>
                      <m:t>, </m:t>
                    </m:r>
                    <m:r>
                      <a:rPr lang="en-US" altLang="en-US" sz="2000" b="1" i="1" dirty="0" smtClean="0">
                        <a:solidFill>
                          <a:srgbClr val="0066CC"/>
                        </a:solidFill>
                        <a:latin typeface="Cambria Math" panose="02040503050406030204" pitchFamily="18" charset="0"/>
                        <a:sym typeface="Symbol" panose="05050102010706020507" pitchFamily="18" charset="2"/>
                      </a:rPr>
                      <m:t>𝒖</m:t>
                    </m:r>
                    <m:r>
                      <a:rPr lang="en-US" altLang="en-US" sz="2000" b="1" i="1" dirty="0" smtClean="0">
                        <a:solidFill>
                          <a:srgbClr val="0066CC"/>
                        </a:solidFill>
                        <a:latin typeface="Cambria Math" panose="02040503050406030204" pitchFamily="18" charset="0"/>
                        <a:sym typeface="Symbol" panose="05050102010706020507" pitchFamily="18" charset="2"/>
                      </a:rPr>
                      <m:t>)</m:t>
                    </m:r>
                  </m:oMath>
                </a14:m>
                <a:r>
                  <a:rPr lang="en-US" altLang="en-US" sz="2000" dirty="0">
                    <a:sym typeface="Symbol" panose="05050102010706020507" pitchFamily="18" charset="2"/>
                  </a:rPr>
                  <a:t> with capacity </a:t>
                </a:r>
                <a14:m>
                  <m:oMath xmlns:m="http://schemas.openxmlformats.org/officeDocument/2006/math">
                    <m:sSub>
                      <m:sSubPr>
                        <m:ctrlPr>
                          <a:rPr lang="en-US" altLang="en-US" sz="2000" b="1" i="1" smtClean="0">
                            <a:solidFill>
                              <a:srgbClr val="0066CC"/>
                            </a:solidFill>
                            <a:latin typeface="Cambria Math" panose="02040503050406030204" pitchFamily="18" charset="0"/>
                            <a:sym typeface="Symbol" panose="05050102010706020507" pitchFamily="18" charset="2"/>
                          </a:rPr>
                        </m:ctrlPr>
                      </m:sSubPr>
                      <m:e>
                        <m:r>
                          <a:rPr lang="en-US" altLang="en-US" sz="2000" b="1" i="1" smtClean="0">
                            <a:solidFill>
                              <a:srgbClr val="0066CC"/>
                            </a:solidFill>
                            <a:latin typeface="Cambria Math" panose="02040503050406030204" pitchFamily="18" charset="0"/>
                            <a:sym typeface="Symbol" panose="05050102010706020507" pitchFamily="18" charset="2"/>
                          </a:rPr>
                          <m:t>𝒄</m:t>
                        </m:r>
                      </m:e>
                      <m:sub>
                        <m:r>
                          <a:rPr lang="en-US" altLang="en-US" sz="2000" b="1" i="1" smtClean="0">
                            <a:solidFill>
                              <a:srgbClr val="0066CC"/>
                            </a:solidFill>
                            <a:latin typeface="Cambria Math" panose="02040503050406030204" pitchFamily="18" charset="0"/>
                            <a:sym typeface="Symbol" panose="05050102010706020507" pitchFamily="18" charset="2"/>
                          </a:rPr>
                          <m:t>𝒇</m:t>
                        </m:r>
                      </m:sub>
                    </m:sSub>
                    <m:d>
                      <m:dPr>
                        <m:ctrlPr>
                          <a:rPr lang="en-US" altLang="en-US" sz="2000" b="1" i="1" smtClean="0">
                            <a:solidFill>
                              <a:srgbClr val="0066CC"/>
                            </a:solidFill>
                            <a:latin typeface="Cambria Math" panose="02040503050406030204" pitchFamily="18" charset="0"/>
                            <a:sym typeface="Symbol" panose="05050102010706020507" pitchFamily="18" charset="2"/>
                          </a:rPr>
                        </m:ctrlPr>
                      </m:dPr>
                      <m:e>
                        <m:r>
                          <a:rPr lang="en-US" altLang="en-US" sz="2000" b="1" i="1" smtClean="0">
                            <a:solidFill>
                              <a:srgbClr val="0066CC"/>
                            </a:solidFill>
                            <a:latin typeface="Cambria Math" panose="02040503050406030204" pitchFamily="18" charset="0"/>
                            <a:sym typeface="Symbol" panose="05050102010706020507" pitchFamily="18" charset="2"/>
                          </a:rPr>
                          <m:t>𝒆</m:t>
                        </m:r>
                      </m:e>
                    </m:d>
                    <m:r>
                      <a:rPr lang="en-US" altLang="en-US" sz="2000" b="0" i="0" smtClean="0">
                        <a:solidFill>
                          <a:srgbClr val="0066CC"/>
                        </a:solidFill>
                        <a:latin typeface="Cambria Math" panose="02040503050406030204" pitchFamily="18" charset="0"/>
                        <a:sym typeface="Symbol" panose="05050102010706020507" pitchFamily="18" charset="2"/>
                      </a:rPr>
                      <m:t>=</m:t>
                    </m:r>
                    <m:r>
                      <a:rPr lang="en-US" altLang="en-US" sz="2000" b="1" i="1">
                        <a:solidFill>
                          <a:srgbClr val="0066CC"/>
                        </a:solidFill>
                        <a:latin typeface="Cambria Math" panose="02040503050406030204" pitchFamily="18" charset="0"/>
                        <a:sym typeface="Symbol" panose="05050102010706020507" pitchFamily="18" charset="2"/>
                      </a:rPr>
                      <m:t>𝒇</m:t>
                    </m:r>
                    <m:d>
                      <m:dPr>
                        <m:ctrlPr>
                          <a:rPr lang="en-US" altLang="en-US" sz="2000" b="1" i="1">
                            <a:solidFill>
                              <a:srgbClr val="0066CC"/>
                            </a:solidFill>
                            <a:latin typeface="Cambria Math" panose="02040503050406030204" pitchFamily="18" charset="0"/>
                            <a:sym typeface="Symbol" panose="05050102010706020507" pitchFamily="18" charset="2"/>
                          </a:rPr>
                        </m:ctrlPr>
                      </m:dPr>
                      <m:e>
                        <m:r>
                          <a:rPr lang="en-US" altLang="en-US" sz="2000" b="1" i="1">
                            <a:solidFill>
                              <a:srgbClr val="0066CC"/>
                            </a:solidFill>
                            <a:latin typeface="Cambria Math" panose="02040503050406030204" pitchFamily="18" charset="0"/>
                            <a:sym typeface="Symbol" panose="05050102010706020507" pitchFamily="18" charset="2"/>
                          </a:rPr>
                          <m:t>𝒆</m:t>
                        </m:r>
                      </m:e>
                    </m:d>
                  </m:oMath>
                </a14:m>
                <a:endParaRPr lang="en-US" altLang="en-US" sz="2000" dirty="0">
                  <a:sym typeface="Symbol" panose="05050102010706020507" pitchFamily="18" charset="2"/>
                </a:endParaRPr>
              </a:p>
              <a:p>
                <a:pPr lvl="2">
                  <a:spcBef>
                    <a:spcPts val="0"/>
                  </a:spcBef>
                </a:pPr>
                <a:r>
                  <a:rPr lang="en-US" altLang="en-US" sz="2000" dirty="0">
                    <a:sym typeface="Symbol" panose="05050102010706020507" pitchFamily="18" charset="2"/>
                  </a:rPr>
                  <a:t>Amount we can reduce/undo flow along</a:t>
                </a:r>
                <a:r>
                  <a:rPr lang="en-US" altLang="en-US" sz="2000" b="1" dirty="0">
                    <a:solidFill>
                      <a:srgbClr val="0066CC"/>
                    </a:solidFill>
                    <a:sym typeface="Symbol" panose="05050102010706020507" pitchFamily="18" charset="2"/>
                  </a:rPr>
                  <a:t> </a:t>
                </a:r>
                <a14:m>
                  <m:oMath xmlns:m="http://schemas.openxmlformats.org/officeDocument/2006/math">
                    <m:r>
                      <a:rPr lang="en-US" altLang="en-US" sz="2000" b="1" i="1" dirty="0" smtClean="0">
                        <a:solidFill>
                          <a:srgbClr val="0066CC"/>
                        </a:solidFill>
                        <a:latin typeface="Cambria Math" panose="02040503050406030204" pitchFamily="18" charset="0"/>
                        <a:sym typeface="Symbol" panose="05050102010706020507" pitchFamily="18" charset="2"/>
                      </a:rPr>
                      <m:t>𝒆</m:t>
                    </m:r>
                  </m:oMath>
                </a14:m>
                <a:endParaRPr lang="en-US" altLang="en-US" sz="2000" dirty="0">
                  <a:sym typeface="Symbol" panose="05050102010706020507" pitchFamily="18" charset="2"/>
                </a:endParaRPr>
              </a:p>
              <a:p>
                <a:pPr marL="0" indent="0">
                  <a:spcBef>
                    <a:spcPts val="0"/>
                  </a:spcBef>
                  <a:buNone/>
                </a:pPr>
                <a:endParaRPr lang="en-US" altLang="en-US" sz="100" dirty="0">
                  <a:solidFill>
                    <a:schemeClr val="tx1"/>
                  </a:solidFill>
                  <a:sym typeface="Symbol" panose="05050102010706020507" pitchFamily="18" charset="2"/>
                </a:endParaRPr>
              </a:p>
              <a:p>
                <a:pPr marL="0" indent="0">
                  <a:spcBef>
                    <a:spcPts val="0"/>
                  </a:spcBef>
                  <a:buNone/>
                </a:pPr>
                <a:r>
                  <a:rPr lang="en-US" altLang="en-US" sz="2000" dirty="0">
                    <a:solidFill>
                      <a:srgbClr val="C00000"/>
                    </a:solidFill>
                  </a:rPr>
                  <a:t>Residual graph</a:t>
                </a:r>
                <a:r>
                  <a:rPr lang="en-US" altLang="en-US" sz="2000" dirty="0"/>
                  <a:t>:  </a:t>
                </a:r>
                <a14:m>
                  <m:oMath xmlns:m="http://schemas.openxmlformats.org/officeDocument/2006/math">
                    <m:sSub>
                      <m:sSubPr>
                        <m:ctrlPr>
                          <a:rPr lang="en-US" altLang="en-US" sz="2000" b="1" i="1" dirty="0" smtClean="0">
                            <a:solidFill>
                              <a:srgbClr val="0066CC"/>
                            </a:solidFill>
                            <a:latin typeface="Cambria Math" panose="02040503050406030204" pitchFamily="18" charset="0"/>
                          </a:rPr>
                        </m:ctrlPr>
                      </m:sSubPr>
                      <m:e>
                        <m:r>
                          <a:rPr lang="en-US" altLang="en-US" sz="2000" b="1" i="1" dirty="0" smtClean="0">
                            <a:solidFill>
                              <a:srgbClr val="0066CC"/>
                            </a:solidFill>
                            <a:latin typeface="Cambria Math" panose="02040503050406030204" pitchFamily="18" charset="0"/>
                          </a:rPr>
                          <m:t>𝑮</m:t>
                        </m:r>
                      </m:e>
                      <m:sub>
                        <m:r>
                          <a:rPr lang="en-US" altLang="en-US" sz="2000" b="1" i="1" dirty="0" smtClean="0">
                            <a:solidFill>
                              <a:srgbClr val="0066CC"/>
                            </a:solidFill>
                            <a:latin typeface="Cambria Math" panose="02040503050406030204" pitchFamily="18" charset="0"/>
                          </a:rPr>
                          <m:t>𝒇</m:t>
                        </m:r>
                      </m:sub>
                    </m:sSub>
                    <m:r>
                      <a:rPr lang="en-US" altLang="en-US" sz="2000" b="1" i="1" dirty="0" smtClean="0">
                        <a:solidFill>
                          <a:srgbClr val="0066CC"/>
                        </a:solidFill>
                        <a:latin typeface="Cambria Math" panose="02040503050406030204" pitchFamily="18" charset="0"/>
                      </a:rPr>
                      <m:t>=</m:t>
                    </m:r>
                    <m:r>
                      <a:rPr lang="en-US" altLang="en-US" sz="2000" b="1" i="1" dirty="0">
                        <a:solidFill>
                          <a:srgbClr val="0066CC"/>
                        </a:solidFill>
                        <a:latin typeface="Cambria Math" panose="02040503050406030204" pitchFamily="18" charset="0"/>
                      </a:rPr>
                      <m:t>(</m:t>
                    </m:r>
                    <m:r>
                      <a:rPr lang="en-US" altLang="en-US" sz="2000" b="1" i="1" dirty="0">
                        <a:solidFill>
                          <a:srgbClr val="0066CC"/>
                        </a:solidFill>
                        <a:latin typeface="Cambria Math" panose="02040503050406030204" pitchFamily="18" charset="0"/>
                      </a:rPr>
                      <m:t>𝑽</m:t>
                    </m:r>
                    <m:r>
                      <a:rPr lang="en-US" altLang="en-US" sz="2000" b="1" i="1" dirty="0">
                        <a:solidFill>
                          <a:srgbClr val="0066CC"/>
                        </a:solidFill>
                        <a:latin typeface="Cambria Math" panose="02040503050406030204" pitchFamily="18" charset="0"/>
                      </a:rPr>
                      <m:t>, </m:t>
                    </m:r>
                    <m:sSub>
                      <m:sSubPr>
                        <m:ctrlPr>
                          <a:rPr lang="en-US" altLang="en-US" sz="2000" b="1" i="1" dirty="0" smtClean="0">
                            <a:solidFill>
                              <a:srgbClr val="0066CC"/>
                            </a:solidFill>
                            <a:latin typeface="Cambria Math" panose="02040503050406030204" pitchFamily="18" charset="0"/>
                          </a:rPr>
                        </m:ctrlPr>
                      </m:sSubPr>
                      <m:e>
                        <m:r>
                          <a:rPr lang="en-US" altLang="en-US" sz="2000" b="1" i="1" dirty="0" smtClean="0">
                            <a:solidFill>
                              <a:srgbClr val="0066CC"/>
                            </a:solidFill>
                            <a:latin typeface="Cambria Math" panose="02040503050406030204" pitchFamily="18" charset="0"/>
                          </a:rPr>
                          <m:t>𝑬</m:t>
                        </m:r>
                      </m:e>
                      <m:sub>
                        <m:r>
                          <a:rPr lang="en-US" altLang="en-US" sz="2000" b="1" i="1" dirty="0" smtClean="0">
                            <a:solidFill>
                              <a:srgbClr val="0066CC"/>
                            </a:solidFill>
                            <a:latin typeface="Cambria Math" panose="02040503050406030204" pitchFamily="18" charset="0"/>
                          </a:rPr>
                          <m:t>𝒇</m:t>
                        </m:r>
                      </m:sub>
                    </m:sSub>
                    <m:r>
                      <a:rPr lang="en-US" altLang="en-US" sz="2000" b="1" i="1" dirty="0" smtClean="0">
                        <a:solidFill>
                          <a:srgbClr val="0066CC"/>
                        </a:solidFill>
                        <a:latin typeface="Cambria Math" panose="02040503050406030204" pitchFamily="18" charset="0"/>
                      </a:rPr>
                      <m:t>)</m:t>
                    </m:r>
                  </m:oMath>
                </a14:m>
                <a:r>
                  <a:rPr lang="en-US" altLang="en-US" sz="2000" dirty="0">
                    <a:solidFill>
                      <a:schemeClr val="tx1"/>
                    </a:solidFill>
                  </a:rPr>
                  <a:t>.</a:t>
                </a:r>
              </a:p>
              <a:p>
                <a:pPr lvl="1">
                  <a:spcBef>
                    <a:spcPts val="0"/>
                  </a:spcBef>
                </a:pPr>
                <a:r>
                  <a:rPr lang="en-US" altLang="en-US" sz="2000" dirty="0"/>
                  <a:t>Residual edges with residual capacity </a:t>
                </a:r>
                <a14:m>
                  <m:oMath xmlns:m="http://schemas.openxmlformats.org/officeDocument/2006/math">
                    <m:sSub>
                      <m:sSubPr>
                        <m:ctrlPr>
                          <a:rPr lang="en-US" altLang="en-US" sz="2000" b="1" i="1" smtClean="0">
                            <a:solidFill>
                              <a:srgbClr val="0066CC"/>
                            </a:solidFill>
                            <a:latin typeface="Cambria Math" panose="02040503050406030204" pitchFamily="18" charset="0"/>
                            <a:sym typeface="Symbol" panose="05050102010706020507" pitchFamily="18" charset="2"/>
                          </a:rPr>
                        </m:ctrlPr>
                      </m:sSubPr>
                      <m:e>
                        <m:r>
                          <a:rPr lang="en-US" altLang="en-US" sz="2000" b="1" i="1" smtClean="0">
                            <a:solidFill>
                              <a:srgbClr val="0066CC"/>
                            </a:solidFill>
                            <a:latin typeface="Cambria Math" panose="02040503050406030204" pitchFamily="18" charset="0"/>
                            <a:sym typeface="Symbol" panose="05050102010706020507" pitchFamily="18" charset="2"/>
                          </a:rPr>
                          <m:t>𝒄</m:t>
                        </m:r>
                      </m:e>
                      <m:sub>
                        <m:r>
                          <a:rPr lang="en-US" altLang="en-US" sz="2000" b="1" i="1" smtClean="0">
                            <a:solidFill>
                              <a:srgbClr val="0066CC"/>
                            </a:solidFill>
                            <a:latin typeface="Cambria Math" panose="02040503050406030204" pitchFamily="18" charset="0"/>
                            <a:sym typeface="Symbol" panose="05050102010706020507" pitchFamily="18" charset="2"/>
                          </a:rPr>
                          <m:t>𝒇</m:t>
                        </m:r>
                      </m:sub>
                    </m:sSub>
                    <m:d>
                      <m:dPr>
                        <m:ctrlPr>
                          <a:rPr lang="en-US" altLang="en-US" sz="2000" b="1" i="1" smtClean="0">
                            <a:solidFill>
                              <a:srgbClr val="0066CC"/>
                            </a:solidFill>
                            <a:latin typeface="Cambria Math" panose="02040503050406030204" pitchFamily="18" charset="0"/>
                            <a:sym typeface="Symbol" panose="05050102010706020507" pitchFamily="18" charset="2"/>
                          </a:rPr>
                        </m:ctrlPr>
                      </m:dPr>
                      <m:e>
                        <m:r>
                          <a:rPr lang="en-US" altLang="en-US" sz="2000" b="1" i="1" smtClean="0">
                            <a:solidFill>
                              <a:srgbClr val="0066CC"/>
                            </a:solidFill>
                            <a:latin typeface="Cambria Math" panose="02040503050406030204" pitchFamily="18" charset="0"/>
                            <a:sym typeface="Symbol" panose="05050102010706020507" pitchFamily="18" charset="2"/>
                          </a:rPr>
                          <m:t>𝒆</m:t>
                        </m:r>
                      </m:e>
                    </m:d>
                    <m:r>
                      <a:rPr lang="en-US" altLang="en-US" sz="2000" b="1" i="1" smtClean="0">
                        <a:solidFill>
                          <a:srgbClr val="0066CC"/>
                        </a:solidFill>
                        <a:latin typeface="Cambria Math" panose="02040503050406030204" pitchFamily="18" charset="0"/>
                        <a:sym typeface="Symbol" panose="05050102010706020507" pitchFamily="18" charset="2"/>
                      </a:rPr>
                      <m:t>&gt;</m:t>
                    </m:r>
                    <m:r>
                      <a:rPr lang="en-US" altLang="en-US" sz="2000" b="1" i="1" smtClean="0">
                        <a:solidFill>
                          <a:srgbClr val="0066CC"/>
                        </a:solidFill>
                        <a:latin typeface="Cambria Math" panose="02040503050406030204" pitchFamily="18" charset="0"/>
                        <a:sym typeface="Symbol" panose="05050102010706020507" pitchFamily="18" charset="2"/>
                      </a:rPr>
                      <m:t>𝟎</m:t>
                    </m:r>
                  </m:oMath>
                </a14:m>
                <a:r>
                  <a:rPr lang="en-US" altLang="en-US" sz="2000" dirty="0"/>
                  <a:t>.</a:t>
                </a:r>
              </a:p>
              <a:p>
                <a:pPr lvl="1">
                  <a:spcBef>
                    <a:spcPts val="0"/>
                  </a:spcBef>
                </a:pPr>
                <a14:m>
                  <m:oMath xmlns:m="http://schemas.openxmlformats.org/officeDocument/2006/math">
                    <m:sSub>
                      <m:sSubPr>
                        <m:ctrlPr>
                          <a:rPr lang="en-US" altLang="en-US" sz="2000" b="1" i="1" dirty="0" smtClean="0">
                            <a:solidFill>
                              <a:srgbClr val="0066CC"/>
                            </a:solidFill>
                            <a:latin typeface="Cambria Math" panose="02040503050406030204" pitchFamily="18" charset="0"/>
                          </a:rPr>
                        </m:ctrlPr>
                      </m:sSubPr>
                      <m:e>
                        <m:r>
                          <a:rPr lang="en-US" altLang="en-US" sz="2000" b="1" i="1" dirty="0" smtClean="0">
                            <a:solidFill>
                              <a:srgbClr val="0066CC"/>
                            </a:solidFill>
                            <a:latin typeface="Cambria Math" panose="02040503050406030204" pitchFamily="18" charset="0"/>
                          </a:rPr>
                          <m:t>𝑬</m:t>
                        </m:r>
                      </m:e>
                      <m:sub>
                        <m:r>
                          <a:rPr lang="en-US" altLang="en-US" sz="2000" b="1" i="1" dirty="0" smtClean="0">
                            <a:solidFill>
                              <a:srgbClr val="0066CC"/>
                            </a:solidFill>
                            <a:latin typeface="Cambria Math" panose="02040503050406030204" pitchFamily="18" charset="0"/>
                          </a:rPr>
                          <m:t>𝒇</m:t>
                        </m:r>
                      </m:sub>
                    </m:sSub>
                    <m:r>
                      <a:rPr lang="en-US" altLang="en-US" sz="2000" b="1" i="1" dirty="0" smtClean="0">
                        <a:solidFill>
                          <a:srgbClr val="0066CC"/>
                        </a:solidFill>
                        <a:latin typeface="Cambria Math" panose="02040503050406030204" pitchFamily="18" charset="0"/>
                      </a:rPr>
                      <m:t>= </m:t>
                    </m:r>
                    <m:d>
                      <m:dPr>
                        <m:begChr m:val="{"/>
                        <m:endChr m:val="}"/>
                        <m:ctrlPr>
                          <a:rPr lang="en-US" altLang="en-US" sz="2000" b="1" i="1" dirty="0">
                            <a:solidFill>
                              <a:srgbClr val="0066CC"/>
                            </a:solidFill>
                            <a:latin typeface="Cambria Math" panose="02040503050406030204" pitchFamily="18" charset="0"/>
                          </a:rPr>
                        </m:ctrlPr>
                      </m:dPr>
                      <m:e>
                        <m:r>
                          <a:rPr lang="en-US" altLang="en-US" sz="2000" b="1" i="1" dirty="0">
                            <a:solidFill>
                              <a:srgbClr val="0066CC"/>
                            </a:solidFill>
                            <a:latin typeface="Cambria Math" panose="02040503050406030204" pitchFamily="18" charset="0"/>
                          </a:rPr>
                          <m:t>𝒆</m:t>
                        </m:r>
                        <m:r>
                          <a:rPr lang="en-US" altLang="en-US" sz="2000" b="1" i="1" dirty="0">
                            <a:solidFill>
                              <a:srgbClr val="0066CC"/>
                            </a:solidFill>
                            <a:latin typeface="Cambria Math" panose="02040503050406030204" pitchFamily="18" charset="0"/>
                          </a:rPr>
                          <m:t> : </m:t>
                        </m:r>
                        <m:r>
                          <a:rPr lang="en-US" altLang="en-US" sz="2000" b="1" i="1" dirty="0">
                            <a:solidFill>
                              <a:srgbClr val="0066CC"/>
                            </a:solidFill>
                            <a:latin typeface="Cambria Math" panose="02040503050406030204" pitchFamily="18" charset="0"/>
                          </a:rPr>
                          <m:t>𝒇</m:t>
                        </m:r>
                        <m:d>
                          <m:dPr>
                            <m:ctrlPr>
                              <a:rPr lang="en-US" altLang="en-US" sz="2000" b="1" i="1" dirty="0">
                                <a:solidFill>
                                  <a:srgbClr val="0066CC"/>
                                </a:solidFill>
                                <a:latin typeface="Cambria Math" panose="02040503050406030204" pitchFamily="18" charset="0"/>
                              </a:rPr>
                            </m:ctrlPr>
                          </m:dPr>
                          <m:e>
                            <m:r>
                              <a:rPr lang="en-US" altLang="en-US" sz="2000" b="1" i="1" dirty="0">
                                <a:solidFill>
                                  <a:srgbClr val="0066CC"/>
                                </a:solidFill>
                                <a:latin typeface="Cambria Math" panose="02040503050406030204" pitchFamily="18" charset="0"/>
                              </a:rPr>
                              <m:t>𝒆</m:t>
                            </m:r>
                          </m:e>
                        </m:d>
                        <m:r>
                          <a:rPr lang="en-US" altLang="en-US" sz="2000" b="1" i="1" dirty="0" smtClean="0">
                            <a:solidFill>
                              <a:srgbClr val="0066CC"/>
                            </a:solidFill>
                            <a:latin typeface="Cambria Math" panose="02040503050406030204" pitchFamily="18" charset="0"/>
                          </a:rPr>
                          <m:t>&lt;</m:t>
                        </m:r>
                        <m:r>
                          <a:rPr lang="en-US" altLang="en-US" sz="2000" b="1" i="1" dirty="0">
                            <a:solidFill>
                              <a:srgbClr val="0066CC"/>
                            </a:solidFill>
                            <a:latin typeface="Cambria Math" panose="02040503050406030204" pitchFamily="18" charset="0"/>
                          </a:rPr>
                          <m:t>𝒄</m:t>
                        </m:r>
                        <m:d>
                          <m:dPr>
                            <m:ctrlPr>
                              <a:rPr lang="en-US" altLang="en-US" sz="2000" b="1" i="1" dirty="0">
                                <a:solidFill>
                                  <a:srgbClr val="0066CC"/>
                                </a:solidFill>
                                <a:latin typeface="Cambria Math" panose="02040503050406030204" pitchFamily="18" charset="0"/>
                              </a:rPr>
                            </m:ctrlPr>
                          </m:dPr>
                          <m:e>
                            <m:r>
                              <a:rPr lang="en-US" altLang="en-US" sz="2000" b="1" i="1" dirty="0">
                                <a:solidFill>
                                  <a:srgbClr val="0066CC"/>
                                </a:solidFill>
                                <a:latin typeface="Cambria Math" panose="02040503050406030204" pitchFamily="18" charset="0"/>
                              </a:rPr>
                              <m:t>𝒆</m:t>
                            </m:r>
                          </m:e>
                        </m:d>
                      </m:e>
                    </m:d>
                    <m:r>
                      <a:rPr lang="en-US" altLang="en-US" sz="2000" b="1" i="1" dirty="0" smtClean="0">
                        <a:solidFill>
                          <a:srgbClr val="0066CC"/>
                        </a:solidFill>
                        <a:latin typeface="Cambria Math" panose="02040503050406030204" pitchFamily="18" charset="0"/>
                        <a:sym typeface="Symbol" panose="05050102010706020507" pitchFamily="18" charset="2"/>
                      </a:rPr>
                      <m:t>∪</m:t>
                    </m:r>
                    <m:r>
                      <a:rPr lang="en-US" altLang="en-US" sz="2000" b="1" i="1" dirty="0">
                        <a:solidFill>
                          <a:srgbClr val="0066CC"/>
                        </a:solidFill>
                        <a:latin typeface="Cambria Math" panose="02040503050406030204" pitchFamily="18" charset="0"/>
                        <a:sym typeface="Symbol" panose="05050102010706020507" pitchFamily="18" charset="2"/>
                      </a:rPr>
                      <m:t> </m:t>
                    </m:r>
                    <m:r>
                      <a:rPr lang="en-US" altLang="en-US" sz="2000" b="1" i="1" dirty="0">
                        <a:solidFill>
                          <a:srgbClr val="0066CC"/>
                        </a:solidFill>
                        <a:latin typeface="Cambria Math" panose="02040503050406030204" pitchFamily="18" charset="0"/>
                      </a:rPr>
                      <m:t>{</m:t>
                    </m:r>
                    <m:sSup>
                      <m:sSupPr>
                        <m:ctrlPr>
                          <a:rPr lang="en-US" altLang="en-US" sz="2000" b="1" i="1" dirty="0">
                            <a:solidFill>
                              <a:srgbClr val="0066CC"/>
                            </a:solidFill>
                            <a:latin typeface="Cambria Math" panose="02040503050406030204" pitchFamily="18" charset="0"/>
                            <a:sym typeface="Symbol" panose="05050102010706020507" pitchFamily="18" charset="2"/>
                          </a:rPr>
                        </m:ctrlPr>
                      </m:sSupPr>
                      <m:e>
                        <m:r>
                          <a:rPr lang="en-US" altLang="en-US" sz="2000" b="1" i="1" dirty="0">
                            <a:solidFill>
                              <a:srgbClr val="0066CC"/>
                            </a:solidFill>
                            <a:latin typeface="Cambria Math" panose="02040503050406030204" pitchFamily="18" charset="0"/>
                            <a:sym typeface="Symbol" panose="05050102010706020507" pitchFamily="18" charset="2"/>
                          </a:rPr>
                          <m:t>𝒆</m:t>
                        </m:r>
                      </m:e>
                      <m:sup>
                        <m:r>
                          <m:rPr>
                            <m:sty m:val="p"/>
                          </m:rPr>
                          <a:rPr lang="en-US" altLang="en-US" sz="2000" dirty="0">
                            <a:solidFill>
                              <a:srgbClr val="0066CC"/>
                            </a:solidFill>
                            <a:latin typeface="Cambria Math" panose="02040503050406030204" pitchFamily="18" charset="0"/>
                            <a:sym typeface="Symbol" panose="05050102010706020507" pitchFamily="18" charset="2"/>
                          </a:rPr>
                          <m:t>R</m:t>
                        </m:r>
                      </m:sup>
                    </m:sSup>
                    <m:r>
                      <a:rPr lang="en-US" altLang="en-US" sz="2000" b="1" i="1" dirty="0">
                        <a:solidFill>
                          <a:srgbClr val="0066CC"/>
                        </a:solidFill>
                        <a:latin typeface="Cambria Math" panose="02040503050406030204" pitchFamily="18" charset="0"/>
                      </a:rPr>
                      <m:t>: </m:t>
                    </m:r>
                    <m:r>
                      <a:rPr lang="en-US" altLang="en-US" sz="2000" b="1" i="1" dirty="0">
                        <a:solidFill>
                          <a:srgbClr val="0066CC"/>
                        </a:solidFill>
                        <a:latin typeface="Cambria Math" panose="02040503050406030204" pitchFamily="18" charset="0"/>
                      </a:rPr>
                      <m:t>𝒇</m:t>
                    </m:r>
                    <m:d>
                      <m:dPr>
                        <m:ctrlPr>
                          <a:rPr lang="en-US" altLang="en-US" sz="2000" b="1" i="1" dirty="0">
                            <a:solidFill>
                              <a:srgbClr val="0066CC"/>
                            </a:solidFill>
                            <a:latin typeface="Cambria Math" panose="02040503050406030204" pitchFamily="18" charset="0"/>
                          </a:rPr>
                        </m:ctrlPr>
                      </m:dPr>
                      <m:e>
                        <m:r>
                          <a:rPr lang="en-US" altLang="en-US" sz="2000" b="1" i="1" dirty="0">
                            <a:solidFill>
                              <a:srgbClr val="0066CC"/>
                            </a:solidFill>
                            <a:latin typeface="Cambria Math" panose="02040503050406030204" pitchFamily="18" charset="0"/>
                          </a:rPr>
                          <m:t>𝒆</m:t>
                        </m:r>
                      </m:e>
                    </m:d>
                    <m:r>
                      <a:rPr lang="en-US" altLang="en-US" sz="2000" b="1" i="1" dirty="0" smtClean="0">
                        <a:solidFill>
                          <a:srgbClr val="0066CC"/>
                        </a:solidFill>
                        <a:latin typeface="Cambria Math" panose="02040503050406030204" pitchFamily="18" charset="0"/>
                      </a:rPr>
                      <m:t>&gt;</m:t>
                    </m:r>
                    <m:r>
                      <a:rPr lang="en-US" altLang="en-US" sz="2000" b="1" i="1" dirty="0">
                        <a:solidFill>
                          <a:srgbClr val="0066CC"/>
                        </a:solidFill>
                        <a:latin typeface="Cambria Math" panose="02040503050406030204" pitchFamily="18" charset="0"/>
                      </a:rPr>
                      <m:t> </m:t>
                    </m:r>
                    <m:r>
                      <a:rPr lang="en-US" altLang="en-US" sz="2000" b="1" i="1" dirty="0">
                        <a:solidFill>
                          <a:srgbClr val="0066CC"/>
                        </a:solidFill>
                        <a:latin typeface="Cambria Math" panose="02040503050406030204" pitchFamily="18" charset="0"/>
                      </a:rPr>
                      <m:t>𝟎</m:t>
                    </m:r>
                    <m:r>
                      <a:rPr lang="en-US" altLang="en-US" sz="2000" b="1" i="1" dirty="0">
                        <a:solidFill>
                          <a:srgbClr val="0066CC"/>
                        </a:solidFill>
                        <a:latin typeface="Cambria Math" panose="02040503050406030204" pitchFamily="18" charset="0"/>
                      </a:rPr>
                      <m:t>}</m:t>
                    </m:r>
                  </m:oMath>
                </a14:m>
                <a:r>
                  <a:rPr lang="en-US" altLang="en-US" sz="2000" dirty="0"/>
                  <a:t>.</a:t>
                </a:r>
              </a:p>
              <a:p>
                <a:pPr lvl="1">
                  <a:spcBef>
                    <a:spcPts val="0"/>
                  </a:spcBef>
                </a:pPr>
                <a:endParaRPr lang="en-US" altLang="en-US" sz="2000" dirty="0"/>
              </a:p>
              <a:p>
                <a:pPr lvl="1">
                  <a:spcBef>
                    <a:spcPts val="0"/>
                  </a:spcBef>
                </a:pPr>
                <a:endParaRPr lang="en-US" altLang="en-US" sz="100" dirty="0"/>
              </a:p>
              <a:p>
                <a:pPr marL="0" indent="0">
                  <a:spcBef>
                    <a:spcPts val="0"/>
                  </a:spcBef>
                  <a:buNone/>
                </a:pPr>
                <a:r>
                  <a:rPr lang="en-US" altLang="en-US" sz="2000" dirty="0">
                    <a:solidFill>
                      <a:srgbClr val="C00000"/>
                    </a:solidFill>
                  </a:rPr>
                  <a:t>Augmenting Path</a:t>
                </a:r>
                <a:r>
                  <a:rPr lang="en-US" altLang="en-US" sz="2000" dirty="0"/>
                  <a:t>: Any </a:t>
                </a:r>
                <a14:m>
                  <m:oMath xmlns:m="http://schemas.openxmlformats.org/officeDocument/2006/math">
                    <m:r>
                      <a:rPr lang="en-US" altLang="en-US" sz="2000" b="1" i="1" dirty="0" smtClean="0">
                        <a:solidFill>
                          <a:srgbClr val="0066CC"/>
                        </a:solidFill>
                        <a:latin typeface="Cambria Math" panose="02040503050406030204" pitchFamily="18" charset="0"/>
                      </a:rPr>
                      <m:t>𝒔</m:t>
                    </m:r>
                  </m:oMath>
                </a14:m>
                <a:r>
                  <a:rPr lang="en-US" altLang="en-US" sz="2000" dirty="0"/>
                  <a:t>-</a:t>
                </a:r>
                <a14:m>
                  <m:oMath xmlns:m="http://schemas.openxmlformats.org/officeDocument/2006/math">
                    <m:r>
                      <a:rPr lang="en-US" altLang="en-US" sz="2000" b="1" i="1" dirty="0" smtClean="0">
                        <a:solidFill>
                          <a:srgbClr val="0066CC"/>
                        </a:solidFill>
                        <a:latin typeface="Cambria Math" panose="02040503050406030204" pitchFamily="18" charset="0"/>
                      </a:rPr>
                      <m:t>𝒕</m:t>
                    </m:r>
                  </m:oMath>
                </a14:m>
                <a:r>
                  <a:rPr lang="en-US" altLang="en-US" sz="2000" dirty="0"/>
                  <a:t> path </a:t>
                </a:r>
                <a14:m>
                  <m:oMath xmlns:m="http://schemas.openxmlformats.org/officeDocument/2006/math">
                    <m:r>
                      <a:rPr lang="en-US" altLang="en-US" sz="2000" b="1" i="1" dirty="0" smtClean="0">
                        <a:solidFill>
                          <a:srgbClr val="0066CC"/>
                        </a:solidFill>
                        <a:latin typeface="Cambria Math" panose="02040503050406030204" pitchFamily="18" charset="0"/>
                      </a:rPr>
                      <m:t>𝑷</m:t>
                    </m:r>
                  </m:oMath>
                </a14:m>
                <a:r>
                  <a:rPr lang="en-US" altLang="en-US" sz="2000" dirty="0"/>
                  <a:t> in </a:t>
                </a:r>
                <a14:m>
                  <m:oMath xmlns:m="http://schemas.openxmlformats.org/officeDocument/2006/math">
                    <m:sSub>
                      <m:sSubPr>
                        <m:ctrlPr>
                          <a:rPr lang="en-US" altLang="en-US" sz="2000" b="1" i="1" dirty="0">
                            <a:solidFill>
                              <a:srgbClr val="0066CC"/>
                            </a:solidFill>
                            <a:latin typeface="Cambria Math" panose="02040503050406030204" pitchFamily="18" charset="0"/>
                          </a:rPr>
                        </m:ctrlPr>
                      </m:sSubPr>
                      <m:e>
                        <m:r>
                          <a:rPr lang="en-US" altLang="en-US" sz="2000" b="1" i="1" dirty="0">
                            <a:solidFill>
                              <a:srgbClr val="0066CC"/>
                            </a:solidFill>
                            <a:latin typeface="Cambria Math" panose="02040503050406030204" pitchFamily="18" charset="0"/>
                          </a:rPr>
                          <m:t>𝑮</m:t>
                        </m:r>
                      </m:e>
                      <m:sub>
                        <m:r>
                          <a:rPr lang="en-US" altLang="en-US" sz="2000" b="1" i="1" dirty="0">
                            <a:solidFill>
                              <a:srgbClr val="0066CC"/>
                            </a:solidFill>
                            <a:latin typeface="Cambria Math" panose="02040503050406030204" pitchFamily="18" charset="0"/>
                          </a:rPr>
                          <m:t>𝒇</m:t>
                        </m:r>
                      </m:sub>
                    </m:sSub>
                  </m:oMath>
                </a14:m>
                <a:r>
                  <a:rPr lang="en-US" altLang="en-US" sz="2000" dirty="0"/>
                  <a:t>.         Let </a:t>
                </a:r>
                <a:r>
                  <a:rPr lang="en-US" altLang="en-US" sz="2000" b="1" dirty="0">
                    <a:solidFill>
                      <a:srgbClr val="0066CC"/>
                    </a:solidFill>
                  </a:rPr>
                  <a:t>bottleneck</a:t>
                </a:r>
                <a:r>
                  <a:rPr lang="en-US" altLang="en-US" sz="2000" dirty="0">
                    <a:solidFill>
                      <a:srgbClr val="0066CC"/>
                    </a:solidFill>
                  </a:rPr>
                  <a:t>(</a:t>
                </a:r>
                <a14:m>
                  <m:oMath xmlns:m="http://schemas.openxmlformats.org/officeDocument/2006/math">
                    <m:r>
                      <a:rPr lang="en-US" altLang="en-US" sz="2000" b="1" i="1" dirty="0" smtClean="0">
                        <a:solidFill>
                          <a:srgbClr val="0066CC"/>
                        </a:solidFill>
                        <a:latin typeface="Cambria Math" panose="02040503050406030204" pitchFamily="18" charset="0"/>
                      </a:rPr>
                      <m:t>𝑷</m:t>
                    </m:r>
                  </m:oMath>
                </a14:m>
                <a:r>
                  <a:rPr lang="en-US" altLang="en-US" sz="2000" dirty="0">
                    <a:solidFill>
                      <a:srgbClr val="0066CC"/>
                    </a:solidFill>
                  </a:rPr>
                  <a:t>)</a:t>
                </a:r>
                <a14:m>
                  <m:oMath xmlns:m="http://schemas.openxmlformats.org/officeDocument/2006/math">
                    <m:r>
                      <a:rPr lang="en-US" altLang="en-US" sz="2000" b="0" i="1" dirty="0" smtClean="0">
                        <a:solidFill>
                          <a:srgbClr val="0066CC"/>
                        </a:solidFill>
                        <a:latin typeface="Cambria Math" panose="02040503050406030204" pitchFamily="18" charset="0"/>
                      </a:rPr>
                      <m:t>=</m:t>
                    </m:r>
                    <m:limLow>
                      <m:limLowPr>
                        <m:ctrlPr>
                          <a:rPr lang="en-US" altLang="en-US" sz="2000" b="0" i="1" dirty="0" smtClean="0">
                            <a:solidFill>
                              <a:srgbClr val="0066CC"/>
                            </a:solidFill>
                            <a:latin typeface="Cambria Math" panose="02040503050406030204" pitchFamily="18" charset="0"/>
                          </a:rPr>
                        </m:ctrlPr>
                      </m:limLowPr>
                      <m:e>
                        <m:r>
                          <m:rPr>
                            <m:sty m:val="p"/>
                          </m:rPr>
                          <a:rPr lang="en-US" altLang="en-US" sz="2000" b="0" i="0" dirty="0" smtClean="0">
                            <a:solidFill>
                              <a:srgbClr val="0066CC"/>
                            </a:solidFill>
                            <a:latin typeface="Cambria Math" panose="02040503050406030204" pitchFamily="18" charset="0"/>
                          </a:rPr>
                          <m:t>min</m:t>
                        </m:r>
                      </m:e>
                      <m:lim>
                        <m:r>
                          <a:rPr lang="en-US" altLang="en-US" sz="2000" b="1" i="1" dirty="0" smtClean="0">
                            <a:solidFill>
                              <a:srgbClr val="0066CC"/>
                            </a:solidFill>
                            <a:latin typeface="Cambria Math" panose="02040503050406030204" pitchFamily="18" charset="0"/>
                          </a:rPr>
                          <m:t>𝒆</m:t>
                        </m:r>
                        <m:r>
                          <a:rPr lang="en-US" altLang="en-US" sz="2000" b="1" i="1" dirty="0" smtClean="0">
                            <a:solidFill>
                              <a:srgbClr val="0066CC"/>
                            </a:solidFill>
                            <a:latin typeface="Cambria Math" panose="02040503050406030204" pitchFamily="18" charset="0"/>
                          </a:rPr>
                          <m:t>∈</m:t>
                        </m:r>
                        <m:r>
                          <a:rPr lang="en-US" altLang="en-US" sz="2000" b="1" i="1" dirty="0" smtClean="0">
                            <a:solidFill>
                              <a:srgbClr val="0066CC"/>
                            </a:solidFill>
                            <a:latin typeface="Cambria Math" panose="02040503050406030204" pitchFamily="18" charset="0"/>
                          </a:rPr>
                          <m:t>𝑷</m:t>
                        </m:r>
                      </m:lim>
                    </m:limLow>
                    <m:r>
                      <a:rPr lang="en-US" altLang="en-US" sz="2000" b="0" i="1" dirty="0" smtClean="0">
                        <a:solidFill>
                          <a:srgbClr val="0066CC"/>
                        </a:solidFill>
                        <a:latin typeface="Cambria Math" panose="02040503050406030204" pitchFamily="18" charset="0"/>
                      </a:rPr>
                      <m:t> </m:t>
                    </m:r>
                    <m:sSub>
                      <m:sSubPr>
                        <m:ctrlPr>
                          <a:rPr lang="en-US" altLang="en-US" sz="2000" b="1" i="1" dirty="0" smtClean="0">
                            <a:solidFill>
                              <a:srgbClr val="0066CC"/>
                            </a:solidFill>
                            <a:latin typeface="Cambria Math" panose="02040503050406030204" pitchFamily="18" charset="0"/>
                          </a:rPr>
                        </m:ctrlPr>
                      </m:sSubPr>
                      <m:e>
                        <m:r>
                          <a:rPr lang="en-US" altLang="en-US" sz="2000" b="1" i="1" dirty="0" smtClean="0">
                            <a:solidFill>
                              <a:srgbClr val="0066CC"/>
                            </a:solidFill>
                            <a:latin typeface="Cambria Math" panose="02040503050406030204" pitchFamily="18" charset="0"/>
                          </a:rPr>
                          <m:t>𝒄</m:t>
                        </m:r>
                      </m:e>
                      <m:sub>
                        <m:r>
                          <a:rPr lang="en-US" altLang="en-US" sz="2000" b="1" i="1" dirty="0" smtClean="0">
                            <a:solidFill>
                              <a:srgbClr val="0066CC"/>
                            </a:solidFill>
                            <a:latin typeface="Cambria Math" panose="02040503050406030204" pitchFamily="18" charset="0"/>
                          </a:rPr>
                          <m:t>𝒇</m:t>
                        </m:r>
                      </m:sub>
                    </m:sSub>
                    <m:r>
                      <a:rPr lang="en-US" altLang="en-US" sz="2000" b="1" i="1" dirty="0" smtClean="0">
                        <a:solidFill>
                          <a:srgbClr val="0066CC"/>
                        </a:solidFill>
                        <a:latin typeface="Cambria Math" panose="02040503050406030204" pitchFamily="18" charset="0"/>
                      </a:rPr>
                      <m:t>(</m:t>
                    </m:r>
                    <m:r>
                      <a:rPr lang="en-US" altLang="en-US" sz="2000" b="1" i="1" dirty="0" smtClean="0">
                        <a:solidFill>
                          <a:srgbClr val="0066CC"/>
                        </a:solidFill>
                        <a:latin typeface="Cambria Math" panose="02040503050406030204" pitchFamily="18" charset="0"/>
                      </a:rPr>
                      <m:t>𝒆</m:t>
                    </m:r>
                    <m:r>
                      <a:rPr lang="en-US" altLang="en-US" sz="2000" b="1" i="1" dirty="0" smtClean="0">
                        <a:solidFill>
                          <a:srgbClr val="0066CC"/>
                        </a:solidFill>
                        <a:latin typeface="Cambria Math" panose="02040503050406030204" pitchFamily="18" charset="0"/>
                      </a:rPr>
                      <m:t>)</m:t>
                    </m:r>
                  </m:oMath>
                </a14:m>
                <a:r>
                  <a:rPr lang="en-US" altLang="en-US" sz="2000" dirty="0"/>
                  <a:t>.</a:t>
                </a:r>
              </a:p>
              <a:p>
                <a:pPr marL="0" indent="0">
                  <a:spcBef>
                    <a:spcPts val="0"/>
                  </a:spcBef>
                  <a:buNone/>
                </a:pPr>
                <a:r>
                  <a:rPr lang="en-US" altLang="en-US" sz="2000" b="1" dirty="0">
                    <a:solidFill>
                      <a:srgbClr val="695082"/>
                    </a:solidFill>
                  </a:rPr>
                  <a:t>Ford-Fulkerson idea:</a:t>
                </a:r>
                <a:r>
                  <a:rPr lang="en-US" altLang="en-US" sz="2000" dirty="0"/>
                  <a:t>  Repeat “find an augmenting path </a:t>
                </a:r>
                <a14:m>
                  <m:oMath xmlns:m="http://schemas.openxmlformats.org/officeDocument/2006/math">
                    <m:r>
                      <a:rPr lang="en-US" altLang="en-US" sz="2000" b="1" i="1" dirty="0" smtClean="0">
                        <a:solidFill>
                          <a:srgbClr val="0066CC"/>
                        </a:solidFill>
                        <a:latin typeface="Cambria Math" panose="02040503050406030204" pitchFamily="18" charset="0"/>
                      </a:rPr>
                      <m:t>𝑷</m:t>
                    </m:r>
                  </m:oMath>
                </a14:m>
                <a:r>
                  <a:rPr lang="en-US" altLang="en-US" sz="2000" dirty="0"/>
                  <a:t> and increase flow by </a:t>
                </a:r>
                <a:r>
                  <a:rPr lang="en-US" altLang="en-US" sz="2000" b="1" dirty="0">
                    <a:solidFill>
                      <a:srgbClr val="0066CC"/>
                    </a:solidFill>
                  </a:rPr>
                  <a:t>bottleneck</a:t>
                </a:r>
                <a:r>
                  <a:rPr lang="en-US" altLang="en-US" sz="2000" dirty="0">
                    <a:solidFill>
                      <a:srgbClr val="0066CC"/>
                    </a:solidFill>
                  </a:rPr>
                  <a:t>(</a:t>
                </a:r>
                <a14:m>
                  <m:oMath xmlns:m="http://schemas.openxmlformats.org/officeDocument/2006/math">
                    <m:r>
                      <a:rPr lang="en-US" altLang="en-US" sz="2000" b="1" i="1" dirty="0">
                        <a:solidFill>
                          <a:srgbClr val="0066CC"/>
                        </a:solidFill>
                        <a:latin typeface="Cambria Math" panose="02040503050406030204" pitchFamily="18" charset="0"/>
                      </a:rPr>
                      <m:t>𝑷</m:t>
                    </m:r>
                  </m:oMath>
                </a14:m>
                <a:r>
                  <a:rPr lang="en-US" altLang="en-US" sz="2000" dirty="0">
                    <a:solidFill>
                      <a:srgbClr val="0066CC"/>
                    </a:solidFill>
                  </a:rPr>
                  <a:t>)</a:t>
                </a:r>
                <a:r>
                  <a:rPr lang="en-US" altLang="en-US" sz="2000" dirty="0"/>
                  <a:t>” 			until none left.</a:t>
                </a:r>
              </a:p>
            </p:txBody>
          </p:sp>
        </mc:Choice>
        <mc:Fallback>
          <p:sp>
            <p:nvSpPr>
              <p:cNvPr id="496643" name="Rectangle 3">
                <a:extLst>
                  <a:ext uri="{FF2B5EF4-FFF2-40B4-BE49-F238E27FC236}">
                    <a16:creationId xmlns:a16="http://schemas.microsoft.com/office/drawing/2014/main" id="{492BF5EA-E352-4CF9-9D58-59B2493F7287}"/>
                  </a:ext>
                </a:extLst>
              </p:cNvPr>
              <p:cNvSpPr>
                <a:spLocks noGrp="1" noRot="1" noChangeAspect="1" noMove="1" noResize="1" noEditPoints="1" noAdjustHandles="1" noChangeArrowheads="1" noChangeShapeType="1" noTextEdit="1"/>
              </p:cNvSpPr>
              <p:nvPr>
                <p:ph type="body" idx="1"/>
              </p:nvPr>
            </p:nvSpPr>
            <p:spPr>
              <a:xfrm>
                <a:off x="628649" y="1509088"/>
                <a:ext cx="10779049" cy="5200045"/>
              </a:xfrm>
              <a:blipFill>
                <a:blip r:embed="rId3"/>
                <a:stretch>
                  <a:fillRect l="-566"/>
                </a:stretch>
              </a:blipFill>
            </p:spPr>
            <p:txBody>
              <a:bodyPr/>
              <a:lstStyle/>
              <a:p>
                <a:r>
                  <a:rPr lang="en-US">
                    <a:noFill/>
                  </a:rPr>
                  <a:t> </a:t>
                </a:r>
              </a:p>
            </p:txBody>
          </p:sp>
        </mc:Fallback>
      </mc:AlternateContent>
      <p:grpSp>
        <p:nvGrpSpPr>
          <p:cNvPr id="6" name="Group 5"/>
          <p:cNvGrpSpPr/>
          <p:nvPr/>
        </p:nvGrpSpPr>
        <p:grpSpPr>
          <a:xfrm>
            <a:off x="7689182" y="1277634"/>
            <a:ext cx="3448441" cy="1752600"/>
            <a:chOff x="8425162" y="3507770"/>
            <a:chExt cx="3448441" cy="1752600"/>
          </a:xfrm>
        </p:grpSpPr>
        <p:sp>
          <p:nvSpPr>
            <p:cNvPr id="496740" name="Rectangle 100">
              <a:extLst>
                <a:ext uri="{FF2B5EF4-FFF2-40B4-BE49-F238E27FC236}">
                  <a16:creationId xmlns:a16="http://schemas.microsoft.com/office/drawing/2014/main" id="{A0082830-5CE5-4AE1-B01F-92F26857A23C}"/>
                </a:ext>
              </a:extLst>
            </p:cNvPr>
            <p:cNvSpPr>
              <a:spLocks noChangeArrowheads="1"/>
            </p:cNvSpPr>
            <p:nvPr/>
          </p:nvSpPr>
          <p:spPr bwMode="auto">
            <a:xfrm>
              <a:off x="8425162" y="3507770"/>
              <a:ext cx="3429000" cy="1752600"/>
            </a:xfrm>
            <a:prstGeom prst="rect">
              <a:avLst/>
            </a:prstGeom>
            <a:noFill/>
            <a:ln>
              <a:noFill/>
            </a:ln>
            <a:effectLst/>
          </p:spPr>
          <p:txBody>
            <a:bodyPr wrap="none" anchor="ctr"/>
            <a:lstStyle/>
            <a:p>
              <a:endParaRPr lang="en-US"/>
            </a:p>
          </p:txBody>
        </p:sp>
        <p:sp>
          <p:nvSpPr>
            <p:cNvPr id="496719" name="Oval 79">
              <a:extLst>
                <a:ext uri="{FF2B5EF4-FFF2-40B4-BE49-F238E27FC236}">
                  <a16:creationId xmlns:a16="http://schemas.microsoft.com/office/drawing/2014/main" id="{EFF8F64C-486A-4360-B2BA-CDA10DFE81B1}"/>
                </a:ext>
              </a:extLst>
            </p:cNvPr>
            <p:cNvSpPr>
              <a:spLocks noChangeAspect="1" noChangeArrowheads="1"/>
            </p:cNvSpPr>
            <p:nvPr/>
          </p:nvSpPr>
          <p:spPr bwMode="auto">
            <a:xfrm>
              <a:off x="8605127" y="4079668"/>
              <a:ext cx="274638" cy="274637"/>
            </a:xfrm>
            <a:prstGeom prst="ellipse">
              <a:avLst/>
            </a:prstGeom>
            <a:solidFill>
              <a:schemeClr val="accent4">
                <a:lumMod val="20000"/>
                <a:lumOff val="80000"/>
              </a:schemeClr>
            </a:solidFill>
            <a:ln w="9525">
              <a:solidFill>
                <a:schemeClr val="tx1"/>
              </a:solidFill>
              <a:round/>
              <a:headEnd/>
              <a:tailEnd/>
            </a:ln>
            <a:effectLst/>
          </p:spPr>
          <p:txBody>
            <a:bodyPr wrap="none" lIns="91924" tIns="45963" rIns="91924" bIns="45963" anchor="ctr"/>
            <a:lstStyle/>
            <a:p>
              <a:pPr algn="ctr"/>
              <a:r>
                <a:rPr lang="en-US" altLang="en-US" sz="2000" b="1" dirty="0"/>
                <a:t>u</a:t>
              </a:r>
            </a:p>
          </p:txBody>
        </p:sp>
        <p:cxnSp>
          <p:nvCxnSpPr>
            <p:cNvPr id="496720" name="AutoShape 80">
              <a:extLst>
                <a:ext uri="{FF2B5EF4-FFF2-40B4-BE49-F238E27FC236}">
                  <a16:creationId xmlns:a16="http://schemas.microsoft.com/office/drawing/2014/main" id="{986A0166-6819-4BB2-9E56-23628C52C824}"/>
                </a:ext>
              </a:extLst>
            </p:cNvPr>
            <p:cNvCxnSpPr>
              <a:cxnSpLocks noChangeShapeType="1"/>
              <a:stCxn id="496719" idx="6"/>
              <a:endCxn id="496721" idx="2"/>
            </p:cNvCxnSpPr>
            <p:nvPr/>
          </p:nvCxnSpPr>
          <p:spPr bwMode="auto">
            <a:xfrm>
              <a:off x="8879765" y="4216987"/>
              <a:ext cx="2263587" cy="0"/>
            </a:xfrm>
            <a:prstGeom prst="straightConnector1">
              <a:avLst/>
            </a:prstGeom>
            <a:noFill/>
            <a:ln w="381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96721" name="Oval 81">
              <a:extLst>
                <a:ext uri="{FF2B5EF4-FFF2-40B4-BE49-F238E27FC236}">
                  <a16:creationId xmlns:a16="http://schemas.microsoft.com/office/drawing/2014/main" id="{DD8DE13C-66E9-4AE4-ACB1-F969C0807479}"/>
                </a:ext>
              </a:extLst>
            </p:cNvPr>
            <p:cNvSpPr>
              <a:spLocks noChangeAspect="1" noChangeArrowheads="1"/>
            </p:cNvSpPr>
            <p:nvPr/>
          </p:nvSpPr>
          <p:spPr bwMode="auto">
            <a:xfrm>
              <a:off x="11143352" y="4079668"/>
              <a:ext cx="274638" cy="274637"/>
            </a:xfrm>
            <a:prstGeom prst="ellipse">
              <a:avLst/>
            </a:prstGeom>
            <a:solidFill>
              <a:schemeClr val="accent4">
                <a:lumMod val="20000"/>
                <a:lumOff val="80000"/>
              </a:schemeClr>
            </a:solidFill>
            <a:ln w="9525">
              <a:solidFill>
                <a:schemeClr val="tx1"/>
              </a:solidFill>
              <a:round/>
              <a:headEnd/>
              <a:tailEnd/>
            </a:ln>
            <a:effectLst/>
          </p:spPr>
          <p:txBody>
            <a:bodyPr wrap="none" lIns="91924" tIns="45963" rIns="91924" bIns="45963" anchor="ctr"/>
            <a:lstStyle/>
            <a:p>
              <a:pPr algn="ctr"/>
              <a:r>
                <a:rPr lang="en-US" altLang="en-US" sz="2000" b="1" dirty="0"/>
                <a:t>v</a:t>
              </a:r>
            </a:p>
          </p:txBody>
        </p:sp>
        <p:sp>
          <p:nvSpPr>
            <p:cNvPr id="496722" name="Text Box 82">
              <a:extLst>
                <a:ext uri="{FF2B5EF4-FFF2-40B4-BE49-F238E27FC236}">
                  <a16:creationId xmlns:a16="http://schemas.microsoft.com/office/drawing/2014/main" id="{1BE0FEFC-B148-44C7-9D80-FEBB5542BA18}"/>
                </a:ext>
              </a:extLst>
            </p:cNvPr>
            <p:cNvSpPr txBox="1">
              <a:spLocks noChangeArrowheads="1"/>
            </p:cNvSpPr>
            <p:nvPr/>
          </p:nvSpPr>
          <p:spPr bwMode="auto">
            <a:xfrm>
              <a:off x="9820450" y="4079668"/>
              <a:ext cx="425450" cy="307777"/>
            </a:xfrm>
            <a:prstGeom prst="rect">
              <a:avLst/>
            </a:prstGeom>
            <a:solidFill>
              <a:schemeClr val="bg1"/>
            </a:solidFill>
            <a:ln>
              <a:noFill/>
            </a:ln>
            <a:effec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11</a:t>
              </a:r>
            </a:p>
          </p:txBody>
        </p:sp>
        <p:sp>
          <p:nvSpPr>
            <p:cNvPr id="496724" name="Text Box 84">
              <a:extLst>
                <a:ext uri="{FF2B5EF4-FFF2-40B4-BE49-F238E27FC236}">
                  <a16:creationId xmlns:a16="http://schemas.microsoft.com/office/drawing/2014/main" id="{048D6900-CA29-4735-B2D8-65CA3C60DDC0}"/>
                </a:ext>
              </a:extLst>
            </p:cNvPr>
            <p:cNvSpPr txBox="1">
              <a:spLocks noChangeArrowheads="1"/>
            </p:cNvSpPr>
            <p:nvPr/>
          </p:nvSpPr>
          <p:spPr bwMode="auto">
            <a:xfrm>
              <a:off x="10213078" y="3560554"/>
              <a:ext cx="1660525"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1291" tIns="45646" rIns="91291" bIns="45646">
              <a:spAutoFit/>
            </a:bodyPr>
            <a:lstStyle/>
            <a:p>
              <a:pPr>
                <a:spcBef>
                  <a:spcPct val="50000"/>
                </a:spcBef>
              </a:pPr>
              <a:r>
                <a:rPr lang="en-US" altLang="en-US" sz="1400"/>
                <a:t>residual capacity</a:t>
              </a:r>
            </a:p>
          </p:txBody>
        </p:sp>
        <p:cxnSp>
          <p:nvCxnSpPr>
            <p:cNvPr id="496728" name="AutoShape 88">
              <a:extLst>
                <a:ext uri="{FF2B5EF4-FFF2-40B4-BE49-F238E27FC236}">
                  <a16:creationId xmlns:a16="http://schemas.microsoft.com/office/drawing/2014/main" id="{D296AF87-F12C-4090-96DE-C18177EC90D0}"/>
                </a:ext>
              </a:extLst>
            </p:cNvPr>
            <p:cNvCxnSpPr>
              <a:cxnSpLocks noChangeShapeType="1"/>
              <a:stCxn id="496721" idx="3"/>
              <a:endCxn id="496719" idx="5"/>
            </p:cNvCxnSpPr>
            <p:nvPr/>
          </p:nvCxnSpPr>
          <p:spPr bwMode="auto">
            <a:xfrm rot="5400000">
              <a:off x="10011559" y="3142072"/>
              <a:ext cx="12700" cy="2344027"/>
            </a:xfrm>
            <a:prstGeom prst="curvedConnector3">
              <a:avLst>
                <a:gd name="adj1" fmla="val 2116693"/>
              </a:avLst>
            </a:prstGeom>
            <a:noFill/>
            <a:ln w="381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96729" name="Text Box 89">
              <a:extLst>
                <a:ext uri="{FF2B5EF4-FFF2-40B4-BE49-F238E27FC236}">
                  <a16:creationId xmlns:a16="http://schemas.microsoft.com/office/drawing/2014/main" id="{E0C249CA-792E-44BB-B1C2-4C7666CFD435}"/>
                </a:ext>
              </a:extLst>
            </p:cNvPr>
            <p:cNvSpPr txBox="1">
              <a:spLocks noChangeArrowheads="1"/>
            </p:cNvSpPr>
            <p:nvPr/>
          </p:nvSpPr>
          <p:spPr bwMode="auto">
            <a:xfrm>
              <a:off x="9820450" y="4457212"/>
              <a:ext cx="425450" cy="307777"/>
            </a:xfrm>
            <a:prstGeom prst="rect">
              <a:avLst/>
            </a:prstGeom>
            <a:solidFill>
              <a:schemeClr val="bg1"/>
            </a:solidFill>
            <a:ln>
              <a:noFill/>
            </a:ln>
            <a:effec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6</a:t>
              </a:r>
            </a:p>
          </p:txBody>
        </p:sp>
        <p:sp>
          <p:nvSpPr>
            <p:cNvPr id="496730" name="Text Box 90">
              <a:extLst>
                <a:ext uri="{FF2B5EF4-FFF2-40B4-BE49-F238E27FC236}">
                  <a16:creationId xmlns:a16="http://schemas.microsoft.com/office/drawing/2014/main" id="{35D752D2-BD3B-4A3A-8E3C-DE35AAC7E45E}"/>
                </a:ext>
              </a:extLst>
            </p:cNvPr>
            <p:cNvSpPr txBox="1">
              <a:spLocks noChangeArrowheads="1"/>
            </p:cNvSpPr>
            <p:nvPr/>
          </p:nvSpPr>
          <p:spPr bwMode="auto">
            <a:xfrm>
              <a:off x="9850737" y="4955570"/>
              <a:ext cx="1685925"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1291" tIns="45646" rIns="91291" bIns="45646">
              <a:spAutoFit/>
            </a:bodyPr>
            <a:lstStyle/>
            <a:p>
              <a:pPr>
                <a:spcBef>
                  <a:spcPct val="50000"/>
                </a:spcBef>
              </a:pPr>
              <a:r>
                <a:rPr lang="en-US" altLang="en-US" sz="1400" dirty="0"/>
                <a:t>residual capacity</a:t>
              </a:r>
            </a:p>
          </p:txBody>
        </p:sp>
        <p:sp>
          <p:nvSpPr>
            <p:cNvPr id="496735" name="Line 95">
              <a:extLst>
                <a:ext uri="{FF2B5EF4-FFF2-40B4-BE49-F238E27FC236}">
                  <a16:creationId xmlns:a16="http://schemas.microsoft.com/office/drawing/2014/main" id="{E51FCE8B-C547-416F-9216-7C60AD021F01}"/>
                </a:ext>
              </a:extLst>
            </p:cNvPr>
            <p:cNvSpPr>
              <a:spLocks noChangeShapeType="1"/>
            </p:cNvSpPr>
            <p:nvPr/>
          </p:nvSpPr>
          <p:spPr bwMode="auto">
            <a:xfrm flipH="1">
              <a:off x="10079727" y="3865354"/>
              <a:ext cx="152400" cy="152400"/>
            </a:xfrm>
            <a:prstGeom prst="line">
              <a:avLst/>
            </a:prstGeom>
            <a:noFill/>
            <a:ln w="9525">
              <a:solidFill>
                <a:schemeClr val="tx1"/>
              </a:solidFill>
              <a:round/>
              <a:headEnd/>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2000"/>
            </a:p>
          </p:txBody>
        </p:sp>
        <p:sp>
          <p:nvSpPr>
            <p:cNvPr id="496737" name="Line 97">
              <a:extLst>
                <a:ext uri="{FF2B5EF4-FFF2-40B4-BE49-F238E27FC236}">
                  <a16:creationId xmlns:a16="http://schemas.microsoft.com/office/drawing/2014/main" id="{6C11D554-24AC-4C93-9241-45AD61DB4052}"/>
                </a:ext>
              </a:extLst>
            </p:cNvPr>
            <p:cNvSpPr>
              <a:spLocks noChangeShapeType="1"/>
            </p:cNvSpPr>
            <p:nvPr/>
          </p:nvSpPr>
          <p:spPr bwMode="auto">
            <a:xfrm flipH="1" flipV="1">
              <a:off x="10079727" y="4779754"/>
              <a:ext cx="152400" cy="152400"/>
            </a:xfrm>
            <a:prstGeom prst="line">
              <a:avLst/>
            </a:prstGeom>
            <a:noFill/>
            <a:ln w="9525">
              <a:solidFill>
                <a:schemeClr val="tx1"/>
              </a:solidFill>
              <a:round/>
              <a:headEnd/>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2000"/>
            </a:p>
          </p:txBody>
        </p:sp>
      </p:grpSp>
      <p:sp>
        <p:nvSpPr>
          <p:cNvPr id="18" name="Slide Number Placeholder 1">
            <a:extLst>
              <a:ext uri="{FF2B5EF4-FFF2-40B4-BE49-F238E27FC236}">
                <a16:creationId xmlns:a16="http://schemas.microsoft.com/office/drawing/2014/main" id="{983438E1-99D1-4919-B9AB-A47130D2B933}"/>
              </a:ext>
            </a:extLst>
          </p:cNvPr>
          <p:cNvSpPr>
            <a:spLocks noGrp="1"/>
          </p:cNvSpPr>
          <p:nvPr>
            <p:ph type="sldNum" sz="quarter" idx="12"/>
          </p:nvPr>
        </p:nvSpPr>
        <p:spPr>
          <a:xfrm>
            <a:off x="9880286" y="6336770"/>
            <a:ext cx="2057400" cy="365125"/>
          </a:xfrm>
        </p:spPr>
        <p:txBody>
          <a:bodyPr/>
          <a:lstStyle/>
          <a:p>
            <a:fld id="{859767C1-1CFC-4BF3-A3D8-E4104FCBBC17}" type="slidenum">
              <a:rPr lang="en-US" smtClean="0"/>
              <a:t>6</a:t>
            </a:fld>
            <a:endParaRPr lang="en-US" dirty="0"/>
          </a:p>
        </p:txBody>
      </p:sp>
    </p:spTree>
    <p:extLst>
      <p:ext uri="{BB962C8B-B14F-4D97-AF65-F5344CB8AC3E}">
        <p14:creationId xmlns:p14="http://schemas.microsoft.com/office/powerpoint/2010/main" val="22588999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96643">
                                            <p:txEl>
                                              <p:pRg st="11" end="1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9664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4821B8-BB5F-F757-7E92-F98278AB3E8B}"/>
              </a:ext>
            </a:extLst>
          </p:cNvPr>
          <p:cNvSpPr>
            <a:spLocks noGrp="1"/>
          </p:cNvSpPr>
          <p:nvPr>
            <p:ph type="title"/>
          </p:nvPr>
        </p:nvSpPr>
        <p:spPr/>
        <p:txBody>
          <a:bodyPr/>
          <a:lstStyle/>
          <a:p>
            <a:r>
              <a:rPr kumimoji="0" lang="en-US" altLang="en-US" sz="4000" b="1" i="0" u="none" strike="noStrike" kern="1200" cap="none" spc="0" normalizeH="0" baseline="0" noProof="0" dirty="0">
                <a:ln>
                  <a:noFill/>
                </a:ln>
                <a:solidFill>
                  <a:srgbClr val="000000"/>
                </a:solidFill>
                <a:effectLst/>
                <a:uLnTx/>
                <a:uFillTx/>
                <a:latin typeface="Lato" panose="020F0502020204030203" pitchFamily="34" charset="77"/>
                <a:cs typeface="+mj-cs"/>
              </a:rPr>
              <a:t>Fork Fulkerson Algorithm</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23BF93A-F534-6007-FFFA-C05C418D0067}"/>
                  </a:ext>
                </a:extLst>
              </p:cNvPr>
              <p:cNvSpPr>
                <a:spLocks noGrp="1"/>
              </p:cNvSpPr>
              <p:nvPr>
                <p:ph idx="1"/>
              </p:nvPr>
            </p:nvSpPr>
            <p:spPr>
              <a:xfrm>
                <a:off x="838200" y="1825625"/>
                <a:ext cx="4723701" cy="4351338"/>
              </a:xfrm>
            </p:spPr>
            <p:txBody>
              <a:bodyPr>
                <a:normAutofit fontScale="85000" lnSpcReduction="20000"/>
              </a:bodyPr>
              <a:lstStyle/>
              <a:p>
                <a:pPr marL="0" indent="0">
                  <a:buNone/>
                </a:pPr>
                <a:r>
                  <a:rPr lang="en-US" dirty="0"/>
                  <a:t>FordFulkerson(G, s, t, c){</a:t>
                </a:r>
              </a:p>
              <a:p>
                <a:pPr marL="0" indent="0">
                  <a:buNone/>
                </a:pPr>
                <a:r>
                  <a:rPr lang="en-US" dirty="0"/>
                  <a:t>    for each </a:t>
                </a:r>
                <a14:m>
                  <m:oMath xmlns:m="http://schemas.openxmlformats.org/officeDocument/2006/math">
                    <m:r>
                      <a:rPr lang="en-US" b="0" i="1" smtClean="0">
                        <a:latin typeface="Cambria Math" panose="02040503050406030204" pitchFamily="18" charset="0"/>
                      </a:rPr>
                      <m:t>𝑒</m:t>
                    </m:r>
                    <m:r>
                      <a:rPr lang="en-US" b="0" i="1" smtClean="0">
                        <a:latin typeface="Cambria Math" panose="02040503050406030204" pitchFamily="18" charset="0"/>
                      </a:rPr>
                      <m:t>∈</m:t>
                    </m:r>
                    <m:r>
                      <a:rPr lang="en-US" b="0" i="1" smtClean="0">
                        <a:latin typeface="Cambria Math" panose="02040503050406030204" pitchFamily="18" charset="0"/>
                      </a:rPr>
                      <m:t>𝐸</m:t>
                    </m:r>
                  </m:oMath>
                </a14:m>
                <a:r>
                  <a:rPr lang="en-US" dirty="0"/>
                  <a:t>{</a:t>
                </a:r>
              </a:p>
              <a:p>
                <a:pPr marL="0" indent="0">
                  <a:buNone/>
                </a:pPr>
                <a:r>
                  <a:rPr lang="en-US" dirty="0"/>
                  <a:t>        set </a:t>
                </a:r>
                <a14:m>
                  <m:oMath xmlns:m="http://schemas.openxmlformats.org/officeDocument/2006/math">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𝑒</m:t>
                        </m:r>
                      </m:e>
                    </m:d>
                    <m:r>
                      <a:rPr lang="en-US" b="0" i="1" smtClean="0">
                        <a:latin typeface="Cambria Math" panose="02040503050406030204" pitchFamily="18" charset="0"/>
                      </a:rPr>
                      <m:t>=0</m:t>
                    </m:r>
                  </m:oMath>
                </a14:m>
                <a:endParaRPr lang="en-US" dirty="0"/>
              </a:p>
              <a:p>
                <a:pPr marL="0" indent="0">
                  <a:buNone/>
                </a:pPr>
                <a:r>
                  <a:rPr lang="en-US" dirty="0"/>
                  <a:t>    }</a:t>
                </a:r>
              </a:p>
              <a:p>
                <a:pPr marL="0" indent="0">
                  <a:buNone/>
                </a:pPr>
                <a:r>
                  <a:rPr lang="en-US" dirty="0"/>
                  <a:t>    calculate residual graph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𝑓</m:t>
                        </m:r>
                      </m:sub>
                    </m:sSub>
                  </m:oMath>
                </a14:m>
                <a:endParaRPr lang="en-US" dirty="0"/>
              </a:p>
              <a:p>
                <a:pPr marL="0" indent="0">
                  <a:buNone/>
                </a:pPr>
                <a:r>
                  <a:rPr lang="en-US" dirty="0"/>
                  <a:t>    while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𝑓</m:t>
                        </m:r>
                      </m:sub>
                    </m:sSub>
                  </m:oMath>
                </a14:m>
                <a:r>
                  <a:rPr lang="en-US" dirty="0"/>
                  <a:t> has an </a:t>
                </a:r>
                <a14:m>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𝑡</m:t>
                    </m:r>
                  </m:oMath>
                </a14:m>
                <a:r>
                  <a:rPr lang="en-US" dirty="0"/>
                  <a:t> path </a:t>
                </a:r>
                <a14:m>
                  <m:oMath xmlns:m="http://schemas.openxmlformats.org/officeDocument/2006/math">
                    <m:r>
                      <a:rPr lang="en-US" b="0" i="1" smtClean="0">
                        <a:latin typeface="Cambria Math" panose="02040503050406030204" pitchFamily="18" charset="0"/>
                      </a:rPr>
                      <m:t>𝑃</m:t>
                    </m:r>
                  </m:oMath>
                </a14:m>
                <a:r>
                  <a:rPr lang="en-US" dirty="0"/>
                  <a:t>{</a:t>
                </a:r>
              </a:p>
              <a:p>
                <a:pPr marL="0" indent="0">
                  <a:buNone/>
                </a:pPr>
                <a:r>
                  <a:rPr lang="en-US" dirty="0"/>
                  <a:t>        augment(</a:t>
                </a:r>
                <a14:m>
                  <m:oMath xmlns:m="http://schemas.openxmlformats.org/officeDocument/2006/math">
                    <m:r>
                      <a:rPr lang="en-US" b="0" i="1" smtClean="0">
                        <a:latin typeface="Cambria Math" panose="02040503050406030204" pitchFamily="18" charset="0"/>
                      </a:rPr>
                      <m:t>𝑓</m:t>
                    </m:r>
                    <m:r>
                      <a:rPr lang="en-US" b="0" i="1" smtClean="0">
                        <a:latin typeface="Cambria Math" panose="02040503050406030204" pitchFamily="18" charset="0"/>
                      </a:rPr>
                      <m:t>,</m:t>
                    </m:r>
                    <m:r>
                      <a:rPr lang="en-US" b="0" i="1" smtClean="0">
                        <a:latin typeface="Cambria Math" panose="02040503050406030204" pitchFamily="18" charset="0"/>
                      </a:rPr>
                      <m:t>𝑐</m:t>
                    </m:r>
                    <m:r>
                      <a:rPr lang="en-US" b="0" i="1" smtClean="0">
                        <a:latin typeface="Cambria Math" panose="02040503050406030204" pitchFamily="18" charset="0"/>
                      </a:rPr>
                      <m:t>,</m:t>
                    </m:r>
                    <m:r>
                      <a:rPr lang="en-US" b="0" i="1" smtClean="0">
                        <a:latin typeface="Cambria Math" panose="02040503050406030204" pitchFamily="18" charset="0"/>
                      </a:rPr>
                      <m:t>𝑃</m:t>
                    </m:r>
                  </m:oMath>
                </a14:m>
                <a:r>
                  <a:rPr lang="en-US" dirty="0"/>
                  <a:t>)</a:t>
                </a:r>
              </a:p>
              <a:p>
                <a:pPr marL="0" indent="0">
                  <a:buNone/>
                </a:pPr>
                <a:r>
                  <a:rPr lang="en-US" dirty="0"/>
                  <a:t>        update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𝑓</m:t>
                        </m:r>
                      </m:sub>
                    </m:sSub>
                  </m:oMath>
                </a14:m>
                <a:endParaRPr lang="en-US" dirty="0"/>
              </a:p>
              <a:p>
                <a:pPr marL="0" indent="0">
                  <a:buNone/>
                </a:pPr>
                <a:r>
                  <a:rPr lang="en-US" dirty="0"/>
                  <a:t>    }</a:t>
                </a:r>
              </a:p>
              <a:p>
                <a:pPr marL="0" indent="0">
                  <a:buNone/>
                </a:pPr>
                <a:r>
                  <a:rPr lang="en-US" dirty="0"/>
                  <a:t>    return </a:t>
                </a:r>
                <a14:m>
                  <m:oMath xmlns:m="http://schemas.openxmlformats.org/officeDocument/2006/math">
                    <m:r>
                      <a:rPr lang="en-US" b="0" i="1" smtClean="0">
                        <a:latin typeface="Cambria Math" panose="02040503050406030204" pitchFamily="18" charset="0"/>
                      </a:rPr>
                      <m:t>𝑓</m:t>
                    </m:r>
                  </m:oMath>
                </a14:m>
                <a:endParaRPr lang="en-US" dirty="0"/>
              </a:p>
              <a:p>
                <a:pPr marL="0" indent="0">
                  <a:buNone/>
                </a:pPr>
                <a:r>
                  <a:rPr lang="en-US" dirty="0"/>
                  <a:t>}</a:t>
                </a:r>
              </a:p>
            </p:txBody>
          </p:sp>
        </mc:Choice>
        <mc:Fallback xmlns="">
          <p:sp>
            <p:nvSpPr>
              <p:cNvPr id="3" name="Content Placeholder 2">
                <a:extLst>
                  <a:ext uri="{FF2B5EF4-FFF2-40B4-BE49-F238E27FC236}">
                    <a16:creationId xmlns:a16="http://schemas.microsoft.com/office/drawing/2014/main" id="{223BF93A-F534-6007-FFFA-C05C418D0067}"/>
                  </a:ext>
                </a:extLst>
              </p:cNvPr>
              <p:cNvSpPr>
                <a:spLocks noGrp="1" noRot="1" noChangeAspect="1" noMove="1" noResize="1" noEditPoints="1" noAdjustHandles="1" noChangeArrowheads="1" noChangeShapeType="1" noTextEdit="1"/>
              </p:cNvSpPr>
              <p:nvPr>
                <p:ph idx="1"/>
              </p:nvPr>
            </p:nvSpPr>
            <p:spPr>
              <a:xfrm>
                <a:off x="838200" y="1825625"/>
                <a:ext cx="4723701" cy="4351338"/>
              </a:xfrm>
              <a:blipFill>
                <a:blip r:embed="rId2"/>
                <a:stretch>
                  <a:fillRect l="-2067" t="-3221" b="-9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D51823C5-CE2D-8295-FC57-C86059B8DF38}"/>
                  </a:ext>
                </a:extLst>
              </p:cNvPr>
              <p:cNvSpPr txBox="1">
                <a:spLocks/>
              </p:cNvSpPr>
              <p:nvPr/>
            </p:nvSpPr>
            <p:spPr>
              <a:xfrm>
                <a:off x="6096000" y="1825625"/>
                <a:ext cx="4723701"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augment(</a:t>
                </a:r>
                <a14:m>
                  <m:oMath xmlns:m="http://schemas.openxmlformats.org/officeDocument/2006/math">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𝑓</m:t>
                    </m:r>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𝑐</m:t>
                    </m:r>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𝑃</m:t>
                    </m:r>
                  </m:oMath>
                </a14:m>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    </a:t>
                </a:r>
                <a14:m>
                  <m:oMath xmlns:m="http://schemas.openxmlformats.org/officeDocument/2006/math">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𝑏</m:t>
                    </m:r>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oMath>
                </a14:m>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 bottleneck(</a:t>
                </a:r>
                <a14:m>
                  <m:oMath xmlns:m="http://schemas.openxmlformats.org/officeDocument/2006/math">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𝑃</m:t>
                    </m:r>
                  </m:oMath>
                </a14:m>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    for each </a:t>
                </a:r>
                <a14:m>
                  <m:oMath xmlns:m="http://schemas.openxmlformats.org/officeDocument/2006/math">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𝑒</m:t>
                    </m:r>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𝑃</m:t>
                    </m:r>
                  </m:oMath>
                </a14:m>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        </a:t>
                </a:r>
                <a14:m>
                  <m:oMath xmlns:m="http://schemas.openxmlformats.org/officeDocument/2006/math">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𝑓</m:t>
                    </m:r>
                    <m:d>
                      <m:d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d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𝑒</m:t>
                        </m:r>
                      </m:e>
                    </m:d>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𝑏</m:t>
                    </m:r>
                  </m:oMath>
                </a14:m>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        </a:t>
                </a:r>
                <a14:m>
                  <m:oMath xmlns:m="http://schemas.openxmlformats.org/officeDocument/2006/math">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𝑓</m:t>
                    </m:r>
                    <m:d>
                      <m:d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dPr>
                      <m:e>
                        <m:sSup>
                          <m:sSup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p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𝑒</m:t>
                            </m:r>
                          </m:e>
                          <m:sup>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𝑅</m:t>
                            </m:r>
                          </m:sup>
                        </m:sSup>
                      </m:e>
                    </m:d>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𝑏</m:t>
                    </m:r>
                  </m:oMath>
                </a14:m>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    }</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    return </a:t>
                </a:r>
                <a14:m>
                  <m:oMath xmlns:m="http://schemas.openxmlformats.org/officeDocument/2006/math">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𝑓</m:t>
                    </m:r>
                  </m:oMath>
                </a14:m>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a:t>
                </a:r>
              </a:p>
            </p:txBody>
          </p:sp>
        </mc:Choice>
        <mc:Fallback xmlns="">
          <p:sp>
            <p:nvSpPr>
              <p:cNvPr id="4" name="Content Placeholder 2">
                <a:extLst>
                  <a:ext uri="{FF2B5EF4-FFF2-40B4-BE49-F238E27FC236}">
                    <a16:creationId xmlns:a16="http://schemas.microsoft.com/office/drawing/2014/main" id="{D51823C5-CE2D-8295-FC57-C86059B8DF38}"/>
                  </a:ext>
                </a:extLst>
              </p:cNvPr>
              <p:cNvSpPr txBox="1">
                <a:spLocks noRot="1" noChangeAspect="1" noMove="1" noResize="1" noEditPoints="1" noAdjustHandles="1" noChangeArrowheads="1" noChangeShapeType="1" noTextEdit="1"/>
              </p:cNvSpPr>
              <p:nvPr/>
            </p:nvSpPr>
            <p:spPr>
              <a:xfrm>
                <a:off x="6096000" y="1825625"/>
                <a:ext cx="4723701" cy="4351338"/>
              </a:xfrm>
              <a:prstGeom prst="rect">
                <a:avLst/>
              </a:prstGeom>
              <a:blipFill>
                <a:blip r:embed="rId3"/>
                <a:stretch>
                  <a:fillRect l="-2581" t="-2241"/>
                </a:stretch>
              </a:blipFill>
            </p:spPr>
            <p:txBody>
              <a:bodyPr/>
              <a:lstStyle/>
              <a:p>
                <a:r>
                  <a:rPr lang="en-US">
                    <a:noFill/>
                  </a:rPr>
                  <a:t> </a:t>
                </a:r>
              </a:p>
            </p:txBody>
          </p:sp>
        </mc:Fallback>
      </mc:AlternateContent>
    </p:spTree>
    <p:extLst>
      <p:ext uri="{BB962C8B-B14F-4D97-AF65-F5344CB8AC3E}">
        <p14:creationId xmlns:p14="http://schemas.microsoft.com/office/powerpoint/2010/main" val="11318927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Shape 2">
            <a:extLst>
              <a:ext uri="{FF2B5EF4-FFF2-40B4-BE49-F238E27FC236}">
                <a16:creationId xmlns:a16="http://schemas.microsoft.com/office/drawing/2014/main" id="{D43BE703-B5DF-44E9-8275-AF91A1E606E5}"/>
              </a:ext>
            </a:extLst>
          </p:cNvPr>
          <p:cNvSpPr/>
          <p:nvPr/>
        </p:nvSpPr>
        <p:spPr bwMode="auto">
          <a:xfrm>
            <a:off x="3249016" y="4200947"/>
            <a:ext cx="2206125" cy="1849419"/>
          </a:xfrm>
          <a:custGeom>
            <a:avLst/>
            <a:gdLst>
              <a:gd name="connsiteX0" fmla="*/ 1286056 w 2894734"/>
              <a:gd name="connsiteY0" fmla="*/ 371443 h 2264302"/>
              <a:gd name="connsiteX1" fmla="*/ 10149 w 2894734"/>
              <a:gd name="connsiteY1" fmla="*/ 1275211 h 2264302"/>
              <a:gd name="connsiteX2" fmla="*/ 743796 w 2894734"/>
              <a:gd name="connsiteY2" fmla="*/ 1796206 h 2264302"/>
              <a:gd name="connsiteX3" fmla="*/ 1743256 w 2894734"/>
              <a:gd name="connsiteY3" fmla="*/ 2264039 h 2264302"/>
              <a:gd name="connsiteX4" fmla="*/ 2817144 w 2894734"/>
              <a:gd name="connsiteY4" fmla="*/ 1732411 h 2264302"/>
              <a:gd name="connsiteX5" fmla="*/ 2732084 w 2894734"/>
              <a:gd name="connsiteY5" fmla="*/ 1009397 h 2264302"/>
              <a:gd name="connsiteX6" fmla="*/ 2104763 w 2894734"/>
              <a:gd name="connsiteY6" fmla="*/ 20569 h 2264302"/>
              <a:gd name="connsiteX7" fmla="*/ 1232893 w 2894734"/>
              <a:gd name="connsiteY7" fmla="*/ 435239 h 226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894734" h="2264302">
                <a:moveTo>
                  <a:pt x="1286056" y="371443"/>
                </a:moveTo>
                <a:cubicBezTo>
                  <a:pt x="693291" y="704597"/>
                  <a:pt x="100526" y="1037751"/>
                  <a:pt x="10149" y="1275211"/>
                </a:cubicBezTo>
                <a:cubicBezTo>
                  <a:pt x="-80228" y="1512671"/>
                  <a:pt x="454945" y="1631401"/>
                  <a:pt x="743796" y="1796206"/>
                </a:cubicBezTo>
                <a:cubicBezTo>
                  <a:pt x="1032647" y="1961011"/>
                  <a:pt x="1397698" y="2274671"/>
                  <a:pt x="1743256" y="2264039"/>
                </a:cubicBezTo>
                <a:cubicBezTo>
                  <a:pt x="2088814" y="2253407"/>
                  <a:pt x="2652339" y="1941518"/>
                  <a:pt x="2817144" y="1732411"/>
                </a:cubicBezTo>
                <a:cubicBezTo>
                  <a:pt x="2981949" y="1523304"/>
                  <a:pt x="2850814" y="1294704"/>
                  <a:pt x="2732084" y="1009397"/>
                </a:cubicBezTo>
                <a:cubicBezTo>
                  <a:pt x="2613354" y="724090"/>
                  <a:pt x="2354628" y="116262"/>
                  <a:pt x="2104763" y="20569"/>
                </a:cubicBezTo>
                <a:cubicBezTo>
                  <a:pt x="1854898" y="-75124"/>
                  <a:pt x="1543895" y="180057"/>
                  <a:pt x="1232893" y="435239"/>
                </a:cubicBezTo>
              </a:path>
            </a:pathLst>
          </a:custGeom>
          <a:solidFill>
            <a:schemeClr val="accent1">
              <a:lumMod val="20000"/>
              <a:lumOff val="80000"/>
            </a:schemeClr>
          </a:solidFill>
          <a:ln w="38100" cap="flat" cmpd="sng">
            <a:noFill/>
            <a:prstDash val="solid"/>
            <a:round/>
            <a:headEnd type="triangle" w="med" len="med"/>
            <a:tailEnd type="none" w="med" len="med"/>
          </a:ln>
          <a:effectLst/>
        </p:spPr>
        <p:txBody>
          <a:bodyPr rtlCol="0" anchor="ctr"/>
          <a:lstStyle/>
          <a:p>
            <a:pPr algn="ctr"/>
            <a:endParaRPr lang="en-US"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27A14874-B9D8-491D-99F1-37DB25725666}"/>
                  </a:ext>
                </a:extLst>
              </p:cNvPr>
              <p:cNvSpPr txBox="1"/>
              <p:nvPr/>
            </p:nvSpPr>
            <p:spPr>
              <a:xfrm>
                <a:off x="4158787" y="5487393"/>
                <a:ext cx="457176"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1" i="1" dirty="0" smtClean="0">
                          <a:solidFill>
                            <a:srgbClr val="0066CC"/>
                          </a:solidFill>
                          <a:latin typeface="Cambria Math" panose="02040503050406030204" pitchFamily="18" charset="0"/>
                        </a:rPr>
                        <m:t>𝑨</m:t>
                      </m:r>
                    </m:oMath>
                  </m:oMathPara>
                </a14:m>
                <a:endParaRPr lang="en-US" sz="2400" b="1" dirty="0">
                  <a:solidFill>
                    <a:srgbClr val="0066CC"/>
                  </a:solidFill>
                </a:endParaRPr>
              </a:p>
            </p:txBody>
          </p:sp>
        </mc:Choice>
        <mc:Fallback xmlns="">
          <p:sp>
            <p:nvSpPr>
              <p:cNvPr id="4" name="TextBox 3">
                <a:extLst>
                  <a:ext uri="{FF2B5EF4-FFF2-40B4-BE49-F238E27FC236}">
                    <a16:creationId xmlns:a16="http://schemas.microsoft.com/office/drawing/2014/main" id="{27A14874-B9D8-491D-99F1-37DB25725666}"/>
                  </a:ext>
                </a:extLst>
              </p:cNvPr>
              <p:cNvSpPr txBox="1">
                <a:spLocks noRot="1" noChangeAspect="1" noMove="1" noResize="1" noEditPoints="1" noAdjustHandles="1" noChangeArrowheads="1" noChangeShapeType="1" noTextEdit="1"/>
              </p:cNvSpPr>
              <p:nvPr/>
            </p:nvSpPr>
            <p:spPr>
              <a:xfrm>
                <a:off x="4158787" y="5487393"/>
                <a:ext cx="457176" cy="461665"/>
              </a:xfrm>
              <a:prstGeom prst="rect">
                <a:avLst/>
              </a:prstGeom>
              <a:blipFill>
                <a:blip r:embed="rId3"/>
                <a:stretch>
                  <a:fillRect/>
                </a:stretch>
              </a:blipFill>
            </p:spPr>
            <p:txBody>
              <a:bodyPr/>
              <a:lstStyle/>
              <a:p>
                <a:r>
                  <a:rPr lang="en-US">
                    <a:noFill/>
                  </a:rPr>
                  <a:t> </a:t>
                </a:r>
              </a:p>
            </p:txBody>
          </p:sp>
        </mc:Fallback>
      </mc:AlternateContent>
      <p:sp>
        <p:nvSpPr>
          <p:cNvPr id="46" name="Slide Number Placeholder 3">
            <a:extLst>
              <a:ext uri="{FF2B5EF4-FFF2-40B4-BE49-F238E27FC236}">
                <a16:creationId xmlns:a16="http://schemas.microsoft.com/office/drawing/2014/main" id="{8682F2DF-919C-413D-9B59-A40AF3ACD726}"/>
              </a:ext>
            </a:extLst>
          </p:cNvPr>
          <p:cNvSpPr>
            <a:spLocks noGrp="1"/>
          </p:cNvSpPr>
          <p:nvPr>
            <p:ph type="sldNum" sz="quarter" idx="10"/>
          </p:nvPr>
        </p:nvSpPr>
        <p:spPr/>
        <p:txBody>
          <a:bodyPr/>
          <a:lstStyle/>
          <a:p>
            <a:fld id="{E962C5CE-5F29-4369-A268-DF953E3BBA7B}" type="slidenum">
              <a:rPr lang="en-US" altLang="en-US"/>
              <a:pPr/>
              <a:t>8</a:t>
            </a:fld>
            <a:endParaRPr lang="en-US" altLang="en-US" sz="1400"/>
          </a:p>
        </p:txBody>
      </p:sp>
      <mc:AlternateContent xmlns:mc="http://schemas.openxmlformats.org/markup-compatibility/2006" xmlns:a14="http://schemas.microsoft.com/office/drawing/2010/main">
        <mc:Choice Requires="a14">
          <p:sp>
            <p:nvSpPr>
              <p:cNvPr id="710658" name="Rectangle 2">
                <a:extLst>
                  <a:ext uri="{FF2B5EF4-FFF2-40B4-BE49-F238E27FC236}">
                    <a16:creationId xmlns:a16="http://schemas.microsoft.com/office/drawing/2014/main" id="{CB091DDF-2BE4-491C-910B-E6A98B6859F5}"/>
                  </a:ext>
                </a:extLst>
              </p:cNvPr>
              <p:cNvSpPr>
                <a:spLocks noGrp="1" noChangeArrowheads="1"/>
              </p:cNvSpPr>
              <p:nvPr>
                <p:ph type="body" idx="1"/>
              </p:nvPr>
            </p:nvSpPr>
            <p:spPr>
              <a:xfrm>
                <a:off x="630936" y="1563373"/>
                <a:ext cx="10811510" cy="5200045"/>
              </a:xfrm>
            </p:spPr>
            <p:txBody>
              <a:bodyPr>
                <a:normAutofit/>
              </a:bodyPr>
              <a:lstStyle/>
              <a:p>
                <a:pPr marL="0" indent="0">
                  <a:lnSpc>
                    <a:spcPct val="85000"/>
                  </a:lnSpc>
                  <a:buNone/>
                </a:pPr>
                <a:r>
                  <a:rPr lang="en-US" altLang="en-US" sz="2400" b="1" dirty="0">
                    <a:solidFill>
                      <a:srgbClr val="695082"/>
                    </a:solidFill>
                  </a:rPr>
                  <a:t>Defn:  </a:t>
                </a:r>
                <a:r>
                  <a:rPr lang="en-US" altLang="en-US" sz="2400" dirty="0"/>
                  <a:t>An </a:t>
                </a:r>
                <a14:m>
                  <m:oMath xmlns:m="http://schemas.openxmlformats.org/officeDocument/2006/math">
                    <m:r>
                      <a:rPr lang="en-US" altLang="en-US" sz="2400" b="1" i="1" dirty="0" smtClean="0">
                        <a:solidFill>
                          <a:srgbClr val="C00000"/>
                        </a:solidFill>
                        <a:latin typeface="Cambria Math" panose="02040503050406030204" pitchFamily="18" charset="0"/>
                      </a:rPr>
                      <m:t>𝒔</m:t>
                    </m:r>
                  </m:oMath>
                </a14:m>
                <a:r>
                  <a:rPr lang="en-US" altLang="en-US" sz="2400" dirty="0">
                    <a:solidFill>
                      <a:srgbClr val="C00000"/>
                    </a:solidFill>
                  </a:rPr>
                  <a:t>-</a:t>
                </a:r>
                <a14:m>
                  <m:oMath xmlns:m="http://schemas.openxmlformats.org/officeDocument/2006/math">
                    <m:r>
                      <a:rPr lang="en-US" altLang="en-US" sz="2400" b="1" i="1" dirty="0" smtClean="0">
                        <a:solidFill>
                          <a:srgbClr val="C00000"/>
                        </a:solidFill>
                        <a:latin typeface="Cambria Math" panose="02040503050406030204" pitchFamily="18" charset="0"/>
                      </a:rPr>
                      <m:t>𝒕</m:t>
                    </m:r>
                  </m:oMath>
                </a14:m>
                <a:r>
                  <a:rPr lang="en-US" altLang="en-US" sz="2400" dirty="0">
                    <a:solidFill>
                      <a:srgbClr val="C00000"/>
                    </a:solidFill>
                  </a:rPr>
                  <a:t> cut</a:t>
                </a:r>
                <a:r>
                  <a:rPr lang="en-US" altLang="en-US" sz="2400" dirty="0"/>
                  <a:t> is a partition </a:t>
                </a:r>
                <a14:m>
                  <m:oMath xmlns:m="http://schemas.openxmlformats.org/officeDocument/2006/math">
                    <m:r>
                      <a:rPr lang="en-US" altLang="en-US" sz="2400" b="1" i="1" dirty="0" smtClean="0">
                        <a:solidFill>
                          <a:srgbClr val="0066CC"/>
                        </a:solidFill>
                        <a:latin typeface="Cambria Math" panose="02040503050406030204" pitchFamily="18" charset="0"/>
                      </a:rPr>
                      <m:t>(</m:t>
                    </m:r>
                    <m:r>
                      <a:rPr lang="en-US" altLang="en-US" sz="2400" b="1" i="1" dirty="0" smtClean="0">
                        <a:solidFill>
                          <a:srgbClr val="0066CC"/>
                        </a:solidFill>
                        <a:latin typeface="Cambria Math" panose="02040503050406030204" pitchFamily="18" charset="0"/>
                      </a:rPr>
                      <m:t>𝑨</m:t>
                    </m:r>
                    <m:r>
                      <a:rPr lang="en-US" altLang="en-US" sz="2400" b="1" i="1" dirty="0" smtClean="0">
                        <a:solidFill>
                          <a:srgbClr val="0066CC"/>
                        </a:solidFill>
                        <a:latin typeface="Cambria Math" panose="02040503050406030204" pitchFamily="18" charset="0"/>
                      </a:rPr>
                      <m:t>,</m:t>
                    </m:r>
                    <m:r>
                      <a:rPr lang="en-US" altLang="en-US" sz="2400" b="1" i="1" dirty="0" smtClean="0">
                        <a:solidFill>
                          <a:srgbClr val="0066CC"/>
                        </a:solidFill>
                        <a:latin typeface="Cambria Math" panose="02040503050406030204" pitchFamily="18" charset="0"/>
                      </a:rPr>
                      <m:t>𝑩</m:t>
                    </m:r>
                    <m:r>
                      <a:rPr lang="en-US" altLang="en-US" sz="2400" b="1" i="1" dirty="0" smtClean="0">
                        <a:solidFill>
                          <a:srgbClr val="0066CC"/>
                        </a:solidFill>
                        <a:latin typeface="Cambria Math" panose="02040503050406030204" pitchFamily="18" charset="0"/>
                      </a:rPr>
                      <m:t>)</m:t>
                    </m:r>
                  </m:oMath>
                </a14:m>
                <a:r>
                  <a:rPr lang="en-US" altLang="en-US" sz="2400" dirty="0"/>
                  <a:t> of </a:t>
                </a:r>
                <a14:m>
                  <m:oMath xmlns:m="http://schemas.openxmlformats.org/officeDocument/2006/math">
                    <m:r>
                      <a:rPr lang="en-US" altLang="en-US" sz="2400" b="1" i="1" dirty="0" smtClean="0">
                        <a:solidFill>
                          <a:srgbClr val="0066CC"/>
                        </a:solidFill>
                        <a:latin typeface="Cambria Math" panose="02040503050406030204" pitchFamily="18" charset="0"/>
                      </a:rPr>
                      <m:t>𝑽</m:t>
                    </m:r>
                  </m:oMath>
                </a14:m>
                <a:r>
                  <a:rPr lang="en-US" altLang="en-US" sz="2400" dirty="0"/>
                  <a:t> with </a:t>
                </a:r>
                <a14:m>
                  <m:oMath xmlns:m="http://schemas.openxmlformats.org/officeDocument/2006/math">
                    <m:r>
                      <a:rPr lang="en-US" altLang="en-US" sz="2400" b="1" i="1" dirty="0" smtClean="0">
                        <a:solidFill>
                          <a:srgbClr val="0066CC"/>
                        </a:solidFill>
                        <a:latin typeface="Cambria Math" panose="02040503050406030204" pitchFamily="18" charset="0"/>
                      </a:rPr>
                      <m:t>𝒔</m:t>
                    </m:r>
                    <m:r>
                      <a:rPr lang="en-US" altLang="en-US" sz="2400" b="1" i="1" dirty="0" smtClean="0">
                        <a:solidFill>
                          <a:srgbClr val="0066CC"/>
                        </a:solidFill>
                        <a:latin typeface="Cambria Math" panose="02040503050406030204" pitchFamily="18" charset="0"/>
                      </a:rPr>
                      <m:t>∈</m:t>
                    </m:r>
                    <m:r>
                      <a:rPr lang="en-US" altLang="en-US" sz="2400" b="1" i="1" dirty="0" smtClean="0">
                        <a:solidFill>
                          <a:srgbClr val="0066CC"/>
                        </a:solidFill>
                        <a:latin typeface="Cambria Math" panose="02040503050406030204" pitchFamily="18" charset="0"/>
                      </a:rPr>
                      <m:t>𝑨</m:t>
                    </m:r>
                  </m:oMath>
                </a14:m>
                <a:r>
                  <a:rPr lang="en-US" altLang="en-US" sz="2400" dirty="0"/>
                  <a:t> and </a:t>
                </a:r>
                <a14:m>
                  <m:oMath xmlns:m="http://schemas.openxmlformats.org/officeDocument/2006/math">
                    <m:r>
                      <a:rPr lang="en-US" altLang="en-US" sz="2400" b="1" i="1" dirty="0" smtClean="0">
                        <a:solidFill>
                          <a:srgbClr val="0066CC"/>
                        </a:solidFill>
                        <a:latin typeface="Cambria Math" panose="02040503050406030204" pitchFamily="18" charset="0"/>
                      </a:rPr>
                      <m:t>𝒕</m:t>
                    </m:r>
                    <m:r>
                      <a:rPr lang="en-US" altLang="en-US" sz="2400" b="1" i="1" dirty="0">
                        <a:solidFill>
                          <a:srgbClr val="0066CC"/>
                        </a:solidFill>
                        <a:latin typeface="Cambria Math" panose="02040503050406030204" pitchFamily="18" charset="0"/>
                      </a:rPr>
                      <m:t>∈</m:t>
                    </m:r>
                    <m:r>
                      <a:rPr lang="en-US" altLang="en-US" sz="2400" b="1" i="1" dirty="0" smtClean="0">
                        <a:solidFill>
                          <a:srgbClr val="0066CC"/>
                        </a:solidFill>
                        <a:latin typeface="Cambria Math" panose="02040503050406030204" pitchFamily="18" charset="0"/>
                      </a:rPr>
                      <m:t>𝑩</m:t>
                    </m:r>
                  </m:oMath>
                </a14:m>
                <a:r>
                  <a:rPr lang="en-US" altLang="en-US" sz="2400" dirty="0"/>
                  <a:t>.</a:t>
                </a:r>
              </a:p>
              <a:p>
                <a:pPr marL="457200" lvl="1" indent="0">
                  <a:lnSpc>
                    <a:spcPct val="85000"/>
                  </a:lnSpc>
                  <a:buNone/>
                </a:pPr>
                <a:r>
                  <a:rPr lang="en-US" altLang="en-US" sz="2400" dirty="0"/>
                  <a:t>    The </a:t>
                </a:r>
                <a:r>
                  <a:rPr lang="en-US" altLang="en-US" sz="2400" dirty="0">
                    <a:solidFill>
                      <a:srgbClr val="C00000"/>
                    </a:solidFill>
                  </a:rPr>
                  <a:t>capacity</a:t>
                </a:r>
                <a:r>
                  <a:rPr lang="en-US" altLang="en-US" sz="2400" dirty="0"/>
                  <a:t> of cut </a:t>
                </a:r>
                <a14:m>
                  <m:oMath xmlns:m="http://schemas.openxmlformats.org/officeDocument/2006/math">
                    <m:r>
                      <a:rPr lang="en-US" altLang="en-US" sz="2400" b="1" i="1" dirty="0" smtClean="0">
                        <a:solidFill>
                          <a:srgbClr val="0066CC"/>
                        </a:solidFill>
                        <a:latin typeface="Cambria Math" panose="02040503050406030204" pitchFamily="18" charset="0"/>
                      </a:rPr>
                      <m:t>(</m:t>
                    </m:r>
                    <m:r>
                      <a:rPr lang="en-US" altLang="en-US" sz="2400" b="1" i="1" dirty="0" smtClean="0">
                        <a:solidFill>
                          <a:srgbClr val="0066CC"/>
                        </a:solidFill>
                        <a:latin typeface="Cambria Math" panose="02040503050406030204" pitchFamily="18" charset="0"/>
                      </a:rPr>
                      <m:t>𝑨</m:t>
                    </m:r>
                    <m:r>
                      <a:rPr lang="en-US" altLang="en-US" sz="2400" b="1" i="1" dirty="0" smtClean="0">
                        <a:solidFill>
                          <a:srgbClr val="0066CC"/>
                        </a:solidFill>
                        <a:latin typeface="Cambria Math" panose="02040503050406030204" pitchFamily="18" charset="0"/>
                      </a:rPr>
                      <m:t>,</m:t>
                    </m:r>
                    <m:r>
                      <a:rPr lang="en-US" altLang="en-US" sz="2400" b="1" i="1" dirty="0" smtClean="0">
                        <a:solidFill>
                          <a:srgbClr val="0066CC"/>
                        </a:solidFill>
                        <a:latin typeface="Cambria Math" panose="02040503050406030204" pitchFamily="18" charset="0"/>
                      </a:rPr>
                      <m:t>𝑩</m:t>
                    </m:r>
                    <m:r>
                      <a:rPr lang="en-US" altLang="en-US" sz="2400" b="1" i="1" dirty="0" smtClean="0">
                        <a:solidFill>
                          <a:srgbClr val="0066CC"/>
                        </a:solidFill>
                        <a:latin typeface="Cambria Math" panose="02040503050406030204" pitchFamily="18" charset="0"/>
                      </a:rPr>
                      <m:t>)</m:t>
                    </m:r>
                  </m:oMath>
                </a14:m>
                <a:r>
                  <a:rPr lang="en-US" altLang="en-US" sz="2400" dirty="0"/>
                  <a:t> is </a:t>
                </a:r>
              </a:p>
              <a:p>
                <a:pPr marL="457200" lvl="1" indent="0">
                  <a:lnSpc>
                    <a:spcPct val="85000"/>
                  </a:lnSpc>
                  <a:buNone/>
                </a:pPr>
                <a14:m>
                  <m:oMathPara xmlns:m="http://schemas.openxmlformats.org/officeDocument/2006/math">
                    <m:oMathParaPr>
                      <m:jc m:val="centerGroup"/>
                    </m:oMathParaPr>
                    <m:oMath xmlns:m="http://schemas.openxmlformats.org/officeDocument/2006/math">
                      <m:r>
                        <a:rPr lang="en-US" altLang="en-US" sz="2400" b="1" i="1" smtClean="0">
                          <a:solidFill>
                            <a:srgbClr val="0066CC"/>
                          </a:solidFill>
                          <a:latin typeface="Cambria Math" panose="02040503050406030204" pitchFamily="18" charset="0"/>
                        </a:rPr>
                        <m:t>𝒄</m:t>
                      </m:r>
                      <m:d>
                        <m:dPr>
                          <m:ctrlPr>
                            <a:rPr lang="en-US" altLang="en-US" sz="2400" b="1" i="1" smtClean="0">
                              <a:solidFill>
                                <a:srgbClr val="0066CC"/>
                              </a:solidFill>
                              <a:latin typeface="Cambria Math" panose="02040503050406030204" pitchFamily="18" charset="0"/>
                            </a:rPr>
                          </m:ctrlPr>
                        </m:dPr>
                        <m:e>
                          <m:r>
                            <a:rPr lang="en-US" altLang="en-US" sz="2400" b="1" i="1" smtClean="0">
                              <a:solidFill>
                                <a:srgbClr val="0066CC"/>
                              </a:solidFill>
                              <a:latin typeface="Cambria Math" panose="02040503050406030204" pitchFamily="18" charset="0"/>
                            </a:rPr>
                            <m:t>𝑨</m:t>
                          </m:r>
                          <m:r>
                            <a:rPr lang="en-US" altLang="en-US" sz="2400" b="1" i="1" smtClean="0">
                              <a:solidFill>
                                <a:srgbClr val="0066CC"/>
                              </a:solidFill>
                              <a:latin typeface="Cambria Math" panose="02040503050406030204" pitchFamily="18" charset="0"/>
                            </a:rPr>
                            <m:t>,</m:t>
                          </m:r>
                          <m:r>
                            <a:rPr lang="en-US" altLang="en-US" sz="2400" b="1" i="1" smtClean="0">
                              <a:solidFill>
                                <a:srgbClr val="0066CC"/>
                              </a:solidFill>
                              <a:latin typeface="Cambria Math" panose="02040503050406030204" pitchFamily="18" charset="0"/>
                            </a:rPr>
                            <m:t>𝑩</m:t>
                          </m:r>
                        </m:e>
                      </m:d>
                      <m:r>
                        <a:rPr lang="en-US" altLang="en-US" sz="2400" b="1" i="1" smtClean="0">
                          <a:solidFill>
                            <a:srgbClr val="0066CC"/>
                          </a:solidFill>
                          <a:latin typeface="Cambria Math" panose="02040503050406030204" pitchFamily="18" charset="0"/>
                        </a:rPr>
                        <m:t>=</m:t>
                      </m:r>
                      <m:nary>
                        <m:naryPr>
                          <m:chr m:val="∑"/>
                          <m:supHide m:val="on"/>
                          <m:ctrlPr>
                            <a:rPr lang="en-US" altLang="en-US" sz="2400" b="1" i="1" smtClean="0">
                              <a:solidFill>
                                <a:srgbClr val="0066CC"/>
                              </a:solidFill>
                              <a:latin typeface="Cambria Math" panose="02040503050406030204" pitchFamily="18" charset="0"/>
                            </a:rPr>
                          </m:ctrlPr>
                        </m:naryPr>
                        <m:sub>
                          <m:r>
                            <a:rPr lang="en-US" altLang="en-US" sz="2400" b="1" i="1" smtClean="0">
                              <a:solidFill>
                                <a:srgbClr val="0066CC"/>
                              </a:solidFill>
                              <a:latin typeface="Cambria Math" panose="02040503050406030204" pitchFamily="18" charset="0"/>
                            </a:rPr>
                            <m:t>𝒆</m:t>
                          </m:r>
                          <m:r>
                            <a:rPr lang="en-US" altLang="en-US" sz="2400" b="1" i="1" smtClean="0">
                              <a:solidFill>
                                <a:srgbClr val="0066CC"/>
                              </a:solidFill>
                              <a:latin typeface="Cambria Math" panose="02040503050406030204" pitchFamily="18" charset="0"/>
                            </a:rPr>
                            <m:t> </m:t>
                          </m:r>
                          <m:r>
                            <m:rPr>
                              <m:sty m:val="p"/>
                            </m:rPr>
                            <a:rPr lang="en-US" altLang="en-US" sz="2400" b="0" i="0" smtClean="0">
                              <a:solidFill>
                                <a:schemeClr val="tx1"/>
                              </a:solidFill>
                              <a:latin typeface="Cambria Math" panose="02040503050406030204" pitchFamily="18" charset="0"/>
                            </a:rPr>
                            <m:t>out</m:t>
                          </m:r>
                          <m:r>
                            <a:rPr lang="en-US" altLang="en-US" sz="2400" b="0" i="0" smtClean="0">
                              <a:solidFill>
                                <a:schemeClr val="tx1"/>
                              </a:solidFill>
                              <a:latin typeface="Cambria Math" panose="02040503050406030204" pitchFamily="18" charset="0"/>
                            </a:rPr>
                            <m:t> </m:t>
                          </m:r>
                          <m:r>
                            <m:rPr>
                              <m:sty m:val="p"/>
                            </m:rPr>
                            <a:rPr lang="en-US" altLang="en-US" sz="2400" b="0" i="0" smtClean="0">
                              <a:solidFill>
                                <a:schemeClr val="tx1"/>
                              </a:solidFill>
                              <a:latin typeface="Cambria Math" panose="02040503050406030204" pitchFamily="18" charset="0"/>
                            </a:rPr>
                            <m:t>of</m:t>
                          </m:r>
                          <m:r>
                            <a:rPr lang="en-US" altLang="en-US" sz="2400" b="0" i="0" smtClean="0">
                              <a:solidFill>
                                <a:schemeClr val="tx1"/>
                              </a:solidFill>
                              <a:latin typeface="Cambria Math" panose="02040503050406030204" pitchFamily="18" charset="0"/>
                            </a:rPr>
                            <m:t> </m:t>
                          </m:r>
                          <m:r>
                            <a:rPr lang="en-US" altLang="en-US" sz="2400" b="1" i="1" smtClean="0">
                              <a:solidFill>
                                <a:srgbClr val="0066CC"/>
                              </a:solidFill>
                              <a:latin typeface="Cambria Math" panose="02040503050406030204" pitchFamily="18" charset="0"/>
                            </a:rPr>
                            <m:t>𝑨</m:t>
                          </m:r>
                        </m:sub>
                        <m:sup/>
                        <m:e>
                          <m:r>
                            <a:rPr lang="en-US" altLang="en-US" sz="2400" b="1" i="1" smtClean="0">
                              <a:solidFill>
                                <a:srgbClr val="0066CC"/>
                              </a:solidFill>
                              <a:latin typeface="Cambria Math" panose="02040503050406030204" pitchFamily="18" charset="0"/>
                            </a:rPr>
                            <m:t>𝒄</m:t>
                          </m:r>
                          <m:r>
                            <a:rPr lang="en-US" altLang="en-US" sz="2400" b="1" i="1" smtClean="0">
                              <a:solidFill>
                                <a:srgbClr val="0066CC"/>
                              </a:solidFill>
                              <a:latin typeface="Cambria Math" panose="02040503050406030204" pitchFamily="18" charset="0"/>
                            </a:rPr>
                            <m:t>(</m:t>
                          </m:r>
                          <m:r>
                            <a:rPr lang="en-US" altLang="en-US" sz="2400" b="1" i="1" smtClean="0">
                              <a:solidFill>
                                <a:srgbClr val="0066CC"/>
                              </a:solidFill>
                              <a:latin typeface="Cambria Math" panose="02040503050406030204" pitchFamily="18" charset="0"/>
                            </a:rPr>
                            <m:t>𝒆</m:t>
                          </m:r>
                          <m:r>
                            <a:rPr lang="en-US" altLang="en-US" sz="2400" b="1" i="1" smtClean="0">
                              <a:solidFill>
                                <a:srgbClr val="0066CC"/>
                              </a:solidFill>
                              <a:latin typeface="Cambria Math" panose="02040503050406030204" pitchFamily="18" charset="0"/>
                            </a:rPr>
                            <m:t>)</m:t>
                          </m:r>
                        </m:e>
                      </m:nary>
                    </m:oMath>
                  </m:oMathPara>
                </a14:m>
                <a:endParaRPr lang="en-US" altLang="en-US" sz="2400" b="1" dirty="0"/>
              </a:p>
            </p:txBody>
          </p:sp>
        </mc:Choice>
        <mc:Fallback xmlns="">
          <p:sp>
            <p:nvSpPr>
              <p:cNvPr id="710658" name="Rectangle 2">
                <a:extLst>
                  <a:ext uri="{FF2B5EF4-FFF2-40B4-BE49-F238E27FC236}">
                    <a16:creationId xmlns:a16="http://schemas.microsoft.com/office/drawing/2014/main" id="{CB091DDF-2BE4-491C-910B-E6A98B6859F5}"/>
                  </a:ext>
                </a:extLst>
              </p:cNvPr>
              <p:cNvSpPr>
                <a:spLocks noGrp="1" noRot="1" noChangeAspect="1" noMove="1" noResize="1" noEditPoints="1" noAdjustHandles="1" noChangeArrowheads="1" noChangeShapeType="1" noTextEdit="1"/>
              </p:cNvSpPr>
              <p:nvPr>
                <p:ph type="body" idx="1"/>
              </p:nvPr>
            </p:nvSpPr>
            <p:spPr>
              <a:xfrm>
                <a:off x="630936" y="1563373"/>
                <a:ext cx="10811510" cy="5200045"/>
              </a:xfrm>
              <a:blipFill>
                <a:blip r:embed="rId4"/>
                <a:stretch>
                  <a:fillRect l="-902" t="-1993"/>
                </a:stretch>
              </a:blipFill>
            </p:spPr>
            <p:txBody>
              <a:bodyPr/>
              <a:lstStyle/>
              <a:p>
                <a:r>
                  <a:rPr lang="en-US">
                    <a:noFill/>
                  </a:rPr>
                  <a:t> </a:t>
                </a:r>
              </a:p>
            </p:txBody>
          </p:sp>
        </mc:Fallback>
      </mc:AlternateContent>
      <p:sp>
        <p:nvSpPr>
          <p:cNvPr id="710659" name="Rectangle 3">
            <a:extLst>
              <a:ext uri="{FF2B5EF4-FFF2-40B4-BE49-F238E27FC236}">
                <a16:creationId xmlns:a16="http://schemas.microsoft.com/office/drawing/2014/main" id="{5F4FD653-3E81-4970-A885-9A04BFB66492}"/>
              </a:ext>
            </a:extLst>
          </p:cNvPr>
          <p:cNvSpPr>
            <a:spLocks noGrp="1" noChangeArrowheads="1"/>
          </p:cNvSpPr>
          <p:nvPr>
            <p:ph type="title"/>
          </p:nvPr>
        </p:nvSpPr>
        <p:spPr/>
        <p:txBody>
          <a:bodyPr/>
          <a:lstStyle/>
          <a:p>
            <a:r>
              <a:rPr lang="en-US" altLang="en-US" dirty="0"/>
              <a:t>Cuts</a:t>
            </a:r>
          </a:p>
        </p:txBody>
      </p:sp>
      <p:grpSp>
        <p:nvGrpSpPr>
          <p:cNvPr id="28" name="Group 27">
            <a:extLst>
              <a:ext uri="{FF2B5EF4-FFF2-40B4-BE49-F238E27FC236}">
                <a16:creationId xmlns:a16="http://schemas.microsoft.com/office/drawing/2014/main" id="{2F886C7A-5F8C-4D5A-B1FC-3D24401D8DE7}"/>
              </a:ext>
            </a:extLst>
          </p:cNvPr>
          <p:cNvGrpSpPr/>
          <p:nvPr/>
        </p:nvGrpSpPr>
        <p:grpSpPr>
          <a:xfrm>
            <a:off x="3639351" y="3501979"/>
            <a:ext cx="7923999" cy="3137327"/>
            <a:chOff x="3639351" y="2923138"/>
            <a:chExt cx="7923999" cy="3137327"/>
          </a:xfrm>
        </p:grpSpPr>
        <p:cxnSp>
          <p:nvCxnSpPr>
            <p:cNvPr id="51" name="AutoShape 68">
              <a:extLst>
                <a:ext uri="{FF2B5EF4-FFF2-40B4-BE49-F238E27FC236}">
                  <a16:creationId xmlns:a16="http://schemas.microsoft.com/office/drawing/2014/main" id="{CAB3C207-5366-428C-872E-7F5DDD5A8A0A}"/>
                </a:ext>
              </a:extLst>
            </p:cNvPr>
            <p:cNvCxnSpPr>
              <a:cxnSpLocks noChangeShapeType="1"/>
              <a:stCxn id="710721" idx="1"/>
              <a:endCxn id="710708" idx="5"/>
            </p:cNvCxnSpPr>
            <p:nvPr/>
          </p:nvCxnSpPr>
          <p:spPr bwMode="auto">
            <a:xfrm flipH="1" flipV="1">
              <a:off x="6575184" y="4634480"/>
              <a:ext cx="2273571" cy="112970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06" name="Oval 50">
              <a:extLst>
                <a:ext uri="{FF2B5EF4-FFF2-40B4-BE49-F238E27FC236}">
                  <a16:creationId xmlns:a16="http://schemas.microsoft.com/office/drawing/2014/main" id="{5EDB66B3-A335-46A8-B0A4-E18E80459647}"/>
                </a:ext>
              </a:extLst>
            </p:cNvPr>
            <p:cNvSpPr>
              <a:spLocks noChangeAspect="1" noChangeArrowheads="1"/>
            </p:cNvSpPr>
            <p:nvPr/>
          </p:nvSpPr>
          <p:spPr bwMode="auto">
            <a:xfrm>
              <a:off x="4395659"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solidFill>
                    <a:srgbClr val="C00000"/>
                  </a:solidFill>
                </a:rPr>
                <a:t>s</a:t>
              </a:r>
            </a:p>
          </p:txBody>
        </p:sp>
        <p:sp>
          <p:nvSpPr>
            <p:cNvPr id="710707" name="Oval 51">
              <a:extLst>
                <a:ext uri="{FF2B5EF4-FFF2-40B4-BE49-F238E27FC236}">
                  <a16:creationId xmlns:a16="http://schemas.microsoft.com/office/drawing/2014/main" id="{C791F0FD-59F6-4EAA-9A7F-5FEB226AA91C}"/>
                </a:ext>
              </a:extLst>
            </p:cNvPr>
            <p:cNvSpPr>
              <a:spLocks noChangeAspect="1" noChangeArrowheads="1"/>
            </p:cNvSpPr>
            <p:nvPr/>
          </p:nvSpPr>
          <p:spPr bwMode="auto">
            <a:xfrm>
              <a:off x="6278899" y="2923138"/>
              <a:ext cx="347119" cy="35151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a</a:t>
              </a:r>
            </a:p>
          </p:txBody>
        </p:sp>
        <p:sp>
          <p:nvSpPr>
            <p:cNvPr id="710708" name="Oval 52">
              <a:extLst>
                <a:ext uri="{FF2B5EF4-FFF2-40B4-BE49-F238E27FC236}">
                  <a16:creationId xmlns:a16="http://schemas.microsoft.com/office/drawing/2014/main" id="{7433E6CD-DBA9-4397-BB73-2328DC47DBFF}"/>
                </a:ext>
              </a:extLst>
            </p:cNvPr>
            <p:cNvSpPr>
              <a:spLocks noChangeAspect="1" noChangeArrowheads="1"/>
            </p:cNvSpPr>
            <p:nvPr/>
          </p:nvSpPr>
          <p:spPr bwMode="auto">
            <a:xfrm>
              <a:off x="6278899"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b</a:t>
              </a:r>
            </a:p>
          </p:txBody>
        </p:sp>
        <p:sp>
          <p:nvSpPr>
            <p:cNvPr id="710709" name="Oval 53">
              <a:extLst>
                <a:ext uri="{FF2B5EF4-FFF2-40B4-BE49-F238E27FC236}">
                  <a16:creationId xmlns:a16="http://schemas.microsoft.com/office/drawing/2014/main" id="{DB0B1551-4016-4996-9CB3-8D6736D27F5C}"/>
                </a:ext>
              </a:extLst>
            </p:cNvPr>
            <p:cNvSpPr>
              <a:spLocks noChangeAspect="1" noChangeArrowheads="1"/>
            </p:cNvSpPr>
            <p:nvPr/>
          </p:nvSpPr>
          <p:spPr bwMode="auto">
            <a:xfrm>
              <a:off x="6278899" y="5713346"/>
              <a:ext cx="347119" cy="347119"/>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c</a:t>
              </a:r>
            </a:p>
          </p:txBody>
        </p:sp>
        <p:cxnSp>
          <p:nvCxnSpPr>
            <p:cNvPr id="710710" name="AutoShape 54">
              <a:extLst>
                <a:ext uri="{FF2B5EF4-FFF2-40B4-BE49-F238E27FC236}">
                  <a16:creationId xmlns:a16="http://schemas.microsoft.com/office/drawing/2014/main" id="{3963BDDA-EEB2-4C16-A1BE-D107140B66AB}"/>
                </a:ext>
              </a:extLst>
            </p:cNvPr>
            <p:cNvCxnSpPr>
              <a:cxnSpLocks noChangeShapeType="1"/>
              <a:stCxn id="710706" idx="7"/>
              <a:endCxn id="710707" idx="3"/>
            </p:cNvCxnSpPr>
            <p:nvPr/>
          </p:nvCxnSpPr>
          <p:spPr bwMode="auto">
            <a:xfrm flipV="1">
              <a:off x="4691944" y="3223173"/>
              <a:ext cx="1637789" cy="1164304"/>
            </a:xfrm>
            <a:prstGeom prst="straightConnector1">
              <a:avLst/>
            </a:prstGeom>
            <a:noFill/>
            <a:ln w="38100">
              <a:solidFill>
                <a:srgbClr val="0066CC"/>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1" name="AutoShape 55">
              <a:extLst>
                <a:ext uri="{FF2B5EF4-FFF2-40B4-BE49-F238E27FC236}">
                  <a16:creationId xmlns:a16="http://schemas.microsoft.com/office/drawing/2014/main" id="{500797BD-7630-4137-AC5D-99C13711BAB5}"/>
                </a:ext>
              </a:extLst>
            </p:cNvPr>
            <p:cNvCxnSpPr>
              <a:cxnSpLocks noChangeShapeType="1"/>
              <a:stCxn id="710706" idx="6"/>
              <a:endCxn id="710708" idx="2"/>
            </p:cNvCxnSpPr>
            <p:nvPr/>
          </p:nvCxnSpPr>
          <p:spPr bwMode="auto">
            <a:xfrm>
              <a:off x="4742778" y="4510979"/>
              <a:ext cx="1536121" cy="0"/>
            </a:xfrm>
            <a:prstGeom prst="straightConnector1">
              <a:avLst/>
            </a:prstGeom>
            <a:noFill/>
            <a:ln w="38100">
              <a:solidFill>
                <a:srgbClr val="0066CC"/>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2" name="AutoShape 56">
              <a:extLst>
                <a:ext uri="{FF2B5EF4-FFF2-40B4-BE49-F238E27FC236}">
                  <a16:creationId xmlns:a16="http://schemas.microsoft.com/office/drawing/2014/main" id="{04F6A8EE-5010-42E5-9B2F-E956649EB9DD}"/>
                </a:ext>
              </a:extLst>
            </p:cNvPr>
            <p:cNvCxnSpPr>
              <a:cxnSpLocks noChangeShapeType="1"/>
              <a:stCxn id="710706" idx="5"/>
              <a:endCxn id="710709" idx="1"/>
            </p:cNvCxnSpPr>
            <p:nvPr/>
          </p:nvCxnSpPr>
          <p:spPr bwMode="auto">
            <a:xfrm>
              <a:off x="4691944" y="4634480"/>
              <a:ext cx="1637789" cy="1129700"/>
            </a:xfrm>
            <a:prstGeom prst="straightConnector1">
              <a:avLst/>
            </a:prstGeom>
            <a:noFill/>
            <a:ln w="38100">
              <a:solidFill>
                <a:srgbClr val="0066CC"/>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3" name="AutoShape 57">
              <a:extLst>
                <a:ext uri="{FF2B5EF4-FFF2-40B4-BE49-F238E27FC236}">
                  <a16:creationId xmlns:a16="http://schemas.microsoft.com/office/drawing/2014/main" id="{CB5CA9F1-C5CC-4E55-8567-407127EDD6FD}"/>
                </a:ext>
              </a:extLst>
            </p:cNvPr>
            <p:cNvCxnSpPr>
              <a:cxnSpLocks noChangeShapeType="1"/>
              <a:stCxn id="710708" idx="6"/>
              <a:endCxn id="710720" idx="2"/>
            </p:cNvCxnSpPr>
            <p:nvPr/>
          </p:nvCxnSpPr>
          <p:spPr bwMode="auto">
            <a:xfrm>
              <a:off x="6626018" y="4510979"/>
              <a:ext cx="2171903" cy="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5" name="AutoShape 59">
              <a:extLst>
                <a:ext uri="{FF2B5EF4-FFF2-40B4-BE49-F238E27FC236}">
                  <a16:creationId xmlns:a16="http://schemas.microsoft.com/office/drawing/2014/main" id="{FF578E0C-BCE9-4BDC-BE4D-1C3233FE9069}"/>
                </a:ext>
              </a:extLst>
            </p:cNvPr>
            <p:cNvCxnSpPr>
              <a:cxnSpLocks noChangeShapeType="1"/>
              <a:stCxn id="710708" idx="4"/>
              <a:endCxn id="710709" idx="0"/>
            </p:cNvCxnSpPr>
            <p:nvPr/>
          </p:nvCxnSpPr>
          <p:spPr bwMode="auto">
            <a:xfrm>
              <a:off x="6452459" y="4685636"/>
              <a:ext cx="0" cy="102771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6" name="AutoShape 60">
              <a:extLst>
                <a:ext uri="{FF2B5EF4-FFF2-40B4-BE49-F238E27FC236}">
                  <a16:creationId xmlns:a16="http://schemas.microsoft.com/office/drawing/2014/main" id="{5D951401-EF5F-40F8-8FF8-28BC78F6A7BA}"/>
                </a:ext>
              </a:extLst>
            </p:cNvPr>
            <p:cNvCxnSpPr>
              <a:cxnSpLocks noChangeShapeType="1"/>
              <a:stCxn id="710707" idx="6"/>
              <a:endCxn id="710719" idx="2"/>
            </p:cNvCxnSpPr>
            <p:nvPr/>
          </p:nvCxnSpPr>
          <p:spPr bwMode="auto">
            <a:xfrm>
              <a:off x="6626018" y="3098894"/>
              <a:ext cx="2171903" cy="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7" name="AutoShape 61">
              <a:extLst>
                <a:ext uri="{FF2B5EF4-FFF2-40B4-BE49-F238E27FC236}">
                  <a16:creationId xmlns:a16="http://schemas.microsoft.com/office/drawing/2014/main" id="{A929A23E-9723-40FB-8B80-4463475544AE}"/>
                </a:ext>
              </a:extLst>
            </p:cNvPr>
            <p:cNvCxnSpPr>
              <a:cxnSpLocks noChangeShapeType="1"/>
              <a:stCxn id="710709" idx="6"/>
              <a:endCxn id="710721" idx="2"/>
            </p:cNvCxnSpPr>
            <p:nvPr/>
          </p:nvCxnSpPr>
          <p:spPr bwMode="auto">
            <a:xfrm>
              <a:off x="6626018" y="5886906"/>
              <a:ext cx="2171903" cy="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8" name="AutoShape 62">
              <a:extLst>
                <a:ext uri="{FF2B5EF4-FFF2-40B4-BE49-F238E27FC236}">
                  <a16:creationId xmlns:a16="http://schemas.microsoft.com/office/drawing/2014/main" id="{56B2200F-0095-48E8-A6B5-E08D3FED1F4F}"/>
                </a:ext>
              </a:extLst>
            </p:cNvPr>
            <p:cNvCxnSpPr>
              <a:cxnSpLocks noChangeShapeType="1"/>
              <a:stCxn id="710707" idx="4"/>
              <a:endCxn id="710708" idx="0"/>
            </p:cNvCxnSpPr>
            <p:nvPr/>
          </p:nvCxnSpPr>
          <p:spPr bwMode="auto">
            <a:xfrm>
              <a:off x="6452459" y="3274651"/>
              <a:ext cx="0" cy="106167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19" name="Oval 63">
              <a:extLst>
                <a:ext uri="{FF2B5EF4-FFF2-40B4-BE49-F238E27FC236}">
                  <a16:creationId xmlns:a16="http://schemas.microsoft.com/office/drawing/2014/main" id="{6D6CA7B8-81FA-4ECF-9EC2-0188554C97F8}"/>
                </a:ext>
              </a:extLst>
            </p:cNvPr>
            <p:cNvSpPr>
              <a:spLocks noChangeAspect="1" noChangeArrowheads="1"/>
            </p:cNvSpPr>
            <p:nvPr/>
          </p:nvSpPr>
          <p:spPr bwMode="auto">
            <a:xfrm>
              <a:off x="8797921" y="2923138"/>
              <a:ext cx="347119" cy="35151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d</a:t>
              </a:r>
            </a:p>
          </p:txBody>
        </p:sp>
        <p:sp>
          <p:nvSpPr>
            <p:cNvPr id="710720" name="Oval 64">
              <a:extLst>
                <a:ext uri="{FF2B5EF4-FFF2-40B4-BE49-F238E27FC236}">
                  <a16:creationId xmlns:a16="http://schemas.microsoft.com/office/drawing/2014/main" id="{5FADFF93-67BC-4F3C-BA9D-F45E800F686D}"/>
                </a:ext>
              </a:extLst>
            </p:cNvPr>
            <p:cNvSpPr>
              <a:spLocks noChangeAspect="1" noChangeArrowheads="1"/>
            </p:cNvSpPr>
            <p:nvPr/>
          </p:nvSpPr>
          <p:spPr bwMode="auto">
            <a:xfrm>
              <a:off x="8797921"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e</a:t>
              </a:r>
            </a:p>
          </p:txBody>
        </p:sp>
        <p:sp>
          <p:nvSpPr>
            <p:cNvPr id="710721" name="Oval 65">
              <a:extLst>
                <a:ext uri="{FF2B5EF4-FFF2-40B4-BE49-F238E27FC236}">
                  <a16:creationId xmlns:a16="http://schemas.microsoft.com/office/drawing/2014/main" id="{5FF356EB-F06B-477C-AA8F-9ACC5EDE5A9F}"/>
                </a:ext>
              </a:extLst>
            </p:cNvPr>
            <p:cNvSpPr>
              <a:spLocks noChangeAspect="1" noChangeArrowheads="1"/>
            </p:cNvSpPr>
            <p:nvPr/>
          </p:nvSpPr>
          <p:spPr bwMode="auto">
            <a:xfrm>
              <a:off x="8797921" y="5713346"/>
              <a:ext cx="347119" cy="347119"/>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f</a:t>
              </a:r>
            </a:p>
          </p:txBody>
        </p:sp>
        <p:cxnSp>
          <p:nvCxnSpPr>
            <p:cNvPr id="710722" name="AutoShape 66">
              <a:extLst>
                <a:ext uri="{FF2B5EF4-FFF2-40B4-BE49-F238E27FC236}">
                  <a16:creationId xmlns:a16="http://schemas.microsoft.com/office/drawing/2014/main" id="{6CAC5FAF-7C24-4B59-9E5B-970C57F85D75}"/>
                </a:ext>
              </a:extLst>
            </p:cNvPr>
            <p:cNvCxnSpPr>
              <a:cxnSpLocks noChangeShapeType="1"/>
              <a:stCxn id="710720" idx="4"/>
              <a:endCxn id="710721" idx="0"/>
            </p:cNvCxnSpPr>
            <p:nvPr/>
          </p:nvCxnSpPr>
          <p:spPr bwMode="auto">
            <a:xfrm>
              <a:off x="8971480" y="4685636"/>
              <a:ext cx="0" cy="102771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3" name="AutoShape 67">
              <a:extLst>
                <a:ext uri="{FF2B5EF4-FFF2-40B4-BE49-F238E27FC236}">
                  <a16:creationId xmlns:a16="http://schemas.microsoft.com/office/drawing/2014/main" id="{02A1F7FD-3A69-496D-A0C6-9E0B7498F083}"/>
                </a:ext>
              </a:extLst>
            </p:cNvPr>
            <p:cNvCxnSpPr>
              <a:cxnSpLocks noChangeShapeType="1"/>
              <a:stCxn id="710719" idx="4"/>
              <a:endCxn id="710720" idx="0"/>
            </p:cNvCxnSpPr>
            <p:nvPr/>
          </p:nvCxnSpPr>
          <p:spPr bwMode="auto">
            <a:xfrm>
              <a:off x="8971480" y="3274651"/>
              <a:ext cx="0" cy="106167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4" name="AutoShape 68">
              <a:extLst>
                <a:ext uri="{FF2B5EF4-FFF2-40B4-BE49-F238E27FC236}">
                  <a16:creationId xmlns:a16="http://schemas.microsoft.com/office/drawing/2014/main" id="{A59DDDAD-046C-41D6-AD72-EFD283E2916C}"/>
                </a:ext>
              </a:extLst>
            </p:cNvPr>
            <p:cNvCxnSpPr>
              <a:cxnSpLocks noChangeShapeType="1"/>
              <a:stCxn id="710707" idx="5"/>
              <a:endCxn id="710720" idx="1"/>
            </p:cNvCxnSpPr>
            <p:nvPr/>
          </p:nvCxnSpPr>
          <p:spPr bwMode="auto">
            <a:xfrm>
              <a:off x="6575184" y="3223173"/>
              <a:ext cx="2273571" cy="1164304"/>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25" name="Oval 69">
              <a:extLst>
                <a:ext uri="{FF2B5EF4-FFF2-40B4-BE49-F238E27FC236}">
                  <a16:creationId xmlns:a16="http://schemas.microsoft.com/office/drawing/2014/main" id="{5DBB04F5-4A14-4512-B3D9-38E24230652F}"/>
                </a:ext>
              </a:extLst>
            </p:cNvPr>
            <p:cNvSpPr>
              <a:spLocks noChangeAspect="1" noChangeArrowheads="1"/>
            </p:cNvSpPr>
            <p:nvPr/>
          </p:nvSpPr>
          <p:spPr bwMode="auto">
            <a:xfrm>
              <a:off x="10648016"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solidFill>
                    <a:srgbClr val="C00000"/>
                  </a:solidFill>
                </a:rPr>
                <a:t>t</a:t>
              </a:r>
            </a:p>
          </p:txBody>
        </p:sp>
        <p:cxnSp>
          <p:nvCxnSpPr>
            <p:cNvPr id="710726" name="AutoShape 70">
              <a:extLst>
                <a:ext uri="{FF2B5EF4-FFF2-40B4-BE49-F238E27FC236}">
                  <a16:creationId xmlns:a16="http://schemas.microsoft.com/office/drawing/2014/main" id="{D1F58022-A270-4460-9379-D0A7FAF1B20E}"/>
                </a:ext>
              </a:extLst>
            </p:cNvPr>
            <p:cNvCxnSpPr>
              <a:cxnSpLocks noChangeShapeType="1"/>
              <a:stCxn id="710719" idx="6"/>
              <a:endCxn id="710725" idx="1"/>
            </p:cNvCxnSpPr>
            <p:nvPr/>
          </p:nvCxnSpPr>
          <p:spPr bwMode="auto">
            <a:xfrm>
              <a:off x="9145040" y="3098894"/>
              <a:ext cx="1553810" cy="1288583"/>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7" name="AutoShape 71">
              <a:extLst>
                <a:ext uri="{FF2B5EF4-FFF2-40B4-BE49-F238E27FC236}">
                  <a16:creationId xmlns:a16="http://schemas.microsoft.com/office/drawing/2014/main" id="{8009E4A0-472B-406A-AFD6-0553FE5CC77C}"/>
                </a:ext>
              </a:extLst>
            </p:cNvPr>
            <p:cNvCxnSpPr>
              <a:cxnSpLocks noChangeShapeType="1"/>
              <a:stCxn id="710720" idx="6"/>
              <a:endCxn id="710725" idx="2"/>
            </p:cNvCxnSpPr>
            <p:nvPr/>
          </p:nvCxnSpPr>
          <p:spPr bwMode="auto">
            <a:xfrm>
              <a:off x="9145040" y="4510979"/>
              <a:ext cx="1502976" cy="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8" name="AutoShape 72">
              <a:extLst>
                <a:ext uri="{FF2B5EF4-FFF2-40B4-BE49-F238E27FC236}">
                  <a16:creationId xmlns:a16="http://schemas.microsoft.com/office/drawing/2014/main" id="{E5CB0D21-BAA0-4835-A49D-49FE212797CB}"/>
                </a:ext>
              </a:extLst>
            </p:cNvPr>
            <p:cNvCxnSpPr>
              <a:cxnSpLocks noChangeShapeType="1"/>
              <a:stCxn id="710721" idx="7"/>
              <a:endCxn id="710725" idx="4"/>
            </p:cNvCxnSpPr>
            <p:nvPr/>
          </p:nvCxnSpPr>
          <p:spPr bwMode="auto">
            <a:xfrm flipV="1">
              <a:off x="9094206" y="4685636"/>
              <a:ext cx="1727370" cy="1078544"/>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29" name="Text Box 73">
              <a:extLst>
                <a:ext uri="{FF2B5EF4-FFF2-40B4-BE49-F238E27FC236}">
                  <a16:creationId xmlns:a16="http://schemas.microsoft.com/office/drawing/2014/main" id="{AAAB09A9-EC8D-4414-8817-65353064DC87}"/>
                </a:ext>
              </a:extLst>
            </p:cNvPr>
            <p:cNvSpPr txBox="1">
              <a:spLocks noChangeArrowheads="1"/>
            </p:cNvSpPr>
            <p:nvPr/>
          </p:nvSpPr>
          <p:spPr bwMode="auto">
            <a:xfrm>
              <a:off x="5420920" y="5112122"/>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solidFill>
                    <a:srgbClr val="0066CC"/>
                  </a:solidFill>
                  <a:latin typeface="Arial" panose="020B0604020202020204" pitchFamily="34" charset="0"/>
                  <a:cs typeface="Arial" panose="020B0604020202020204" pitchFamily="34" charset="0"/>
                </a:rPr>
                <a:t> 15</a:t>
              </a:r>
            </a:p>
          </p:txBody>
        </p:sp>
        <p:sp>
          <p:nvSpPr>
            <p:cNvPr id="710730" name="Text Box 74">
              <a:extLst>
                <a:ext uri="{FF2B5EF4-FFF2-40B4-BE49-F238E27FC236}">
                  <a16:creationId xmlns:a16="http://schemas.microsoft.com/office/drawing/2014/main" id="{876DCB81-C2CB-43B6-8640-CF55C1427FEF}"/>
                </a:ext>
              </a:extLst>
            </p:cNvPr>
            <p:cNvSpPr txBox="1">
              <a:spLocks noChangeArrowheads="1"/>
            </p:cNvSpPr>
            <p:nvPr/>
          </p:nvSpPr>
          <p:spPr bwMode="auto">
            <a:xfrm>
              <a:off x="5458550" y="4352895"/>
              <a:ext cx="335970"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1600" b="1" dirty="0">
                  <a:solidFill>
                    <a:srgbClr val="0066CC"/>
                  </a:solidFill>
                  <a:latin typeface="Arial" panose="020B0604020202020204" pitchFamily="34" charset="0"/>
                  <a:cs typeface="Arial" panose="020B0604020202020204" pitchFamily="34" charset="0"/>
                </a:rPr>
                <a:t> </a:t>
              </a:r>
              <a:r>
                <a:rPr lang="en-US" altLang="en-US" sz="2000" b="1" dirty="0">
                  <a:solidFill>
                    <a:srgbClr val="0066CC"/>
                  </a:solidFill>
                  <a:latin typeface="Arial" panose="020B0604020202020204" pitchFamily="34" charset="0"/>
                  <a:cs typeface="Arial" panose="020B0604020202020204" pitchFamily="34" charset="0"/>
                </a:rPr>
                <a:t>5</a:t>
              </a:r>
              <a:endParaRPr lang="en-US" altLang="en-US" sz="1600" b="1" dirty="0">
                <a:solidFill>
                  <a:srgbClr val="0066CC"/>
                </a:solidFill>
                <a:latin typeface="Arial" panose="020B0604020202020204" pitchFamily="34" charset="0"/>
                <a:cs typeface="Arial" panose="020B0604020202020204" pitchFamily="34" charset="0"/>
              </a:endParaRPr>
            </a:p>
          </p:txBody>
        </p:sp>
        <p:sp>
          <p:nvSpPr>
            <p:cNvPr id="710731" name="Text Box 75">
              <a:extLst>
                <a:ext uri="{FF2B5EF4-FFF2-40B4-BE49-F238E27FC236}">
                  <a16:creationId xmlns:a16="http://schemas.microsoft.com/office/drawing/2014/main" id="{987DF8DB-99E2-4C14-B47B-F33F6E8164DE}"/>
                </a:ext>
              </a:extLst>
            </p:cNvPr>
            <p:cNvSpPr txBox="1">
              <a:spLocks noChangeArrowheads="1"/>
            </p:cNvSpPr>
            <p:nvPr/>
          </p:nvSpPr>
          <p:spPr bwMode="auto">
            <a:xfrm>
              <a:off x="7425727" y="5717866"/>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30</a:t>
              </a:r>
            </a:p>
          </p:txBody>
        </p:sp>
        <p:sp>
          <p:nvSpPr>
            <p:cNvPr id="710732" name="Text Box 76">
              <a:extLst>
                <a:ext uri="{FF2B5EF4-FFF2-40B4-BE49-F238E27FC236}">
                  <a16:creationId xmlns:a16="http://schemas.microsoft.com/office/drawing/2014/main" id="{9B3B7885-AA6D-45BF-BF0E-9859076B1F0F}"/>
                </a:ext>
              </a:extLst>
            </p:cNvPr>
            <p:cNvSpPr txBox="1">
              <a:spLocks noChangeArrowheads="1"/>
            </p:cNvSpPr>
            <p:nvPr/>
          </p:nvSpPr>
          <p:spPr bwMode="auto">
            <a:xfrm>
              <a:off x="8780984" y="4973703"/>
              <a:ext cx="402261"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15</a:t>
              </a:r>
            </a:p>
          </p:txBody>
        </p:sp>
        <p:sp>
          <p:nvSpPr>
            <p:cNvPr id="710733" name="Text Box 77">
              <a:extLst>
                <a:ext uri="{FF2B5EF4-FFF2-40B4-BE49-F238E27FC236}">
                  <a16:creationId xmlns:a16="http://schemas.microsoft.com/office/drawing/2014/main" id="{B8E7733D-771B-4363-B990-E50FE4B44B69}"/>
                </a:ext>
              </a:extLst>
            </p:cNvPr>
            <p:cNvSpPr txBox="1">
              <a:spLocks noChangeArrowheads="1"/>
            </p:cNvSpPr>
            <p:nvPr/>
          </p:nvSpPr>
          <p:spPr bwMode="auto">
            <a:xfrm>
              <a:off x="5473942" y="3553345"/>
              <a:ext cx="405273"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solidFill>
                    <a:srgbClr val="0066CC"/>
                  </a:solidFill>
                  <a:latin typeface="Arial" panose="020B0604020202020204" pitchFamily="34" charset="0"/>
                  <a:cs typeface="Arial" panose="020B0604020202020204" pitchFamily="34" charset="0"/>
                </a:rPr>
                <a:t>10</a:t>
              </a:r>
            </a:p>
          </p:txBody>
        </p:sp>
        <p:sp>
          <p:nvSpPr>
            <p:cNvPr id="710734" name="Text Box 78">
              <a:extLst>
                <a:ext uri="{FF2B5EF4-FFF2-40B4-BE49-F238E27FC236}">
                  <a16:creationId xmlns:a16="http://schemas.microsoft.com/office/drawing/2014/main" id="{7EF45083-C70B-47F5-AFFB-7C03B08F5B21}"/>
                </a:ext>
              </a:extLst>
            </p:cNvPr>
            <p:cNvSpPr txBox="1">
              <a:spLocks noChangeArrowheads="1"/>
            </p:cNvSpPr>
            <p:nvPr/>
          </p:nvSpPr>
          <p:spPr bwMode="auto">
            <a:xfrm>
              <a:off x="7486213" y="4352895"/>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8</a:t>
              </a:r>
            </a:p>
          </p:txBody>
        </p:sp>
        <p:sp>
          <p:nvSpPr>
            <p:cNvPr id="710735" name="Text Box 79">
              <a:extLst>
                <a:ext uri="{FF2B5EF4-FFF2-40B4-BE49-F238E27FC236}">
                  <a16:creationId xmlns:a16="http://schemas.microsoft.com/office/drawing/2014/main" id="{2AF06533-A0D6-429A-B95A-970349B525E9}"/>
                </a:ext>
              </a:extLst>
            </p:cNvPr>
            <p:cNvSpPr txBox="1">
              <a:spLocks noChangeArrowheads="1"/>
            </p:cNvSpPr>
            <p:nvPr/>
          </p:nvSpPr>
          <p:spPr bwMode="auto">
            <a:xfrm>
              <a:off x="7425727" y="3622107"/>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15</a:t>
              </a:r>
            </a:p>
          </p:txBody>
        </p:sp>
        <p:sp>
          <p:nvSpPr>
            <p:cNvPr id="710736" name="Text Box 80">
              <a:extLst>
                <a:ext uri="{FF2B5EF4-FFF2-40B4-BE49-F238E27FC236}">
                  <a16:creationId xmlns:a16="http://schemas.microsoft.com/office/drawing/2014/main" id="{8E2CA782-EF26-454E-82E8-A7C0ACB122B9}"/>
                </a:ext>
              </a:extLst>
            </p:cNvPr>
            <p:cNvSpPr txBox="1">
              <a:spLocks noChangeArrowheads="1"/>
            </p:cNvSpPr>
            <p:nvPr/>
          </p:nvSpPr>
          <p:spPr bwMode="auto">
            <a:xfrm>
              <a:off x="7444248" y="2939710"/>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9</a:t>
              </a:r>
            </a:p>
          </p:txBody>
        </p:sp>
        <p:sp>
          <p:nvSpPr>
            <p:cNvPr id="710737" name="Text Box 81">
              <a:extLst>
                <a:ext uri="{FF2B5EF4-FFF2-40B4-BE49-F238E27FC236}">
                  <a16:creationId xmlns:a16="http://schemas.microsoft.com/office/drawing/2014/main" id="{5EEB67EA-FA04-42E4-9A86-1D24118DC709}"/>
                </a:ext>
              </a:extLst>
            </p:cNvPr>
            <p:cNvSpPr txBox="1">
              <a:spLocks noChangeArrowheads="1"/>
            </p:cNvSpPr>
            <p:nvPr/>
          </p:nvSpPr>
          <p:spPr bwMode="auto">
            <a:xfrm>
              <a:off x="7444248" y="5043023"/>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6</a:t>
              </a:r>
            </a:p>
          </p:txBody>
        </p:sp>
        <p:sp>
          <p:nvSpPr>
            <p:cNvPr id="710738" name="Text Box 82">
              <a:extLst>
                <a:ext uri="{FF2B5EF4-FFF2-40B4-BE49-F238E27FC236}">
                  <a16:creationId xmlns:a16="http://schemas.microsoft.com/office/drawing/2014/main" id="{205F31AB-659B-4FEC-B166-3C1CABADD2CF}"/>
                </a:ext>
              </a:extLst>
            </p:cNvPr>
            <p:cNvSpPr txBox="1">
              <a:spLocks noChangeArrowheads="1"/>
            </p:cNvSpPr>
            <p:nvPr/>
          </p:nvSpPr>
          <p:spPr bwMode="auto">
            <a:xfrm>
              <a:off x="9678052" y="5087101"/>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10</a:t>
              </a:r>
            </a:p>
          </p:txBody>
        </p:sp>
        <p:sp>
          <p:nvSpPr>
            <p:cNvPr id="710739" name="Text Box 83">
              <a:extLst>
                <a:ext uri="{FF2B5EF4-FFF2-40B4-BE49-F238E27FC236}">
                  <a16:creationId xmlns:a16="http://schemas.microsoft.com/office/drawing/2014/main" id="{8296BE71-6B6F-463B-8C0A-94F5E736B46E}"/>
                </a:ext>
              </a:extLst>
            </p:cNvPr>
            <p:cNvSpPr txBox="1">
              <a:spLocks noChangeArrowheads="1"/>
            </p:cNvSpPr>
            <p:nvPr/>
          </p:nvSpPr>
          <p:spPr bwMode="auto">
            <a:xfrm>
              <a:off x="9704822" y="4352895"/>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1600" dirty="0">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10</a:t>
              </a:r>
              <a:endParaRPr lang="en-US" altLang="en-US" sz="1600" dirty="0">
                <a:latin typeface="Arial" panose="020B0604020202020204" pitchFamily="34" charset="0"/>
                <a:cs typeface="Arial" panose="020B0604020202020204" pitchFamily="34" charset="0"/>
              </a:endParaRPr>
            </a:p>
          </p:txBody>
        </p:sp>
        <p:sp>
          <p:nvSpPr>
            <p:cNvPr id="710740" name="Text Box 84">
              <a:extLst>
                <a:ext uri="{FF2B5EF4-FFF2-40B4-BE49-F238E27FC236}">
                  <a16:creationId xmlns:a16="http://schemas.microsoft.com/office/drawing/2014/main" id="{0F354EAC-9BAF-4735-9DC8-6E0300D4C60E}"/>
                </a:ext>
              </a:extLst>
            </p:cNvPr>
            <p:cNvSpPr txBox="1">
              <a:spLocks noChangeArrowheads="1"/>
            </p:cNvSpPr>
            <p:nvPr/>
          </p:nvSpPr>
          <p:spPr bwMode="auto">
            <a:xfrm>
              <a:off x="9703383" y="3588301"/>
              <a:ext cx="402261"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10</a:t>
              </a:r>
            </a:p>
          </p:txBody>
        </p:sp>
        <p:sp>
          <p:nvSpPr>
            <p:cNvPr id="710741" name="Text Box 85">
              <a:extLst>
                <a:ext uri="{FF2B5EF4-FFF2-40B4-BE49-F238E27FC236}">
                  <a16:creationId xmlns:a16="http://schemas.microsoft.com/office/drawing/2014/main" id="{DA3836EF-7B4F-4F15-B0F6-032168C5D6FA}"/>
                </a:ext>
              </a:extLst>
            </p:cNvPr>
            <p:cNvSpPr txBox="1">
              <a:spLocks noChangeArrowheads="1"/>
            </p:cNvSpPr>
            <p:nvPr/>
          </p:nvSpPr>
          <p:spPr bwMode="auto">
            <a:xfrm>
              <a:off x="8791308" y="3595078"/>
              <a:ext cx="402261"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15</a:t>
              </a:r>
            </a:p>
          </p:txBody>
        </p:sp>
        <p:sp>
          <p:nvSpPr>
            <p:cNvPr id="710742" name="Text Box 86">
              <a:extLst>
                <a:ext uri="{FF2B5EF4-FFF2-40B4-BE49-F238E27FC236}">
                  <a16:creationId xmlns:a16="http://schemas.microsoft.com/office/drawing/2014/main" id="{90B2F1EE-6551-462E-B731-7BC0ECF13613}"/>
                </a:ext>
              </a:extLst>
            </p:cNvPr>
            <p:cNvSpPr txBox="1">
              <a:spLocks noChangeArrowheads="1"/>
            </p:cNvSpPr>
            <p:nvPr/>
          </p:nvSpPr>
          <p:spPr bwMode="auto">
            <a:xfrm>
              <a:off x="6276229" y="3653451"/>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4</a:t>
              </a:r>
            </a:p>
          </p:txBody>
        </p:sp>
        <p:sp>
          <p:nvSpPr>
            <p:cNvPr id="710743" name="Text Box 87">
              <a:extLst>
                <a:ext uri="{FF2B5EF4-FFF2-40B4-BE49-F238E27FC236}">
                  <a16:creationId xmlns:a16="http://schemas.microsoft.com/office/drawing/2014/main" id="{4ECC4A50-EA5B-4BE9-8AA2-AA53B6EA7E58}"/>
                </a:ext>
              </a:extLst>
            </p:cNvPr>
            <p:cNvSpPr txBox="1">
              <a:spLocks noChangeArrowheads="1"/>
            </p:cNvSpPr>
            <p:nvPr/>
          </p:nvSpPr>
          <p:spPr bwMode="auto">
            <a:xfrm>
              <a:off x="6268652" y="5012007"/>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4</a:t>
              </a:r>
            </a:p>
          </p:txBody>
        </p:sp>
        <p:sp>
          <p:nvSpPr>
            <p:cNvPr id="710749" name="Text Box 93">
              <a:extLst>
                <a:ext uri="{FF2B5EF4-FFF2-40B4-BE49-F238E27FC236}">
                  <a16:creationId xmlns:a16="http://schemas.microsoft.com/office/drawing/2014/main" id="{596B0AD8-0EEB-4465-B4A8-B2818D9B3645}"/>
                </a:ext>
              </a:extLst>
            </p:cNvPr>
            <p:cNvSpPr txBox="1">
              <a:spLocks noChangeArrowheads="1"/>
            </p:cNvSpPr>
            <p:nvPr/>
          </p:nvSpPr>
          <p:spPr bwMode="auto">
            <a:xfrm>
              <a:off x="3639351" y="4283591"/>
              <a:ext cx="709251" cy="3211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291" tIns="45646" rIns="91291" bIns="45646">
              <a:spAutoFit/>
            </a:bodyPr>
            <a:lstStyle/>
            <a:p>
              <a:pPr>
                <a:spcBef>
                  <a:spcPct val="50000"/>
                </a:spcBef>
              </a:pPr>
              <a:r>
                <a:rPr lang="en-US" altLang="en-US" sz="1600" b="1" dirty="0">
                  <a:solidFill>
                    <a:srgbClr val="C00000"/>
                  </a:solidFill>
                </a:rPr>
                <a:t>source</a:t>
              </a:r>
            </a:p>
          </p:txBody>
        </p:sp>
        <p:sp>
          <p:nvSpPr>
            <p:cNvPr id="710750" name="Text Box 94">
              <a:extLst>
                <a:ext uri="{FF2B5EF4-FFF2-40B4-BE49-F238E27FC236}">
                  <a16:creationId xmlns:a16="http://schemas.microsoft.com/office/drawing/2014/main" id="{817CFDA1-C5B7-47D0-89C0-CEC801739C87}"/>
                </a:ext>
              </a:extLst>
            </p:cNvPr>
            <p:cNvSpPr txBox="1">
              <a:spLocks noChangeArrowheads="1"/>
            </p:cNvSpPr>
            <p:nvPr/>
          </p:nvSpPr>
          <p:spPr bwMode="auto">
            <a:xfrm>
              <a:off x="11065864" y="4291069"/>
              <a:ext cx="497486" cy="3211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291" tIns="45646" rIns="91291" bIns="45646">
              <a:spAutoFit/>
            </a:bodyPr>
            <a:lstStyle/>
            <a:p>
              <a:pPr>
                <a:spcBef>
                  <a:spcPct val="50000"/>
                </a:spcBef>
              </a:pPr>
              <a:r>
                <a:rPr lang="en-US" altLang="en-US" sz="1600" b="1" dirty="0">
                  <a:solidFill>
                    <a:srgbClr val="C00000"/>
                  </a:solidFill>
                </a:rPr>
                <a:t>sink</a:t>
              </a:r>
            </a:p>
          </p:txBody>
        </p:sp>
      </p:grpSp>
      <p:sp>
        <p:nvSpPr>
          <p:cNvPr id="2" name="TextBox 1">
            <a:extLst>
              <a:ext uri="{FF2B5EF4-FFF2-40B4-BE49-F238E27FC236}">
                <a16:creationId xmlns:a16="http://schemas.microsoft.com/office/drawing/2014/main" id="{A2C915DE-E994-43D0-834F-8CF1E72F835E}"/>
              </a:ext>
            </a:extLst>
          </p:cNvPr>
          <p:cNvSpPr txBox="1"/>
          <p:nvPr/>
        </p:nvSpPr>
        <p:spPr>
          <a:xfrm>
            <a:off x="2165171" y="3770450"/>
            <a:ext cx="1591141" cy="461665"/>
          </a:xfrm>
          <a:prstGeom prst="rect">
            <a:avLst/>
          </a:prstGeom>
          <a:noFill/>
        </p:spPr>
        <p:txBody>
          <a:bodyPr wrap="none" rtlCol="0">
            <a:spAutoFit/>
          </a:bodyPr>
          <a:lstStyle/>
          <a:p>
            <a:r>
              <a:rPr lang="en-US" sz="2400" dirty="0"/>
              <a:t>capacity </a:t>
            </a:r>
            <a:r>
              <a:rPr lang="en-US" sz="2400" b="1" dirty="0">
                <a:solidFill>
                  <a:srgbClr val="0066CC"/>
                </a:solidFill>
              </a:rPr>
              <a:t>30</a:t>
            </a:r>
          </a:p>
        </p:txBody>
      </p:sp>
    </p:spTree>
    <p:extLst>
      <p:ext uri="{BB962C8B-B14F-4D97-AF65-F5344CB8AC3E}">
        <p14:creationId xmlns:p14="http://schemas.microsoft.com/office/powerpoint/2010/main" val="268870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Shape 5">
            <a:extLst>
              <a:ext uri="{FF2B5EF4-FFF2-40B4-BE49-F238E27FC236}">
                <a16:creationId xmlns:a16="http://schemas.microsoft.com/office/drawing/2014/main" id="{2A3AA9A7-E079-473A-B84D-05798BEA960F}"/>
              </a:ext>
            </a:extLst>
          </p:cNvPr>
          <p:cNvSpPr/>
          <p:nvPr/>
        </p:nvSpPr>
        <p:spPr bwMode="auto">
          <a:xfrm>
            <a:off x="3505382" y="4246571"/>
            <a:ext cx="3410531" cy="2249142"/>
          </a:xfrm>
          <a:custGeom>
            <a:avLst/>
            <a:gdLst>
              <a:gd name="connsiteX0" fmla="*/ 3362 w 3743669"/>
              <a:gd name="connsiteY0" fmla="*/ 632993 h 2335796"/>
              <a:gd name="connsiteX1" fmla="*/ 1396227 w 3743669"/>
              <a:gd name="connsiteY1" fmla="*/ 1664351 h 2335796"/>
              <a:gd name="connsiteX2" fmla="*/ 2842255 w 3743669"/>
              <a:gd name="connsiteY2" fmla="*/ 2206612 h 2335796"/>
              <a:gd name="connsiteX3" fmla="*/ 3469576 w 3743669"/>
              <a:gd name="connsiteY3" fmla="*/ 2164082 h 2335796"/>
              <a:gd name="connsiteX4" fmla="*/ 3565269 w 3743669"/>
              <a:gd name="connsiteY4" fmla="*/ 367179 h 2335796"/>
              <a:gd name="connsiteX5" fmla="*/ 1087883 w 3743669"/>
              <a:gd name="connsiteY5" fmla="*/ 16305 h 2335796"/>
              <a:gd name="connsiteX6" fmla="*/ 3362 w 3743669"/>
              <a:gd name="connsiteY6" fmla="*/ 632993 h 2335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743669" h="2335796">
                <a:moveTo>
                  <a:pt x="3362" y="632993"/>
                </a:moveTo>
                <a:cubicBezTo>
                  <a:pt x="54753" y="907667"/>
                  <a:pt x="923078" y="1402081"/>
                  <a:pt x="1396227" y="1664351"/>
                </a:cubicBezTo>
                <a:cubicBezTo>
                  <a:pt x="1869376" y="1926621"/>
                  <a:pt x="2496697" y="2123324"/>
                  <a:pt x="2842255" y="2206612"/>
                </a:cubicBezTo>
                <a:cubicBezTo>
                  <a:pt x="3187813" y="2289901"/>
                  <a:pt x="3349074" y="2470654"/>
                  <a:pt x="3469576" y="2164082"/>
                </a:cubicBezTo>
                <a:cubicBezTo>
                  <a:pt x="3590078" y="1857510"/>
                  <a:pt x="3962218" y="725142"/>
                  <a:pt x="3565269" y="367179"/>
                </a:cubicBezTo>
                <a:cubicBezTo>
                  <a:pt x="3168320" y="9216"/>
                  <a:pt x="1677990" y="-31542"/>
                  <a:pt x="1087883" y="16305"/>
                </a:cubicBezTo>
                <a:cubicBezTo>
                  <a:pt x="497776" y="64151"/>
                  <a:pt x="-48029" y="358319"/>
                  <a:pt x="3362" y="632993"/>
                </a:cubicBezTo>
                <a:close/>
              </a:path>
            </a:pathLst>
          </a:custGeom>
          <a:solidFill>
            <a:schemeClr val="accent1">
              <a:lumMod val="20000"/>
              <a:lumOff val="80000"/>
            </a:schemeClr>
          </a:solidFill>
          <a:ln w="38100" cap="flat" cmpd="sng">
            <a:noFill/>
            <a:prstDash val="solid"/>
            <a:round/>
            <a:headEnd type="triangle" w="med" len="med"/>
            <a:tailEnd type="none" w="med" len="med"/>
          </a:ln>
          <a:effectLst/>
        </p:spPr>
        <p:txBody>
          <a:bodyPr wrap="square" rtlCol="0" anchor="ctr">
            <a:spAutoFit/>
          </a:bodyPr>
          <a:lstStyle/>
          <a:p>
            <a:pPr algn="l"/>
            <a:endParaRPr lang="en-US"/>
          </a:p>
        </p:txBody>
      </p:sp>
      <mc:AlternateContent xmlns:mc="http://schemas.openxmlformats.org/markup-compatibility/2006" xmlns:a14="http://schemas.microsoft.com/office/drawing/2010/main">
        <mc:Choice Requires="a14">
          <p:sp>
            <p:nvSpPr>
              <p:cNvPr id="710658" name="Rectangle 2">
                <a:extLst>
                  <a:ext uri="{FF2B5EF4-FFF2-40B4-BE49-F238E27FC236}">
                    <a16:creationId xmlns:a16="http://schemas.microsoft.com/office/drawing/2014/main" id="{CB091DDF-2BE4-491C-910B-E6A98B6859F5}"/>
                  </a:ext>
                </a:extLst>
              </p:cNvPr>
              <p:cNvSpPr>
                <a:spLocks noGrp="1" noChangeArrowheads="1"/>
              </p:cNvSpPr>
              <p:nvPr>
                <p:ph type="body" idx="1"/>
              </p:nvPr>
            </p:nvSpPr>
            <p:spPr>
              <a:xfrm>
                <a:off x="628650" y="1311703"/>
                <a:ext cx="10811510" cy="5200045"/>
              </a:xfrm>
            </p:spPr>
            <p:txBody>
              <a:bodyPr>
                <a:normAutofit/>
              </a:bodyPr>
              <a:lstStyle/>
              <a:p>
                <a:pPr marL="0" indent="0">
                  <a:lnSpc>
                    <a:spcPct val="85000"/>
                  </a:lnSpc>
                  <a:buNone/>
                </a:pPr>
                <a:r>
                  <a:rPr lang="en-US" altLang="en-US" sz="2400" b="1" dirty="0">
                    <a:solidFill>
                      <a:srgbClr val="695082"/>
                    </a:solidFill>
                  </a:rPr>
                  <a:t>Defn:  </a:t>
                </a:r>
                <a:r>
                  <a:rPr lang="en-US" altLang="en-US" sz="2400" dirty="0"/>
                  <a:t>An </a:t>
                </a:r>
                <a14:m>
                  <m:oMath xmlns:m="http://schemas.openxmlformats.org/officeDocument/2006/math">
                    <m:r>
                      <a:rPr lang="en-US" altLang="en-US" sz="2400" b="1" i="1" dirty="0" smtClean="0">
                        <a:solidFill>
                          <a:srgbClr val="C00000"/>
                        </a:solidFill>
                        <a:latin typeface="Cambria Math" panose="02040503050406030204" pitchFamily="18" charset="0"/>
                      </a:rPr>
                      <m:t>𝒔</m:t>
                    </m:r>
                  </m:oMath>
                </a14:m>
                <a:r>
                  <a:rPr lang="en-US" altLang="en-US" sz="2400" dirty="0">
                    <a:solidFill>
                      <a:srgbClr val="C00000"/>
                    </a:solidFill>
                  </a:rPr>
                  <a:t>-</a:t>
                </a:r>
                <a14:m>
                  <m:oMath xmlns:m="http://schemas.openxmlformats.org/officeDocument/2006/math">
                    <m:r>
                      <a:rPr lang="en-US" altLang="en-US" sz="2400" b="1" i="1" dirty="0" smtClean="0">
                        <a:solidFill>
                          <a:srgbClr val="C00000"/>
                        </a:solidFill>
                        <a:latin typeface="Cambria Math" panose="02040503050406030204" pitchFamily="18" charset="0"/>
                      </a:rPr>
                      <m:t>𝒕</m:t>
                    </m:r>
                  </m:oMath>
                </a14:m>
                <a:r>
                  <a:rPr lang="en-US" altLang="en-US" sz="2400" dirty="0">
                    <a:solidFill>
                      <a:srgbClr val="C00000"/>
                    </a:solidFill>
                  </a:rPr>
                  <a:t> cut</a:t>
                </a:r>
                <a:r>
                  <a:rPr lang="en-US" altLang="en-US" sz="2400" dirty="0"/>
                  <a:t> is a partition </a:t>
                </a:r>
                <a14:m>
                  <m:oMath xmlns:m="http://schemas.openxmlformats.org/officeDocument/2006/math">
                    <m:r>
                      <a:rPr lang="en-US" altLang="en-US" sz="2400" b="1" i="1" dirty="0" smtClean="0">
                        <a:solidFill>
                          <a:srgbClr val="0066CC"/>
                        </a:solidFill>
                        <a:latin typeface="Cambria Math" panose="02040503050406030204" pitchFamily="18" charset="0"/>
                      </a:rPr>
                      <m:t>(</m:t>
                    </m:r>
                    <m:r>
                      <a:rPr lang="en-US" altLang="en-US" sz="2400" b="1" i="1" dirty="0" smtClean="0">
                        <a:solidFill>
                          <a:srgbClr val="0066CC"/>
                        </a:solidFill>
                        <a:latin typeface="Cambria Math" panose="02040503050406030204" pitchFamily="18" charset="0"/>
                      </a:rPr>
                      <m:t>𝑨</m:t>
                    </m:r>
                    <m:r>
                      <a:rPr lang="en-US" altLang="en-US" sz="2400" b="1" i="1" dirty="0" smtClean="0">
                        <a:solidFill>
                          <a:srgbClr val="0066CC"/>
                        </a:solidFill>
                        <a:latin typeface="Cambria Math" panose="02040503050406030204" pitchFamily="18" charset="0"/>
                      </a:rPr>
                      <m:t>,</m:t>
                    </m:r>
                    <m:r>
                      <a:rPr lang="en-US" altLang="en-US" sz="2400" b="1" i="1" dirty="0" smtClean="0">
                        <a:solidFill>
                          <a:srgbClr val="0066CC"/>
                        </a:solidFill>
                        <a:latin typeface="Cambria Math" panose="02040503050406030204" pitchFamily="18" charset="0"/>
                      </a:rPr>
                      <m:t>𝑩</m:t>
                    </m:r>
                    <m:r>
                      <a:rPr lang="en-US" altLang="en-US" sz="2400" b="1" i="1" dirty="0" smtClean="0">
                        <a:solidFill>
                          <a:srgbClr val="0066CC"/>
                        </a:solidFill>
                        <a:latin typeface="Cambria Math" panose="02040503050406030204" pitchFamily="18" charset="0"/>
                      </a:rPr>
                      <m:t>)</m:t>
                    </m:r>
                  </m:oMath>
                </a14:m>
                <a:r>
                  <a:rPr lang="en-US" altLang="en-US" sz="2400" dirty="0"/>
                  <a:t> of </a:t>
                </a:r>
                <a14:m>
                  <m:oMath xmlns:m="http://schemas.openxmlformats.org/officeDocument/2006/math">
                    <m:r>
                      <a:rPr lang="en-US" altLang="en-US" sz="2400" b="1" i="1" dirty="0" smtClean="0">
                        <a:solidFill>
                          <a:srgbClr val="0066CC"/>
                        </a:solidFill>
                        <a:latin typeface="Cambria Math" panose="02040503050406030204" pitchFamily="18" charset="0"/>
                      </a:rPr>
                      <m:t>𝑽</m:t>
                    </m:r>
                  </m:oMath>
                </a14:m>
                <a:r>
                  <a:rPr lang="en-US" altLang="en-US" sz="2400" dirty="0"/>
                  <a:t> with </a:t>
                </a:r>
                <a14:m>
                  <m:oMath xmlns:m="http://schemas.openxmlformats.org/officeDocument/2006/math">
                    <m:r>
                      <a:rPr lang="en-US" altLang="en-US" sz="2400" b="1" i="1" dirty="0" smtClean="0">
                        <a:solidFill>
                          <a:srgbClr val="0066CC"/>
                        </a:solidFill>
                        <a:latin typeface="Cambria Math" panose="02040503050406030204" pitchFamily="18" charset="0"/>
                      </a:rPr>
                      <m:t>𝒔</m:t>
                    </m:r>
                    <m:r>
                      <a:rPr lang="en-US" altLang="en-US" sz="2400" b="1" i="1" dirty="0" smtClean="0">
                        <a:solidFill>
                          <a:srgbClr val="0066CC"/>
                        </a:solidFill>
                        <a:latin typeface="Cambria Math" panose="02040503050406030204" pitchFamily="18" charset="0"/>
                      </a:rPr>
                      <m:t>∈</m:t>
                    </m:r>
                    <m:r>
                      <a:rPr lang="en-US" altLang="en-US" sz="2400" b="1" i="1" dirty="0" smtClean="0">
                        <a:solidFill>
                          <a:srgbClr val="0066CC"/>
                        </a:solidFill>
                        <a:latin typeface="Cambria Math" panose="02040503050406030204" pitchFamily="18" charset="0"/>
                      </a:rPr>
                      <m:t>𝑨</m:t>
                    </m:r>
                  </m:oMath>
                </a14:m>
                <a:r>
                  <a:rPr lang="en-US" altLang="en-US" sz="2400" dirty="0"/>
                  <a:t> and </a:t>
                </a:r>
                <a14:m>
                  <m:oMath xmlns:m="http://schemas.openxmlformats.org/officeDocument/2006/math">
                    <m:r>
                      <a:rPr lang="en-US" altLang="en-US" sz="2400" b="1" i="1" dirty="0" smtClean="0">
                        <a:solidFill>
                          <a:srgbClr val="0066CC"/>
                        </a:solidFill>
                        <a:latin typeface="Cambria Math" panose="02040503050406030204" pitchFamily="18" charset="0"/>
                      </a:rPr>
                      <m:t>𝒕</m:t>
                    </m:r>
                    <m:r>
                      <a:rPr lang="en-US" altLang="en-US" sz="2400" b="1" i="1" dirty="0">
                        <a:solidFill>
                          <a:srgbClr val="0066CC"/>
                        </a:solidFill>
                        <a:latin typeface="Cambria Math" panose="02040503050406030204" pitchFamily="18" charset="0"/>
                      </a:rPr>
                      <m:t>∈</m:t>
                    </m:r>
                    <m:r>
                      <a:rPr lang="en-US" altLang="en-US" sz="2400" b="1" i="1" dirty="0" smtClean="0">
                        <a:solidFill>
                          <a:srgbClr val="0066CC"/>
                        </a:solidFill>
                        <a:latin typeface="Cambria Math" panose="02040503050406030204" pitchFamily="18" charset="0"/>
                      </a:rPr>
                      <m:t>𝑩</m:t>
                    </m:r>
                  </m:oMath>
                </a14:m>
                <a:r>
                  <a:rPr lang="en-US" altLang="en-US" sz="2400" dirty="0"/>
                  <a:t>.</a:t>
                </a:r>
              </a:p>
              <a:p>
                <a:pPr marL="457200" lvl="1" indent="0">
                  <a:lnSpc>
                    <a:spcPct val="85000"/>
                  </a:lnSpc>
                  <a:buNone/>
                </a:pPr>
                <a:r>
                  <a:rPr lang="en-US" altLang="en-US" sz="2400" dirty="0"/>
                  <a:t>    The </a:t>
                </a:r>
                <a:r>
                  <a:rPr lang="en-US" altLang="en-US" sz="2400" dirty="0">
                    <a:solidFill>
                      <a:srgbClr val="C00000"/>
                    </a:solidFill>
                  </a:rPr>
                  <a:t>capacity</a:t>
                </a:r>
                <a:r>
                  <a:rPr lang="en-US" altLang="en-US" sz="2400" dirty="0"/>
                  <a:t> of cut </a:t>
                </a:r>
                <a14:m>
                  <m:oMath xmlns:m="http://schemas.openxmlformats.org/officeDocument/2006/math">
                    <m:r>
                      <a:rPr lang="en-US" altLang="en-US" sz="2400" b="1" i="1" dirty="0" smtClean="0">
                        <a:solidFill>
                          <a:srgbClr val="0066CC"/>
                        </a:solidFill>
                        <a:latin typeface="Cambria Math" panose="02040503050406030204" pitchFamily="18" charset="0"/>
                      </a:rPr>
                      <m:t>(</m:t>
                    </m:r>
                    <m:r>
                      <a:rPr lang="en-US" altLang="en-US" sz="2400" b="1" i="1" dirty="0" smtClean="0">
                        <a:solidFill>
                          <a:srgbClr val="0066CC"/>
                        </a:solidFill>
                        <a:latin typeface="Cambria Math" panose="02040503050406030204" pitchFamily="18" charset="0"/>
                      </a:rPr>
                      <m:t>𝑨</m:t>
                    </m:r>
                    <m:r>
                      <a:rPr lang="en-US" altLang="en-US" sz="2400" b="1" i="1" dirty="0" smtClean="0">
                        <a:solidFill>
                          <a:srgbClr val="0066CC"/>
                        </a:solidFill>
                        <a:latin typeface="Cambria Math" panose="02040503050406030204" pitchFamily="18" charset="0"/>
                      </a:rPr>
                      <m:t>,</m:t>
                    </m:r>
                    <m:r>
                      <a:rPr lang="en-US" altLang="en-US" sz="2400" b="1" i="1" dirty="0" smtClean="0">
                        <a:solidFill>
                          <a:srgbClr val="0066CC"/>
                        </a:solidFill>
                        <a:latin typeface="Cambria Math" panose="02040503050406030204" pitchFamily="18" charset="0"/>
                      </a:rPr>
                      <m:t>𝑩</m:t>
                    </m:r>
                    <m:r>
                      <a:rPr lang="en-US" altLang="en-US" sz="2400" b="1" i="1" dirty="0" smtClean="0">
                        <a:solidFill>
                          <a:srgbClr val="0066CC"/>
                        </a:solidFill>
                        <a:latin typeface="Cambria Math" panose="02040503050406030204" pitchFamily="18" charset="0"/>
                      </a:rPr>
                      <m:t>)</m:t>
                    </m:r>
                  </m:oMath>
                </a14:m>
                <a:r>
                  <a:rPr lang="en-US" altLang="en-US" sz="2400" dirty="0"/>
                  <a:t> is </a:t>
                </a:r>
              </a:p>
              <a:p>
                <a:pPr marL="457200" lvl="1" indent="0">
                  <a:lnSpc>
                    <a:spcPct val="85000"/>
                  </a:lnSpc>
                  <a:buNone/>
                </a:pPr>
                <a14:m>
                  <m:oMathPara xmlns:m="http://schemas.openxmlformats.org/officeDocument/2006/math">
                    <m:oMathParaPr>
                      <m:jc m:val="centerGroup"/>
                    </m:oMathParaPr>
                    <m:oMath xmlns:m="http://schemas.openxmlformats.org/officeDocument/2006/math">
                      <m:r>
                        <a:rPr lang="en-US" altLang="en-US" sz="2400" b="1" i="1" smtClean="0">
                          <a:solidFill>
                            <a:srgbClr val="0066CC"/>
                          </a:solidFill>
                          <a:latin typeface="Cambria Math" panose="02040503050406030204" pitchFamily="18" charset="0"/>
                        </a:rPr>
                        <m:t>𝒄</m:t>
                      </m:r>
                      <m:d>
                        <m:dPr>
                          <m:ctrlPr>
                            <a:rPr lang="en-US" altLang="en-US" sz="2400" b="1" i="1" smtClean="0">
                              <a:solidFill>
                                <a:srgbClr val="0066CC"/>
                              </a:solidFill>
                              <a:latin typeface="Cambria Math" panose="02040503050406030204" pitchFamily="18" charset="0"/>
                            </a:rPr>
                          </m:ctrlPr>
                        </m:dPr>
                        <m:e>
                          <m:r>
                            <a:rPr lang="en-US" altLang="en-US" sz="2400" b="1" i="1" smtClean="0">
                              <a:solidFill>
                                <a:srgbClr val="0066CC"/>
                              </a:solidFill>
                              <a:latin typeface="Cambria Math" panose="02040503050406030204" pitchFamily="18" charset="0"/>
                            </a:rPr>
                            <m:t>𝑨</m:t>
                          </m:r>
                          <m:r>
                            <a:rPr lang="en-US" altLang="en-US" sz="2400" b="1" i="1" smtClean="0">
                              <a:solidFill>
                                <a:srgbClr val="0066CC"/>
                              </a:solidFill>
                              <a:latin typeface="Cambria Math" panose="02040503050406030204" pitchFamily="18" charset="0"/>
                            </a:rPr>
                            <m:t>,</m:t>
                          </m:r>
                          <m:r>
                            <a:rPr lang="en-US" altLang="en-US" sz="2400" b="1" i="1" smtClean="0">
                              <a:solidFill>
                                <a:srgbClr val="0066CC"/>
                              </a:solidFill>
                              <a:latin typeface="Cambria Math" panose="02040503050406030204" pitchFamily="18" charset="0"/>
                            </a:rPr>
                            <m:t>𝑩</m:t>
                          </m:r>
                        </m:e>
                      </m:d>
                      <m:r>
                        <a:rPr lang="en-US" altLang="en-US" sz="2400" b="1" i="1" smtClean="0">
                          <a:solidFill>
                            <a:srgbClr val="0066CC"/>
                          </a:solidFill>
                          <a:latin typeface="Cambria Math" panose="02040503050406030204" pitchFamily="18" charset="0"/>
                        </a:rPr>
                        <m:t>=</m:t>
                      </m:r>
                      <m:nary>
                        <m:naryPr>
                          <m:chr m:val="∑"/>
                          <m:supHide m:val="on"/>
                          <m:ctrlPr>
                            <a:rPr lang="en-US" altLang="en-US" sz="2400" b="1" i="1" smtClean="0">
                              <a:solidFill>
                                <a:srgbClr val="0066CC"/>
                              </a:solidFill>
                              <a:latin typeface="Cambria Math" panose="02040503050406030204" pitchFamily="18" charset="0"/>
                            </a:rPr>
                          </m:ctrlPr>
                        </m:naryPr>
                        <m:sub>
                          <m:r>
                            <a:rPr lang="en-US" altLang="en-US" sz="2400" b="1" i="1" smtClean="0">
                              <a:solidFill>
                                <a:srgbClr val="0066CC"/>
                              </a:solidFill>
                              <a:latin typeface="Cambria Math" panose="02040503050406030204" pitchFamily="18" charset="0"/>
                            </a:rPr>
                            <m:t>𝒆</m:t>
                          </m:r>
                          <m:r>
                            <a:rPr lang="en-US" altLang="en-US" sz="2400" b="1" i="1" smtClean="0">
                              <a:solidFill>
                                <a:srgbClr val="0066CC"/>
                              </a:solidFill>
                              <a:latin typeface="Cambria Math" panose="02040503050406030204" pitchFamily="18" charset="0"/>
                            </a:rPr>
                            <m:t> </m:t>
                          </m:r>
                          <m:r>
                            <m:rPr>
                              <m:sty m:val="p"/>
                            </m:rPr>
                            <a:rPr lang="en-US" altLang="en-US" sz="2400" b="0" i="0" smtClean="0">
                              <a:solidFill>
                                <a:schemeClr val="tx1"/>
                              </a:solidFill>
                              <a:latin typeface="Cambria Math" panose="02040503050406030204" pitchFamily="18" charset="0"/>
                            </a:rPr>
                            <m:t>out</m:t>
                          </m:r>
                          <m:r>
                            <a:rPr lang="en-US" altLang="en-US" sz="2400" b="0" i="0" smtClean="0">
                              <a:solidFill>
                                <a:schemeClr val="tx1"/>
                              </a:solidFill>
                              <a:latin typeface="Cambria Math" panose="02040503050406030204" pitchFamily="18" charset="0"/>
                            </a:rPr>
                            <m:t> </m:t>
                          </m:r>
                          <m:r>
                            <m:rPr>
                              <m:sty m:val="p"/>
                            </m:rPr>
                            <a:rPr lang="en-US" altLang="en-US" sz="2400" b="0" i="0" smtClean="0">
                              <a:solidFill>
                                <a:schemeClr val="tx1"/>
                              </a:solidFill>
                              <a:latin typeface="Cambria Math" panose="02040503050406030204" pitchFamily="18" charset="0"/>
                            </a:rPr>
                            <m:t>of</m:t>
                          </m:r>
                          <m:r>
                            <a:rPr lang="en-US" altLang="en-US" sz="2400" b="0" i="0" smtClean="0">
                              <a:solidFill>
                                <a:schemeClr val="tx1"/>
                              </a:solidFill>
                              <a:latin typeface="Cambria Math" panose="02040503050406030204" pitchFamily="18" charset="0"/>
                            </a:rPr>
                            <m:t> </m:t>
                          </m:r>
                          <m:r>
                            <a:rPr lang="en-US" altLang="en-US" sz="2400" b="1" i="1" smtClean="0">
                              <a:solidFill>
                                <a:srgbClr val="0066CC"/>
                              </a:solidFill>
                              <a:latin typeface="Cambria Math" panose="02040503050406030204" pitchFamily="18" charset="0"/>
                            </a:rPr>
                            <m:t>𝑨</m:t>
                          </m:r>
                        </m:sub>
                        <m:sup/>
                        <m:e>
                          <m:r>
                            <a:rPr lang="en-US" altLang="en-US" sz="2400" b="1" i="1" smtClean="0">
                              <a:solidFill>
                                <a:srgbClr val="0066CC"/>
                              </a:solidFill>
                              <a:latin typeface="Cambria Math" panose="02040503050406030204" pitchFamily="18" charset="0"/>
                            </a:rPr>
                            <m:t>𝒄</m:t>
                          </m:r>
                          <m:r>
                            <a:rPr lang="en-US" altLang="en-US" sz="2400" b="1" i="1" smtClean="0">
                              <a:solidFill>
                                <a:srgbClr val="0066CC"/>
                              </a:solidFill>
                              <a:latin typeface="Cambria Math" panose="02040503050406030204" pitchFamily="18" charset="0"/>
                            </a:rPr>
                            <m:t>(</m:t>
                          </m:r>
                          <m:r>
                            <a:rPr lang="en-US" altLang="en-US" sz="2400" b="1" i="1" smtClean="0">
                              <a:solidFill>
                                <a:srgbClr val="0066CC"/>
                              </a:solidFill>
                              <a:latin typeface="Cambria Math" panose="02040503050406030204" pitchFamily="18" charset="0"/>
                            </a:rPr>
                            <m:t>𝒆</m:t>
                          </m:r>
                          <m:r>
                            <a:rPr lang="en-US" altLang="en-US" sz="2400" b="1" i="1" smtClean="0">
                              <a:solidFill>
                                <a:srgbClr val="0066CC"/>
                              </a:solidFill>
                              <a:latin typeface="Cambria Math" panose="02040503050406030204" pitchFamily="18" charset="0"/>
                            </a:rPr>
                            <m:t>)</m:t>
                          </m:r>
                        </m:e>
                      </m:nary>
                    </m:oMath>
                  </m:oMathPara>
                </a14:m>
                <a:endParaRPr lang="en-US" altLang="en-US" sz="2400" b="1" dirty="0"/>
              </a:p>
            </p:txBody>
          </p:sp>
        </mc:Choice>
        <mc:Fallback xmlns="">
          <p:sp>
            <p:nvSpPr>
              <p:cNvPr id="710658" name="Rectangle 2">
                <a:extLst>
                  <a:ext uri="{FF2B5EF4-FFF2-40B4-BE49-F238E27FC236}">
                    <a16:creationId xmlns:a16="http://schemas.microsoft.com/office/drawing/2014/main" id="{CB091DDF-2BE4-491C-910B-E6A98B6859F5}"/>
                  </a:ext>
                </a:extLst>
              </p:cNvPr>
              <p:cNvSpPr>
                <a:spLocks noGrp="1" noRot="1" noChangeAspect="1" noMove="1" noResize="1" noEditPoints="1" noAdjustHandles="1" noChangeArrowheads="1" noChangeShapeType="1" noTextEdit="1"/>
              </p:cNvSpPr>
              <p:nvPr>
                <p:ph type="body" idx="1"/>
              </p:nvPr>
            </p:nvSpPr>
            <p:spPr>
              <a:xfrm>
                <a:off x="628650" y="1311703"/>
                <a:ext cx="10811510" cy="5200045"/>
              </a:xfrm>
              <a:blipFill>
                <a:blip r:embed="rId3"/>
                <a:stretch>
                  <a:fillRect l="-846" t="-199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27A14874-B9D8-491D-99F1-37DB25725666}"/>
                  </a:ext>
                </a:extLst>
              </p:cNvPr>
              <p:cNvSpPr txBox="1"/>
              <p:nvPr/>
            </p:nvSpPr>
            <p:spPr>
              <a:xfrm>
                <a:off x="4413754" y="5216995"/>
                <a:ext cx="457176"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1" i="1" dirty="0" smtClean="0">
                          <a:solidFill>
                            <a:srgbClr val="0066CC"/>
                          </a:solidFill>
                          <a:latin typeface="Cambria Math" panose="02040503050406030204" pitchFamily="18" charset="0"/>
                        </a:rPr>
                        <m:t>𝑨</m:t>
                      </m:r>
                    </m:oMath>
                  </m:oMathPara>
                </a14:m>
                <a:endParaRPr lang="en-US" sz="2400" b="1" dirty="0">
                  <a:solidFill>
                    <a:srgbClr val="0066CC"/>
                  </a:solidFill>
                </a:endParaRPr>
              </a:p>
            </p:txBody>
          </p:sp>
        </mc:Choice>
        <mc:Fallback xmlns="">
          <p:sp>
            <p:nvSpPr>
              <p:cNvPr id="4" name="TextBox 3">
                <a:extLst>
                  <a:ext uri="{FF2B5EF4-FFF2-40B4-BE49-F238E27FC236}">
                    <a16:creationId xmlns:a16="http://schemas.microsoft.com/office/drawing/2014/main" id="{27A14874-B9D8-491D-99F1-37DB25725666}"/>
                  </a:ext>
                </a:extLst>
              </p:cNvPr>
              <p:cNvSpPr txBox="1">
                <a:spLocks noRot="1" noChangeAspect="1" noMove="1" noResize="1" noEditPoints="1" noAdjustHandles="1" noChangeArrowheads="1" noChangeShapeType="1" noTextEdit="1"/>
              </p:cNvSpPr>
              <p:nvPr/>
            </p:nvSpPr>
            <p:spPr>
              <a:xfrm>
                <a:off x="4413754" y="5216995"/>
                <a:ext cx="457176" cy="461665"/>
              </a:xfrm>
              <a:prstGeom prst="rect">
                <a:avLst/>
              </a:prstGeom>
              <a:blipFill>
                <a:blip r:embed="rId4"/>
                <a:stretch>
                  <a:fillRect/>
                </a:stretch>
              </a:blipFill>
            </p:spPr>
            <p:txBody>
              <a:bodyPr/>
              <a:lstStyle/>
              <a:p>
                <a:r>
                  <a:rPr lang="en-US">
                    <a:noFill/>
                  </a:rPr>
                  <a:t> </a:t>
                </a:r>
              </a:p>
            </p:txBody>
          </p:sp>
        </mc:Fallback>
      </mc:AlternateContent>
      <p:sp>
        <p:nvSpPr>
          <p:cNvPr id="46" name="Slide Number Placeholder 3">
            <a:extLst>
              <a:ext uri="{FF2B5EF4-FFF2-40B4-BE49-F238E27FC236}">
                <a16:creationId xmlns:a16="http://schemas.microsoft.com/office/drawing/2014/main" id="{8682F2DF-919C-413D-9B59-A40AF3ACD726}"/>
              </a:ext>
            </a:extLst>
          </p:cNvPr>
          <p:cNvSpPr>
            <a:spLocks noGrp="1"/>
          </p:cNvSpPr>
          <p:nvPr>
            <p:ph type="sldNum" sz="quarter" idx="10"/>
          </p:nvPr>
        </p:nvSpPr>
        <p:spPr/>
        <p:txBody>
          <a:bodyPr/>
          <a:lstStyle/>
          <a:p>
            <a:fld id="{E962C5CE-5F29-4369-A268-DF953E3BBA7B}" type="slidenum">
              <a:rPr lang="en-US" altLang="en-US"/>
              <a:pPr/>
              <a:t>9</a:t>
            </a:fld>
            <a:endParaRPr lang="en-US" altLang="en-US" sz="1400"/>
          </a:p>
        </p:txBody>
      </p:sp>
      <p:sp>
        <p:nvSpPr>
          <p:cNvPr id="710659" name="Rectangle 3">
            <a:extLst>
              <a:ext uri="{FF2B5EF4-FFF2-40B4-BE49-F238E27FC236}">
                <a16:creationId xmlns:a16="http://schemas.microsoft.com/office/drawing/2014/main" id="{5F4FD653-3E81-4970-A885-9A04BFB66492}"/>
              </a:ext>
            </a:extLst>
          </p:cNvPr>
          <p:cNvSpPr>
            <a:spLocks noGrp="1" noChangeArrowheads="1"/>
          </p:cNvSpPr>
          <p:nvPr>
            <p:ph type="title"/>
          </p:nvPr>
        </p:nvSpPr>
        <p:spPr/>
        <p:txBody>
          <a:bodyPr/>
          <a:lstStyle/>
          <a:p>
            <a:r>
              <a:rPr lang="en-US" altLang="en-US" dirty="0"/>
              <a:t>Cuts</a:t>
            </a:r>
          </a:p>
        </p:txBody>
      </p:sp>
      <p:grpSp>
        <p:nvGrpSpPr>
          <p:cNvPr id="28" name="Group 27">
            <a:extLst>
              <a:ext uri="{FF2B5EF4-FFF2-40B4-BE49-F238E27FC236}">
                <a16:creationId xmlns:a16="http://schemas.microsoft.com/office/drawing/2014/main" id="{2F886C7A-5F8C-4D5A-B1FC-3D24401D8DE7}"/>
              </a:ext>
            </a:extLst>
          </p:cNvPr>
          <p:cNvGrpSpPr/>
          <p:nvPr/>
        </p:nvGrpSpPr>
        <p:grpSpPr>
          <a:xfrm>
            <a:off x="3639351" y="3283865"/>
            <a:ext cx="7923999" cy="3137327"/>
            <a:chOff x="3639351" y="2923138"/>
            <a:chExt cx="7923999" cy="3137327"/>
          </a:xfrm>
        </p:grpSpPr>
        <p:cxnSp>
          <p:nvCxnSpPr>
            <p:cNvPr id="51" name="AutoShape 68">
              <a:extLst>
                <a:ext uri="{FF2B5EF4-FFF2-40B4-BE49-F238E27FC236}">
                  <a16:creationId xmlns:a16="http://schemas.microsoft.com/office/drawing/2014/main" id="{CAB3C207-5366-428C-872E-7F5DDD5A8A0A}"/>
                </a:ext>
              </a:extLst>
            </p:cNvPr>
            <p:cNvCxnSpPr>
              <a:cxnSpLocks noChangeShapeType="1"/>
              <a:stCxn id="710721" idx="1"/>
              <a:endCxn id="710708" idx="5"/>
            </p:cNvCxnSpPr>
            <p:nvPr/>
          </p:nvCxnSpPr>
          <p:spPr bwMode="auto">
            <a:xfrm flipH="1" flipV="1">
              <a:off x="6575184" y="4634480"/>
              <a:ext cx="2273571" cy="112970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06" name="Oval 50">
              <a:extLst>
                <a:ext uri="{FF2B5EF4-FFF2-40B4-BE49-F238E27FC236}">
                  <a16:creationId xmlns:a16="http://schemas.microsoft.com/office/drawing/2014/main" id="{5EDB66B3-A335-46A8-B0A4-E18E80459647}"/>
                </a:ext>
              </a:extLst>
            </p:cNvPr>
            <p:cNvSpPr>
              <a:spLocks noChangeAspect="1" noChangeArrowheads="1"/>
            </p:cNvSpPr>
            <p:nvPr/>
          </p:nvSpPr>
          <p:spPr bwMode="auto">
            <a:xfrm>
              <a:off x="4395659"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solidFill>
                    <a:srgbClr val="C00000"/>
                  </a:solidFill>
                </a:rPr>
                <a:t>s</a:t>
              </a:r>
            </a:p>
          </p:txBody>
        </p:sp>
        <p:sp>
          <p:nvSpPr>
            <p:cNvPr id="710707" name="Oval 51">
              <a:extLst>
                <a:ext uri="{FF2B5EF4-FFF2-40B4-BE49-F238E27FC236}">
                  <a16:creationId xmlns:a16="http://schemas.microsoft.com/office/drawing/2014/main" id="{C791F0FD-59F6-4EAA-9A7F-5FEB226AA91C}"/>
                </a:ext>
              </a:extLst>
            </p:cNvPr>
            <p:cNvSpPr>
              <a:spLocks noChangeAspect="1" noChangeArrowheads="1"/>
            </p:cNvSpPr>
            <p:nvPr/>
          </p:nvSpPr>
          <p:spPr bwMode="auto">
            <a:xfrm>
              <a:off x="6278899" y="2923138"/>
              <a:ext cx="347119" cy="35151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a</a:t>
              </a:r>
            </a:p>
          </p:txBody>
        </p:sp>
        <p:sp>
          <p:nvSpPr>
            <p:cNvPr id="710708" name="Oval 52">
              <a:extLst>
                <a:ext uri="{FF2B5EF4-FFF2-40B4-BE49-F238E27FC236}">
                  <a16:creationId xmlns:a16="http://schemas.microsoft.com/office/drawing/2014/main" id="{7433E6CD-DBA9-4397-BB73-2328DC47DBFF}"/>
                </a:ext>
              </a:extLst>
            </p:cNvPr>
            <p:cNvSpPr>
              <a:spLocks noChangeAspect="1" noChangeArrowheads="1"/>
            </p:cNvSpPr>
            <p:nvPr/>
          </p:nvSpPr>
          <p:spPr bwMode="auto">
            <a:xfrm>
              <a:off x="6278899"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b</a:t>
              </a:r>
            </a:p>
          </p:txBody>
        </p:sp>
        <p:sp>
          <p:nvSpPr>
            <p:cNvPr id="710709" name="Oval 53">
              <a:extLst>
                <a:ext uri="{FF2B5EF4-FFF2-40B4-BE49-F238E27FC236}">
                  <a16:creationId xmlns:a16="http://schemas.microsoft.com/office/drawing/2014/main" id="{DB0B1551-4016-4996-9CB3-8D6736D27F5C}"/>
                </a:ext>
              </a:extLst>
            </p:cNvPr>
            <p:cNvSpPr>
              <a:spLocks noChangeAspect="1" noChangeArrowheads="1"/>
            </p:cNvSpPr>
            <p:nvPr/>
          </p:nvSpPr>
          <p:spPr bwMode="auto">
            <a:xfrm>
              <a:off x="6278899" y="5713346"/>
              <a:ext cx="347119" cy="347119"/>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c</a:t>
              </a:r>
            </a:p>
          </p:txBody>
        </p:sp>
        <p:cxnSp>
          <p:nvCxnSpPr>
            <p:cNvPr id="710710" name="AutoShape 54">
              <a:extLst>
                <a:ext uri="{FF2B5EF4-FFF2-40B4-BE49-F238E27FC236}">
                  <a16:creationId xmlns:a16="http://schemas.microsoft.com/office/drawing/2014/main" id="{3963BDDA-EEB2-4C16-A1BE-D107140B66AB}"/>
                </a:ext>
              </a:extLst>
            </p:cNvPr>
            <p:cNvCxnSpPr>
              <a:cxnSpLocks noChangeShapeType="1"/>
              <a:stCxn id="710706" idx="7"/>
              <a:endCxn id="710707" idx="3"/>
            </p:cNvCxnSpPr>
            <p:nvPr/>
          </p:nvCxnSpPr>
          <p:spPr bwMode="auto">
            <a:xfrm flipV="1">
              <a:off x="4691944" y="3223173"/>
              <a:ext cx="1637789" cy="1164304"/>
            </a:xfrm>
            <a:prstGeom prst="straightConnector1">
              <a:avLst/>
            </a:prstGeom>
            <a:noFill/>
            <a:ln w="38100">
              <a:solidFill>
                <a:srgbClr val="0066CC"/>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1" name="AutoShape 55">
              <a:extLst>
                <a:ext uri="{FF2B5EF4-FFF2-40B4-BE49-F238E27FC236}">
                  <a16:creationId xmlns:a16="http://schemas.microsoft.com/office/drawing/2014/main" id="{500797BD-7630-4137-AC5D-99C13711BAB5}"/>
                </a:ext>
              </a:extLst>
            </p:cNvPr>
            <p:cNvCxnSpPr>
              <a:cxnSpLocks noChangeShapeType="1"/>
              <a:stCxn id="710706" idx="6"/>
              <a:endCxn id="710708" idx="2"/>
            </p:cNvCxnSpPr>
            <p:nvPr/>
          </p:nvCxnSpPr>
          <p:spPr bwMode="auto">
            <a:xfrm>
              <a:off x="4742778" y="4510979"/>
              <a:ext cx="1536121" cy="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2" name="AutoShape 56">
              <a:extLst>
                <a:ext uri="{FF2B5EF4-FFF2-40B4-BE49-F238E27FC236}">
                  <a16:creationId xmlns:a16="http://schemas.microsoft.com/office/drawing/2014/main" id="{04F6A8EE-5010-42E5-9B2F-E956649EB9DD}"/>
                </a:ext>
              </a:extLst>
            </p:cNvPr>
            <p:cNvCxnSpPr>
              <a:cxnSpLocks noChangeShapeType="1"/>
              <a:stCxn id="710706" idx="5"/>
              <a:endCxn id="710709" idx="1"/>
            </p:cNvCxnSpPr>
            <p:nvPr/>
          </p:nvCxnSpPr>
          <p:spPr bwMode="auto">
            <a:xfrm>
              <a:off x="4691944" y="4634480"/>
              <a:ext cx="1637789" cy="112970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3" name="AutoShape 57">
              <a:extLst>
                <a:ext uri="{FF2B5EF4-FFF2-40B4-BE49-F238E27FC236}">
                  <a16:creationId xmlns:a16="http://schemas.microsoft.com/office/drawing/2014/main" id="{CB5CA9F1-C5CC-4E55-8567-407127EDD6FD}"/>
                </a:ext>
              </a:extLst>
            </p:cNvPr>
            <p:cNvCxnSpPr>
              <a:cxnSpLocks noChangeShapeType="1"/>
              <a:stCxn id="710708" idx="6"/>
              <a:endCxn id="710720" idx="2"/>
            </p:cNvCxnSpPr>
            <p:nvPr/>
          </p:nvCxnSpPr>
          <p:spPr bwMode="auto">
            <a:xfrm>
              <a:off x="6626018" y="4510979"/>
              <a:ext cx="2171903" cy="0"/>
            </a:xfrm>
            <a:prstGeom prst="straightConnector1">
              <a:avLst/>
            </a:prstGeom>
            <a:noFill/>
            <a:ln w="38100">
              <a:solidFill>
                <a:srgbClr val="0066CC"/>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5" name="AutoShape 59">
              <a:extLst>
                <a:ext uri="{FF2B5EF4-FFF2-40B4-BE49-F238E27FC236}">
                  <a16:creationId xmlns:a16="http://schemas.microsoft.com/office/drawing/2014/main" id="{FF578E0C-BCE9-4BDC-BE4D-1C3233FE9069}"/>
                </a:ext>
              </a:extLst>
            </p:cNvPr>
            <p:cNvCxnSpPr>
              <a:cxnSpLocks noChangeShapeType="1"/>
              <a:stCxn id="710708" idx="4"/>
              <a:endCxn id="710709" idx="0"/>
            </p:cNvCxnSpPr>
            <p:nvPr/>
          </p:nvCxnSpPr>
          <p:spPr bwMode="auto">
            <a:xfrm>
              <a:off x="6452459" y="4685636"/>
              <a:ext cx="0" cy="102771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6" name="AutoShape 60">
              <a:extLst>
                <a:ext uri="{FF2B5EF4-FFF2-40B4-BE49-F238E27FC236}">
                  <a16:creationId xmlns:a16="http://schemas.microsoft.com/office/drawing/2014/main" id="{5D951401-EF5F-40F8-8FF8-28BC78F6A7BA}"/>
                </a:ext>
              </a:extLst>
            </p:cNvPr>
            <p:cNvCxnSpPr>
              <a:cxnSpLocks noChangeShapeType="1"/>
              <a:stCxn id="710707" idx="6"/>
              <a:endCxn id="710719" idx="2"/>
            </p:cNvCxnSpPr>
            <p:nvPr/>
          </p:nvCxnSpPr>
          <p:spPr bwMode="auto">
            <a:xfrm>
              <a:off x="6626018" y="3098894"/>
              <a:ext cx="2171903" cy="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7" name="AutoShape 61">
              <a:extLst>
                <a:ext uri="{FF2B5EF4-FFF2-40B4-BE49-F238E27FC236}">
                  <a16:creationId xmlns:a16="http://schemas.microsoft.com/office/drawing/2014/main" id="{A929A23E-9723-40FB-8B80-4463475544AE}"/>
                </a:ext>
              </a:extLst>
            </p:cNvPr>
            <p:cNvCxnSpPr>
              <a:cxnSpLocks noChangeShapeType="1"/>
              <a:stCxn id="710709" idx="6"/>
              <a:endCxn id="710721" idx="2"/>
            </p:cNvCxnSpPr>
            <p:nvPr/>
          </p:nvCxnSpPr>
          <p:spPr bwMode="auto">
            <a:xfrm>
              <a:off x="6626018" y="5886906"/>
              <a:ext cx="2171903" cy="0"/>
            </a:xfrm>
            <a:prstGeom prst="straightConnector1">
              <a:avLst/>
            </a:prstGeom>
            <a:noFill/>
            <a:ln w="38100">
              <a:solidFill>
                <a:srgbClr val="0066CC"/>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8" name="AutoShape 62">
              <a:extLst>
                <a:ext uri="{FF2B5EF4-FFF2-40B4-BE49-F238E27FC236}">
                  <a16:creationId xmlns:a16="http://schemas.microsoft.com/office/drawing/2014/main" id="{56B2200F-0095-48E8-A6B5-E08D3FED1F4F}"/>
                </a:ext>
              </a:extLst>
            </p:cNvPr>
            <p:cNvCxnSpPr>
              <a:cxnSpLocks noChangeShapeType="1"/>
              <a:stCxn id="710707" idx="4"/>
              <a:endCxn id="710708" idx="0"/>
            </p:cNvCxnSpPr>
            <p:nvPr/>
          </p:nvCxnSpPr>
          <p:spPr bwMode="auto">
            <a:xfrm>
              <a:off x="6452459" y="3274651"/>
              <a:ext cx="0" cy="106167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19" name="Oval 63">
              <a:extLst>
                <a:ext uri="{FF2B5EF4-FFF2-40B4-BE49-F238E27FC236}">
                  <a16:creationId xmlns:a16="http://schemas.microsoft.com/office/drawing/2014/main" id="{6D6CA7B8-81FA-4ECF-9EC2-0188554C97F8}"/>
                </a:ext>
              </a:extLst>
            </p:cNvPr>
            <p:cNvSpPr>
              <a:spLocks noChangeAspect="1" noChangeArrowheads="1"/>
            </p:cNvSpPr>
            <p:nvPr/>
          </p:nvSpPr>
          <p:spPr bwMode="auto">
            <a:xfrm>
              <a:off x="8797921" y="2923138"/>
              <a:ext cx="347119" cy="35151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d</a:t>
              </a:r>
            </a:p>
          </p:txBody>
        </p:sp>
        <p:sp>
          <p:nvSpPr>
            <p:cNvPr id="710720" name="Oval 64">
              <a:extLst>
                <a:ext uri="{FF2B5EF4-FFF2-40B4-BE49-F238E27FC236}">
                  <a16:creationId xmlns:a16="http://schemas.microsoft.com/office/drawing/2014/main" id="{5FADFF93-67BC-4F3C-BA9D-F45E800F686D}"/>
                </a:ext>
              </a:extLst>
            </p:cNvPr>
            <p:cNvSpPr>
              <a:spLocks noChangeAspect="1" noChangeArrowheads="1"/>
            </p:cNvSpPr>
            <p:nvPr/>
          </p:nvSpPr>
          <p:spPr bwMode="auto">
            <a:xfrm>
              <a:off x="8797921"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e</a:t>
              </a:r>
            </a:p>
          </p:txBody>
        </p:sp>
        <p:sp>
          <p:nvSpPr>
            <p:cNvPr id="710721" name="Oval 65">
              <a:extLst>
                <a:ext uri="{FF2B5EF4-FFF2-40B4-BE49-F238E27FC236}">
                  <a16:creationId xmlns:a16="http://schemas.microsoft.com/office/drawing/2014/main" id="{5FF356EB-F06B-477C-AA8F-9ACC5EDE5A9F}"/>
                </a:ext>
              </a:extLst>
            </p:cNvPr>
            <p:cNvSpPr>
              <a:spLocks noChangeAspect="1" noChangeArrowheads="1"/>
            </p:cNvSpPr>
            <p:nvPr/>
          </p:nvSpPr>
          <p:spPr bwMode="auto">
            <a:xfrm>
              <a:off x="8797921" y="5713346"/>
              <a:ext cx="347119" cy="347119"/>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f</a:t>
              </a:r>
            </a:p>
          </p:txBody>
        </p:sp>
        <p:cxnSp>
          <p:nvCxnSpPr>
            <p:cNvPr id="710722" name="AutoShape 66">
              <a:extLst>
                <a:ext uri="{FF2B5EF4-FFF2-40B4-BE49-F238E27FC236}">
                  <a16:creationId xmlns:a16="http://schemas.microsoft.com/office/drawing/2014/main" id="{6CAC5FAF-7C24-4B59-9E5B-970C57F85D75}"/>
                </a:ext>
              </a:extLst>
            </p:cNvPr>
            <p:cNvCxnSpPr>
              <a:cxnSpLocks noChangeShapeType="1"/>
              <a:stCxn id="710720" idx="4"/>
              <a:endCxn id="710721" idx="0"/>
            </p:cNvCxnSpPr>
            <p:nvPr/>
          </p:nvCxnSpPr>
          <p:spPr bwMode="auto">
            <a:xfrm>
              <a:off x="8971480" y="4685636"/>
              <a:ext cx="0" cy="102771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3" name="AutoShape 67">
              <a:extLst>
                <a:ext uri="{FF2B5EF4-FFF2-40B4-BE49-F238E27FC236}">
                  <a16:creationId xmlns:a16="http://schemas.microsoft.com/office/drawing/2014/main" id="{02A1F7FD-3A69-496D-A0C6-9E0B7498F083}"/>
                </a:ext>
              </a:extLst>
            </p:cNvPr>
            <p:cNvCxnSpPr>
              <a:cxnSpLocks noChangeShapeType="1"/>
              <a:stCxn id="710719" idx="4"/>
              <a:endCxn id="710720" idx="0"/>
            </p:cNvCxnSpPr>
            <p:nvPr/>
          </p:nvCxnSpPr>
          <p:spPr bwMode="auto">
            <a:xfrm>
              <a:off x="8971480" y="3274651"/>
              <a:ext cx="0" cy="106167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4" name="AutoShape 68">
              <a:extLst>
                <a:ext uri="{FF2B5EF4-FFF2-40B4-BE49-F238E27FC236}">
                  <a16:creationId xmlns:a16="http://schemas.microsoft.com/office/drawing/2014/main" id="{A59DDDAD-046C-41D6-AD72-EFD283E2916C}"/>
                </a:ext>
              </a:extLst>
            </p:cNvPr>
            <p:cNvCxnSpPr>
              <a:cxnSpLocks noChangeShapeType="1"/>
              <a:stCxn id="710707" idx="5"/>
              <a:endCxn id="710720" idx="1"/>
            </p:cNvCxnSpPr>
            <p:nvPr/>
          </p:nvCxnSpPr>
          <p:spPr bwMode="auto">
            <a:xfrm>
              <a:off x="6575184" y="3223173"/>
              <a:ext cx="2273571" cy="1164304"/>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25" name="Oval 69">
              <a:extLst>
                <a:ext uri="{FF2B5EF4-FFF2-40B4-BE49-F238E27FC236}">
                  <a16:creationId xmlns:a16="http://schemas.microsoft.com/office/drawing/2014/main" id="{5DBB04F5-4A14-4512-B3D9-38E24230652F}"/>
                </a:ext>
              </a:extLst>
            </p:cNvPr>
            <p:cNvSpPr>
              <a:spLocks noChangeAspect="1" noChangeArrowheads="1"/>
            </p:cNvSpPr>
            <p:nvPr/>
          </p:nvSpPr>
          <p:spPr bwMode="auto">
            <a:xfrm>
              <a:off x="10648016"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solidFill>
                    <a:srgbClr val="C00000"/>
                  </a:solidFill>
                </a:rPr>
                <a:t>t</a:t>
              </a:r>
            </a:p>
          </p:txBody>
        </p:sp>
        <p:cxnSp>
          <p:nvCxnSpPr>
            <p:cNvPr id="710726" name="AutoShape 70">
              <a:extLst>
                <a:ext uri="{FF2B5EF4-FFF2-40B4-BE49-F238E27FC236}">
                  <a16:creationId xmlns:a16="http://schemas.microsoft.com/office/drawing/2014/main" id="{D1F58022-A270-4460-9379-D0A7FAF1B20E}"/>
                </a:ext>
              </a:extLst>
            </p:cNvPr>
            <p:cNvCxnSpPr>
              <a:cxnSpLocks noChangeShapeType="1"/>
              <a:stCxn id="710719" idx="6"/>
              <a:endCxn id="710725" idx="1"/>
            </p:cNvCxnSpPr>
            <p:nvPr/>
          </p:nvCxnSpPr>
          <p:spPr bwMode="auto">
            <a:xfrm>
              <a:off x="9145040" y="3098894"/>
              <a:ext cx="1553810" cy="1288583"/>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7" name="AutoShape 71">
              <a:extLst>
                <a:ext uri="{FF2B5EF4-FFF2-40B4-BE49-F238E27FC236}">
                  <a16:creationId xmlns:a16="http://schemas.microsoft.com/office/drawing/2014/main" id="{8009E4A0-472B-406A-AFD6-0553FE5CC77C}"/>
                </a:ext>
              </a:extLst>
            </p:cNvPr>
            <p:cNvCxnSpPr>
              <a:cxnSpLocks noChangeShapeType="1"/>
              <a:stCxn id="710720" idx="6"/>
              <a:endCxn id="710725" idx="2"/>
            </p:cNvCxnSpPr>
            <p:nvPr/>
          </p:nvCxnSpPr>
          <p:spPr bwMode="auto">
            <a:xfrm>
              <a:off x="9145040" y="4510979"/>
              <a:ext cx="1502976" cy="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8" name="AutoShape 72">
              <a:extLst>
                <a:ext uri="{FF2B5EF4-FFF2-40B4-BE49-F238E27FC236}">
                  <a16:creationId xmlns:a16="http://schemas.microsoft.com/office/drawing/2014/main" id="{E5CB0D21-BAA0-4835-A49D-49FE212797CB}"/>
                </a:ext>
              </a:extLst>
            </p:cNvPr>
            <p:cNvCxnSpPr>
              <a:cxnSpLocks noChangeShapeType="1"/>
              <a:stCxn id="710721" idx="7"/>
              <a:endCxn id="710725" idx="4"/>
            </p:cNvCxnSpPr>
            <p:nvPr/>
          </p:nvCxnSpPr>
          <p:spPr bwMode="auto">
            <a:xfrm flipV="1">
              <a:off x="9094206" y="4685636"/>
              <a:ext cx="1727370" cy="1078544"/>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29" name="Text Box 73">
              <a:extLst>
                <a:ext uri="{FF2B5EF4-FFF2-40B4-BE49-F238E27FC236}">
                  <a16:creationId xmlns:a16="http://schemas.microsoft.com/office/drawing/2014/main" id="{AAAB09A9-EC8D-4414-8817-65353064DC87}"/>
                </a:ext>
              </a:extLst>
            </p:cNvPr>
            <p:cNvSpPr txBox="1">
              <a:spLocks noChangeArrowheads="1"/>
            </p:cNvSpPr>
            <p:nvPr/>
          </p:nvSpPr>
          <p:spPr bwMode="auto">
            <a:xfrm>
              <a:off x="5420920" y="5112122"/>
              <a:ext cx="403767" cy="307777"/>
            </a:xfrm>
            <a:prstGeom prst="rect">
              <a:avLst/>
            </a:prstGeom>
            <a:solidFill>
              <a:schemeClr val="accent1">
                <a:lumMod val="20000"/>
                <a:lumOff val="8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15</a:t>
              </a:r>
            </a:p>
          </p:txBody>
        </p:sp>
        <p:sp>
          <p:nvSpPr>
            <p:cNvPr id="710730" name="Text Box 74">
              <a:extLst>
                <a:ext uri="{FF2B5EF4-FFF2-40B4-BE49-F238E27FC236}">
                  <a16:creationId xmlns:a16="http://schemas.microsoft.com/office/drawing/2014/main" id="{876DCB81-C2CB-43B6-8640-CF55C1427FEF}"/>
                </a:ext>
              </a:extLst>
            </p:cNvPr>
            <p:cNvSpPr txBox="1">
              <a:spLocks noChangeArrowheads="1"/>
            </p:cNvSpPr>
            <p:nvPr/>
          </p:nvSpPr>
          <p:spPr bwMode="auto">
            <a:xfrm>
              <a:off x="5458550" y="4352895"/>
              <a:ext cx="335970" cy="307777"/>
            </a:xfrm>
            <a:prstGeom prst="rect">
              <a:avLst/>
            </a:prstGeom>
            <a:solidFill>
              <a:schemeClr val="accent1">
                <a:lumMod val="20000"/>
                <a:lumOff val="8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1600" dirty="0">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5</a:t>
              </a:r>
              <a:endParaRPr lang="en-US" altLang="en-US" sz="1600" dirty="0">
                <a:latin typeface="Arial" panose="020B0604020202020204" pitchFamily="34" charset="0"/>
                <a:cs typeface="Arial" panose="020B0604020202020204" pitchFamily="34" charset="0"/>
              </a:endParaRPr>
            </a:p>
          </p:txBody>
        </p:sp>
        <p:sp>
          <p:nvSpPr>
            <p:cNvPr id="710731" name="Text Box 75">
              <a:extLst>
                <a:ext uri="{FF2B5EF4-FFF2-40B4-BE49-F238E27FC236}">
                  <a16:creationId xmlns:a16="http://schemas.microsoft.com/office/drawing/2014/main" id="{987DF8DB-99E2-4C14-B47B-F33F6E8164DE}"/>
                </a:ext>
              </a:extLst>
            </p:cNvPr>
            <p:cNvSpPr txBox="1">
              <a:spLocks noChangeArrowheads="1"/>
            </p:cNvSpPr>
            <p:nvPr/>
          </p:nvSpPr>
          <p:spPr bwMode="auto">
            <a:xfrm>
              <a:off x="7425727" y="5717866"/>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solidFill>
                    <a:srgbClr val="0066CC"/>
                  </a:solidFill>
                  <a:latin typeface="Arial" panose="020B0604020202020204" pitchFamily="34" charset="0"/>
                  <a:cs typeface="Arial" panose="020B0604020202020204" pitchFamily="34" charset="0"/>
                </a:rPr>
                <a:t> 30</a:t>
              </a:r>
            </a:p>
          </p:txBody>
        </p:sp>
        <p:sp>
          <p:nvSpPr>
            <p:cNvPr id="710732" name="Text Box 76">
              <a:extLst>
                <a:ext uri="{FF2B5EF4-FFF2-40B4-BE49-F238E27FC236}">
                  <a16:creationId xmlns:a16="http://schemas.microsoft.com/office/drawing/2014/main" id="{9B3B7885-AA6D-45BF-BF0E-9859076B1F0F}"/>
                </a:ext>
              </a:extLst>
            </p:cNvPr>
            <p:cNvSpPr txBox="1">
              <a:spLocks noChangeArrowheads="1"/>
            </p:cNvSpPr>
            <p:nvPr/>
          </p:nvSpPr>
          <p:spPr bwMode="auto">
            <a:xfrm>
              <a:off x="8780984" y="4973703"/>
              <a:ext cx="402261"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15</a:t>
              </a:r>
            </a:p>
          </p:txBody>
        </p:sp>
        <p:sp>
          <p:nvSpPr>
            <p:cNvPr id="710733" name="Text Box 77">
              <a:extLst>
                <a:ext uri="{FF2B5EF4-FFF2-40B4-BE49-F238E27FC236}">
                  <a16:creationId xmlns:a16="http://schemas.microsoft.com/office/drawing/2014/main" id="{B8E7733D-771B-4363-B990-E50FE4B44B69}"/>
                </a:ext>
              </a:extLst>
            </p:cNvPr>
            <p:cNvSpPr txBox="1">
              <a:spLocks noChangeArrowheads="1"/>
            </p:cNvSpPr>
            <p:nvPr/>
          </p:nvSpPr>
          <p:spPr bwMode="auto">
            <a:xfrm>
              <a:off x="5473942" y="3553345"/>
              <a:ext cx="405273"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solidFill>
                    <a:srgbClr val="0066CC"/>
                  </a:solidFill>
                  <a:latin typeface="Arial" panose="020B0604020202020204" pitchFamily="34" charset="0"/>
                  <a:cs typeface="Arial" panose="020B0604020202020204" pitchFamily="34" charset="0"/>
                </a:rPr>
                <a:t>10</a:t>
              </a:r>
            </a:p>
          </p:txBody>
        </p:sp>
        <p:sp>
          <p:nvSpPr>
            <p:cNvPr id="710734" name="Text Box 78">
              <a:extLst>
                <a:ext uri="{FF2B5EF4-FFF2-40B4-BE49-F238E27FC236}">
                  <a16:creationId xmlns:a16="http://schemas.microsoft.com/office/drawing/2014/main" id="{7EF45083-C70B-47F5-AFFB-7C03B08F5B21}"/>
                </a:ext>
              </a:extLst>
            </p:cNvPr>
            <p:cNvSpPr txBox="1">
              <a:spLocks noChangeArrowheads="1"/>
            </p:cNvSpPr>
            <p:nvPr/>
          </p:nvSpPr>
          <p:spPr bwMode="auto">
            <a:xfrm>
              <a:off x="7486213" y="4352895"/>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solidFill>
                    <a:srgbClr val="0066CC"/>
                  </a:solidFill>
                  <a:latin typeface="Arial" panose="020B0604020202020204" pitchFamily="34" charset="0"/>
                  <a:cs typeface="Arial" panose="020B0604020202020204" pitchFamily="34" charset="0"/>
                </a:rPr>
                <a:t>8</a:t>
              </a:r>
            </a:p>
          </p:txBody>
        </p:sp>
        <p:sp>
          <p:nvSpPr>
            <p:cNvPr id="710735" name="Text Box 79">
              <a:extLst>
                <a:ext uri="{FF2B5EF4-FFF2-40B4-BE49-F238E27FC236}">
                  <a16:creationId xmlns:a16="http://schemas.microsoft.com/office/drawing/2014/main" id="{2AF06533-A0D6-429A-B95A-970349B525E9}"/>
                </a:ext>
              </a:extLst>
            </p:cNvPr>
            <p:cNvSpPr txBox="1">
              <a:spLocks noChangeArrowheads="1"/>
            </p:cNvSpPr>
            <p:nvPr/>
          </p:nvSpPr>
          <p:spPr bwMode="auto">
            <a:xfrm>
              <a:off x="7425727" y="3622107"/>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15</a:t>
              </a:r>
            </a:p>
          </p:txBody>
        </p:sp>
        <p:sp>
          <p:nvSpPr>
            <p:cNvPr id="710736" name="Text Box 80">
              <a:extLst>
                <a:ext uri="{FF2B5EF4-FFF2-40B4-BE49-F238E27FC236}">
                  <a16:creationId xmlns:a16="http://schemas.microsoft.com/office/drawing/2014/main" id="{8E2CA782-EF26-454E-82E8-A7C0ACB122B9}"/>
                </a:ext>
              </a:extLst>
            </p:cNvPr>
            <p:cNvSpPr txBox="1">
              <a:spLocks noChangeArrowheads="1"/>
            </p:cNvSpPr>
            <p:nvPr/>
          </p:nvSpPr>
          <p:spPr bwMode="auto">
            <a:xfrm>
              <a:off x="7444248" y="2939710"/>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9</a:t>
              </a:r>
            </a:p>
          </p:txBody>
        </p:sp>
        <p:sp>
          <p:nvSpPr>
            <p:cNvPr id="710737" name="Text Box 81">
              <a:extLst>
                <a:ext uri="{FF2B5EF4-FFF2-40B4-BE49-F238E27FC236}">
                  <a16:creationId xmlns:a16="http://schemas.microsoft.com/office/drawing/2014/main" id="{5EEB67EA-FA04-42E4-9A86-1D24118DC709}"/>
                </a:ext>
              </a:extLst>
            </p:cNvPr>
            <p:cNvSpPr txBox="1">
              <a:spLocks noChangeArrowheads="1"/>
            </p:cNvSpPr>
            <p:nvPr/>
          </p:nvSpPr>
          <p:spPr bwMode="auto">
            <a:xfrm>
              <a:off x="7444248" y="5043023"/>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6</a:t>
              </a:r>
            </a:p>
          </p:txBody>
        </p:sp>
        <p:sp>
          <p:nvSpPr>
            <p:cNvPr id="710738" name="Text Box 82">
              <a:extLst>
                <a:ext uri="{FF2B5EF4-FFF2-40B4-BE49-F238E27FC236}">
                  <a16:creationId xmlns:a16="http://schemas.microsoft.com/office/drawing/2014/main" id="{205F31AB-659B-4FEC-B166-3C1CABADD2CF}"/>
                </a:ext>
              </a:extLst>
            </p:cNvPr>
            <p:cNvSpPr txBox="1">
              <a:spLocks noChangeArrowheads="1"/>
            </p:cNvSpPr>
            <p:nvPr/>
          </p:nvSpPr>
          <p:spPr bwMode="auto">
            <a:xfrm>
              <a:off x="9678052" y="5087101"/>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10</a:t>
              </a:r>
            </a:p>
          </p:txBody>
        </p:sp>
        <p:sp>
          <p:nvSpPr>
            <p:cNvPr id="710739" name="Text Box 83">
              <a:extLst>
                <a:ext uri="{FF2B5EF4-FFF2-40B4-BE49-F238E27FC236}">
                  <a16:creationId xmlns:a16="http://schemas.microsoft.com/office/drawing/2014/main" id="{8296BE71-6B6F-463B-8C0A-94F5E736B46E}"/>
                </a:ext>
              </a:extLst>
            </p:cNvPr>
            <p:cNvSpPr txBox="1">
              <a:spLocks noChangeArrowheads="1"/>
            </p:cNvSpPr>
            <p:nvPr/>
          </p:nvSpPr>
          <p:spPr bwMode="auto">
            <a:xfrm>
              <a:off x="9704822" y="4352895"/>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1600" dirty="0">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10</a:t>
              </a:r>
              <a:endParaRPr lang="en-US" altLang="en-US" sz="1600" dirty="0">
                <a:latin typeface="Arial" panose="020B0604020202020204" pitchFamily="34" charset="0"/>
                <a:cs typeface="Arial" panose="020B0604020202020204" pitchFamily="34" charset="0"/>
              </a:endParaRPr>
            </a:p>
          </p:txBody>
        </p:sp>
        <p:sp>
          <p:nvSpPr>
            <p:cNvPr id="710740" name="Text Box 84">
              <a:extLst>
                <a:ext uri="{FF2B5EF4-FFF2-40B4-BE49-F238E27FC236}">
                  <a16:creationId xmlns:a16="http://schemas.microsoft.com/office/drawing/2014/main" id="{0F354EAC-9BAF-4735-9DC8-6E0300D4C60E}"/>
                </a:ext>
              </a:extLst>
            </p:cNvPr>
            <p:cNvSpPr txBox="1">
              <a:spLocks noChangeArrowheads="1"/>
            </p:cNvSpPr>
            <p:nvPr/>
          </p:nvSpPr>
          <p:spPr bwMode="auto">
            <a:xfrm>
              <a:off x="9703383" y="3588301"/>
              <a:ext cx="402261"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10</a:t>
              </a:r>
            </a:p>
          </p:txBody>
        </p:sp>
        <p:sp>
          <p:nvSpPr>
            <p:cNvPr id="710741" name="Text Box 85">
              <a:extLst>
                <a:ext uri="{FF2B5EF4-FFF2-40B4-BE49-F238E27FC236}">
                  <a16:creationId xmlns:a16="http://schemas.microsoft.com/office/drawing/2014/main" id="{DA3836EF-7B4F-4F15-B0F6-032168C5D6FA}"/>
                </a:ext>
              </a:extLst>
            </p:cNvPr>
            <p:cNvSpPr txBox="1">
              <a:spLocks noChangeArrowheads="1"/>
            </p:cNvSpPr>
            <p:nvPr/>
          </p:nvSpPr>
          <p:spPr bwMode="auto">
            <a:xfrm>
              <a:off x="8791308" y="3595078"/>
              <a:ext cx="402261"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15</a:t>
              </a:r>
            </a:p>
          </p:txBody>
        </p:sp>
        <p:sp>
          <p:nvSpPr>
            <p:cNvPr id="710742" name="Text Box 86">
              <a:extLst>
                <a:ext uri="{FF2B5EF4-FFF2-40B4-BE49-F238E27FC236}">
                  <a16:creationId xmlns:a16="http://schemas.microsoft.com/office/drawing/2014/main" id="{90B2F1EE-6551-462E-B731-7BC0ECF13613}"/>
                </a:ext>
              </a:extLst>
            </p:cNvPr>
            <p:cNvSpPr txBox="1">
              <a:spLocks noChangeArrowheads="1"/>
            </p:cNvSpPr>
            <p:nvPr/>
          </p:nvSpPr>
          <p:spPr bwMode="auto">
            <a:xfrm>
              <a:off x="6276229" y="3653451"/>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4</a:t>
              </a:r>
            </a:p>
          </p:txBody>
        </p:sp>
        <p:sp>
          <p:nvSpPr>
            <p:cNvPr id="710743" name="Text Box 87">
              <a:extLst>
                <a:ext uri="{FF2B5EF4-FFF2-40B4-BE49-F238E27FC236}">
                  <a16:creationId xmlns:a16="http://schemas.microsoft.com/office/drawing/2014/main" id="{4ECC4A50-EA5B-4BE9-8AA2-AA53B6EA7E58}"/>
                </a:ext>
              </a:extLst>
            </p:cNvPr>
            <p:cNvSpPr txBox="1">
              <a:spLocks noChangeArrowheads="1"/>
            </p:cNvSpPr>
            <p:nvPr/>
          </p:nvSpPr>
          <p:spPr bwMode="auto">
            <a:xfrm>
              <a:off x="6268652" y="5012007"/>
              <a:ext cx="403767" cy="307777"/>
            </a:xfrm>
            <a:prstGeom prst="rect">
              <a:avLst/>
            </a:prstGeom>
            <a:solidFill>
              <a:schemeClr val="accent1">
                <a:lumMod val="20000"/>
                <a:lumOff val="8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4</a:t>
              </a:r>
            </a:p>
          </p:txBody>
        </p:sp>
        <p:sp>
          <p:nvSpPr>
            <p:cNvPr id="710749" name="Text Box 93">
              <a:extLst>
                <a:ext uri="{FF2B5EF4-FFF2-40B4-BE49-F238E27FC236}">
                  <a16:creationId xmlns:a16="http://schemas.microsoft.com/office/drawing/2014/main" id="{596B0AD8-0EEB-4465-B4A8-B2818D9B3645}"/>
                </a:ext>
              </a:extLst>
            </p:cNvPr>
            <p:cNvSpPr txBox="1">
              <a:spLocks noChangeArrowheads="1"/>
            </p:cNvSpPr>
            <p:nvPr/>
          </p:nvSpPr>
          <p:spPr bwMode="auto">
            <a:xfrm>
              <a:off x="3639351" y="4283591"/>
              <a:ext cx="709251" cy="3211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291" tIns="45646" rIns="91291" bIns="45646">
              <a:spAutoFit/>
            </a:bodyPr>
            <a:lstStyle/>
            <a:p>
              <a:pPr>
                <a:spcBef>
                  <a:spcPct val="50000"/>
                </a:spcBef>
              </a:pPr>
              <a:r>
                <a:rPr lang="en-US" altLang="en-US" sz="1600" b="1" dirty="0">
                  <a:solidFill>
                    <a:srgbClr val="C00000"/>
                  </a:solidFill>
                </a:rPr>
                <a:t>source</a:t>
              </a:r>
            </a:p>
          </p:txBody>
        </p:sp>
        <p:sp>
          <p:nvSpPr>
            <p:cNvPr id="710750" name="Text Box 94">
              <a:extLst>
                <a:ext uri="{FF2B5EF4-FFF2-40B4-BE49-F238E27FC236}">
                  <a16:creationId xmlns:a16="http://schemas.microsoft.com/office/drawing/2014/main" id="{817CFDA1-C5B7-47D0-89C0-CEC801739C87}"/>
                </a:ext>
              </a:extLst>
            </p:cNvPr>
            <p:cNvSpPr txBox="1">
              <a:spLocks noChangeArrowheads="1"/>
            </p:cNvSpPr>
            <p:nvPr/>
          </p:nvSpPr>
          <p:spPr bwMode="auto">
            <a:xfrm>
              <a:off x="11065864" y="4291069"/>
              <a:ext cx="497486" cy="3211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291" tIns="45646" rIns="91291" bIns="45646">
              <a:spAutoFit/>
            </a:bodyPr>
            <a:lstStyle/>
            <a:p>
              <a:pPr>
                <a:spcBef>
                  <a:spcPct val="50000"/>
                </a:spcBef>
              </a:pPr>
              <a:r>
                <a:rPr lang="en-US" altLang="en-US" sz="1600" b="1" dirty="0">
                  <a:solidFill>
                    <a:srgbClr val="C00000"/>
                  </a:solidFill>
                </a:rPr>
                <a:t>sink</a:t>
              </a:r>
            </a:p>
          </p:txBody>
        </p:sp>
      </p:grpSp>
      <p:sp>
        <p:nvSpPr>
          <p:cNvPr id="52" name="TextBox 51">
            <a:extLst>
              <a:ext uri="{FF2B5EF4-FFF2-40B4-BE49-F238E27FC236}">
                <a16:creationId xmlns:a16="http://schemas.microsoft.com/office/drawing/2014/main" id="{EDF5143E-D40F-4C1A-B2BF-E945B66749E6}"/>
              </a:ext>
            </a:extLst>
          </p:cNvPr>
          <p:cNvSpPr txBox="1"/>
          <p:nvPr/>
        </p:nvSpPr>
        <p:spPr>
          <a:xfrm>
            <a:off x="2165171" y="3552336"/>
            <a:ext cx="1591141" cy="461665"/>
          </a:xfrm>
          <a:prstGeom prst="rect">
            <a:avLst/>
          </a:prstGeom>
          <a:noFill/>
        </p:spPr>
        <p:txBody>
          <a:bodyPr wrap="none" rtlCol="0">
            <a:spAutoFit/>
          </a:bodyPr>
          <a:lstStyle/>
          <a:p>
            <a:r>
              <a:rPr lang="en-US" sz="2400" dirty="0"/>
              <a:t>capacity </a:t>
            </a:r>
            <a:r>
              <a:rPr lang="en-US" sz="2400" b="1" dirty="0">
                <a:solidFill>
                  <a:srgbClr val="0066CC"/>
                </a:solidFill>
              </a:rPr>
              <a:t>48</a:t>
            </a:r>
          </a:p>
        </p:txBody>
      </p:sp>
    </p:spTree>
    <p:extLst>
      <p:ext uri="{BB962C8B-B14F-4D97-AF65-F5344CB8AC3E}">
        <p14:creationId xmlns:p14="http://schemas.microsoft.com/office/powerpoint/2010/main" val="30513702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Shape 1">
            <a:extLst>
              <a:ext uri="{FF2B5EF4-FFF2-40B4-BE49-F238E27FC236}">
                <a16:creationId xmlns:a16="http://schemas.microsoft.com/office/drawing/2014/main" id="{6939E2ED-548D-40A4-83CD-DA70A3B2AE3D}"/>
              </a:ext>
            </a:extLst>
          </p:cNvPr>
          <p:cNvSpPr/>
          <p:nvPr/>
        </p:nvSpPr>
        <p:spPr bwMode="auto">
          <a:xfrm>
            <a:off x="3583600" y="4330046"/>
            <a:ext cx="6228837" cy="2227394"/>
          </a:xfrm>
          <a:custGeom>
            <a:avLst/>
            <a:gdLst>
              <a:gd name="connsiteX0" fmla="*/ 31470 w 6228837"/>
              <a:gd name="connsiteY0" fmla="*/ 469433 h 2227394"/>
              <a:gd name="connsiteX1" fmla="*/ 414242 w 6228837"/>
              <a:gd name="connsiteY1" fmla="*/ 1203079 h 2227394"/>
              <a:gd name="connsiteX2" fmla="*/ 1371172 w 6228837"/>
              <a:gd name="connsiteY2" fmla="*/ 1755972 h 2227394"/>
              <a:gd name="connsiteX3" fmla="*/ 2434428 w 6228837"/>
              <a:gd name="connsiteY3" fmla="*/ 2170642 h 2227394"/>
              <a:gd name="connsiteX4" fmla="*/ 3444521 w 6228837"/>
              <a:gd name="connsiteY4" fmla="*/ 2202540 h 2227394"/>
              <a:gd name="connsiteX5" fmla="*/ 5687991 w 6228837"/>
              <a:gd name="connsiteY5" fmla="*/ 2202540 h 2227394"/>
              <a:gd name="connsiteX6" fmla="*/ 6187721 w 6228837"/>
              <a:gd name="connsiteY6" fmla="*/ 1883563 h 2227394"/>
              <a:gd name="connsiteX7" fmla="*/ 4922447 w 6228837"/>
              <a:gd name="connsiteY7" fmla="*/ 1309405 h 2227394"/>
              <a:gd name="connsiteX8" fmla="*/ 3391358 w 6228837"/>
              <a:gd name="connsiteY8" fmla="*/ 480065 h 2227394"/>
              <a:gd name="connsiteX9" fmla="*/ 2413163 w 6228837"/>
              <a:gd name="connsiteY9" fmla="*/ 161089 h 2227394"/>
              <a:gd name="connsiteX10" fmla="*/ 1179786 w 6228837"/>
              <a:gd name="connsiteY10" fmla="*/ 12233 h 2227394"/>
              <a:gd name="connsiteX11" fmla="*/ 31470 w 6228837"/>
              <a:gd name="connsiteY11" fmla="*/ 469433 h 2227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28837" h="2227394">
                <a:moveTo>
                  <a:pt x="31470" y="469433"/>
                </a:moveTo>
                <a:cubicBezTo>
                  <a:pt x="-96121" y="667907"/>
                  <a:pt x="190958" y="988656"/>
                  <a:pt x="414242" y="1203079"/>
                </a:cubicBezTo>
                <a:cubicBezTo>
                  <a:pt x="637526" y="1417502"/>
                  <a:pt x="1034474" y="1594712"/>
                  <a:pt x="1371172" y="1755972"/>
                </a:cubicBezTo>
                <a:cubicBezTo>
                  <a:pt x="1707870" y="1917233"/>
                  <a:pt x="2088870" y="2096214"/>
                  <a:pt x="2434428" y="2170642"/>
                </a:cubicBezTo>
                <a:cubicBezTo>
                  <a:pt x="2779986" y="2245070"/>
                  <a:pt x="3444521" y="2202540"/>
                  <a:pt x="3444521" y="2202540"/>
                </a:cubicBezTo>
                <a:cubicBezTo>
                  <a:pt x="3986781" y="2207856"/>
                  <a:pt x="5230791" y="2255703"/>
                  <a:pt x="5687991" y="2202540"/>
                </a:cubicBezTo>
                <a:cubicBezTo>
                  <a:pt x="6145191" y="2149377"/>
                  <a:pt x="6315312" y="2032419"/>
                  <a:pt x="6187721" y="1883563"/>
                </a:cubicBezTo>
                <a:cubicBezTo>
                  <a:pt x="6060130" y="1734707"/>
                  <a:pt x="5388507" y="1543321"/>
                  <a:pt x="4922447" y="1309405"/>
                </a:cubicBezTo>
                <a:cubicBezTo>
                  <a:pt x="4456387" y="1075489"/>
                  <a:pt x="3809572" y="671451"/>
                  <a:pt x="3391358" y="480065"/>
                </a:cubicBezTo>
                <a:cubicBezTo>
                  <a:pt x="2973144" y="288679"/>
                  <a:pt x="2781758" y="239061"/>
                  <a:pt x="2413163" y="161089"/>
                </a:cubicBezTo>
                <a:cubicBezTo>
                  <a:pt x="2044568" y="83117"/>
                  <a:pt x="1576735" y="-39158"/>
                  <a:pt x="1179786" y="12233"/>
                </a:cubicBezTo>
                <a:cubicBezTo>
                  <a:pt x="782837" y="63624"/>
                  <a:pt x="159061" y="270959"/>
                  <a:pt x="31470" y="469433"/>
                </a:cubicBezTo>
                <a:close/>
              </a:path>
            </a:pathLst>
          </a:custGeom>
          <a:solidFill>
            <a:schemeClr val="accent1">
              <a:lumMod val="20000"/>
              <a:lumOff val="80000"/>
            </a:schemeClr>
          </a:solidFill>
          <a:ln w="38100" cap="flat" cmpd="sng">
            <a:noFill/>
            <a:prstDash val="solid"/>
            <a:round/>
            <a:headEnd type="triangle" w="med" len="med"/>
            <a:tailEnd type="none" w="med" len="med"/>
          </a:ln>
          <a:effectLst/>
        </p:spPr>
        <p:txBody>
          <a:bodyPr wrap="none" rtlCol="0" anchor="ctr">
            <a:spAutoFit/>
          </a:bodyPr>
          <a:lstStyle/>
          <a:p>
            <a:pPr algn="l"/>
            <a:endParaRPr lang="en-US" dirty="0"/>
          </a:p>
        </p:txBody>
      </p:sp>
      <mc:AlternateContent xmlns:mc="http://schemas.openxmlformats.org/markup-compatibility/2006" xmlns:a14="http://schemas.microsoft.com/office/drawing/2010/main">
        <mc:Choice Requires="a14">
          <p:sp>
            <p:nvSpPr>
              <p:cNvPr id="710658" name="Rectangle 2">
                <a:extLst>
                  <a:ext uri="{FF2B5EF4-FFF2-40B4-BE49-F238E27FC236}">
                    <a16:creationId xmlns:a16="http://schemas.microsoft.com/office/drawing/2014/main" id="{CB091DDF-2BE4-491C-910B-E6A98B6859F5}"/>
                  </a:ext>
                </a:extLst>
              </p:cNvPr>
              <p:cNvSpPr>
                <a:spLocks noGrp="1" noChangeArrowheads="1"/>
              </p:cNvSpPr>
              <p:nvPr>
                <p:ph type="body" idx="1"/>
              </p:nvPr>
            </p:nvSpPr>
            <p:spPr>
              <a:xfrm>
                <a:off x="628650" y="1412371"/>
                <a:ext cx="10811510" cy="5200045"/>
              </a:xfrm>
            </p:spPr>
            <p:txBody>
              <a:bodyPr>
                <a:normAutofit/>
              </a:bodyPr>
              <a:lstStyle/>
              <a:p>
                <a:pPr marL="0" indent="0">
                  <a:lnSpc>
                    <a:spcPct val="85000"/>
                  </a:lnSpc>
                  <a:buNone/>
                </a:pPr>
                <a:r>
                  <a:rPr lang="en-US" altLang="en-US" sz="2800" b="1" dirty="0">
                    <a:solidFill>
                      <a:srgbClr val="695082"/>
                    </a:solidFill>
                  </a:rPr>
                  <a:t>Minimum s-t cut problem:</a:t>
                </a:r>
              </a:p>
              <a:p>
                <a:pPr marL="0" indent="0">
                  <a:lnSpc>
                    <a:spcPct val="85000"/>
                  </a:lnSpc>
                  <a:buNone/>
                </a:pPr>
                <a:r>
                  <a:rPr lang="en-US" altLang="en-US" sz="2800" b="1" dirty="0">
                    <a:solidFill>
                      <a:srgbClr val="695082"/>
                    </a:solidFill>
                  </a:rPr>
                  <a:t>	</a:t>
                </a:r>
                <a:r>
                  <a:rPr lang="en-US" altLang="en-US" sz="2800" b="1" dirty="0">
                    <a:solidFill>
                      <a:srgbClr val="0066CC"/>
                    </a:solidFill>
                  </a:rPr>
                  <a:t>Given:</a:t>
                </a:r>
                <a:r>
                  <a:rPr lang="en-US" altLang="en-US" sz="2800" b="1" dirty="0">
                    <a:solidFill>
                      <a:srgbClr val="695082"/>
                    </a:solidFill>
                  </a:rPr>
                  <a:t> </a:t>
                </a:r>
                <a:r>
                  <a:rPr lang="en-US" altLang="en-US" sz="2800" dirty="0"/>
                  <a:t>a flow network </a:t>
                </a:r>
              </a:p>
              <a:p>
                <a:pPr marL="0" indent="0">
                  <a:lnSpc>
                    <a:spcPct val="85000"/>
                  </a:lnSpc>
                  <a:buNone/>
                </a:pPr>
                <a:r>
                  <a:rPr lang="en-US" altLang="en-US" sz="2800" b="1" dirty="0">
                    <a:solidFill>
                      <a:srgbClr val="695082"/>
                    </a:solidFill>
                  </a:rPr>
                  <a:t>	</a:t>
                </a:r>
                <a:r>
                  <a:rPr lang="en-US" altLang="en-US" sz="2800" b="1" dirty="0">
                    <a:solidFill>
                      <a:srgbClr val="006600"/>
                    </a:solidFill>
                  </a:rPr>
                  <a:t>Find:</a:t>
                </a:r>
                <a:r>
                  <a:rPr lang="en-US" altLang="en-US" sz="2800" b="1" dirty="0">
                    <a:solidFill>
                      <a:srgbClr val="695082"/>
                    </a:solidFill>
                  </a:rPr>
                  <a:t> </a:t>
                </a:r>
                <a:r>
                  <a:rPr lang="en-US" altLang="en-US" sz="2800" dirty="0"/>
                  <a:t>an </a:t>
                </a:r>
                <a14:m>
                  <m:oMath xmlns:m="http://schemas.openxmlformats.org/officeDocument/2006/math">
                    <m:r>
                      <a:rPr lang="en-US" altLang="en-US" sz="2800" b="1" i="1" dirty="0" smtClean="0">
                        <a:solidFill>
                          <a:srgbClr val="0066CC"/>
                        </a:solidFill>
                        <a:latin typeface="Cambria Math" panose="02040503050406030204" pitchFamily="18" charset="0"/>
                      </a:rPr>
                      <m:t>𝒔</m:t>
                    </m:r>
                  </m:oMath>
                </a14:m>
                <a:r>
                  <a:rPr lang="en-US" altLang="en-US" sz="2800" dirty="0"/>
                  <a:t>-</a:t>
                </a:r>
                <a14:m>
                  <m:oMath xmlns:m="http://schemas.openxmlformats.org/officeDocument/2006/math">
                    <m:r>
                      <a:rPr lang="en-US" altLang="en-US" sz="2800" b="1" i="1" dirty="0" smtClean="0">
                        <a:solidFill>
                          <a:srgbClr val="0066CC"/>
                        </a:solidFill>
                        <a:latin typeface="Cambria Math" panose="02040503050406030204" pitchFamily="18" charset="0"/>
                      </a:rPr>
                      <m:t>𝒕</m:t>
                    </m:r>
                  </m:oMath>
                </a14:m>
                <a:r>
                  <a:rPr lang="en-US" altLang="en-US" sz="2800" dirty="0"/>
                  <a:t> cut of minimum capacity </a:t>
                </a:r>
              </a:p>
            </p:txBody>
          </p:sp>
        </mc:Choice>
        <mc:Fallback xmlns="">
          <p:sp>
            <p:nvSpPr>
              <p:cNvPr id="710658" name="Rectangle 2">
                <a:extLst>
                  <a:ext uri="{FF2B5EF4-FFF2-40B4-BE49-F238E27FC236}">
                    <a16:creationId xmlns:a16="http://schemas.microsoft.com/office/drawing/2014/main" id="{CB091DDF-2BE4-491C-910B-E6A98B6859F5}"/>
                  </a:ext>
                </a:extLst>
              </p:cNvPr>
              <p:cNvSpPr>
                <a:spLocks noGrp="1" noRot="1" noChangeAspect="1" noMove="1" noResize="1" noEditPoints="1" noAdjustHandles="1" noChangeArrowheads="1" noChangeShapeType="1" noTextEdit="1"/>
              </p:cNvSpPr>
              <p:nvPr>
                <p:ph type="body" idx="1"/>
              </p:nvPr>
            </p:nvSpPr>
            <p:spPr>
              <a:xfrm>
                <a:off x="628650" y="1412371"/>
                <a:ext cx="10811510" cy="5200045"/>
              </a:xfrm>
              <a:blipFill>
                <a:blip r:embed="rId3"/>
                <a:stretch>
                  <a:fillRect l="-1127" t="-23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27A14874-B9D8-491D-99F1-37DB25725666}"/>
                  </a:ext>
                </a:extLst>
              </p:cNvPr>
              <p:cNvSpPr txBox="1"/>
              <p:nvPr/>
            </p:nvSpPr>
            <p:spPr>
              <a:xfrm>
                <a:off x="4413754" y="5317663"/>
                <a:ext cx="457176"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1" i="1" dirty="0" smtClean="0">
                          <a:solidFill>
                            <a:srgbClr val="0066CC"/>
                          </a:solidFill>
                          <a:latin typeface="Cambria Math" panose="02040503050406030204" pitchFamily="18" charset="0"/>
                        </a:rPr>
                        <m:t>𝑨</m:t>
                      </m:r>
                    </m:oMath>
                  </m:oMathPara>
                </a14:m>
                <a:endParaRPr lang="en-US" sz="2400" b="1" dirty="0">
                  <a:solidFill>
                    <a:srgbClr val="0066CC"/>
                  </a:solidFill>
                </a:endParaRPr>
              </a:p>
            </p:txBody>
          </p:sp>
        </mc:Choice>
        <mc:Fallback xmlns="">
          <p:sp>
            <p:nvSpPr>
              <p:cNvPr id="4" name="TextBox 3">
                <a:extLst>
                  <a:ext uri="{FF2B5EF4-FFF2-40B4-BE49-F238E27FC236}">
                    <a16:creationId xmlns:a16="http://schemas.microsoft.com/office/drawing/2014/main" id="{27A14874-B9D8-491D-99F1-37DB25725666}"/>
                  </a:ext>
                </a:extLst>
              </p:cNvPr>
              <p:cNvSpPr txBox="1">
                <a:spLocks noRot="1" noChangeAspect="1" noMove="1" noResize="1" noEditPoints="1" noAdjustHandles="1" noChangeArrowheads="1" noChangeShapeType="1" noTextEdit="1"/>
              </p:cNvSpPr>
              <p:nvPr/>
            </p:nvSpPr>
            <p:spPr>
              <a:xfrm>
                <a:off x="4413754" y="5317663"/>
                <a:ext cx="457176" cy="461665"/>
              </a:xfrm>
              <a:prstGeom prst="rect">
                <a:avLst/>
              </a:prstGeom>
              <a:blipFill>
                <a:blip r:embed="rId4"/>
                <a:stretch>
                  <a:fillRect/>
                </a:stretch>
              </a:blipFill>
            </p:spPr>
            <p:txBody>
              <a:bodyPr/>
              <a:lstStyle/>
              <a:p>
                <a:r>
                  <a:rPr lang="en-US">
                    <a:noFill/>
                  </a:rPr>
                  <a:t> </a:t>
                </a:r>
              </a:p>
            </p:txBody>
          </p:sp>
        </mc:Fallback>
      </mc:AlternateContent>
      <p:sp>
        <p:nvSpPr>
          <p:cNvPr id="46" name="Slide Number Placeholder 3">
            <a:extLst>
              <a:ext uri="{FF2B5EF4-FFF2-40B4-BE49-F238E27FC236}">
                <a16:creationId xmlns:a16="http://schemas.microsoft.com/office/drawing/2014/main" id="{8682F2DF-919C-413D-9B59-A40AF3ACD726}"/>
              </a:ext>
            </a:extLst>
          </p:cNvPr>
          <p:cNvSpPr>
            <a:spLocks noGrp="1"/>
          </p:cNvSpPr>
          <p:nvPr>
            <p:ph type="sldNum" sz="quarter" idx="10"/>
          </p:nvPr>
        </p:nvSpPr>
        <p:spPr/>
        <p:txBody>
          <a:bodyPr/>
          <a:lstStyle/>
          <a:p>
            <a:fld id="{E962C5CE-5F29-4369-A268-DF953E3BBA7B}" type="slidenum">
              <a:rPr lang="en-US" altLang="en-US"/>
              <a:pPr/>
              <a:t>10</a:t>
            </a:fld>
            <a:endParaRPr lang="en-US" altLang="en-US" sz="1400"/>
          </a:p>
        </p:txBody>
      </p:sp>
      <p:sp>
        <p:nvSpPr>
          <p:cNvPr id="710659" name="Rectangle 3">
            <a:extLst>
              <a:ext uri="{FF2B5EF4-FFF2-40B4-BE49-F238E27FC236}">
                <a16:creationId xmlns:a16="http://schemas.microsoft.com/office/drawing/2014/main" id="{5F4FD653-3E81-4970-A885-9A04BFB66492}"/>
              </a:ext>
            </a:extLst>
          </p:cNvPr>
          <p:cNvSpPr>
            <a:spLocks noGrp="1" noChangeArrowheads="1"/>
          </p:cNvSpPr>
          <p:nvPr>
            <p:ph type="title"/>
          </p:nvPr>
        </p:nvSpPr>
        <p:spPr/>
        <p:txBody>
          <a:bodyPr/>
          <a:lstStyle/>
          <a:p>
            <a:r>
              <a:rPr lang="en-US" altLang="en-US" dirty="0"/>
              <a:t>Minimum Cut Problem</a:t>
            </a:r>
          </a:p>
        </p:txBody>
      </p:sp>
      <p:grpSp>
        <p:nvGrpSpPr>
          <p:cNvPr id="28" name="Group 27">
            <a:extLst>
              <a:ext uri="{FF2B5EF4-FFF2-40B4-BE49-F238E27FC236}">
                <a16:creationId xmlns:a16="http://schemas.microsoft.com/office/drawing/2014/main" id="{2F886C7A-5F8C-4D5A-B1FC-3D24401D8DE7}"/>
              </a:ext>
            </a:extLst>
          </p:cNvPr>
          <p:cNvGrpSpPr/>
          <p:nvPr/>
        </p:nvGrpSpPr>
        <p:grpSpPr>
          <a:xfrm>
            <a:off x="3639351" y="3384533"/>
            <a:ext cx="7923999" cy="3137327"/>
            <a:chOff x="3639351" y="2923138"/>
            <a:chExt cx="7923999" cy="3137327"/>
          </a:xfrm>
        </p:grpSpPr>
        <p:cxnSp>
          <p:nvCxnSpPr>
            <p:cNvPr id="51" name="AutoShape 68">
              <a:extLst>
                <a:ext uri="{FF2B5EF4-FFF2-40B4-BE49-F238E27FC236}">
                  <a16:creationId xmlns:a16="http://schemas.microsoft.com/office/drawing/2014/main" id="{CAB3C207-5366-428C-872E-7F5DDD5A8A0A}"/>
                </a:ext>
              </a:extLst>
            </p:cNvPr>
            <p:cNvCxnSpPr>
              <a:cxnSpLocks noChangeShapeType="1"/>
              <a:stCxn id="710721" idx="1"/>
              <a:endCxn id="710708" idx="5"/>
            </p:cNvCxnSpPr>
            <p:nvPr/>
          </p:nvCxnSpPr>
          <p:spPr bwMode="auto">
            <a:xfrm flipH="1" flipV="1">
              <a:off x="6575184" y="4634480"/>
              <a:ext cx="2273571" cy="112970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06" name="Oval 50">
              <a:extLst>
                <a:ext uri="{FF2B5EF4-FFF2-40B4-BE49-F238E27FC236}">
                  <a16:creationId xmlns:a16="http://schemas.microsoft.com/office/drawing/2014/main" id="{5EDB66B3-A335-46A8-B0A4-E18E80459647}"/>
                </a:ext>
              </a:extLst>
            </p:cNvPr>
            <p:cNvSpPr>
              <a:spLocks noChangeAspect="1" noChangeArrowheads="1"/>
            </p:cNvSpPr>
            <p:nvPr/>
          </p:nvSpPr>
          <p:spPr bwMode="auto">
            <a:xfrm>
              <a:off x="4395659"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solidFill>
                    <a:srgbClr val="C00000"/>
                  </a:solidFill>
                </a:rPr>
                <a:t>s</a:t>
              </a:r>
            </a:p>
          </p:txBody>
        </p:sp>
        <p:sp>
          <p:nvSpPr>
            <p:cNvPr id="710707" name="Oval 51">
              <a:extLst>
                <a:ext uri="{FF2B5EF4-FFF2-40B4-BE49-F238E27FC236}">
                  <a16:creationId xmlns:a16="http://schemas.microsoft.com/office/drawing/2014/main" id="{C791F0FD-59F6-4EAA-9A7F-5FEB226AA91C}"/>
                </a:ext>
              </a:extLst>
            </p:cNvPr>
            <p:cNvSpPr>
              <a:spLocks noChangeAspect="1" noChangeArrowheads="1"/>
            </p:cNvSpPr>
            <p:nvPr/>
          </p:nvSpPr>
          <p:spPr bwMode="auto">
            <a:xfrm>
              <a:off x="6278899" y="2923138"/>
              <a:ext cx="347119" cy="35151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a</a:t>
              </a:r>
            </a:p>
          </p:txBody>
        </p:sp>
        <p:sp>
          <p:nvSpPr>
            <p:cNvPr id="710708" name="Oval 52">
              <a:extLst>
                <a:ext uri="{FF2B5EF4-FFF2-40B4-BE49-F238E27FC236}">
                  <a16:creationId xmlns:a16="http://schemas.microsoft.com/office/drawing/2014/main" id="{7433E6CD-DBA9-4397-BB73-2328DC47DBFF}"/>
                </a:ext>
              </a:extLst>
            </p:cNvPr>
            <p:cNvSpPr>
              <a:spLocks noChangeAspect="1" noChangeArrowheads="1"/>
            </p:cNvSpPr>
            <p:nvPr/>
          </p:nvSpPr>
          <p:spPr bwMode="auto">
            <a:xfrm>
              <a:off x="6278899"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b</a:t>
              </a:r>
            </a:p>
          </p:txBody>
        </p:sp>
        <p:sp>
          <p:nvSpPr>
            <p:cNvPr id="710709" name="Oval 53">
              <a:extLst>
                <a:ext uri="{FF2B5EF4-FFF2-40B4-BE49-F238E27FC236}">
                  <a16:creationId xmlns:a16="http://schemas.microsoft.com/office/drawing/2014/main" id="{DB0B1551-4016-4996-9CB3-8D6736D27F5C}"/>
                </a:ext>
              </a:extLst>
            </p:cNvPr>
            <p:cNvSpPr>
              <a:spLocks noChangeAspect="1" noChangeArrowheads="1"/>
            </p:cNvSpPr>
            <p:nvPr/>
          </p:nvSpPr>
          <p:spPr bwMode="auto">
            <a:xfrm>
              <a:off x="6278899" y="5713346"/>
              <a:ext cx="347119" cy="347119"/>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c</a:t>
              </a:r>
            </a:p>
          </p:txBody>
        </p:sp>
        <p:cxnSp>
          <p:nvCxnSpPr>
            <p:cNvPr id="710710" name="AutoShape 54">
              <a:extLst>
                <a:ext uri="{FF2B5EF4-FFF2-40B4-BE49-F238E27FC236}">
                  <a16:creationId xmlns:a16="http://schemas.microsoft.com/office/drawing/2014/main" id="{3963BDDA-EEB2-4C16-A1BE-D107140B66AB}"/>
                </a:ext>
              </a:extLst>
            </p:cNvPr>
            <p:cNvCxnSpPr>
              <a:cxnSpLocks noChangeShapeType="1"/>
              <a:stCxn id="710706" idx="7"/>
              <a:endCxn id="710707" idx="3"/>
            </p:cNvCxnSpPr>
            <p:nvPr/>
          </p:nvCxnSpPr>
          <p:spPr bwMode="auto">
            <a:xfrm flipV="1">
              <a:off x="4691944" y="3223173"/>
              <a:ext cx="1637789" cy="1164304"/>
            </a:xfrm>
            <a:prstGeom prst="straightConnector1">
              <a:avLst/>
            </a:prstGeom>
            <a:noFill/>
            <a:ln w="38100">
              <a:solidFill>
                <a:srgbClr val="0066CC"/>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1" name="AutoShape 55">
              <a:extLst>
                <a:ext uri="{FF2B5EF4-FFF2-40B4-BE49-F238E27FC236}">
                  <a16:creationId xmlns:a16="http://schemas.microsoft.com/office/drawing/2014/main" id="{500797BD-7630-4137-AC5D-99C13711BAB5}"/>
                </a:ext>
              </a:extLst>
            </p:cNvPr>
            <p:cNvCxnSpPr>
              <a:cxnSpLocks noChangeShapeType="1"/>
              <a:stCxn id="710706" idx="6"/>
              <a:endCxn id="710708" idx="2"/>
            </p:cNvCxnSpPr>
            <p:nvPr/>
          </p:nvCxnSpPr>
          <p:spPr bwMode="auto">
            <a:xfrm>
              <a:off x="4742778" y="4510979"/>
              <a:ext cx="1536121" cy="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2" name="AutoShape 56">
              <a:extLst>
                <a:ext uri="{FF2B5EF4-FFF2-40B4-BE49-F238E27FC236}">
                  <a16:creationId xmlns:a16="http://schemas.microsoft.com/office/drawing/2014/main" id="{04F6A8EE-5010-42E5-9B2F-E956649EB9DD}"/>
                </a:ext>
              </a:extLst>
            </p:cNvPr>
            <p:cNvCxnSpPr>
              <a:cxnSpLocks noChangeShapeType="1"/>
              <a:stCxn id="710706" idx="5"/>
              <a:endCxn id="710709" idx="1"/>
            </p:cNvCxnSpPr>
            <p:nvPr/>
          </p:nvCxnSpPr>
          <p:spPr bwMode="auto">
            <a:xfrm>
              <a:off x="4691944" y="4634480"/>
              <a:ext cx="1637789" cy="112970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3" name="AutoShape 57">
              <a:extLst>
                <a:ext uri="{FF2B5EF4-FFF2-40B4-BE49-F238E27FC236}">
                  <a16:creationId xmlns:a16="http://schemas.microsoft.com/office/drawing/2014/main" id="{CB5CA9F1-C5CC-4E55-8567-407127EDD6FD}"/>
                </a:ext>
              </a:extLst>
            </p:cNvPr>
            <p:cNvCxnSpPr>
              <a:cxnSpLocks noChangeShapeType="1"/>
              <a:stCxn id="710708" idx="6"/>
              <a:endCxn id="710720" idx="2"/>
            </p:cNvCxnSpPr>
            <p:nvPr/>
          </p:nvCxnSpPr>
          <p:spPr bwMode="auto">
            <a:xfrm>
              <a:off x="6626018" y="4510979"/>
              <a:ext cx="2171903" cy="0"/>
            </a:xfrm>
            <a:prstGeom prst="straightConnector1">
              <a:avLst/>
            </a:prstGeom>
            <a:noFill/>
            <a:ln w="38100">
              <a:solidFill>
                <a:srgbClr val="0066CC"/>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5" name="AutoShape 59">
              <a:extLst>
                <a:ext uri="{FF2B5EF4-FFF2-40B4-BE49-F238E27FC236}">
                  <a16:creationId xmlns:a16="http://schemas.microsoft.com/office/drawing/2014/main" id="{FF578E0C-BCE9-4BDC-BE4D-1C3233FE9069}"/>
                </a:ext>
              </a:extLst>
            </p:cNvPr>
            <p:cNvCxnSpPr>
              <a:cxnSpLocks noChangeShapeType="1"/>
              <a:stCxn id="710708" idx="4"/>
              <a:endCxn id="710709" idx="0"/>
            </p:cNvCxnSpPr>
            <p:nvPr/>
          </p:nvCxnSpPr>
          <p:spPr bwMode="auto">
            <a:xfrm>
              <a:off x="6452459" y="4685636"/>
              <a:ext cx="0" cy="102771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6" name="AutoShape 60">
              <a:extLst>
                <a:ext uri="{FF2B5EF4-FFF2-40B4-BE49-F238E27FC236}">
                  <a16:creationId xmlns:a16="http://schemas.microsoft.com/office/drawing/2014/main" id="{5D951401-EF5F-40F8-8FF8-28BC78F6A7BA}"/>
                </a:ext>
              </a:extLst>
            </p:cNvPr>
            <p:cNvCxnSpPr>
              <a:cxnSpLocks noChangeShapeType="1"/>
              <a:stCxn id="710707" idx="6"/>
              <a:endCxn id="710719" idx="2"/>
            </p:cNvCxnSpPr>
            <p:nvPr/>
          </p:nvCxnSpPr>
          <p:spPr bwMode="auto">
            <a:xfrm>
              <a:off x="6626018" y="3098894"/>
              <a:ext cx="2171903" cy="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7" name="AutoShape 61">
              <a:extLst>
                <a:ext uri="{FF2B5EF4-FFF2-40B4-BE49-F238E27FC236}">
                  <a16:creationId xmlns:a16="http://schemas.microsoft.com/office/drawing/2014/main" id="{A929A23E-9723-40FB-8B80-4463475544AE}"/>
                </a:ext>
              </a:extLst>
            </p:cNvPr>
            <p:cNvCxnSpPr>
              <a:cxnSpLocks noChangeShapeType="1"/>
              <a:stCxn id="710709" idx="6"/>
              <a:endCxn id="710721" idx="2"/>
            </p:cNvCxnSpPr>
            <p:nvPr/>
          </p:nvCxnSpPr>
          <p:spPr bwMode="auto">
            <a:xfrm>
              <a:off x="6626018" y="5886906"/>
              <a:ext cx="2171903" cy="0"/>
            </a:xfrm>
            <a:prstGeom prst="straightConnector1">
              <a:avLst/>
            </a:prstGeom>
            <a:noFill/>
            <a:ln w="127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8" name="AutoShape 62">
              <a:extLst>
                <a:ext uri="{FF2B5EF4-FFF2-40B4-BE49-F238E27FC236}">
                  <a16:creationId xmlns:a16="http://schemas.microsoft.com/office/drawing/2014/main" id="{56B2200F-0095-48E8-A6B5-E08D3FED1F4F}"/>
                </a:ext>
              </a:extLst>
            </p:cNvPr>
            <p:cNvCxnSpPr>
              <a:cxnSpLocks noChangeShapeType="1"/>
              <a:stCxn id="710707" idx="4"/>
              <a:endCxn id="710708" idx="0"/>
            </p:cNvCxnSpPr>
            <p:nvPr/>
          </p:nvCxnSpPr>
          <p:spPr bwMode="auto">
            <a:xfrm>
              <a:off x="6452459" y="3274651"/>
              <a:ext cx="0" cy="106167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19" name="Oval 63">
              <a:extLst>
                <a:ext uri="{FF2B5EF4-FFF2-40B4-BE49-F238E27FC236}">
                  <a16:creationId xmlns:a16="http://schemas.microsoft.com/office/drawing/2014/main" id="{6D6CA7B8-81FA-4ECF-9EC2-0188554C97F8}"/>
                </a:ext>
              </a:extLst>
            </p:cNvPr>
            <p:cNvSpPr>
              <a:spLocks noChangeAspect="1" noChangeArrowheads="1"/>
            </p:cNvSpPr>
            <p:nvPr/>
          </p:nvSpPr>
          <p:spPr bwMode="auto">
            <a:xfrm>
              <a:off x="8797921" y="2923138"/>
              <a:ext cx="347119" cy="35151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d</a:t>
              </a:r>
            </a:p>
          </p:txBody>
        </p:sp>
        <p:sp>
          <p:nvSpPr>
            <p:cNvPr id="710720" name="Oval 64">
              <a:extLst>
                <a:ext uri="{FF2B5EF4-FFF2-40B4-BE49-F238E27FC236}">
                  <a16:creationId xmlns:a16="http://schemas.microsoft.com/office/drawing/2014/main" id="{5FADFF93-67BC-4F3C-BA9D-F45E800F686D}"/>
                </a:ext>
              </a:extLst>
            </p:cNvPr>
            <p:cNvSpPr>
              <a:spLocks noChangeAspect="1" noChangeArrowheads="1"/>
            </p:cNvSpPr>
            <p:nvPr/>
          </p:nvSpPr>
          <p:spPr bwMode="auto">
            <a:xfrm>
              <a:off x="8797921"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e</a:t>
              </a:r>
            </a:p>
          </p:txBody>
        </p:sp>
        <p:sp>
          <p:nvSpPr>
            <p:cNvPr id="710721" name="Oval 65">
              <a:extLst>
                <a:ext uri="{FF2B5EF4-FFF2-40B4-BE49-F238E27FC236}">
                  <a16:creationId xmlns:a16="http://schemas.microsoft.com/office/drawing/2014/main" id="{5FF356EB-F06B-477C-AA8F-9ACC5EDE5A9F}"/>
                </a:ext>
              </a:extLst>
            </p:cNvPr>
            <p:cNvSpPr>
              <a:spLocks noChangeAspect="1" noChangeArrowheads="1"/>
            </p:cNvSpPr>
            <p:nvPr/>
          </p:nvSpPr>
          <p:spPr bwMode="auto">
            <a:xfrm>
              <a:off x="8797921" y="5713346"/>
              <a:ext cx="347119" cy="347119"/>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f</a:t>
              </a:r>
            </a:p>
          </p:txBody>
        </p:sp>
        <p:cxnSp>
          <p:nvCxnSpPr>
            <p:cNvPr id="710722" name="AutoShape 66">
              <a:extLst>
                <a:ext uri="{FF2B5EF4-FFF2-40B4-BE49-F238E27FC236}">
                  <a16:creationId xmlns:a16="http://schemas.microsoft.com/office/drawing/2014/main" id="{6CAC5FAF-7C24-4B59-9E5B-970C57F85D75}"/>
                </a:ext>
              </a:extLst>
            </p:cNvPr>
            <p:cNvCxnSpPr>
              <a:cxnSpLocks noChangeShapeType="1"/>
              <a:stCxn id="710720" idx="4"/>
              <a:endCxn id="710721" idx="0"/>
            </p:cNvCxnSpPr>
            <p:nvPr/>
          </p:nvCxnSpPr>
          <p:spPr bwMode="auto">
            <a:xfrm>
              <a:off x="8971480" y="4685636"/>
              <a:ext cx="0" cy="102771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3" name="AutoShape 67">
              <a:extLst>
                <a:ext uri="{FF2B5EF4-FFF2-40B4-BE49-F238E27FC236}">
                  <a16:creationId xmlns:a16="http://schemas.microsoft.com/office/drawing/2014/main" id="{02A1F7FD-3A69-496D-A0C6-9E0B7498F083}"/>
                </a:ext>
              </a:extLst>
            </p:cNvPr>
            <p:cNvCxnSpPr>
              <a:cxnSpLocks noChangeShapeType="1"/>
              <a:stCxn id="710719" idx="4"/>
              <a:endCxn id="710720" idx="0"/>
            </p:cNvCxnSpPr>
            <p:nvPr/>
          </p:nvCxnSpPr>
          <p:spPr bwMode="auto">
            <a:xfrm>
              <a:off x="8971480" y="3274651"/>
              <a:ext cx="0" cy="106167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4" name="AutoShape 68">
              <a:extLst>
                <a:ext uri="{FF2B5EF4-FFF2-40B4-BE49-F238E27FC236}">
                  <a16:creationId xmlns:a16="http://schemas.microsoft.com/office/drawing/2014/main" id="{A59DDDAD-046C-41D6-AD72-EFD283E2916C}"/>
                </a:ext>
              </a:extLst>
            </p:cNvPr>
            <p:cNvCxnSpPr>
              <a:cxnSpLocks noChangeShapeType="1"/>
              <a:stCxn id="710707" idx="5"/>
              <a:endCxn id="710720" idx="1"/>
            </p:cNvCxnSpPr>
            <p:nvPr/>
          </p:nvCxnSpPr>
          <p:spPr bwMode="auto">
            <a:xfrm>
              <a:off x="6575184" y="3223173"/>
              <a:ext cx="2273571" cy="1164304"/>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25" name="Oval 69">
              <a:extLst>
                <a:ext uri="{FF2B5EF4-FFF2-40B4-BE49-F238E27FC236}">
                  <a16:creationId xmlns:a16="http://schemas.microsoft.com/office/drawing/2014/main" id="{5DBB04F5-4A14-4512-B3D9-38E24230652F}"/>
                </a:ext>
              </a:extLst>
            </p:cNvPr>
            <p:cNvSpPr>
              <a:spLocks noChangeAspect="1" noChangeArrowheads="1"/>
            </p:cNvSpPr>
            <p:nvPr/>
          </p:nvSpPr>
          <p:spPr bwMode="auto">
            <a:xfrm>
              <a:off x="10648016"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solidFill>
                    <a:srgbClr val="C00000"/>
                  </a:solidFill>
                </a:rPr>
                <a:t>t</a:t>
              </a:r>
            </a:p>
          </p:txBody>
        </p:sp>
        <p:cxnSp>
          <p:nvCxnSpPr>
            <p:cNvPr id="710726" name="AutoShape 70">
              <a:extLst>
                <a:ext uri="{FF2B5EF4-FFF2-40B4-BE49-F238E27FC236}">
                  <a16:creationId xmlns:a16="http://schemas.microsoft.com/office/drawing/2014/main" id="{D1F58022-A270-4460-9379-D0A7FAF1B20E}"/>
                </a:ext>
              </a:extLst>
            </p:cNvPr>
            <p:cNvCxnSpPr>
              <a:cxnSpLocks noChangeShapeType="1"/>
              <a:stCxn id="710719" idx="6"/>
              <a:endCxn id="710725" idx="1"/>
            </p:cNvCxnSpPr>
            <p:nvPr/>
          </p:nvCxnSpPr>
          <p:spPr bwMode="auto">
            <a:xfrm>
              <a:off x="9145040" y="3098894"/>
              <a:ext cx="1553810" cy="1288583"/>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7" name="AutoShape 71">
              <a:extLst>
                <a:ext uri="{FF2B5EF4-FFF2-40B4-BE49-F238E27FC236}">
                  <a16:creationId xmlns:a16="http://schemas.microsoft.com/office/drawing/2014/main" id="{8009E4A0-472B-406A-AFD6-0553FE5CC77C}"/>
                </a:ext>
              </a:extLst>
            </p:cNvPr>
            <p:cNvCxnSpPr>
              <a:cxnSpLocks noChangeShapeType="1"/>
              <a:stCxn id="710720" idx="6"/>
              <a:endCxn id="710725" idx="2"/>
            </p:cNvCxnSpPr>
            <p:nvPr/>
          </p:nvCxnSpPr>
          <p:spPr bwMode="auto">
            <a:xfrm>
              <a:off x="9145040" y="4510979"/>
              <a:ext cx="1502976" cy="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8" name="AutoShape 72">
              <a:extLst>
                <a:ext uri="{FF2B5EF4-FFF2-40B4-BE49-F238E27FC236}">
                  <a16:creationId xmlns:a16="http://schemas.microsoft.com/office/drawing/2014/main" id="{E5CB0D21-BAA0-4835-A49D-49FE212797CB}"/>
                </a:ext>
              </a:extLst>
            </p:cNvPr>
            <p:cNvCxnSpPr>
              <a:cxnSpLocks noChangeShapeType="1"/>
              <a:stCxn id="710721" idx="7"/>
              <a:endCxn id="710725" idx="4"/>
            </p:cNvCxnSpPr>
            <p:nvPr/>
          </p:nvCxnSpPr>
          <p:spPr bwMode="auto">
            <a:xfrm flipV="1">
              <a:off x="9094206" y="4685636"/>
              <a:ext cx="1727370" cy="1078544"/>
            </a:xfrm>
            <a:prstGeom prst="straightConnector1">
              <a:avLst/>
            </a:prstGeom>
            <a:noFill/>
            <a:ln w="38100">
              <a:solidFill>
                <a:srgbClr val="0066CC"/>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29" name="Text Box 73">
              <a:extLst>
                <a:ext uri="{FF2B5EF4-FFF2-40B4-BE49-F238E27FC236}">
                  <a16:creationId xmlns:a16="http://schemas.microsoft.com/office/drawing/2014/main" id="{AAAB09A9-EC8D-4414-8817-65353064DC87}"/>
                </a:ext>
              </a:extLst>
            </p:cNvPr>
            <p:cNvSpPr txBox="1">
              <a:spLocks noChangeArrowheads="1"/>
            </p:cNvSpPr>
            <p:nvPr/>
          </p:nvSpPr>
          <p:spPr bwMode="auto">
            <a:xfrm>
              <a:off x="5420920" y="5112122"/>
              <a:ext cx="403767" cy="307777"/>
            </a:xfrm>
            <a:prstGeom prst="rect">
              <a:avLst/>
            </a:prstGeom>
            <a:solidFill>
              <a:schemeClr val="accent1">
                <a:lumMod val="20000"/>
                <a:lumOff val="8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15</a:t>
              </a:r>
            </a:p>
          </p:txBody>
        </p:sp>
        <p:sp>
          <p:nvSpPr>
            <p:cNvPr id="710730" name="Text Box 74">
              <a:extLst>
                <a:ext uri="{FF2B5EF4-FFF2-40B4-BE49-F238E27FC236}">
                  <a16:creationId xmlns:a16="http://schemas.microsoft.com/office/drawing/2014/main" id="{876DCB81-C2CB-43B6-8640-CF55C1427FEF}"/>
                </a:ext>
              </a:extLst>
            </p:cNvPr>
            <p:cNvSpPr txBox="1">
              <a:spLocks noChangeArrowheads="1"/>
            </p:cNvSpPr>
            <p:nvPr/>
          </p:nvSpPr>
          <p:spPr bwMode="auto">
            <a:xfrm>
              <a:off x="5458550" y="4352895"/>
              <a:ext cx="335970" cy="307777"/>
            </a:xfrm>
            <a:prstGeom prst="rect">
              <a:avLst/>
            </a:prstGeom>
            <a:solidFill>
              <a:schemeClr val="accent1">
                <a:lumMod val="20000"/>
                <a:lumOff val="8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1600" dirty="0">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5</a:t>
              </a:r>
              <a:endParaRPr lang="en-US" altLang="en-US" sz="1600" dirty="0">
                <a:latin typeface="Arial" panose="020B0604020202020204" pitchFamily="34" charset="0"/>
                <a:cs typeface="Arial" panose="020B0604020202020204" pitchFamily="34" charset="0"/>
              </a:endParaRPr>
            </a:p>
          </p:txBody>
        </p:sp>
        <p:sp>
          <p:nvSpPr>
            <p:cNvPr id="710731" name="Text Box 75">
              <a:extLst>
                <a:ext uri="{FF2B5EF4-FFF2-40B4-BE49-F238E27FC236}">
                  <a16:creationId xmlns:a16="http://schemas.microsoft.com/office/drawing/2014/main" id="{987DF8DB-99E2-4C14-B47B-F33F6E8164DE}"/>
                </a:ext>
              </a:extLst>
            </p:cNvPr>
            <p:cNvSpPr txBox="1">
              <a:spLocks noChangeArrowheads="1"/>
            </p:cNvSpPr>
            <p:nvPr/>
          </p:nvSpPr>
          <p:spPr bwMode="auto">
            <a:xfrm>
              <a:off x="7425727" y="5717866"/>
              <a:ext cx="403767" cy="307777"/>
            </a:xfrm>
            <a:prstGeom prst="rect">
              <a:avLst/>
            </a:prstGeom>
            <a:solidFill>
              <a:schemeClr val="accent1">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30</a:t>
              </a:r>
            </a:p>
          </p:txBody>
        </p:sp>
        <p:sp>
          <p:nvSpPr>
            <p:cNvPr id="710732" name="Text Box 76">
              <a:extLst>
                <a:ext uri="{FF2B5EF4-FFF2-40B4-BE49-F238E27FC236}">
                  <a16:creationId xmlns:a16="http://schemas.microsoft.com/office/drawing/2014/main" id="{9B3B7885-AA6D-45BF-BF0E-9859076B1F0F}"/>
                </a:ext>
              </a:extLst>
            </p:cNvPr>
            <p:cNvSpPr txBox="1">
              <a:spLocks noChangeArrowheads="1"/>
            </p:cNvSpPr>
            <p:nvPr/>
          </p:nvSpPr>
          <p:spPr bwMode="auto">
            <a:xfrm>
              <a:off x="8780984" y="4973703"/>
              <a:ext cx="402261"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15</a:t>
              </a:r>
            </a:p>
          </p:txBody>
        </p:sp>
        <p:sp>
          <p:nvSpPr>
            <p:cNvPr id="710733" name="Text Box 77">
              <a:extLst>
                <a:ext uri="{FF2B5EF4-FFF2-40B4-BE49-F238E27FC236}">
                  <a16:creationId xmlns:a16="http://schemas.microsoft.com/office/drawing/2014/main" id="{B8E7733D-771B-4363-B990-E50FE4B44B69}"/>
                </a:ext>
              </a:extLst>
            </p:cNvPr>
            <p:cNvSpPr txBox="1">
              <a:spLocks noChangeArrowheads="1"/>
            </p:cNvSpPr>
            <p:nvPr/>
          </p:nvSpPr>
          <p:spPr bwMode="auto">
            <a:xfrm>
              <a:off x="5473942" y="3553345"/>
              <a:ext cx="405273"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solidFill>
                    <a:srgbClr val="0066CC"/>
                  </a:solidFill>
                  <a:latin typeface="Arial" panose="020B0604020202020204" pitchFamily="34" charset="0"/>
                  <a:cs typeface="Arial" panose="020B0604020202020204" pitchFamily="34" charset="0"/>
                </a:rPr>
                <a:t>10</a:t>
              </a:r>
            </a:p>
          </p:txBody>
        </p:sp>
        <p:sp>
          <p:nvSpPr>
            <p:cNvPr id="710734" name="Text Box 78">
              <a:extLst>
                <a:ext uri="{FF2B5EF4-FFF2-40B4-BE49-F238E27FC236}">
                  <a16:creationId xmlns:a16="http://schemas.microsoft.com/office/drawing/2014/main" id="{7EF45083-C70B-47F5-AFFB-7C03B08F5B21}"/>
                </a:ext>
              </a:extLst>
            </p:cNvPr>
            <p:cNvSpPr txBox="1">
              <a:spLocks noChangeArrowheads="1"/>
            </p:cNvSpPr>
            <p:nvPr/>
          </p:nvSpPr>
          <p:spPr bwMode="auto">
            <a:xfrm>
              <a:off x="7486213" y="4352895"/>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solidFill>
                    <a:srgbClr val="0066CC"/>
                  </a:solidFill>
                  <a:latin typeface="Arial" panose="020B0604020202020204" pitchFamily="34" charset="0"/>
                  <a:cs typeface="Arial" panose="020B0604020202020204" pitchFamily="34" charset="0"/>
                </a:rPr>
                <a:t>8</a:t>
              </a:r>
            </a:p>
          </p:txBody>
        </p:sp>
        <p:sp>
          <p:nvSpPr>
            <p:cNvPr id="710735" name="Text Box 79">
              <a:extLst>
                <a:ext uri="{FF2B5EF4-FFF2-40B4-BE49-F238E27FC236}">
                  <a16:creationId xmlns:a16="http://schemas.microsoft.com/office/drawing/2014/main" id="{2AF06533-A0D6-429A-B95A-970349B525E9}"/>
                </a:ext>
              </a:extLst>
            </p:cNvPr>
            <p:cNvSpPr txBox="1">
              <a:spLocks noChangeArrowheads="1"/>
            </p:cNvSpPr>
            <p:nvPr/>
          </p:nvSpPr>
          <p:spPr bwMode="auto">
            <a:xfrm>
              <a:off x="7425727" y="3622107"/>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15</a:t>
              </a:r>
            </a:p>
          </p:txBody>
        </p:sp>
        <p:sp>
          <p:nvSpPr>
            <p:cNvPr id="710736" name="Text Box 80">
              <a:extLst>
                <a:ext uri="{FF2B5EF4-FFF2-40B4-BE49-F238E27FC236}">
                  <a16:creationId xmlns:a16="http://schemas.microsoft.com/office/drawing/2014/main" id="{8E2CA782-EF26-454E-82E8-A7C0ACB122B9}"/>
                </a:ext>
              </a:extLst>
            </p:cNvPr>
            <p:cNvSpPr txBox="1">
              <a:spLocks noChangeArrowheads="1"/>
            </p:cNvSpPr>
            <p:nvPr/>
          </p:nvSpPr>
          <p:spPr bwMode="auto">
            <a:xfrm>
              <a:off x="7444248" y="2939710"/>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9</a:t>
              </a:r>
            </a:p>
          </p:txBody>
        </p:sp>
        <p:sp>
          <p:nvSpPr>
            <p:cNvPr id="710737" name="Text Box 81">
              <a:extLst>
                <a:ext uri="{FF2B5EF4-FFF2-40B4-BE49-F238E27FC236}">
                  <a16:creationId xmlns:a16="http://schemas.microsoft.com/office/drawing/2014/main" id="{5EEB67EA-FA04-42E4-9A86-1D24118DC709}"/>
                </a:ext>
              </a:extLst>
            </p:cNvPr>
            <p:cNvSpPr txBox="1">
              <a:spLocks noChangeArrowheads="1"/>
            </p:cNvSpPr>
            <p:nvPr/>
          </p:nvSpPr>
          <p:spPr bwMode="auto">
            <a:xfrm>
              <a:off x="7444248" y="5043023"/>
              <a:ext cx="403767" cy="307777"/>
            </a:xfrm>
            <a:prstGeom prst="rect">
              <a:avLst/>
            </a:prstGeom>
            <a:solidFill>
              <a:schemeClr val="accent1">
                <a:lumMod val="20000"/>
                <a:lumOff val="8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6</a:t>
              </a:r>
            </a:p>
          </p:txBody>
        </p:sp>
        <p:sp>
          <p:nvSpPr>
            <p:cNvPr id="710738" name="Text Box 82">
              <a:extLst>
                <a:ext uri="{FF2B5EF4-FFF2-40B4-BE49-F238E27FC236}">
                  <a16:creationId xmlns:a16="http://schemas.microsoft.com/office/drawing/2014/main" id="{205F31AB-659B-4FEC-B166-3C1CABADD2CF}"/>
                </a:ext>
              </a:extLst>
            </p:cNvPr>
            <p:cNvSpPr txBox="1">
              <a:spLocks noChangeArrowheads="1"/>
            </p:cNvSpPr>
            <p:nvPr/>
          </p:nvSpPr>
          <p:spPr bwMode="auto">
            <a:xfrm>
              <a:off x="9678052" y="5087101"/>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a:t>
              </a:r>
              <a:r>
                <a:rPr lang="en-US" altLang="en-US" sz="2000" b="1" dirty="0">
                  <a:solidFill>
                    <a:srgbClr val="0066CC"/>
                  </a:solidFill>
                  <a:latin typeface="Arial" panose="020B0604020202020204" pitchFamily="34" charset="0"/>
                  <a:cs typeface="Arial" panose="020B0604020202020204" pitchFamily="34" charset="0"/>
                </a:rPr>
                <a:t>10</a:t>
              </a:r>
            </a:p>
          </p:txBody>
        </p:sp>
        <p:sp>
          <p:nvSpPr>
            <p:cNvPr id="710739" name="Text Box 83">
              <a:extLst>
                <a:ext uri="{FF2B5EF4-FFF2-40B4-BE49-F238E27FC236}">
                  <a16:creationId xmlns:a16="http://schemas.microsoft.com/office/drawing/2014/main" id="{8296BE71-6B6F-463B-8C0A-94F5E736B46E}"/>
                </a:ext>
              </a:extLst>
            </p:cNvPr>
            <p:cNvSpPr txBox="1">
              <a:spLocks noChangeArrowheads="1"/>
            </p:cNvSpPr>
            <p:nvPr/>
          </p:nvSpPr>
          <p:spPr bwMode="auto">
            <a:xfrm>
              <a:off x="9704822" y="4352895"/>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1600" dirty="0">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10</a:t>
              </a:r>
              <a:endParaRPr lang="en-US" altLang="en-US" sz="1600" dirty="0">
                <a:latin typeface="Arial" panose="020B0604020202020204" pitchFamily="34" charset="0"/>
                <a:cs typeface="Arial" panose="020B0604020202020204" pitchFamily="34" charset="0"/>
              </a:endParaRPr>
            </a:p>
          </p:txBody>
        </p:sp>
        <p:sp>
          <p:nvSpPr>
            <p:cNvPr id="710740" name="Text Box 84">
              <a:extLst>
                <a:ext uri="{FF2B5EF4-FFF2-40B4-BE49-F238E27FC236}">
                  <a16:creationId xmlns:a16="http://schemas.microsoft.com/office/drawing/2014/main" id="{0F354EAC-9BAF-4735-9DC8-6E0300D4C60E}"/>
                </a:ext>
              </a:extLst>
            </p:cNvPr>
            <p:cNvSpPr txBox="1">
              <a:spLocks noChangeArrowheads="1"/>
            </p:cNvSpPr>
            <p:nvPr/>
          </p:nvSpPr>
          <p:spPr bwMode="auto">
            <a:xfrm>
              <a:off x="9703383" y="3588301"/>
              <a:ext cx="402261"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10</a:t>
              </a:r>
            </a:p>
          </p:txBody>
        </p:sp>
        <p:sp>
          <p:nvSpPr>
            <p:cNvPr id="710741" name="Text Box 85">
              <a:extLst>
                <a:ext uri="{FF2B5EF4-FFF2-40B4-BE49-F238E27FC236}">
                  <a16:creationId xmlns:a16="http://schemas.microsoft.com/office/drawing/2014/main" id="{DA3836EF-7B4F-4F15-B0F6-032168C5D6FA}"/>
                </a:ext>
              </a:extLst>
            </p:cNvPr>
            <p:cNvSpPr txBox="1">
              <a:spLocks noChangeArrowheads="1"/>
            </p:cNvSpPr>
            <p:nvPr/>
          </p:nvSpPr>
          <p:spPr bwMode="auto">
            <a:xfrm>
              <a:off x="8791308" y="3595078"/>
              <a:ext cx="402261"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15</a:t>
              </a:r>
            </a:p>
          </p:txBody>
        </p:sp>
        <p:sp>
          <p:nvSpPr>
            <p:cNvPr id="710742" name="Text Box 86">
              <a:extLst>
                <a:ext uri="{FF2B5EF4-FFF2-40B4-BE49-F238E27FC236}">
                  <a16:creationId xmlns:a16="http://schemas.microsoft.com/office/drawing/2014/main" id="{90B2F1EE-6551-462E-B731-7BC0ECF13613}"/>
                </a:ext>
              </a:extLst>
            </p:cNvPr>
            <p:cNvSpPr txBox="1">
              <a:spLocks noChangeArrowheads="1"/>
            </p:cNvSpPr>
            <p:nvPr/>
          </p:nvSpPr>
          <p:spPr bwMode="auto">
            <a:xfrm>
              <a:off x="6276229" y="3653451"/>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4</a:t>
              </a:r>
            </a:p>
          </p:txBody>
        </p:sp>
        <p:sp>
          <p:nvSpPr>
            <p:cNvPr id="710743" name="Text Box 87">
              <a:extLst>
                <a:ext uri="{FF2B5EF4-FFF2-40B4-BE49-F238E27FC236}">
                  <a16:creationId xmlns:a16="http://schemas.microsoft.com/office/drawing/2014/main" id="{4ECC4A50-EA5B-4BE9-8AA2-AA53B6EA7E58}"/>
                </a:ext>
              </a:extLst>
            </p:cNvPr>
            <p:cNvSpPr txBox="1">
              <a:spLocks noChangeArrowheads="1"/>
            </p:cNvSpPr>
            <p:nvPr/>
          </p:nvSpPr>
          <p:spPr bwMode="auto">
            <a:xfrm>
              <a:off x="6268652" y="5012007"/>
              <a:ext cx="403767" cy="307777"/>
            </a:xfrm>
            <a:prstGeom prst="rect">
              <a:avLst/>
            </a:prstGeom>
            <a:solidFill>
              <a:schemeClr val="accent1">
                <a:lumMod val="20000"/>
                <a:lumOff val="8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4</a:t>
              </a:r>
            </a:p>
          </p:txBody>
        </p:sp>
        <p:sp>
          <p:nvSpPr>
            <p:cNvPr id="710749" name="Text Box 93">
              <a:extLst>
                <a:ext uri="{FF2B5EF4-FFF2-40B4-BE49-F238E27FC236}">
                  <a16:creationId xmlns:a16="http://schemas.microsoft.com/office/drawing/2014/main" id="{596B0AD8-0EEB-4465-B4A8-B2818D9B3645}"/>
                </a:ext>
              </a:extLst>
            </p:cNvPr>
            <p:cNvSpPr txBox="1">
              <a:spLocks noChangeArrowheads="1"/>
            </p:cNvSpPr>
            <p:nvPr/>
          </p:nvSpPr>
          <p:spPr bwMode="auto">
            <a:xfrm>
              <a:off x="3639351" y="4283591"/>
              <a:ext cx="709251" cy="3211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291" tIns="45646" rIns="91291" bIns="45646">
              <a:spAutoFit/>
            </a:bodyPr>
            <a:lstStyle/>
            <a:p>
              <a:pPr>
                <a:spcBef>
                  <a:spcPct val="50000"/>
                </a:spcBef>
              </a:pPr>
              <a:r>
                <a:rPr lang="en-US" altLang="en-US" sz="1600" b="1" dirty="0">
                  <a:solidFill>
                    <a:srgbClr val="C00000"/>
                  </a:solidFill>
                </a:rPr>
                <a:t>source</a:t>
              </a:r>
            </a:p>
          </p:txBody>
        </p:sp>
        <p:sp>
          <p:nvSpPr>
            <p:cNvPr id="710750" name="Text Box 94">
              <a:extLst>
                <a:ext uri="{FF2B5EF4-FFF2-40B4-BE49-F238E27FC236}">
                  <a16:creationId xmlns:a16="http://schemas.microsoft.com/office/drawing/2014/main" id="{817CFDA1-C5B7-47D0-89C0-CEC801739C87}"/>
                </a:ext>
              </a:extLst>
            </p:cNvPr>
            <p:cNvSpPr txBox="1">
              <a:spLocks noChangeArrowheads="1"/>
            </p:cNvSpPr>
            <p:nvPr/>
          </p:nvSpPr>
          <p:spPr bwMode="auto">
            <a:xfrm>
              <a:off x="11065864" y="4291069"/>
              <a:ext cx="497486" cy="3211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291" tIns="45646" rIns="91291" bIns="45646">
              <a:spAutoFit/>
            </a:bodyPr>
            <a:lstStyle/>
            <a:p>
              <a:pPr>
                <a:spcBef>
                  <a:spcPct val="50000"/>
                </a:spcBef>
              </a:pPr>
              <a:r>
                <a:rPr lang="en-US" altLang="en-US" sz="1600" b="1" dirty="0">
                  <a:solidFill>
                    <a:srgbClr val="C00000"/>
                  </a:solidFill>
                </a:rPr>
                <a:t>sink</a:t>
              </a:r>
            </a:p>
          </p:txBody>
        </p:sp>
      </p:grpSp>
      <p:sp>
        <p:nvSpPr>
          <p:cNvPr id="52" name="TextBox 51">
            <a:extLst>
              <a:ext uri="{FF2B5EF4-FFF2-40B4-BE49-F238E27FC236}">
                <a16:creationId xmlns:a16="http://schemas.microsoft.com/office/drawing/2014/main" id="{EDF5143E-D40F-4C1A-B2BF-E945B66749E6}"/>
              </a:ext>
            </a:extLst>
          </p:cNvPr>
          <p:cNvSpPr txBox="1"/>
          <p:nvPr/>
        </p:nvSpPr>
        <p:spPr>
          <a:xfrm>
            <a:off x="2165171" y="3653004"/>
            <a:ext cx="1591141" cy="461665"/>
          </a:xfrm>
          <a:prstGeom prst="rect">
            <a:avLst/>
          </a:prstGeom>
          <a:noFill/>
        </p:spPr>
        <p:txBody>
          <a:bodyPr wrap="none" rtlCol="0">
            <a:spAutoFit/>
          </a:bodyPr>
          <a:lstStyle/>
          <a:p>
            <a:r>
              <a:rPr lang="en-US" sz="2400" dirty="0"/>
              <a:t>capacity </a:t>
            </a:r>
            <a:r>
              <a:rPr lang="en-US" sz="2400" b="1" dirty="0">
                <a:solidFill>
                  <a:srgbClr val="0066CC"/>
                </a:solidFill>
              </a:rPr>
              <a:t>28</a:t>
            </a:r>
          </a:p>
        </p:txBody>
      </p:sp>
    </p:spTree>
    <p:extLst>
      <p:ext uri="{BB962C8B-B14F-4D97-AF65-F5344CB8AC3E}">
        <p14:creationId xmlns:p14="http://schemas.microsoft.com/office/powerpoint/2010/main" val="34404292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D01285-4735-44B2-AAC4-EDD8A8C589A9}"/>
              </a:ext>
            </a:extLst>
          </p:cNvPr>
          <p:cNvSpPr>
            <a:spLocks noGrp="1"/>
          </p:cNvSpPr>
          <p:nvPr>
            <p:ph type="title"/>
          </p:nvPr>
        </p:nvSpPr>
        <p:spPr/>
        <p:txBody>
          <a:bodyPr/>
          <a:lstStyle/>
          <a:p>
            <a:r>
              <a:rPr lang="en-US" dirty="0"/>
              <a:t>Flows and Cuts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156F1E3-DF5E-42DD-BF43-415999E37EBB}"/>
                  </a:ext>
                </a:extLst>
              </p:cNvPr>
              <p:cNvSpPr>
                <a:spLocks noGrp="1"/>
              </p:cNvSpPr>
              <p:nvPr>
                <p:ph idx="1"/>
              </p:nvPr>
            </p:nvSpPr>
            <p:spPr>
              <a:xfrm>
                <a:off x="628650" y="1366475"/>
                <a:ext cx="10891156" cy="5200045"/>
              </a:xfrm>
            </p:spPr>
            <p:txBody>
              <a:bodyPr>
                <a:noAutofit/>
              </a:bodyPr>
              <a:lstStyle/>
              <a:p>
                <a:pPr marL="0" indent="0">
                  <a:spcBef>
                    <a:spcPts val="0"/>
                  </a:spcBef>
                  <a:buNone/>
                </a:pPr>
                <a:r>
                  <a:rPr lang="en-US" altLang="en-US" sz="2000" dirty="0"/>
                  <a:t>Let </a:t>
                </a:r>
                <a14:m>
                  <m:oMath xmlns:m="http://schemas.openxmlformats.org/officeDocument/2006/math">
                    <m:r>
                      <a:rPr lang="en-US" altLang="en-US" sz="2000" b="1" i="1" dirty="0" smtClean="0">
                        <a:solidFill>
                          <a:srgbClr val="0066CC"/>
                        </a:solidFill>
                        <a:latin typeface="Cambria Math" panose="02040503050406030204" pitchFamily="18" charset="0"/>
                      </a:rPr>
                      <m:t>𝒇</m:t>
                    </m:r>
                  </m:oMath>
                </a14:m>
                <a:r>
                  <a:rPr lang="en-US" altLang="en-US" sz="2000" dirty="0"/>
                  <a:t> be any </a:t>
                </a:r>
                <a14:m>
                  <m:oMath xmlns:m="http://schemas.openxmlformats.org/officeDocument/2006/math">
                    <m:r>
                      <a:rPr lang="en-US" altLang="en-US" sz="2000" b="1" i="1" dirty="0" smtClean="0">
                        <a:solidFill>
                          <a:srgbClr val="0066CC"/>
                        </a:solidFill>
                        <a:latin typeface="Cambria Math" panose="02040503050406030204" pitchFamily="18" charset="0"/>
                      </a:rPr>
                      <m:t>𝒔</m:t>
                    </m:r>
                  </m:oMath>
                </a14:m>
                <a:r>
                  <a:rPr lang="en-US" altLang="en-US" sz="2000" dirty="0"/>
                  <a:t>-</a:t>
                </a:r>
                <a14:m>
                  <m:oMath xmlns:m="http://schemas.openxmlformats.org/officeDocument/2006/math">
                    <m:r>
                      <a:rPr lang="en-US" altLang="en-US" sz="2000" b="1" i="1" dirty="0" smtClean="0">
                        <a:solidFill>
                          <a:srgbClr val="0066CC"/>
                        </a:solidFill>
                        <a:latin typeface="Cambria Math" panose="02040503050406030204" pitchFamily="18" charset="0"/>
                      </a:rPr>
                      <m:t>𝒕</m:t>
                    </m:r>
                  </m:oMath>
                </a14:m>
                <a:r>
                  <a:rPr lang="en-US" altLang="en-US" sz="2000" dirty="0"/>
                  <a:t> flow and </a:t>
                </a:r>
                <a14:m>
                  <m:oMath xmlns:m="http://schemas.openxmlformats.org/officeDocument/2006/math">
                    <m:r>
                      <a:rPr lang="en-US" altLang="en-US" sz="2000" b="1" i="1" dirty="0" smtClean="0">
                        <a:solidFill>
                          <a:srgbClr val="0066CC"/>
                        </a:solidFill>
                        <a:latin typeface="Cambria Math" panose="02040503050406030204" pitchFamily="18" charset="0"/>
                      </a:rPr>
                      <m:t>(</m:t>
                    </m:r>
                    <m:r>
                      <a:rPr lang="en-US" altLang="en-US" sz="2000" b="1" i="1" dirty="0" smtClean="0">
                        <a:solidFill>
                          <a:srgbClr val="0066CC"/>
                        </a:solidFill>
                        <a:latin typeface="Cambria Math" panose="02040503050406030204" pitchFamily="18" charset="0"/>
                      </a:rPr>
                      <m:t>𝑨</m:t>
                    </m:r>
                    <m:r>
                      <a:rPr lang="en-US" altLang="en-US" sz="2000" b="1" i="1" dirty="0" smtClean="0">
                        <a:solidFill>
                          <a:srgbClr val="0066CC"/>
                        </a:solidFill>
                        <a:latin typeface="Cambria Math" panose="02040503050406030204" pitchFamily="18" charset="0"/>
                      </a:rPr>
                      <m:t>,</m:t>
                    </m:r>
                    <m:r>
                      <a:rPr lang="en-US" altLang="en-US" sz="2000" b="1" i="1" dirty="0" smtClean="0">
                        <a:solidFill>
                          <a:srgbClr val="0066CC"/>
                        </a:solidFill>
                        <a:latin typeface="Cambria Math" panose="02040503050406030204" pitchFamily="18" charset="0"/>
                      </a:rPr>
                      <m:t>𝑩</m:t>
                    </m:r>
                    <m:r>
                      <a:rPr lang="en-US" altLang="en-US" sz="2000" b="1" i="1" dirty="0" smtClean="0">
                        <a:solidFill>
                          <a:srgbClr val="0066CC"/>
                        </a:solidFill>
                        <a:latin typeface="Cambria Math" panose="02040503050406030204" pitchFamily="18" charset="0"/>
                      </a:rPr>
                      <m:t>)</m:t>
                    </m:r>
                  </m:oMath>
                </a14:m>
                <a:r>
                  <a:rPr lang="en-US" altLang="en-US" sz="2000" dirty="0"/>
                  <a:t> be any </a:t>
                </a:r>
                <a14:m>
                  <m:oMath xmlns:m="http://schemas.openxmlformats.org/officeDocument/2006/math">
                    <m:r>
                      <a:rPr lang="en-US" altLang="en-US" sz="2000" b="1" i="1" dirty="0" smtClean="0">
                        <a:solidFill>
                          <a:srgbClr val="0066CC"/>
                        </a:solidFill>
                        <a:latin typeface="Cambria Math" panose="02040503050406030204" pitchFamily="18" charset="0"/>
                      </a:rPr>
                      <m:t>𝒔</m:t>
                    </m:r>
                  </m:oMath>
                </a14:m>
                <a:r>
                  <a:rPr lang="en-US" altLang="en-US" sz="2000" dirty="0"/>
                  <a:t>-</a:t>
                </a:r>
                <a14:m>
                  <m:oMath xmlns:m="http://schemas.openxmlformats.org/officeDocument/2006/math">
                    <m:r>
                      <a:rPr lang="en-US" altLang="en-US" sz="2000" b="1" i="1" dirty="0" smtClean="0">
                        <a:solidFill>
                          <a:srgbClr val="0066CC"/>
                        </a:solidFill>
                        <a:latin typeface="Cambria Math" panose="02040503050406030204" pitchFamily="18" charset="0"/>
                      </a:rPr>
                      <m:t>𝒕</m:t>
                    </m:r>
                  </m:oMath>
                </a14:m>
                <a:r>
                  <a:rPr lang="en-US" altLang="en-US" sz="2000" dirty="0"/>
                  <a:t> cut:</a:t>
                </a:r>
                <a:endParaRPr lang="en-US" altLang="en-US" sz="1200" b="1" dirty="0">
                  <a:solidFill>
                    <a:srgbClr val="695082"/>
                  </a:solidFill>
                </a:endParaRPr>
              </a:p>
              <a:p>
                <a:pPr marL="0" indent="0">
                  <a:spcBef>
                    <a:spcPts val="0"/>
                  </a:spcBef>
                  <a:buNone/>
                </a:pPr>
                <a:r>
                  <a:rPr lang="en-US" altLang="en-US" sz="2000" b="1" dirty="0">
                    <a:solidFill>
                      <a:srgbClr val="695082"/>
                    </a:solidFill>
                  </a:rPr>
                  <a:t>Flow Value Lemma: </a:t>
                </a:r>
                <a:r>
                  <a:rPr lang="en-US" altLang="en-US" sz="2000" dirty="0"/>
                  <a:t> The net value of the flow sent across </a:t>
                </a:r>
                <a14:m>
                  <m:oMath xmlns:m="http://schemas.openxmlformats.org/officeDocument/2006/math">
                    <m:r>
                      <a:rPr lang="en-US" altLang="en-US" sz="2000" b="1" i="1" dirty="0">
                        <a:solidFill>
                          <a:srgbClr val="0066CC"/>
                        </a:solidFill>
                        <a:latin typeface="Cambria Math" panose="02040503050406030204" pitchFamily="18" charset="0"/>
                      </a:rPr>
                      <m:t>(</m:t>
                    </m:r>
                    <m:r>
                      <a:rPr lang="en-US" altLang="en-US" sz="2000" b="1" i="1" dirty="0">
                        <a:solidFill>
                          <a:srgbClr val="0066CC"/>
                        </a:solidFill>
                        <a:latin typeface="Cambria Math" panose="02040503050406030204" pitchFamily="18" charset="0"/>
                      </a:rPr>
                      <m:t>𝑨</m:t>
                    </m:r>
                    <m:r>
                      <a:rPr lang="en-US" altLang="en-US" sz="2000" b="1" i="1" dirty="0">
                        <a:solidFill>
                          <a:srgbClr val="0066CC"/>
                        </a:solidFill>
                        <a:latin typeface="Cambria Math" panose="02040503050406030204" pitchFamily="18" charset="0"/>
                      </a:rPr>
                      <m:t>,</m:t>
                    </m:r>
                    <m:r>
                      <a:rPr lang="en-US" altLang="en-US" sz="2000" b="1" i="1" dirty="0">
                        <a:solidFill>
                          <a:srgbClr val="0066CC"/>
                        </a:solidFill>
                        <a:latin typeface="Cambria Math" panose="02040503050406030204" pitchFamily="18" charset="0"/>
                      </a:rPr>
                      <m:t>𝑩</m:t>
                    </m:r>
                    <m:r>
                      <a:rPr lang="en-US" altLang="en-US" sz="2000" b="1" i="1" dirty="0">
                        <a:solidFill>
                          <a:srgbClr val="0066CC"/>
                        </a:solidFill>
                        <a:latin typeface="Cambria Math" panose="02040503050406030204" pitchFamily="18" charset="0"/>
                      </a:rPr>
                      <m:t>)</m:t>
                    </m:r>
                  </m:oMath>
                </a14:m>
                <a:r>
                  <a:rPr lang="en-US" altLang="en-US" sz="2000" dirty="0"/>
                  <a:t> equals </a:t>
                </a:r>
                <a14:m>
                  <m:oMath xmlns:m="http://schemas.openxmlformats.org/officeDocument/2006/math">
                    <m:r>
                      <a:rPr lang="en-US" altLang="en-US" sz="2000" b="1" i="1" dirty="0" smtClean="0">
                        <a:solidFill>
                          <a:srgbClr val="0066CC"/>
                        </a:solidFill>
                        <a:latin typeface="Cambria Math" panose="02040503050406030204" pitchFamily="18" charset="0"/>
                      </a:rPr>
                      <m:t>𝒗</m:t>
                    </m:r>
                    <m:d>
                      <m:dPr>
                        <m:ctrlPr>
                          <a:rPr lang="en-US" altLang="en-US" sz="2000" b="1" i="1" dirty="0" smtClean="0">
                            <a:solidFill>
                              <a:srgbClr val="0066CC"/>
                            </a:solidFill>
                            <a:latin typeface="Cambria Math" panose="02040503050406030204" pitchFamily="18" charset="0"/>
                          </a:rPr>
                        </m:ctrlPr>
                      </m:dPr>
                      <m:e>
                        <m:r>
                          <a:rPr lang="en-US" altLang="en-US" sz="2000" b="1" i="1" dirty="0" smtClean="0">
                            <a:solidFill>
                              <a:srgbClr val="0066CC"/>
                            </a:solidFill>
                            <a:latin typeface="Cambria Math" panose="02040503050406030204" pitchFamily="18" charset="0"/>
                          </a:rPr>
                          <m:t>𝒇</m:t>
                        </m:r>
                      </m:e>
                    </m:d>
                  </m:oMath>
                </a14:m>
                <a:r>
                  <a:rPr lang="en-US" altLang="en-US" sz="2000" dirty="0"/>
                  <a:t>.</a:t>
                </a:r>
              </a:p>
              <a:p>
                <a:pPr marL="0" indent="0">
                  <a:spcBef>
                    <a:spcPts val="0"/>
                  </a:spcBef>
                  <a:buNone/>
                </a:pPr>
                <a:r>
                  <a:rPr lang="en-US" altLang="en-US" sz="2000" dirty="0"/>
                  <a:t>             </a:t>
                </a:r>
                <a:r>
                  <a:rPr lang="en-US" altLang="en-US" sz="2000" b="1" dirty="0">
                    <a:solidFill>
                      <a:srgbClr val="006600"/>
                    </a:solidFill>
                  </a:rPr>
                  <a:t>Intuition</a:t>
                </a:r>
                <a:r>
                  <a:rPr lang="en-US" altLang="en-US" sz="2000" dirty="0"/>
                  <a:t>: All flow coming from </a:t>
                </a:r>
                <a14:m>
                  <m:oMath xmlns:m="http://schemas.openxmlformats.org/officeDocument/2006/math">
                    <m:r>
                      <a:rPr lang="en-US" altLang="en-US" sz="2000" b="0" i="1" smtClean="0">
                        <a:latin typeface="Cambria Math" panose="02040503050406030204" pitchFamily="18" charset="0"/>
                      </a:rPr>
                      <m:t>𝑠</m:t>
                    </m:r>
                  </m:oMath>
                </a14:m>
                <a:r>
                  <a:rPr lang="en-US" altLang="en-US" sz="2000" dirty="0"/>
                  <a:t> must eventually reach </a:t>
                </a:r>
                <a14:m>
                  <m:oMath xmlns:m="http://schemas.openxmlformats.org/officeDocument/2006/math">
                    <m:r>
                      <a:rPr lang="en-US" altLang="en-US" sz="2000" b="0" i="1" smtClean="0">
                        <a:latin typeface="Cambria Math" panose="02040503050406030204" pitchFamily="18" charset="0"/>
                      </a:rPr>
                      <m:t>𝑡</m:t>
                    </m:r>
                  </m:oMath>
                </a14:m>
                <a:r>
                  <a:rPr lang="en-US" altLang="en-US" sz="2000" dirty="0"/>
                  <a:t>, and so must 	</a:t>
                </a:r>
                <a:br>
                  <a:rPr lang="en-US" altLang="en-US" sz="2000" dirty="0"/>
                </a:br>
                <a:r>
                  <a:rPr lang="en-US" altLang="en-US" sz="2000" dirty="0"/>
                  <a:t>                               cross that cut</a:t>
                </a:r>
                <a:endParaRPr lang="en-US" altLang="en-US" sz="2000" b="1" dirty="0">
                  <a:solidFill>
                    <a:srgbClr val="695082"/>
                  </a:solidFill>
                </a:endParaRPr>
              </a:p>
              <a:p>
                <a:pPr marL="0" indent="0">
                  <a:spcBef>
                    <a:spcPts val="0"/>
                  </a:spcBef>
                  <a:buNone/>
                </a:pPr>
                <a:r>
                  <a:rPr lang="en-US" altLang="en-US" sz="2000" b="1" dirty="0">
                    <a:solidFill>
                      <a:srgbClr val="695082"/>
                    </a:solidFill>
                  </a:rPr>
                  <a:t>Weak Duality: </a:t>
                </a:r>
                <a:r>
                  <a:rPr lang="en-US" altLang="en-US" sz="2000" dirty="0"/>
                  <a:t>The value of the flow is at most the capacity of the cut;                        	              i.e., </a:t>
                </a:r>
                <a14:m>
                  <m:oMath xmlns:m="http://schemas.openxmlformats.org/officeDocument/2006/math">
                    <m:r>
                      <a:rPr lang="en-US" altLang="en-US" sz="2000" b="1" i="1" dirty="0" smtClean="0">
                        <a:solidFill>
                          <a:srgbClr val="0066CC"/>
                        </a:solidFill>
                        <a:latin typeface="Cambria Math" panose="02040503050406030204" pitchFamily="18" charset="0"/>
                      </a:rPr>
                      <m:t>𝒗</m:t>
                    </m:r>
                    <m:d>
                      <m:dPr>
                        <m:ctrlPr>
                          <a:rPr lang="en-US" altLang="en-US" sz="2000" b="1" i="1" dirty="0" smtClean="0">
                            <a:solidFill>
                              <a:srgbClr val="0066CC"/>
                            </a:solidFill>
                            <a:latin typeface="Cambria Math" panose="02040503050406030204" pitchFamily="18" charset="0"/>
                          </a:rPr>
                        </m:ctrlPr>
                      </m:dPr>
                      <m:e>
                        <m:r>
                          <a:rPr lang="en-US" altLang="en-US" sz="2000" b="1" i="1" dirty="0" smtClean="0">
                            <a:solidFill>
                              <a:srgbClr val="0066CC"/>
                            </a:solidFill>
                            <a:latin typeface="Cambria Math" panose="02040503050406030204" pitchFamily="18" charset="0"/>
                          </a:rPr>
                          <m:t>𝒇</m:t>
                        </m:r>
                      </m:e>
                    </m:d>
                    <m:r>
                      <a:rPr lang="en-US" altLang="en-US" sz="2000" b="1" i="1" dirty="0" smtClean="0">
                        <a:solidFill>
                          <a:srgbClr val="0066CC"/>
                        </a:solidFill>
                        <a:latin typeface="Cambria Math" panose="02040503050406030204" pitchFamily="18" charset="0"/>
                      </a:rPr>
                      <m:t>≤</m:t>
                    </m:r>
                    <m:r>
                      <a:rPr lang="en-US" altLang="en-US" sz="2000" b="1" i="1" dirty="0" smtClean="0">
                        <a:solidFill>
                          <a:srgbClr val="0066CC"/>
                        </a:solidFill>
                        <a:latin typeface="Cambria Math" panose="02040503050406030204" pitchFamily="18" charset="0"/>
                      </a:rPr>
                      <m:t>𝒄</m:t>
                    </m:r>
                    <m:d>
                      <m:dPr>
                        <m:ctrlPr>
                          <a:rPr lang="en-US" altLang="en-US" sz="2000" b="1" i="1" dirty="0" smtClean="0">
                            <a:solidFill>
                              <a:srgbClr val="0066CC"/>
                            </a:solidFill>
                            <a:latin typeface="Cambria Math" panose="02040503050406030204" pitchFamily="18" charset="0"/>
                          </a:rPr>
                        </m:ctrlPr>
                      </m:dPr>
                      <m:e>
                        <m:r>
                          <a:rPr lang="en-US" altLang="en-US" sz="2000" b="1" i="1" dirty="0" smtClean="0">
                            <a:solidFill>
                              <a:srgbClr val="0066CC"/>
                            </a:solidFill>
                            <a:latin typeface="Cambria Math" panose="02040503050406030204" pitchFamily="18" charset="0"/>
                          </a:rPr>
                          <m:t>𝑨</m:t>
                        </m:r>
                        <m:r>
                          <a:rPr lang="en-US" altLang="en-US" sz="2000" b="1" i="1" dirty="0" smtClean="0">
                            <a:solidFill>
                              <a:srgbClr val="0066CC"/>
                            </a:solidFill>
                            <a:latin typeface="Cambria Math" panose="02040503050406030204" pitchFamily="18" charset="0"/>
                          </a:rPr>
                          <m:t>,</m:t>
                        </m:r>
                        <m:r>
                          <a:rPr lang="en-US" altLang="en-US" sz="2000" b="1" i="1" dirty="0" smtClean="0">
                            <a:solidFill>
                              <a:srgbClr val="0066CC"/>
                            </a:solidFill>
                            <a:latin typeface="Cambria Math" panose="02040503050406030204" pitchFamily="18" charset="0"/>
                          </a:rPr>
                          <m:t>𝑩</m:t>
                        </m:r>
                      </m:e>
                    </m:d>
                  </m:oMath>
                </a14:m>
                <a:r>
                  <a:rPr lang="en-US" altLang="en-US" sz="2000" dirty="0"/>
                  <a:t>.</a:t>
                </a:r>
              </a:p>
              <a:p>
                <a:pPr marL="0" indent="0">
                  <a:spcBef>
                    <a:spcPts val="0"/>
                  </a:spcBef>
                  <a:buNone/>
                </a:pPr>
                <a:r>
                  <a:rPr lang="en-US" altLang="en-US" sz="2000" b="1" dirty="0">
                    <a:solidFill>
                      <a:srgbClr val="006600"/>
                    </a:solidFill>
                  </a:rPr>
                  <a:t>         Intuition</a:t>
                </a:r>
                <a:r>
                  <a:rPr lang="en-US" altLang="en-US" sz="2000" dirty="0"/>
                  <a:t>: Since all flow must cross any cut, any cut’s capacity is an upper bound</a:t>
                </a:r>
                <a:br>
                  <a:rPr lang="en-US" altLang="en-US" sz="2000" dirty="0"/>
                </a:br>
                <a:r>
                  <a:rPr lang="en-US" altLang="en-US" sz="2000" dirty="0"/>
                  <a:t>                           on the flow</a:t>
                </a:r>
                <a:endParaRPr lang="en-US" altLang="en-US" sz="2000" b="1" dirty="0">
                  <a:solidFill>
                    <a:srgbClr val="695082"/>
                  </a:solidFill>
                </a:endParaRPr>
              </a:p>
              <a:p>
                <a:pPr marL="0" indent="0">
                  <a:spcBef>
                    <a:spcPts val="0"/>
                  </a:spcBef>
                  <a:buNone/>
                </a:pPr>
                <a:r>
                  <a:rPr lang="en-US" altLang="en-US" sz="2000" b="1" dirty="0">
                    <a:solidFill>
                      <a:srgbClr val="695082"/>
                    </a:solidFill>
                  </a:rPr>
                  <a:t>Corollary: </a:t>
                </a:r>
                <a:r>
                  <a:rPr lang="en-US" altLang="en-US" sz="2000" dirty="0"/>
                  <a:t>If </a:t>
                </a:r>
                <a14:m>
                  <m:oMath xmlns:m="http://schemas.openxmlformats.org/officeDocument/2006/math">
                    <m:r>
                      <a:rPr lang="en-US" altLang="en-US" sz="2000" b="1" i="1" dirty="0" smtClean="0">
                        <a:solidFill>
                          <a:srgbClr val="0066CC"/>
                        </a:solidFill>
                        <a:latin typeface="Cambria Math" panose="02040503050406030204" pitchFamily="18" charset="0"/>
                      </a:rPr>
                      <m:t>𝒗</m:t>
                    </m:r>
                    <m:d>
                      <m:dPr>
                        <m:ctrlPr>
                          <a:rPr lang="en-US" altLang="en-US" sz="2000" b="1" i="1" dirty="0" smtClean="0">
                            <a:solidFill>
                              <a:srgbClr val="0066CC"/>
                            </a:solidFill>
                            <a:latin typeface="Cambria Math" panose="02040503050406030204" pitchFamily="18" charset="0"/>
                          </a:rPr>
                        </m:ctrlPr>
                      </m:dPr>
                      <m:e>
                        <m:r>
                          <a:rPr lang="en-US" altLang="en-US" sz="2000" b="1" i="1" dirty="0" smtClean="0">
                            <a:solidFill>
                              <a:srgbClr val="0066CC"/>
                            </a:solidFill>
                            <a:latin typeface="Cambria Math" panose="02040503050406030204" pitchFamily="18" charset="0"/>
                          </a:rPr>
                          <m:t>𝒇</m:t>
                        </m:r>
                      </m:e>
                    </m:d>
                    <m:r>
                      <a:rPr lang="en-US" altLang="en-US" sz="2000" b="1" i="1" dirty="0" smtClean="0">
                        <a:solidFill>
                          <a:srgbClr val="0066CC"/>
                        </a:solidFill>
                        <a:latin typeface="Cambria Math" panose="02040503050406030204" pitchFamily="18" charset="0"/>
                      </a:rPr>
                      <m:t>=</m:t>
                    </m:r>
                    <m:r>
                      <a:rPr lang="en-US" altLang="en-US" sz="2000" b="1" i="1" dirty="0" smtClean="0">
                        <a:solidFill>
                          <a:srgbClr val="0066CC"/>
                        </a:solidFill>
                        <a:latin typeface="Cambria Math" panose="02040503050406030204" pitchFamily="18" charset="0"/>
                      </a:rPr>
                      <m:t>𝒄</m:t>
                    </m:r>
                    <m:r>
                      <a:rPr lang="en-US" altLang="en-US" sz="2000" b="1" i="1" dirty="0" smtClean="0">
                        <a:solidFill>
                          <a:srgbClr val="0066CC"/>
                        </a:solidFill>
                        <a:latin typeface="Cambria Math" panose="02040503050406030204" pitchFamily="18" charset="0"/>
                      </a:rPr>
                      <m:t>(</m:t>
                    </m:r>
                    <m:r>
                      <a:rPr lang="en-US" altLang="en-US" sz="2000" b="1" i="1" dirty="0" smtClean="0">
                        <a:solidFill>
                          <a:srgbClr val="0066CC"/>
                        </a:solidFill>
                        <a:latin typeface="Cambria Math" panose="02040503050406030204" pitchFamily="18" charset="0"/>
                      </a:rPr>
                      <m:t>𝑨</m:t>
                    </m:r>
                    <m:r>
                      <a:rPr lang="en-US" altLang="en-US" sz="2000" b="1" i="1" dirty="0" smtClean="0">
                        <a:solidFill>
                          <a:srgbClr val="0066CC"/>
                        </a:solidFill>
                        <a:latin typeface="Cambria Math" panose="02040503050406030204" pitchFamily="18" charset="0"/>
                      </a:rPr>
                      <m:t>,</m:t>
                    </m:r>
                    <m:r>
                      <a:rPr lang="en-US" altLang="en-US" sz="2000" b="1" i="1" dirty="0" smtClean="0">
                        <a:solidFill>
                          <a:srgbClr val="0066CC"/>
                        </a:solidFill>
                        <a:latin typeface="Cambria Math" panose="02040503050406030204" pitchFamily="18" charset="0"/>
                      </a:rPr>
                      <m:t>𝑩</m:t>
                    </m:r>
                    <m:r>
                      <a:rPr lang="en-US" altLang="en-US" sz="2000" b="1" i="1" dirty="0" smtClean="0">
                        <a:solidFill>
                          <a:srgbClr val="0066CC"/>
                        </a:solidFill>
                        <a:latin typeface="Cambria Math" panose="02040503050406030204" pitchFamily="18" charset="0"/>
                      </a:rPr>
                      <m:t>)</m:t>
                    </m:r>
                  </m:oMath>
                </a14:m>
                <a:r>
                  <a:rPr lang="en-US" altLang="en-US" sz="2000" dirty="0"/>
                  <a:t> then </a:t>
                </a:r>
                <a14:m>
                  <m:oMath xmlns:m="http://schemas.openxmlformats.org/officeDocument/2006/math">
                    <m:r>
                      <a:rPr lang="en-US" altLang="en-US" sz="2000" b="1" i="1" dirty="0" smtClean="0">
                        <a:solidFill>
                          <a:srgbClr val="0066CC"/>
                        </a:solidFill>
                        <a:latin typeface="Cambria Math" panose="02040503050406030204" pitchFamily="18" charset="0"/>
                      </a:rPr>
                      <m:t>𝒇</m:t>
                    </m:r>
                  </m:oMath>
                </a14:m>
                <a:r>
                  <a:rPr lang="en-US" altLang="en-US" sz="2000" dirty="0"/>
                  <a:t> is a maximum flow and </a:t>
                </a:r>
                <a14:m>
                  <m:oMath xmlns:m="http://schemas.openxmlformats.org/officeDocument/2006/math">
                    <m:r>
                      <a:rPr lang="en-US" altLang="en-US" sz="2000" b="1" i="1" dirty="0" smtClean="0">
                        <a:solidFill>
                          <a:srgbClr val="0066CC"/>
                        </a:solidFill>
                        <a:latin typeface="Cambria Math" panose="02040503050406030204" pitchFamily="18" charset="0"/>
                      </a:rPr>
                      <m:t>(</m:t>
                    </m:r>
                    <m:r>
                      <a:rPr lang="en-US" altLang="en-US" sz="2000" b="1" i="1" dirty="0" smtClean="0">
                        <a:solidFill>
                          <a:srgbClr val="0066CC"/>
                        </a:solidFill>
                        <a:latin typeface="Cambria Math" panose="02040503050406030204" pitchFamily="18" charset="0"/>
                      </a:rPr>
                      <m:t>𝑨</m:t>
                    </m:r>
                    <m:r>
                      <a:rPr lang="en-US" altLang="en-US" sz="2000" b="1" i="1" dirty="0" smtClean="0">
                        <a:solidFill>
                          <a:srgbClr val="0066CC"/>
                        </a:solidFill>
                        <a:latin typeface="Cambria Math" panose="02040503050406030204" pitchFamily="18" charset="0"/>
                      </a:rPr>
                      <m:t>,</m:t>
                    </m:r>
                    <m:r>
                      <a:rPr lang="en-US" altLang="en-US" sz="2000" b="1" i="1" dirty="0" smtClean="0">
                        <a:solidFill>
                          <a:srgbClr val="0066CC"/>
                        </a:solidFill>
                        <a:latin typeface="Cambria Math" panose="02040503050406030204" pitchFamily="18" charset="0"/>
                      </a:rPr>
                      <m:t>𝑩</m:t>
                    </m:r>
                    <m:r>
                      <a:rPr lang="en-US" altLang="en-US" sz="2000" b="1" i="1" dirty="0" smtClean="0">
                        <a:solidFill>
                          <a:srgbClr val="0066CC"/>
                        </a:solidFill>
                        <a:latin typeface="Cambria Math" panose="02040503050406030204" pitchFamily="18" charset="0"/>
                      </a:rPr>
                      <m:t>)</m:t>
                    </m:r>
                  </m:oMath>
                </a14:m>
                <a:r>
                  <a:rPr lang="en-US" altLang="en-US" sz="2000" dirty="0"/>
                  <a:t> is a minimum cut.</a:t>
                </a:r>
              </a:p>
              <a:p>
                <a:pPr marL="0" indent="0">
                  <a:spcBef>
                    <a:spcPts val="0"/>
                  </a:spcBef>
                  <a:buNone/>
                </a:pPr>
                <a:r>
                  <a:rPr lang="en-US" altLang="en-US" sz="2000" b="1" dirty="0">
                    <a:solidFill>
                      <a:srgbClr val="006600"/>
                    </a:solidFill>
                  </a:rPr>
                  <a:t> Intuition</a:t>
                </a:r>
                <a:r>
                  <a:rPr lang="en-US" altLang="en-US" sz="2000" dirty="0"/>
                  <a:t>: If we find a cut whose capacity matches the flow, we can’t push more flow</a:t>
                </a:r>
                <a:br>
                  <a:rPr lang="en-US" altLang="en-US" sz="2000" dirty="0"/>
                </a:br>
                <a:r>
                  <a:rPr lang="en-US" altLang="en-US" sz="2000" dirty="0"/>
                  <a:t>                   through that cut because it’s already at capacity. We additionally can’t find</a:t>
                </a:r>
                <a:br>
                  <a:rPr lang="en-US" altLang="en-US" sz="2000" dirty="0"/>
                </a:br>
                <a:r>
                  <a:rPr lang="en-US" altLang="en-US" sz="2000" dirty="0"/>
                  <a:t>                   a smaller cut, since that flow was achievable.</a:t>
                </a:r>
              </a:p>
              <a:p>
                <a:pPr>
                  <a:spcBef>
                    <a:spcPts val="0"/>
                  </a:spcBef>
                </a:pPr>
                <a:endParaRPr lang="en-US" altLang="en-US" sz="2400" dirty="0"/>
              </a:p>
              <a:p>
                <a:pPr>
                  <a:spcBef>
                    <a:spcPts val="0"/>
                  </a:spcBef>
                </a:pPr>
                <a:endParaRPr lang="en-US" altLang="en-US" sz="2400" dirty="0"/>
              </a:p>
              <a:p>
                <a:pPr>
                  <a:spcBef>
                    <a:spcPts val="0"/>
                  </a:spcBef>
                </a:pPr>
                <a:endParaRPr lang="en-US" altLang="en-US" sz="2400" dirty="0"/>
              </a:p>
              <a:p>
                <a:pPr>
                  <a:spcBef>
                    <a:spcPts val="0"/>
                  </a:spcBef>
                </a:pPr>
                <a:endParaRPr lang="en-US" altLang="en-US" sz="2400" dirty="0"/>
              </a:p>
              <a:p>
                <a:pPr>
                  <a:spcBef>
                    <a:spcPts val="0"/>
                  </a:spcBef>
                </a:pPr>
                <a:endParaRPr lang="en-US" sz="2400" dirty="0"/>
              </a:p>
            </p:txBody>
          </p:sp>
        </mc:Choice>
        <mc:Fallback>
          <p:sp>
            <p:nvSpPr>
              <p:cNvPr id="3" name="Content Placeholder 2">
                <a:extLst>
                  <a:ext uri="{FF2B5EF4-FFF2-40B4-BE49-F238E27FC236}">
                    <a16:creationId xmlns:a16="http://schemas.microsoft.com/office/drawing/2014/main" id="{D156F1E3-DF5E-42DD-BF43-415999E37EBB}"/>
                  </a:ext>
                </a:extLst>
              </p:cNvPr>
              <p:cNvSpPr>
                <a:spLocks noGrp="1" noRot="1" noChangeAspect="1" noMove="1" noResize="1" noEditPoints="1" noAdjustHandles="1" noChangeArrowheads="1" noChangeShapeType="1" noTextEdit="1"/>
              </p:cNvSpPr>
              <p:nvPr>
                <p:ph idx="1"/>
              </p:nvPr>
            </p:nvSpPr>
            <p:spPr>
              <a:xfrm>
                <a:off x="628650" y="1366475"/>
                <a:ext cx="10891156" cy="5200045"/>
              </a:xfrm>
              <a:blipFill>
                <a:blip r:embed="rId2"/>
                <a:stretch>
                  <a:fillRect l="-560"/>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5A3EA93F-7F31-483A-A09C-ACE1DA2C6B4D}"/>
              </a:ext>
            </a:extLst>
          </p:cNvPr>
          <p:cNvSpPr>
            <a:spLocks noGrp="1"/>
          </p:cNvSpPr>
          <p:nvPr>
            <p:ph type="sldNum" sz="quarter" idx="12"/>
          </p:nvPr>
        </p:nvSpPr>
        <p:spPr/>
        <p:txBody>
          <a:bodyPr/>
          <a:lstStyle/>
          <a:p>
            <a:fld id="{859767C1-1CFC-4BF3-A3D8-E4104FCBBC17}" type="slidenum">
              <a:rPr lang="en-US" smtClean="0"/>
              <a:pPr/>
              <a:t>11</a:t>
            </a:fld>
            <a:endParaRPr lang="en-US" dirty="0"/>
          </a:p>
        </p:txBody>
      </p:sp>
    </p:spTree>
    <p:extLst>
      <p:ext uri="{BB962C8B-B14F-4D97-AF65-F5344CB8AC3E}">
        <p14:creationId xmlns:p14="http://schemas.microsoft.com/office/powerpoint/2010/main" val="10670603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49940E-CE94-4E63-811D-E3B714E238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14D621-98D4-82A8-FCF4-97F36A00F835}"/>
              </a:ext>
            </a:extLst>
          </p:cNvPr>
          <p:cNvSpPr>
            <a:spLocks noGrp="1"/>
          </p:cNvSpPr>
          <p:nvPr>
            <p:ph type="title"/>
          </p:nvPr>
        </p:nvSpPr>
        <p:spPr/>
        <p:txBody>
          <a:bodyPr/>
          <a:lstStyle/>
          <a:p>
            <a:r>
              <a:rPr lang="en-US" dirty="0"/>
              <a:t>Flows and Cuts (Simplified)</a:t>
            </a:r>
          </a:p>
        </p:txBody>
      </p:sp>
      <p:sp>
        <p:nvSpPr>
          <p:cNvPr id="3" name="Content Placeholder 2">
            <a:extLst>
              <a:ext uri="{FF2B5EF4-FFF2-40B4-BE49-F238E27FC236}">
                <a16:creationId xmlns:a16="http://schemas.microsoft.com/office/drawing/2014/main" id="{BCD0BB6D-4B08-B8C3-DE00-0B36A93B25D0}"/>
              </a:ext>
            </a:extLst>
          </p:cNvPr>
          <p:cNvSpPr>
            <a:spLocks noGrp="1"/>
          </p:cNvSpPr>
          <p:nvPr>
            <p:ph idx="1"/>
          </p:nvPr>
        </p:nvSpPr>
        <p:spPr>
          <a:xfrm>
            <a:off x="628650" y="1366475"/>
            <a:ext cx="10891156" cy="5200045"/>
          </a:xfrm>
        </p:spPr>
        <p:txBody>
          <a:bodyPr>
            <a:noAutofit/>
          </a:bodyPr>
          <a:lstStyle/>
          <a:p>
            <a:pPr marL="457200" indent="-457200">
              <a:spcBef>
                <a:spcPts val="0"/>
              </a:spcBef>
              <a:buFont typeface="+mj-lt"/>
              <a:buAutoNum type="arabicPeriod"/>
            </a:pPr>
            <a:r>
              <a:rPr lang="en-US" sz="2400" dirty="0"/>
              <a:t>The net flow crossing any cut equals the flow value.</a:t>
            </a:r>
          </a:p>
          <a:p>
            <a:pPr marL="1381125" lvl="2" indent="-457200">
              <a:spcBef>
                <a:spcPts val="0"/>
              </a:spcBef>
            </a:pPr>
            <a:r>
              <a:rPr lang="en-US" sz="2400" dirty="0"/>
              <a:t>Why? Everything must cross the cut eventually</a:t>
            </a:r>
          </a:p>
          <a:p>
            <a:pPr marL="457200" indent="-457200">
              <a:spcBef>
                <a:spcPts val="0"/>
              </a:spcBef>
              <a:buFont typeface="+mj-lt"/>
              <a:buAutoNum type="arabicPeriod"/>
            </a:pPr>
            <a:r>
              <a:rPr lang="en-US" sz="2400" dirty="0"/>
              <a:t>The capacity of any cut therefore is an upper bound on the max flow</a:t>
            </a:r>
          </a:p>
          <a:p>
            <a:pPr marL="1381125" lvl="2" indent="-457200">
              <a:spcBef>
                <a:spcPts val="0"/>
              </a:spcBef>
            </a:pPr>
            <a:r>
              <a:rPr lang="en-US" sz="2400" dirty="0"/>
              <a:t>Why? No flow can exceed that capacity due to statement 1</a:t>
            </a:r>
          </a:p>
          <a:p>
            <a:pPr marL="457200" indent="-457200">
              <a:spcBef>
                <a:spcPts val="0"/>
              </a:spcBef>
              <a:buFont typeface="+mj-lt"/>
              <a:buAutoNum type="arabicPeriod"/>
            </a:pPr>
            <a:r>
              <a:rPr lang="en-US" sz="2400" dirty="0"/>
              <a:t>If we found a flow whose value matches the capacity of some cut, then we know that the flow must be maximum, and the cut must be minimum</a:t>
            </a:r>
          </a:p>
          <a:p>
            <a:pPr marL="1381125" lvl="2" indent="-457200">
              <a:spcBef>
                <a:spcPts val="0"/>
              </a:spcBef>
            </a:pPr>
            <a:r>
              <a:rPr lang="en-US" sz="2400" dirty="0"/>
              <a:t>Why? If there was a smaller cut or larger flow, we’ve broken statement 2</a:t>
            </a:r>
          </a:p>
          <a:p>
            <a:pPr marL="590550" lvl="1" indent="-457200">
              <a:spcBef>
                <a:spcPts val="0"/>
              </a:spcBef>
            </a:pPr>
            <a:r>
              <a:rPr lang="en-US" sz="2400" b="1" dirty="0"/>
              <a:t>What we need for correctness:</a:t>
            </a:r>
          </a:p>
          <a:p>
            <a:pPr marL="590550" lvl="1" indent="-457200">
              <a:spcBef>
                <a:spcPts val="0"/>
              </a:spcBef>
            </a:pPr>
            <a:r>
              <a:rPr lang="en-US" sz="2400" b="1" dirty="0"/>
              <a:t>	When Ford-Fulkerson terminates, there exists a cut whose capacity matches the current flow value.</a:t>
            </a:r>
          </a:p>
        </p:txBody>
      </p:sp>
      <p:sp>
        <p:nvSpPr>
          <p:cNvPr id="4" name="Slide Number Placeholder 3">
            <a:extLst>
              <a:ext uri="{FF2B5EF4-FFF2-40B4-BE49-F238E27FC236}">
                <a16:creationId xmlns:a16="http://schemas.microsoft.com/office/drawing/2014/main" id="{F2E78E1B-EEA5-105C-C95D-119AD6B9DE1D}"/>
              </a:ext>
            </a:extLst>
          </p:cNvPr>
          <p:cNvSpPr>
            <a:spLocks noGrp="1"/>
          </p:cNvSpPr>
          <p:nvPr>
            <p:ph type="sldNum" sz="quarter" idx="12"/>
          </p:nvPr>
        </p:nvSpPr>
        <p:spPr/>
        <p:txBody>
          <a:bodyPr/>
          <a:lstStyle/>
          <a:p>
            <a:fld id="{859767C1-1CFC-4BF3-A3D8-E4104FCBBC17}" type="slidenum">
              <a:rPr lang="en-US" smtClean="0"/>
              <a:pPr/>
              <a:t>12</a:t>
            </a:fld>
            <a:endParaRPr lang="en-US" dirty="0"/>
          </a:p>
        </p:txBody>
      </p:sp>
    </p:spTree>
    <p:extLst>
      <p:ext uri="{BB962C8B-B14F-4D97-AF65-F5344CB8AC3E}">
        <p14:creationId xmlns:p14="http://schemas.microsoft.com/office/powerpoint/2010/main" val="40170416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Freeform: Shape 52">
            <a:extLst>
              <a:ext uri="{FF2B5EF4-FFF2-40B4-BE49-F238E27FC236}">
                <a16:creationId xmlns:a16="http://schemas.microsoft.com/office/drawing/2014/main" id="{B10F50DA-0750-4263-9B79-38F4626A6DBD}"/>
              </a:ext>
            </a:extLst>
          </p:cNvPr>
          <p:cNvSpPr/>
          <p:nvPr/>
        </p:nvSpPr>
        <p:spPr bwMode="auto">
          <a:xfrm>
            <a:off x="4104167" y="3868651"/>
            <a:ext cx="5425657" cy="2227394"/>
          </a:xfrm>
          <a:custGeom>
            <a:avLst/>
            <a:gdLst>
              <a:gd name="connsiteX0" fmla="*/ 31470 w 6228837"/>
              <a:gd name="connsiteY0" fmla="*/ 469433 h 2227394"/>
              <a:gd name="connsiteX1" fmla="*/ 414242 w 6228837"/>
              <a:gd name="connsiteY1" fmla="*/ 1203079 h 2227394"/>
              <a:gd name="connsiteX2" fmla="*/ 1371172 w 6228837"/>
              <a:gd name="connsiteY2" fmla="*/ 1755972 h 2227394"/>
              <a:gd name="connsiteX3" fmla="*/ 2434428 w 6228837"/>
              <a:gd name="connsiteY3" fmla="*/ 2170642 h 2227394"/>
              <a:gd name="connsiteX4" fmla="*/ 3444521 w 6228837"/>
              <a:gd name="connsiteY4" fmla="*/ 2202540 h 2227394"/>
              <a:gd name="connsiteX5" fmla="*/ 5687991 w 6228837"/>
              <a:gd name="connsiteY5" fmla="*/ 2202540 h 2227394"/>
              <a:gd name="connsiteX6" fmla="*/ 6187721 w 6228837"/>
              <a:gd name="connsiteY6" fmla="*/ 1883563 h 2227394"/>
              <a:gd name="connsiteX7" fmla="*/ 4922447 w 6228837"/>
              <a:gd name="connsiteY7" fmla="*/ 1309405 h 2227394"/>
              <a:gd name="connsiteX8" fmla="*/ 3391358 w 6228837"/>
              <a:gd name="connsiteY8" fmla="*/ 480065 h 2227394"/>
              <a:gd name="connsiteX9" fmla="*/ 2413163 w 6228837"/>
              <a:gd name="connsiteY9" fmla="*/ 161089 h 2227394"/>
              <a:gd name="connsiteX10" fmla="*/ 1179786 w 6228837"/>
              <a:gd name="connsiteY10" fmla="*/ 12233 h 2227394"/>
              <a:gd name="connsiteX11" fmla="*/ 31470 w 6228837"/>
              <a:gd name="connsiteY11" fmla="*/ 469433 h 2227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28837" h="2227394">
                <a:moveTo>
                  <a:pt x="31470" y="469433"/>
                </a:moveTo>
                <a:cubicBezTo>
                  <a:pt x="-96121" y="667907"/>
                  <a:pt x="190958" y="988656"/>
                  <a:pt x="414242" y="1203079"/>
                </a:cubicBezTo>
                <a:cubicBezTo>
                  <a:pt x="637526" y="1417502"/>
                  <a:pt x="1034474" y="1594712"/>
                  <a:pt x="1371172" y="1755972"/>
                </a:cubicBezTo>
                <a:cubicBezTo>
                  <a:pt x="1707870" y="1917233"/>
                  <a:pt x="2088870" y="2096214"/>
                  <a:pt x="2434428" y="2170642"/>
                </a:cubicBezTo>
                <a:cubicBezTo>
                  <a:pt x="2779986" y="2245070"/>
                  <a:pt x="3444521" y="2202540"/>
                  <a:pt x="3444521" y="2202540"/>
                </a:cubicBezTo>
                <a:cubicBezTo>
                  <a:pt x="3986781" y="2207856"/>
                  <a:pt x="5230791" y="2255703"/>
                  <a:pt x="5687991" y="2202540"/>
                </a:cubicBezTo>
                <a:cubicBezTo>
                  <a:pt x="6145191" y="2149377"/>
                  <a:pt x="6315312" y="2032419"/>
                  <a:pt x="6187721" y="1883563"/>
                </a:cubicBezTo>
                <a:cubicBezTo>
                  <a:pt x="6060130" y="1734707"/>
                  <a:pt x="5388507" y="1543321"/>
                  <a:pt x="4922447" y="1309405"/>
                </a:cubicBezTo>
                <a:cubicBezTo>
                  <a:pt x="4456387" y="1075489"/>
                  <a:pt x="3809572" y="671451"/>
                  <a:pt x="3391358" y="480065"/>
                </a:cubicBezTo>
                <a:cubicBezTo>
                  <a:pt x="2973144" y="288679"/>
                  <a:pt x="2781758" y="239061"/>
                  <a:pt x="2413163" y="161089"/>
                </a:cubicBezTo>
                <a:cubicBezTo>
                  <a:pt x="2044568" y="83117"/>
                  <a:pt x="1576735" y="-39158"/>
                  <a:pt x="1179786" y="12233"/>
                </a:cubicBezTo>
                <a:cubicBezTo>
                  <a:pt x="782837" y="63624"/>
                  <a:pt x="159061" y="270959"/>
                  <a:pt x="31470" y="469433"/>
                </a:cubicBezTo>
                <a:close/>
              </a:path>
            </a:pathLst>
          </a:custGeom>
          <a:solidFill>
            <a:schemeClr val="accent1">
              <a:lumMod val="20000"/>
              <a:lumOff val="80000"/>
            </a:schemeClr>
          </a:solidFill>
          <a:ln w="38100" cap="flat" cmpd="sng">
            <a:noFill/>
            <a:prstDash val="solid"/>
            <a:round/>
            <a:headEnd type="triangle" w="med" len="med"/>
            <a:tailEnd type="none" w="med" len="med"/>
          </a:ln>
          <a:effectLst/>
        </p:spPr>
        <p:txBody>
          <a:bodyPr wrap="square" rtlCol="0" anchor="ctr">
            <a:spAutoFit/>
          </a:bodyPr>
          <a:lstStyle/>
          <a:p>
            <a:pPr algn="l"/>
            <a:endParaRPr lang="en-US" dirty="0"/>
          </a:p>
        </p:txBody>
      </p:sp>
      <mc:AlternateContent xmlns:mc="http://schemas.openxmlformats.org/markup-compatibility/2006" xmlns:a14="http://schemas.microsoft.com/office/drawing/2010/main">
        <mc:Choice Requires="a14">
          <p:sp>
            <p:nvSpPr>
              <p:cNvPr id="710658" name="Rectangle 2">
                <a:extLst>
                  <a:ext uri="{FF2B5EF4-FFF2-40B4-BE49-F238E27FC236}">
                    <a16:creationId xmlns:a16="http://schemas.microsoft.com/office/drawing/2014/main" id="{CB091DDF-2BE4-491C-910B-E6A98B6859F5}"/>
                  </a:ext>
                </a:extLst>
              </p:cNvPr>
              <p:cNvSpPr>
                <a:spLocks noGrp="1" noChangeArrowheads="1"/>
              </p:cNvSpPr>
              <p:nvPr>
                <p:ph type="body" idx="1"/>
              </p:nvPr>
            </p:nvSpPr>
            <p:spPr>
              <a:xfrm>
                <a:off x="628650" y="1487872"/>
                <a:ext cx="10811510" cy="5200045"/>
              </a:xfrm>
            </p:spPr>
            <p:txBody>
              <a:bodyPr>
                <a:noAutofit/>
              </a:bodyPr>
              <a:lstStyle/>
              <a:p>
                <a:pPr marL="0" indent="0">
                  <a:buNone/>
                </a:pPr>
                <a:r>
                  <a:rPr lang="en-US" altLang="en-US" sz="2800" dirty="0"/>
                  <a:t>Let </a:t>
                </a:r>
                <a14:m>
                  <m:oMath xmlns:m="http://schemas.openxmlformats.org/officeDocument/2006/math">
                    <m:r>
                      <a:rPr lang="en-US" altLang="en-US" sz="2800" b="1" i="1" dirty="0" smtClean="0">
                        <a:solidFill>
                          <a:srgbClr val="0066CC"/>
                        </a:solidFill>
                        <a:latin typeface="Cambria Math" panose="02040503050406030204" pitchFamily="18" charset="0"/>
                      </a:rPr>
                      <m:t>𝒇</m:t>
                    </m:r>
                  </m:oMath>
                </a14:m>
                <a:r>
                  <a:rPr lang="en-US" altLang="en-US" sz="2800" dirty="0"/>
                  <a:t> be any </a:t>
                </a:r>
                <a14:m>
                  <m:oMath xmlns:m="http://schemas.openxmlformats.org/officeDocument/2006/math">
                    <m:r>
                      <a:rPr lang="en-US" altLang="en-US" sz="2800" b="1" i="1" dirty="0" smtClean="0">
                        <a:solidFill>
                          <a:srgbClr val="0066CC"/>
                        </a:solidFill>
                        <a:latin typeface="Cambria Math" panose="02040503050406030204" pitchFamily="18" charset="0"/>
                      </a:rPr>
                      <m:t>𝒔</m:t>
                    </m:r>
                  </m:oMath>
                </a14:m>
                <a:r>
                  <a:rPr lang="en-US" altLang="en-US" sz="2800" dirty="0"/>
                  <a:t>-</a:t>
                </a:r>
                <a14:m>
                  <m:oMath xmlns:m="http://schemas.openxmlformats.org/officeDocument/2006/math">
                    <m:r>
                      <a:rPr lang="en-US" altLang="en-US" sz="2800" b="1" i="1" dirty="0" smtClean="0">
                        <a:solidFill>
                          <a:srgbClr val="0066CC"/>
                        </a:solidFill>
                        <a:latin typeface="Cambria Math" panose="02040503050406030204" pitchFamily="18" charset="0"/>
                      </a:rPr>
                      <m:t>𝒕</m:t>
                    </m:r>
                  </m:oMath>
                </a14:m>
                <a:r>
                  <a:rPr lang="en-US" altLang="en-US" sz="2800" dirty="0"/>
                  <a:t> flow and </a:t>
                </a:r>
                <a14:m>
                  <m:oMath xmlns:m="http://schemas.openxmlformats.org/officeDocument/2006/math">
                    <m:r>
                      <a:rPr lang="en-US" altLang="en-US" sz="2800" b="1" i="1" dirty="0" smtClean="0">
                        <a:solidFill>
                          <a:srgbClr val="0066CC"/>
                        </a:solidFill>
                        <a:latin typeface="Cambria Math" panose="02040503050406030204" pitchFamily="18" charset="0"/>
                      </a:rPr>
                      <m:t>(</m:t>
                    </m:r>
                    <m:r>
                      <a:rPr lang="en-US" altLang="en-US" sz="2800" b="1" i="1" dirty="0" smtClean="0">
                        <a:solidFill>
                          <a:srgbClr val="0066CC"/>
                        </a:solidFill>
                        <a:latin typeface="Cambria Math" panose="02040503050406030204" pitchFamily="18" charset="0"/>
                      </a:rPr>
                      <m:t>𝑨</m:t>
                    </m:r>
                    <m:r>
                      <a:rPr lang="en-US" altLang="en-US" sz="2800" b="1" i="1" dirty="0" smtClean="0">
                        <a:solidFill>
                          <a:srgbClr val="0066CC"/>
                        </a:solidFill>
                        <a:latin typeface="Cambria Math" panose="02040503050406030204" pitchFamily="18" charset="0"/>
                      </a:rPr>
                      <m:t>,</m:t>
                    </m:r>
                    <m:r>
                      <a:rPr lang="en-US" altLang="en-US" sz="2800" b="1" i="1" dirty="0" smtClean="0">
                        <a:solidFill>
                          <a:srgbClr val="0066CC"/>
                        </a:solidFill>
                        <a:latin typeface="Cambria Math" panose="02040503050406030204" pitchFamily="18" charset="0"/>
                      </a:rPr>
                      <m:t>𝑩</m:t>
                    </m:r>
                    <m:r>
                      <a:rPr lang="en-US" altLang="en-US" sz="2800" b="1" i="1" dirty="0" smtClean="0">
                        <a:solidFill>
                          <a:srgbClr val="0066CC"/>
                        </a:solidFill>
                        <a:latin typeface="Cambria Math" panose="02040503050406030204" pitchFamily="18" charset="0"/>
                      </a:rPr>
                      <m:t>)</m:t>
                    </m:r>
                  </m:oMath>
                </a14:m>
                <a:r>
                  <a:rPr lang="en-US" altLang="en-US" sz="2800" dirty="0"/>
                  <a:t> be any </a:t>
                </a:r>
                <a14:m>
                  <m:oMath xmlns:m="http://schemas.openxmlformats.org/officeDocument/2006/math">
                    <m:r>
                      <a:rPr lang="en-US" altLang="en-US" sz="2800" b="1" i="1" dirty="0" smtClean="0">
                        <a:solidFill>
                          <a:srgbClr val="0066CC"/>
                        </a:solidFill>
                        <a:latin typeface="Cambria Math" panose="02040503050406030204" pitchFamily="18" charset="0"/>
                      </a:rPr>
                      <m:t>𝒔</m:t>
                    </m:r>
                  </m:oMath>
                </a14:m>
                <a:r>
                  <a:rPr lang="en-US" altLang="en-US" sz="2800" dirty="0"/>
                  <a:t>-</a:t>
                </a:r>
                <a14:m>
                  <m:oMath xmlns:m="http://schemas.openxmlformats.org/officeDocument/2006/math">
                    <m:r>
                      <a:rPr lang="en-US" altLang="en-US" sz="2800" b="1" i="1" dirty="0" smtClean="0">
                        <a:solidFill>
                          <a:srgbClr val="0066CC"/>
                        </a:solidFill>
                        <a:latin typeface="Cambria Math" panose="02040503050406030204" pitchFamily="18" charset="0"/>
                      </a:rPr>
                      <m:t>𝒕</m:t>
                    </m:r>
                  </m:oMath>
                </a14:m>
                <a:r>
                  <a:rPr lang="en-US" altLang="en-US" sz="2800" dirty="0"/>
                  <a:t> cut. </a:t>
                </a:r>
              </a:p>
              <a:p>
                <a:pPr marL="0" indent="0">
                  <a:buNone/>
                </a:pPr>
                <a:r>
                  <a:rPr lang="en-US" altLang="en-US" sz="2800" dirty="0"/>
                  <a:t>If </a:t>
                </a:r>
                <a14:m>
                  <m:oMath xmlns:m="http://schemas.openxmlformats.org/officeDocument/2006/math">
                    <m:r>
                      <a:rPr lang="en-US" altLang="en-US" sz="2800" b="1" i="1" dirty="0" smtClean="0">
                        <a:solidFill>
                          <a:srgbClr val="0066CC"/>
                        </a:solidFill>
                        <a:latin typeface="Cambria Math" panose="02040503050406030204" pitchFamily="18" charset="0"/>
                      </a:rPr>
                      <m:t>𝒗</m:t>
                    </m:r>
                    <m:d>
                      <m:dPr>
                        <m:ctrlPr>
                          <a:rPr lang="en-US" altLang="en-US" sz="2800" b="1" i="1" dirty="0" smtClean="0">
                            <a:solidFill>
                              <a:srgbClr val="0066CC"/>
                            </a:solidFill>
                            <a:latin typeface="Cambria Math" panose="02040503050406030204" pitchFamily="18" charset="0"/>
                          </a:rPr>
                        </m:ctrlPr>
                      </m:dPr>
                      <m:e>
                        <m:r>
                          <a:rPr lang="en-US" altLang="en-US" sz="2800" b="1" i="1" dirty="0" smtClean="0">
                            <a:solidFill>
                              <a:srgbClr val="0066CC"/>
                            </a:solidFill>
                            <a:latin typeface="Cambria Math" panose="02040503050406030204" pitchFamily="18" charset="0"/>
                          </a:rPr>
                          <m:t>𝒇</m:t>
                        </m:r>
                      </m:e>
                    </m:d>
                    <m:r>
                      <a:rPr lang="en-US" altLang="en-US" sz="2800" b="1" i="1" dirty="0" smtClean="0">
                        <a:solidFill>
                          <a:srgbClr val="0066CC"/>
                        </a:solidFill>
                        <a:latin typeface="Cambria Math" panose="02040503050406030204" pitchFamily="18" charset="0"/>
                      </a:rPr>
                      <m:t>=</m:t>
                    </m:r>
                    <m:r>
                      <a:rPr lang="en-US" altLang="en-US" sz="2800" b="1" i="1" dirty="0" smtClean="0">
                        <a:solidFill>
                          <a:srgbClr val="0066CC"/>
                        </a:solidFill>
                        <a:latin typeface="Cambria Math" panose="02040503050406030204" pitchFamily="18" charset="0"/>
                      </a:rPr>
                      <m:t>𝒄</m:t>
                    </m:r>
                    <m:r>
                      <a:rPr lang="en-US" altLang="en-US" sz="2800" b="1" i="1" dirty="0" smtClean="0">
                        <a:solidFill>
                          <a:srgbClr val="0066CC"/>
                        </a:solidFill>
                        <a:latin typeface="Cambria Math" panose="02040503050406030204" pitchFamily="18" charset="0"/>
                      </a:rPr>
                      <m:t>(</m:t>
                    </m:r>
                    <m:r>
                      <a:rPr lang="en-US" altLang="en-US" sz="2800" b="1" i="1" dirty="0" smtClean="0">
                        <a:solidFill>
                          <a:srgbClr val="0066CC"/>
                        </a:solidFill>
                        <a:latin typeface="Cambria Math" panose="02040503050406030204" pitchFamily="18" charset="0"/>
                      </a:rPr>
                      <m:t>𝑨</m:t>
                    </m:r>
                    <m:r>
                      <a:rPr lang="en-US" altLang="en-US" sz="2800" b="1" i="1" dirty="0" smtClean="0">
                        <a:solidFill>
                          <a:srgbClr val="0066CC"/>
                        </a:solidFill>
                        <a:latin typeface="Cambria Math" panose="02040503050406030204" pitchFamily="18" charset="0"/>
                      </a:rPr>
                      <m:t>,</m:t>
                    </m:r>
                    <m:r>
                      <a:rPr lang="en-US" altLang="en-US" sz="2800" b="1" i="1" dirty="0" smtClean="0">
                        <a:solidFill>
                          <a:srgbClr val="0066CC"/>
                        </a:solidFill>
                        <a:latin typeface="Cambria Math" panose="02040503050406030204" pitchFamily="18" charset="0"/>
                      </a:rPr>
                      <m:t>𝑩</m:t>
                    </m:r>
                    <m:r>
                      <a:rPr lang="en-US" altLang="en-US" sz="2800" b="1" i="1" dirty="0" smtClean="0">
                        <a:solidFill>
                          <a:srgbClr val="0066CC"/>
                        </a:solidFill>
                        <a:latin typeface="Cambria Math" panose="02040503050406030204" pitchFamily="18" charset="0"/>
                      </a:rPr>
                      <m:t>)</m:t>
                    </m:r>
                  </m:oMath>
                </a14:m>
                <a:r>
                  <a:rPr lang="en-US" altLang="en-US" sz="2800" dirty="0"/>
                  <a:t> then </a:t>
                </a:r>
                <a14:m>
                  <m:oMath xmlns:m="http://schemas.openxmlformats.org/officeDocument/2006/math">
                    <m:r>
                      <a:rPr lang="en-US" altLang="en-US" sz="2800" b="1" i="1" dirty="0" smtClean="0">
                        <a:solidFill>
                          <a:srgbClr val="0066CC"/>
                        </a:solidFill>
                        <a:latin typeface="Cambria Math" panose="02040503050406030204" pitchFamily="18" charset="0"/>
                      </a:rPr>
                      <m:t>𝒇</m:t>
                    </m:r>
                  </m:oMath>
                </a14:m>
                <a:r>
                  <a:rPr lang="en-US" altLang="en-US" sz="2800" dirty="0"/>
                  <a:t> is a max flow and </a:t>
                </a:r>
                <a14:m>
                  <m:oMath xmlns:m="http://schemas.openxmlformats.org/officeDocument/2006/math">
                    <m:r>
                      <a:rPr lang="en-US" altLang="en-US" sz="2800" b="1" i="1" dirty="0" smtClean="0">
                        <a:solidFill>
                          <a:srgbClr val="0066CC"/>
                        </a:solidFill>
                        <a:latin typeface="Cambria Math" panose="02040503050406030204" pitchFamily="18" charset="0"/>
                      </a:rPr>
                      <m:t>(</m:t>
                    </m:r>
                    <m:r>
                      <a:rPr lang="en-US" altLang="en-US" sz="2800" b="1" i="1" dirty="0" smtClean="0">
                        <a:solidFill>
                          <a:srgbClr val="0066CC"/>
                        </a:solidFill>
                        <a:latin typeface="Cambria Math" panose="02040503050406030204" pitchFamily="18" charset="0"/>
                      </a:rPr>
                      <m:t>𝑨</m:t>
                    </m:r>
                    <m:r>
                      <a:rPr lang="en-US" altLang="en-US" sz="2800" b="1" i="1" dirty="0" smtClean="0">
                        <a:solidFill>
                          <a:srgbClr val="0066CC"/>
                        </a:solidFill>
                        <a:latin typeface="Cambria Math" panose="02040503050406030204" pitchFamily="18" charset="0"/>
                      </a:rPr>
                      <m:t>,</m:t>
                    </m:r>
                    <m:r>
                      <a:rPr lang="en-US" altLang="en-US" sz="2800" b="1" i="1" dirty="0" smtClean="0">
                        <a:solidFill>
                          <a:srgbClr val="0066CC"/>
                        </a:solidFill>
                        <a:latin typeface="Cambria Math" panose="02040503050406030204" pitchFamily="18" charset="0"/>
                      </a:rPr>
                      <m:t>𝑩</m:t>
                    </m:r>
                    <m:r>
                      <a:rPr lang="en-US" altLang="en-US" sz="2800" b="1" i="1" dirty="0" smtClean="0">
                        <a:solidFill>
                          <a:srgbClr val="0066CC"/>
                        </a:solidFill>
                        <a:latin typeface="Cambria Math" panose="02040503050406030204" pitchFamily="18" charset="0"/>
                      </a:rPr>
                      <m:t>)</m:t>
                    </m:r>
                  </m:oMath>
                </a14:m>
                <a:r>
                  <a:rPr lang="en-US" altLang="en-US" sz="2800" dirty="0"/>
                  <a:t> is a min cut.</a:t>
                </a:r>
              </a:p>
            </p:txBody>
          </p:sp>
        </mc:Choice>
        <mc:Fallback xmlns="">
          <p:sp>
            <p:nvSpPr>
              <p:cNvPr id="710658" name="Rectangle 2">
                <a:extLst>
                  <a:ext uri="{FF2B5EF4-FFF2-40B4-BE49-F238E27FC236}">
                    <a16:creationId xmlns:a16="http://schemas.microsoft.com/office/drawing/2014/main" id="{CB091DDF-2BE4-491C-910B-E6A98B6859F5}"/>
                  </a:ext>
                </a:extLst>
              </p:cNvPr>
              <p:cNvSpPr>
                <a:spLocks noGrp="1" noRot="1" noChangeAspect="1" noMove="1" noResize="1" noEditPoints="1" noAdjustHandles="1" noChangeArrowheads="1" noChangeShapeType="1" noTextEdit="1"/>
              </p:cNvSpPr>
              <p:nvPr>
                <p:ph type="body" idx="1"/>
              </p:nvPr>
            </p:nvSpPr>
            <p:spPr>
              <a:xfrm>
                <a:off x="628650" y="1487872"/>
                <a:ext cx="10811510" cy="5200045"/>
              </a:xfrm>
              <a:blipFill>
                <a:blip r:embed="rId3"/>
                <a:stretch>
                  <a:fillRect l="-1127" t="-1876"/>
                </a:stretch>
              </a:blipFill>
            </p:spPr>
            <p:txBody>
              <a:bodyPr/>
              <a:lstStyle/>
              <a:p>
                <a:r>
                  <a:rPr lang="en-US">
                    <a:noFill/>
                  </a:rPr>
                  <a:t> </a:t>
                </a:r>
              </a:p>
            </p:txBody>
          </p:sp>
        </mc:Fallback>
      </mc:AlternateContent>
      <p:sp>
        <p:nvSpPr>
          <p:cNvPr id="46" name="Slide Number Placeholder 3">
            <a:extLst>
              <a:ext uri="{FF2B5EF4-FFF2-40B4-BE49-F238E27FC236}">
                <a16:creationId xmlns:a16="http://schemas.microsoft.com/office/drawing/2014/main" id="{8682F2DF-919C-413D-9B59-A40AF3ACD726}"/>
              </a:ext>
            </a:extLst>
          </p:cNvPr>
          <p:cNvSpPr>
            <a:spLocks noGrp="1"/>
          </p:cNvSpPr>
          <p:nvPr>
            <p:ph type="sldNum" sz="quarter" idx="10"/>
          </p:nvPr>
        </p:nvSpPr>
        <p:spPr/>
        <p:txBody>
          <a:bodyPr/>
          <a:lstStyle/>
          <a:p>
            <a:fld id="{E962C5CE-5F29-4369-A268-DF953E3BBA7B}" type="slidenum">
              <a:rPr lang="en-US" altLang="en-US"/>
              <a:pPr/>
              <a:t>13</a:t>
            </a:fld>
            <a:endParaRPr lang="en-US" altLang="en-US" sz="1400"/>
          </a:p>
        </p:txBody>
      </p:sp>
      <p:sp>
        <p:nvSpPr>
          <p:cNvPr id="710659" name="Rectangle 3">
            <a:extLst>
              <a:ext uri="{FF2B5EF4-FFF2-40B4-BE49-F238E27FC236}">
                <a16:creationId xmlns:a16="http://schemas.microsoft.com/office/drawing/2014/main" id="{5F4FD653-3E81-4970-A885-9A04BFB66492}"/>
              </a:ext>
            </a:extLst>
          </p:cNvPr>
          <p:cNvSpPr>
            <a:spLocks noGrp="1" noChangeArrowheads="1"/>
          </p:cNvSpPr>
          <p:nvPr>
            <p:ph type="title"/>
          </p:nvPr>
        </p:nvSpPr>
        <p:spPr/>
        <p:txBody>
          <a:bodyPr/>
          <a:lstStyle/>
          <a:p>
            <a:r>
              <a:rPr lang="en-US" altLang="en-US" dirty="0"/>
              <a:t>Certificate of Optimality</a:t>
            </a:r>
          </a:p>
        </p:txBody>
      </p:sp>
      <p:grpSp>
        <p:nvGrpSpPr>
          <p:cNvPr id="28" name="Group 27">
            <a:extLst>
              <a:ext uri="{FF2B5EF4-FFF2-40B4-BE49-F238E27FC236}">
                <a16:creationId xmlns:a16="http://schemas.microsoft.com/office/drawing/2014/main" id="{2F886C7A-5F8C-4D5A-B1FC-3D24401D8DE7}"/>
              </a:ext>
            </a:extLst>
          </p:cNvPr>
          <p:cNvGrpSpPr/>
          <p:nvPr/>
        </p:nvGrpSpPr>
        <p:grpSpPr>
          <a:xfrm>
            <a:off x="4395659" y="2923138"/>
            <a:ext cx="6599476" cy="3137327"/>
            <a:chOff x="4395659" y="2923138"/>
            <a:chExt cx="6599476" cy="3137327"/>
          </a:xfrm>
        </p:grpSpPr>
        <p:cxnSp>
          <p:nvCxnSpPr>
            <p:cNvPr id="51" name="AutoShape 68">
              <a:extLst>
                <a:ext uri="{FF2B5EF4-FFF2-40B4-BE49-F238E27FC236}">
                  <a16:creationId xmlns:a16="http://schemas.microsoft.com/office/drawing/2014/main" id="{CAB3C207-5366-428C-872E-7F5DDD5A8A0A}"/>
                </a:ext>
              </a:extLst>
            </p:cNvPr>
            <p:cNvCxnSpPr>
              <a:cxnSpLocks noChangeShapeType="1"/>
              <a:stCxn id="710721" idx="1"/>
              <a:endCxn id="710708" idx="5"/>
            </p:cNvCxnSpPr>
            <p:nvPr/>
          </p:nvCxnSpPr>
          <p:spPr bwMode="auto">
            <a:xfrm flipH="1" flipV="1">
              <a:off x="6575184" y="4634480"/>
              <a:ext cx="2273571" cy="1129700"/>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06" name="Oval 50">
              <a:extLst>
                <a:ext uri="{FF2B5EF4-FFF2-40B4-BE49-F238E27FC236}">
                  <a16:creationId xmlns:a16="http://schemas.microsoft.com/office/drawing/2014/main" id="{5EDB66B3-A335-46A8-B0A4-E18E80459647}"/>
                </a:ext>
              </a:extLst>
            </p:cNvPr>
            <p:cNvSpPr>
              <a:spLocks noChangeAspect="1" noChangeArrowheads="1"/>
            </p:cNvSpPr>
            <p:nvPr/>
          </p:nvSpPr>
          <p:spPr bwMode="auto">
            <a:xfrm>
              <a:off x="4395659"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solidFill>
                    <a:srgbClr val="C00000"/>
                  </a:solidFill>
                </a:rPr>
                <a:t>s</a:t>
              </a:r>
            </a:p>
          </p:txBody>
        </p:sp>
        <p:sp>
          <p:nvSpPr>
            <p:cNvPr id="710707" name="Oval 51">
              <a:extLst>
                <a:ext uri="{FF2B5EF4-FFF2-40B4-BE49-F238E27FC236}">
                  <a16:creationId xmlns:a16="http://schemas.microsoft.com/office/drawing/2014/main" id="{C791F0FD-59F6-4EAA-9A7F-5FEB226AA91C}"/>
                </a:ext>
              </a:extLst>
            </p:cNvPr>
            <p:cNvSpPr>
              <a:spLocks noChangeAspect="1" noChangeArrowheads="1"/>
            </p:cNvSpPr>
            <p:nvPr/>
          </p:nvSpPr>
          <p:spPr bwMode="auto">
            <a:xfrm>
              <a:off x="6278899" y="2923138"/>
              <a:ext cx="347119" cy="35151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a</a:t>
              </a:r>
            </a:p>
          </p:txBody>
        </p:sp>
        <p:sp>
          <p:nvSpPr>
            <p:cNvPr id="710708" name="Oval 52">
              <a:extLst>
                <a:ext uri="{FF2B5EF4-FFF2-40B4-BE49-F238E27FC236}">
                  <a16:creationId xmlns:a16="http://schemas.microsoft.com/office/drawing/2014/main" id="{7433E6CD-DBA9-4397-BB73-2328DC47DBFF}"/>
                </a:ext>
              </a:extLst>
            </p:cNvPr>
            <p:cNvSpPr>
              <a:spLocks noChangeAspect="1" noChangeArrowheads="1"/>
            </p:cNvSpPr>
            <p:nvPr/>
          </p:nvSpPr>
          <p:spPr bwMode="auto">
            <a:xfrm>
              <a:off x="6278899"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b</a:t>
              </a:r>
            </a:p>
          </p:txBody>
        </p:sp>
        <p:sp>
          <p:nvSpPr>
            <p:cNvPr id="710709" name="Oval 53">
              <a:extLst>
                <a:ext uri="{FF2B5EF4-FFF2-40B4-BE49-F238E27FC236}">
                  <a16:creationId xmlns:a16="http://schemas.microsoft.com/office/drawing/2014/main" id="{DB0B1551-4016-4996-9CB3-8D6736D27F5C}"/>
                </a:ext>
              </a:extLst>
            </p:cNvPr>
            <p:cNvSpPr>
              <a:spLocks noChangeAspect="1" noChangeArrowheads="1"/>
            </p:cNvSpPr>
            <p:nvPr/>
          </p:nvSpPr>
          <p:spPr bwMode="auto">
            <a:xfrm>
              <a:off x="6278899" y="5713346"/>
              <a:ext cx="347119" cy="347119"/>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c</a:t>
              </a:r>
            </a:p>
          </p:txBody>
        </p:sp>
        <p:cxnSp>
          <p:nvCxnSpPr>
            <p:cNvPr id="710710" name="AutoShape 54">
              <a:extLst>
                <a:ext uri="{FF2B5EF4-FFF2-40B4-BE49-F238E27FC236}">
                  <a16:creationId xmlns:a16="http://schemas.microsoft.com/office/drawing/2014/main" id="{3963BDDA-EEB2-4C16-A1BE-D107140B66AB}"/>
                </a:ext>
              </a:extLst>
            </p:cNvPr>
            <p:cNvCxnSpPr>
              <a:cxnSpLocks noChangeShapeType="1"/>
              <a:stCxn id="710706" idx="7"/>
              <a:endCxn id="710707" idx="3"/>
            </p:cNvCxnSpPr>
            <p:nvPr/>
          </p:nvCxnSpPr>
          <p:spPr bwMode="auto">
            <a:xfrm flipV="1">
              <a:off x="4691944" y="3223173"/>
              <a:ext cx="1637789" cy="1164304"/>
            </a:xfrm>
            <a:prstGeom prst="straightConnector1">
              <a:avLst/>
            </a:prstGeom>
            <a:noFill/>
            <a:ln w="38100">
              <a:solidFill>
                <a:srgbClr val="0066CC"/>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1" name="AutoShape 55">
              <a:extLst>
                <a:ext uri="{FF2B5EF4-FFF2-40B4-BE49-F238E27FC236}">
                  <a16:creationId xmlns:a16="http://schemas.microsoft.com/office/drawing/2014/main" id="{500797BD-7630-4137-AC5D-99C13711BAB5}"/>
                </a:ext>
              </a:extLst>
            </p:cNvPr>
            <p:cNvCxnSpPr>
              <a:cxnSpLocks noChangeShapeType="1"/>
              <a:stCxn id="710706" idx="6"/>
              <a:endCxn id="710708" idx="2"/>
            </p:cNvCxnSpPr>
            <p:nvPr/>
          </p:nvCxnSpPr>
          <p:spPr bwMode="auto">
            <a:xfrm>
              <a:off x="4742778" y="4510979"/>
              <a:ext cx="1536121" cy="0"/>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2" name="AutoShape 56">
              <a:extLst>
                <a:ext uri="{FF2B5EF4-FFF2-40B4-BE49-F238E27FC236}">
                  <a16:creationId xmlns:a16="http://schemas.microsoft.com/office/drawing/2014/main" id="{04F6A8EE-5010-42E5-9B2F-E956649EB9DD}"/>
                </a:ext>
              </a:extLst>
            </p:cNvPr>
            <p:cNvCxnSpPr>
              <a:cxnSpLocks noChangeShapeType="1"/>
              <a:stCxn id="710706" idx="5"/>
              <a:endCxn id="710709" idx="1"/>
            </p:cNvCxnSpPr>
            <p:nvPr/>
          </p:nvCxnSpPr>
          <p:spPr bwMode="auto">
            <a:xfrm>
              <a:off x="4691944" y="4634480"/>
              <a:ext cx="1637789" cy="1129700"/>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3" name="AutoShape 57">
              <a:extLst>
                <a:ext uri="{FF2B5EF4-FFF2-40B4-BE49-F238E27FC236}">
                  <a16:creationId xmlns:a16="http://schemas.microsoft.com/office/drawing/2014/main" id="{CB5CA9F1-C5CC-4E55-8567-407127EDD6FD}"/>
                </a:ext>
              </a:extLst>
            </p:cNvPr>
            <p:cNvCxnSpPr>
              <a:cxnSpLocks noChangeShapeType="1"/>
              <a:stCxn id="710708" idx="6"/>
              <a:endCxn id="710720" idx="2"/>
            </p:cNvCxnSpPr>
            <p:nvPr/>
          </p:nvCxnSpPr>
          <p:spPr bwMode="auto">
            <a:xfrm>
              <a:off x="6626018" y="4510979"/>
              <a:ext cx="2171903" cy="0"/>
            </a:xfrm>
            <a:prstGeom prst="straightConnector1">
              <a:avLst/>
            </a:prstGeom>
            <a:noFill/>
            <a:ln w="38100">
              <a:solidFill>
                <a:srgbClr val="0066CC"/>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5" name="AutoShape 59">
              <a:extLst>
                <a:ext uri="{FF2B5EF4-FFF2-40B4-BE49-F238E27FC236}">
                  <a16:creationId xmlns:a16="http://schemas.microsoft.com/office/drawing/2014/main" id="{FF578E0C-BCE9-4BDC-BE4D-1C3233FE9069}"/>
                </a:ext>
              </a:extLst>
            </p:cNvPr>
            <p:cNvCxnSpPr>
              <a:cxnSpLocks noChangeShapeType="1"/>
              <a:stCxn id="710708" idx="4"/>
              <a:endCxn id="710709" idx="0"/>
            </p:cNvCxnSpPr>
            <p:nvPr/>
          </p:nvCxnSpPr>
          <p:spPr bwMode="auto">
            <a:xfrm>
              <a:off x="6452459" y="4685636"/>
              <a:ext cx="0" cy="102771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6" name="AutoShape 60">
              <a:extLst>
                <a:ext uri="{FF2B5EF4-FFF2-40B4-BE49-F238E27FC236}">
                  <a16:creationId xmlns:a16="http://schemas.microsoft.com/office/drawing/2014/main" id="{5D951401-EF5F-40F8-8FF8-28BC78F6A7BA}"/>
                </a:ext>
              </a:extLst>
            </p:cNvPr>
            <p:cNvCxnSpPr>
              <a:cxnSpLocks noChangeShapeType="1"/>
              <a:stCxn id="710707" idx="6"/>
              <a:endCxn id="710719" idx="2"/>
            </p:cNvCxnSpPr>
            <p:nvPr/>
          </p:nvCxnSpPr>
          <p:spPr bwMode="auto">
            <a:xfrm>
              <a:off x="6626018" y="3098894"/>
              <a:ext cx="2171903" cy="0"/>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7" name="AutoShape 61">
              <a:extLst>
                <a:ext uri="{FF2B5EF4-FFF2-40B4-BE49-F238E27FC236}">
                  <a16:creationId xmlns:a16="http://schemas.microsoft.com/office/drawing/2014/main" id="{A929A23E-9723-40FB-8B80-4463475544AE}"/>
                </a:ext>
              </a:extLst>
            </p:cNvPr>
            <p:cNvCxnSpPr>
              <a:cxnSpLocks noChangeShapeType="1"/>
              <a:stCxn id="710709" idx="6"/>
              <a:endCxn id="710721" idx="2"/>
            </p:cNvCxnSpPr>
            <p:nvPr/>
          </p:nvCxnSpPr>
          <p:spPr bwMode="auto">
            <a:xfrm>
              <a:off x="6626018" y="5886906"/>
              <a:ext cx="2171903" cy="0"/>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8" name="AutoShape 62">
              <a:extLst>
                <a:ext uri="{FF2B5EF4-FFF2-40B4-BE49-F238E27FC236}">
                  <a16:creationId xmlns:a16="http://schemas.microsoft.com/office/drawing/2014/main" id="{56B2200F-0095-48E8-A6B5-E08D3FED1F4F}"/>
                </a:ext>
              </a:extLst>
            </p:cNvPr>
            <p:cNvCxnSpPr>
              <a:cxnSpLocks noChangeShapeType="1"/>
              <a:stCxn id="710707" idx="4"/>
              <a:endCxn id="710708" idx="0"/>
            </p:cNvCxnSpPr>
            <p:nvPr/>
          </p:nvCxnSpPr>
          <p:spPr bwMode="auto">
            <a:xfrm>
              <a:off x="6452459" y="3274651"/>
              <a:ext cx="0" cy="106167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19" name="Oval 63">
              <a:extLst>
                <a:ext uri="{FF2B5EF4-FFF2-40B4-BE49-F238E27FC236}">
                  <a16:creationId xmlns:a16="http://schemas.microsoft.com/office/drawing/2014/main" id="{6D6CA7B8-81FA-4ECF-9EC2-0188554C97F8}"/>
                </a:ext>
              </a:extLst>
            </p:cNvPr>
            <p:cNvSpPr>
              <a:spLocks noChangeAspect="1" noChangeArrowheads="1"/>
            </p:cNvSpPr>
            <p:nvPr/>
          </p:nvSpPr>
          <p:spPr bwMode="auto">
            <a:xfrm>
              <a:off x="8797921" y="2923138"/>
              <a:ext cx="347119" cy="35151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d</a:t>
              </a:r>
            </a:p>
          </p:txBody>
        </p:sp>
        <p:sp>
          <p:nvSpPr>
            <p:cNvPr id="710720" name="Oval 64">
              <a:extLst>
                <a:ext uri="{FF2B5EF4-FFF2-40B4-BE49-F238E27FC236}">
                  <a16:creationId xmlns:a16="http://schemas.microsoft.com/office/drawing/2014/main" id="{5FADFF93-67BC-4F3C-BA9D-F45E800F686D}"/>
                </a:ext>
              </a:extLst>
            </p:cNvPr>
            <p:cNvSpPr>
              <a:spLocks noChangeAspect="1" noChangeArrowheads="1"/>
            </p:cNvSpPr>
            <p:nvPr/>
          </p:nvSpPr>
          <p:spPr bwMode="auto">
            <a:xfrm>
              <a:off x="8797921"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e</a:t>
              </a:r>
            </a:p>
          </p:txBody>
        </p:sp>
        <p:sp>
          <p:nvSpPr>
            <p:cNvPr id="710721" name="Oval 65">
              <a:extLst>
                <a:ext uri="{FF2B5EF4-FFF2-40B4-BE49-F238E27FC236}">
                  <a16:creationId xmlns:a16="http://schemas.microsoft.com/office/drawing/2014/main" id="{5FF356EB-F06B-477C-AA8F-9ACC5EDE5A9F}"/>
                </a:ext>
              </a:extLst>
            </p:cNvPr>
            <p:cNvSpPr>
              <a:spLocks noChangeAspect="1" noChangeArrowheads="1"/>
            </p:cNvSpPr>
            <p:nvPr/>
          </p:nvSpPr>
          <p:spPr bwMode="auto">
            <a:xfrm>
              <a:off x="8797921" y="5713346"/>
              <a:ext cx="347119" cy="347119"/>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f</a:t>
              </a:r>
            </a:p>
          </p:txBody>
        </p:sp>
        <p:cxnSp>
          <p:nvCxnSpPr>
            <p:cNvPr id="710722" name="AutoShape 66">
              <a:extLst>
                <a:ext uri="{FF2B5EF4-FFF2-40B4-BE49-F238E27FC236}">
                  <a16:creationId xmlns:a16="http://schemas.microsoft.com/office/drawing/2014/main" id="{6CAC5FAF-7C24-4B59-9E5B-970C57F85D75}"/>
                </a:ext>
              </a:extLst>
            </p:cNvPr>
            <p:cNvCxnSpPr>
              <a:cxnSpLocks noChangeShapeType="1"/>
              <a:stCxn id="710720" idx="4"/>
              <a:endCxn id="710721" idx="0"/>
            </p:cNvCxnSpPr>
            <p:nvPr/>
          </p:nvCxnSpPr>
          <p:spPr bwMode="auto">
            <a:xfrm>
              <a:off x="8971480" y="4685636"/>
              <a:ext cx="0" cy="102771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3" name="AutoShape 67">
              <a:extLst>
                <a:ext uri="{FF2B5EF4-FFF2-40B4-BE49-F238E27FC236}">
                  <a16:creationId xmlns:a16="http://schemas.microsoft.com/office/drawing/2014/main" id="{02A1F7FD-3A69-496D-A0C6-9E0B7498F083}"/>
                </a:ext>
              </a:extLst>
            </p:cNvPr>
            <p:cNvCxnSpPr>
              <a:cxnSpLocks noChangeShapeType="1"/>
              <a:stCxn id="710719" idx="4"/>
              <a:endCxn id="710720" idx="0"/>
            </p:cNvCxnSpPr>
            <p:nvPr/>
          </p:nvCxnSpPr>
          <p:spPr bwMode="auto">
            <a:xfrm>
              <a:off x="8971480" y="3274651"/>
              <a:ext cx="0" cy="106167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4" name="AutoShape 68">
              <a:extLst>
                <a:ext uri="{FF2B5EF4-FFF2-40B4-BE49-F238E27FC236}">
                  <a16:creationId xmlns:a16="http://schemas.microsoft.com/office/drawing/2014/main" id="{A59DDDAD-046C-41D6-AD72-EFD283E2916C}"/>
                </a:ext>
              </a:extLst>
            </p:cNvPr>
            <p:cNvCxnSpPr>
              <a:cxnSpLocks noChangeShapeType="1"/>
              <a:stCxn id="710707" idx="5"/>
              <a:endCxn id="710720" idx="1"/>
            </p:cNvCxnSpPr>
            <p:nvPr/>
          </p:nvCxnSpPr>
          <p:spPr bwMode="auto">
            <a:xfrm>
              <a:off x="6575184" y="3223173"/>
              <a:ext cx="2273571" cy="1164304"/>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25" name="Oval 69">
              <a:extLst>
                <a:ext uri="{FF2B5EF4-FFF2-40B4-BE49-F238E27FC236}">
                  <a16:creationId xmlns:a16="http://schemas.microsoft.com/office/drawing/2014/main" id="{5DBB04F5-4A14-4512-B3D9-38E24230652F}"/>
                </a:ext>
              </a:extLst>
            </p:cNvPr>
            <p:cNvSpPr>
              <a:spLocks noChangeAspect="1" noChangeArrowheads="1"/>
            </p:cNvSpPr>
            <p:nvPr/>
          </p:nvSpPr>
          <p:spPr bwMode="auto">
            <a:xfrm>
              <a:off x="10648016"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solidFill>
                    <a:srgbClr val="C00000"/>
                  </a:solidFill>
                </a:rPr>
                <a:t>t</a:t>
              </a:r>
            </a:p>
          </p:txBody>
        </p:sp>
        <p:cxnSp>
          <p:nvCxnSpPr>
            <p:cNvPr id="710726" name="AutoShape 70">
              <a:extLst>
                <a:ext uri="{FF2B5EF4-FFF2-40B4-BE49-F238E27FC236}">
                  <a16:creationId xmlns:a16="http://schemas.microsoft.com/office/drawing/2014/main" id="{D1F58022-A270-4460-9379-D0A7FAF1B20E}"/>
                </a:ext>
              </a:extLst>
            </p:cNvPr>
            <p:cNvCxnSpPr>
              <a:cxnSpLocks noChangeShapeType="1"/>
              <a:stCxn id="710719" idx="6"/>
              <a:endCxn id="710725" idx="1"/>
            </p:cNvCxnSpPr>
            <p:nvPr/>
          </p:nvCxnSpPr>
          <p:spPr bwMode="auto">
            <a:xfrm>
              <a:off x="9145040" y="3098894"/>
              <a:ext cx="1553810" cy="1288583"/>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7" name="AutoShape 71">
              <a:extLst>
                <a:ext uri="{FF2B5EF4-FFF2-40B4-BE49-F238E27FC236}">
                  <a16:creationId xmlns:a16="http://schemas.microsoft.com/office/drawing/2014/main" id="{8009E4A0-472B-406A-AFD6-0553FE5CC77C}"/>
                </a:ext>
              </a:extLst>
            </p:cNvPr>
            <p:cNvCxnSpPr>
              <a:cxnSpLocks noChangeShapeType="1"/>
              <a:stCxn id="710720" idx="6"/>
              <a:endCxn id="710725" idx="2"/>
            </p:cNvCxnSpPr>
            <p:nvPr/>
          </p:nvCxnSpPr>
          <p:spPr bwMode="auto">
            <a:xfrm>
              <a:off x="9145040" y="4510979"/>
              <a:ext cx="1502976" cy="0"/>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8" name="AutoShape 72">
              <a:extLst>
                <a:ext uri="{FF2B5EF4-FFF2-40B4-BE49-F238E27FC236}">
                  <a16:creationId xmlns:a16="http://schemas.microsoft.com/office/drawing/2014/main" id="{E5CB0D21-BAA0-4835-A49D-49FE212797CB}"/>
                </a:ext>
              </a:extLst>
            </p:cNvPr>
            <p:cNvCxnSpPr>
              <a:cxnSpLocks noChangeShapeType="1"/>
              <a:stCxn id="710721" idx="7"/>
              <a:endCxn id="710725" idx="4"/>
            </p:cNvCxnSpPr>
            <p:nvPr/>
          </p:nvCxnSpPr>
          <p:spPr bwMode="auto">
            <a:xfrm flipV="1">
              <a:off x="9094206" y="4685636"/>
              <a:ext cx="1727370" cy="1078544"/>
            </a:xfrm>
            <a:prstGeom prst="straightConnector1">
              <a:avLst/>
            </a:prstGeom>
            <a:noFill/>
            <a:ln w="38100">
              <a:solidFill>
                <a:srgbClr val="0066CC"/>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29" name="Text Box 73">
              <a:extLst>
                <a:ext uri="{FF2B5EF4-FFF2-40B4-BE49-F238E27FC236}">
                  <a16:creationId xmlns:a16="http://schemas.microsoft.com/office/drawing/2014/main" id="{AAAB09A9-EC8D-4414-8817-65353064DC87}"/>
                </a:ext>
              </a:extLst>
            </p:cNvPr>
            <p:cNvSpPr txBox="1">
              <a:spLocks noChangeArrowheads="1"/>
            </p:cNvSpPr>
            <p:nvPr/>
          </p:nvSpPr>
          <p:spPr bwMode="auto">
            <a:xfrm>
              <a:off x="5140633" y="5112122"/>
              <a:ext cx="892815" cy="307777"/>
            </a:xfrm>
            <a:prstGeom prst="rect">
              <a:avLst/>
            </a:prstGeom>
            <a:solidFill>
              <a:schemeClr val="accent1">
                <a:lumMod val="20000"/>
                <a:lumOff val="8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a:t>
              </a:r>
              <a:r>
                <a:rPr lang="en-US" altLang="en-US" sz="2000" b="1" dirty="0">
                  <a:latin typeface="Arial" panose="020B0604020202020204" pitchFamily="34" charset="0"/>
                  <a:cs typeface="Arial" panose="020B0604020202020204" pitchFamily="34" charset="0"/>
                </a:rPr>
                <a:t>14/</a:t>
              </a:r>
              <a:r>
                <a:rPr lang="en-US" altLang="en-US" sz="2000" dirty="0">
                  <a:latin typeface="Arial" panose="020B0604020202020204" pitchFamily="34" charset="0"/>
                  <a:cs typeface="Arial" panose="020B0604020202020204" pitchFamily="34" charset="0"/>
                </a:rPr>
                <a:t>15</a:t>
              </a:r>
            </a:p>
          </p:txBody>
        </p:sp>
        <p:sp>
          <p:nvSpPr>
            <p:cNvPr id="710730" name="Text Box 74">
              <a:extLst>
                <a:ext uri="{FF2B5EF4-FFF2-40B4-BE49-F238E27FC236}">
                  <a16:creationId xmlns:a16="http://schemas.microsoft.com/office/drawing/2014/main" id="{876DCB81-C2CB-43B6-8640-CF55C1427FEF}"/>
                </a:ext>
              </a:extLst>
            </p:cNvPr>
            <p:cNvSpPr txBox="1">
              <a:spLocks noChangeArrowheads="1"/>
            </p:cNvSpPr>
            <p:nvPr/>
          </p:nvSpPr>
          <p:spPr bwMode="auto">
            <a:xfrm>
              <a:off x="5458549" y="4352895"/>
              <a:ext cx="453335" cy="307777"/>
            </a:xfrm>
            <a:prstGeom prst="rect">
              <a:avLst/>
            </a:prstGeom>
            <a:solidFill>
              <a:schemeClr val="accent1">
                <a:lumMod val="20000"/>
                <a:lumOff val="80000"/>
              </a:schemeClr>
            </a:solidFill>
            <a:ln w="9525">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600" dirty="0">
                  <a:latin typeface="Arial" panose="020B0604020202020204" pitchFamily="34" charset="0"/>
                  <a:cs typeface="Arial" panose="020B0604020202020204" pitchFamily="34" charset="0"/>
                </a:rPr>
                <a:t> </a:t>
              </a:r>
              <a:r>
                <a:rPr lang="en-US" altLang="en-US" sz="2000" b="1" dirty="0">
                  <a:latin typeface="Arial" panose="020B0604020202020204" pitchFamily="34" charset="0"/>
                  <a:cs typeface="Arial" panose="020B0604020202020204" pitchFamily="34" charset="0"/>
                </a:rPr>
                <a:t>4</a:t>
              </a:r>
              <a:r>
                <a:rPr lang="en-US" altLang="en-US" sz="1600" b="1" dirty="0">
                  <a:solidFill>
                    <a:srgbClr val="0066CC"/>
                  </a:solidFill>
                  <a:latin typeface="Arial" panose="020B0604020202020204" pitchFamily="34" charset="0"/>
                  <a:cs typeface="Arial" panose="020B0604020202020204" pitchFamily="34" charset="0"/>
                </a:rPr>
                <a:t>/</a:t>
              </a:r>
              <a:r>
                <a:rPr lang="en-US" altLang="en-US" sz="2000" dirty="0">
                  <a:latin typeface="Arial" panose="020B0604020202020204" pitchFamily="34" charset="0"/>
                  <a:cs typeface="Arial" panose="020B0604020202020204" pitchFamily="34" charset="0"/>
                </a:rPr>
                <a:t>5</a:t>
              </a:r>
              <a:endParaRPr lang="en-US" altLang="en-US" sz="1600" dirty="0">
                <a:latin typeface="Arial" panose="020B0604020202020204" pitchFamily="34" charset="0"/>
                <a:cs typeface="Arial" panose="020B0604020202020204" pitchFamily="34" charset="0"/>
              </a:endParaRPr>
            </a:p>
          </p:txBody>
        </p:sp>
        <p:sp>
          <p:nvSpPr>
            <p:cNvPr id="710731" name="Text Box 75">
              <a:extLst>
                <a:ext uri="{FF2B5EF4-FFF2-40B4-BE49-F238E27FC236}">
                  <a16:creationId xmlns:a16="http://schemas.microsoft.com/office/drawing/2014/main" id="{987DF8DB-99E2-4C14-B47B-F33F6E8164DE}"/>
                </a:ext>
              </a:extLst>
            </p:cNvPr>
            <p:cNvSpPr txBox="1">
              <a:spLocks noChangeArrowheads="1"/>
            </p:cNvSpPr>
            <p:nvPr/>
          </p:nvSpPr>
          <p:spPr bwMode="auto">
            <a:xfrm>
              <a:off x="7331165" y="5713346"/>
              <a:ext cx="718833" cy="307777"/>
            </a:xfrm>
            <a:prstGeom prst="rect">
              <a:avLst/>
            </a:prstGeom>
            <a:solidFill>
              <a:schemeClr val="accent1">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a:t>
              </a:r>
              <a:r>
                <a:rPr lang="en-US" altLang="en-US" sz="2000" b="1" dirty="0">
                  <a:latin typeface="Arial" panose="020B0604020202020204" pitchFamily="34" charset="0"/>
                  <a:cs typeface="Arial" panose="020B0604020202020204" pitchFamily="34" charset="0"/>
                </a:rPr>
                <a:t>14/</a:t>
              </a:r>
              <a:r>
                <a:rPr lang="en-US" altLang="en-US" sz="2000" dirty="0">
                  <a:latin typeface="Arial" panose="020B0604020202020204" pitchFamily="34" charset="0"/>
                  <a:cs typeface="Arial" panose="020B0604020202020204" pitchFamily="34" charset="0"/>
                </a:rPr>
                <a:t>30</a:t>
              </a:r>
            </a:p>
          </p:txBody>
        </p:sp>
        <p:sp>
          <p:nvSpPr>
            <p:cNvPr id="710732" name="Text Box 76">
              <a:extLst>
                <a:ext uri="{FF2B5EF4-FFF2-40B4-BE49-F238E27FC236}">
                  <a16:creationId xmlns:a16="http://schemas.microsoft.com/office/drawing/2014/main" id="{9B3B7885-AA6D-45BF-BF0E-9859076B1F0F}"/>
                </a:ext>
              </a:extLst>
            </p:cNvPr>
            <p:cNvSpPr txBox="1">
              <a:spLocks noChangeArrowheads="1"/>
            </p:cNvSpPr>
            <p:nvPr/>
          </p:nvSpPr>
          <p:spPr bwMode="auto">
            <a:xfrm>
              <a:off x="8736366" y="4983795"/>
              <a:ext cx="600782"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15</a:t>
              </a:r>
            </a:p>
          </p:txBody>
        </p:sp>
        <p:sp>
          <p:nvSpPr>
            <p:cNvPr id="710733" name="Text Box 77">
              <a:extLst>
                <a:ext uri="{FF2B5EF4-FFF2-40B4-BE49-F238E27FC236}">
                  <a16:creationId xmlns:a16="http://schemas.microsoft.com/office/drawing/2014/main" id="{B8E7733D-771B-4363-B990-E50FE4B44B69}"/>
                </a:ext>
              </a:extLst>
            </p:cNvPr>
            <p:cNvSpPr txBox="1">
              <a:spLocks noChangeArrowheads="1"/>
            </p:cNvSpPr>
            <p:nvPr/>
          </p:nvSpPr>
          <p:spPr bwMode="auto">
            <a:xfrm>
              <a:off x="5300960" y="3595078"/>
              <a:ext cx="68567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b="1" dirty="0">
                  <a:solidFill>
                    <a:srgbClr val="0066CC"/>
                  </a:solidFill>
                  <a:latin typeface="Arial" panose="020B0604020202020204" pitchFamily="34" charset="0"/>
                  <a:cs typeface="Arial" panose="020B0604020202020204" pitchFamily="34" charset="0"/>
                </a:rPr>
                <a:t>10/</a:t>
              </a:r>
              <a:r>
                <a:rPr lang="en-US" altLang="en-US" sz="2000" dirty="0">
                  <a:latin typeface="Arial" panose="020B0604020202020204" pitchFamily="34" charset="0"/>
                  <a:cs typeface="Arial" panose="020B0604020202020204" pitchFamily="34" charset="0"/>
                </a:rPr>
                <a:t>10</a:t>
              </a:r>
            </a:p>
          </p:txBody>
        </p:sp>
        <p:sp>
          <p:nvSpPr>
            <p:cNvPr id="710734" name="Text Box 78">
              <a:extLst>
                <a:ext uri="{FF2B5EF4-FFF2-40B4-BE49-F238E27FC236}">
                  <a16:creationId xmlns:a16="http://schemas.microsoft.com/office/drawing/2014/main" id="{7EF45083-C70B-47F5-AFFB-7C03B08F5B21}"/>
                </a:ext>
              </a:extLst>
            </p:cNvPr>
            <p:cNvSpPr txBox="1">
              <a:spLocks noChangeArrowheads="1"/>
            </p:cNvSpPr>
            <p:nvPr/>
          </p:nvSpPr>
          <p:spPr bwMode="auto">
            <a:xfrm>
              <a:off x="7486213" y="4352895"/>
              <a:ext cx="469223"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 </a:t>
              </a:r>
              <a:r>
                <a:rPr lang="en-US" altLang="en-US" sz="2000" b="1" dirty="0">
                  <a:solidFill>
                    <a:srgbClr val="0066CC"/>
                  </a:solidFill>
                  <a:latin typeface="Arial" panose="020B0604020202020204" pitchFamily="34" charset="0"/>
                  <a:cs typeface="Arial" panose="020B0604020202020204" pitchFamily="34" charset="0"/>
                </a:rPr>
                <a:t>8</a:t>
              </a:r>
              <a:r>
                <a:rPr lang="en-US" altLang="en-US" sz="2000" dirty="0">
                  <a:solidFill>
                    <a:srgbClr val="0066CC"/>
                  </a:solidFill>
                  <a:latin typeface="Arial" panose="020B0604020202020204" pitchFamily="34" charset="0"/>
                  <a:cs typeface="Arial" panose="020B0604020202020204" pitchFamily="34" charset="0"/>
                </a:rPr>
                <a:t>/</a:t>
              </a:r>
              <a:r>
                <a:rPr lang="en-US" altLang="en-US" sz="2000" dirty="0">
                  <a:latin typeface="Arial" panose="020B0604020202020204" pitchFamily="34" charset="0"/>
                  <a:cs typeface="Arial" panose="020B0604020202020204" pitchFamily="34" charset="0"/>
                </a:rPr>
                <a:t>8</a:t>
              </a:r>
            </a:p>
          </p:txBody>
        </p:sp>
        <p:sp>
          <p:nvSpPr>
            <p:cNvPr id="710735" name="Text Box 79">
              <a:extLst>
                <a:ext uri="{FF2B5EF4-FFF2-40B4-BE49-F238E27FC236}">
                  <a16:creationId xmlns:a16="http://schemas.microsoft.com/office/drawing/2014/main" id="{2AF06533-A0D6-429A-B95A-970349B525E9}"/>
                </a:ext>
              </a:extLst>
            </p:cNvPr>
            <p:cNvSpPr txBox="1">
              <a:spLocks noChangeArrowheads="1"/>
            </p:cNvSpPr>
            <p:nvPr/>
          </p:nvSpPr>
          <p:spPr bwMode="auto">
            <a:xfrm>
              <a:off x="7425727" y="3622107"/>
              <a:ext cx="624271"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b="1" dirty="0">
                  <a:latin typeface="Arial" panose="020B0604020202020204" pitchFamily="34" charset="0"/>
                  <a:cs typeface="Arial" panose="020B0604020202020204" pitchFamily="34" charset="0"/>
                </a:rPr>
                <a:t>1/</a:t>
              </a:r>
              <a:r>
                <a:rPr lang="en-US" altLang="en-US" sz="2000" dirty="0">
                  <a:latin typeface="Arial" panose="020B0604020202020204" pitchFamily="34" charset="0"/>
                  <a:cs typeface="Arial" panose="020B0604020202020204" pitchFamily="34" charset="0"/>
                </a:rPr>
                <a:t>15</a:t>
              </a:r>
            </a:p>
          </p:txBody>
        </p:sp>
        <p:sp>
          <p:nvSpPr>
            <p:cNvPr id="710736" name="Text Box 80">
              <a:extLst>
                <a:ext uri="{FF2B5EF4-FFF2-40B4-BE49-F238E27FC236}">
                  <a16:creationId xmlns:a16="http://schemas.microsoft.com/office/drawing/2014/main" id="{8E2CA782-EF26-454E-82E8-A7C0ACB122B9}"/>
                </a:ext>
              </a:extLst>
            </p:cNvPr>
            <p:cNvSpPr txBox="1">
              <a:spLocks noChangeArrowheads="1"/>
            </p:cNvSpPr>
            <p:nvPr/>
          </p:nvSpPr>
          <p:spPr bwMode="auto">
            <a:xfrm>
              <a:off x="7444248" y="2939710"/>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latin typeface="Arial" panose="020B0604020202020204" pitchFamily="34" charset="0"/>
                  <a:cs typeface="Arial" panose="020B0604020202020204" pitchFamily="34" charset="0"/>
                </a:rPr>
                <a:t>9/</a:t>
              </a:r>
              <a:r>
                <a:rPr lang="en-US" altLang="en-US" sz="2000" dirty="0">
                  <a:latin typeface="Arial" panose="020B0604020202020204" pitchFamily="34" charset="0"/>
                  <a:cs typeface="Arial" panose="020B0604020202020204" pitchFamily="34" charset="0"/>
                </a:rPr>
                <a:t>9</a:t>
              </a:r>
            </a:p>
          </p:txBody>
        </p:sp>
        <p:sp>
          <p:nvSpPr>
            <p:cNvPr id="710737" name="Text Box 81">
              <a:extLst>
                <a:ext uri="{FF2B5EF4-FFF2-40B4-BE49-F238E27FC236}">
                  <a16:creationId xmlns:a16="http://schemas.microsoft.com/office/drawing/2014/main" id="{5EEB67EA-FA04-42E4-9A86-1D24118DC709}"/>
                </a:ext>
              </a:extLst>
            </p:cNvPr>
            <p:cNvSpPr txBox="1">
              <a:spLocks noChangeArrowheads="1"/>
            </p:cNvSpPr>
            <p:nvPr/>
          </p:nvSpPr>
          <p:spPr bwMode="auto">
            <a:xfrm>
              <a:off x="7444248" y="5043023"/>
              <a:ext cx="403767" cy="307777"/>
            </a:xfrm>
            <a:prstGeom prst="rect">
              <a:avLst/>
            </a:prstGeom>
            <a:solidFill>
              <a:schemeClr val="accent1">
                <a:lumMod val="20000"/>
                <a:lumOff val="8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latin typeface="Arial" panose="020B0604020202020204" pitchFamily="34" charset="0"/>
                  <a:cs typeface="Arial" panose="020B0604020202020204" pitchFamily="34" charset="0"/>
                </a:rPr>
                <a:t>4/</a:t>
              </a:r>
              <a:r>
                <a:rPr lang="en-US" altLang="en-US" sz="2000" dirty="0">
                  <a:latin typeface="Arial" panose="020B0604020202020204" pitchFamily="34" charset="0"/>
                  <a:cs typeface="Arial" panose="020B0604020202020204" pitchFamily="34" charset="0"/>
                </a:rPr>
                <a:t>6</a:t>
              </a:r>
            </a:p>
          </p:txBody>
        </p:sp>
        <p:sp>
          <p:nvSpPr>
            <p:cNvPr id="710738" name="Text Box 82">
              <a:extLst>
                <a:ext uri="{FF2B5EF4-FFF2-40B4-BE49-F238E27FC236}">
                  <a16:creationId xmlns:a16="http://schemas.microsoft.com/office/drawing/2014/main" id="{205F31AB-659B-4FEC-B166-3C1CABADD2CF}"/>
                </a:ext>
              </a:extLst>
            </p:cNvPr>
            <p:cNvSpPr txBox="1">
              <a:spLocks noChangeArrowheads="1"/>
            </p:cNvSpPr>
            <p:nvPr/>
          </p:nvSpPr>
          <p:spPr bwMode="auto">
            <a:xfrm>
              <a:off x="9600403" y="5160001"/>
              <a:ext cx="714975"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b="1" dirty="0">
                  <a:solidFill>
                    <a:srgbClr val="0066CC"/>
                  </a:solidFill>
                  <a:latin typeface="Arial" panose="020B0604020202020204" pitchFamily="34" charset="0"/>
                  <a:cs typeface="Arial" panose="020B0604020202020204" pitchFamily="34" charset="0"/>
                </a:rPr>
                <a:t>10/</a:t>
              </a:r>
              <a:r>
                <a:rPr lang="en-US" altLang="en-US" sz="2000" dirty="0">
                  <a:latin typeface="Arial" panose="020B0604020202020204" pitchFamily="34" charset="0"/>
                  <a:cs typeface="Arial" panose="020B0604020202020204" pitchFamily="34" charset="0"/>
                </a:rPr>
                <a:t>10</a:t>
              </a:r>
            </a:p>
          </p:txBody>
        </p:sp>
        <p:sp>
          <p:nvSpPr>
            <p:cNvPr id="710739" name="Text Box 83">
              <a:extLst>
                <a:ext uri="{FF2B5EF4-FFF2-40B4-BE49-F238E27FC236}">
                  <a16:creationId xmlns:a16="http://schemas.microsoft.com/office/drawing/2014/main" id="{8296BE71-6B6F-463B-8C0A-94F5E736B46E}"/>
                </a:ext>
              </a:extLst>
            </p:cNvPr>
            <p:cNvSpPr txBox="1">
              <a:spLocks noChangeArrowheads="1"/>
            </p:cNvSpPr>
            <p:nvPr/>
          </p:nvSpPr>
          <p:spPr bwMode="auto">
            <a:xfrm>
              <a:off x="9704822" y="4352895"/>
              <a:ext cx="596075"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b="1" dirty="0">
                  <a:latin typeface="Arial" panose="020B0604020202020204" pitchFamily="34" charset="0"/>
                  <a:cs typeface="Arial" panose="020B0604020202020204" pitchFamily="34" charset="0"/>
                </a:rPr>
                <a:t> 9/</a:t>
              </a:r>
              <a:r>
                <a:rPr lang="en-US" altLang="en-US" sz="2000" dirty="0">
                  <a:latin typeface="Arial" panose="020B0604020202020204" pitchFamily="34" charset="0"/>
                  <a:cs typeface="Arial" panose="020B0604020202020204" pitchFamily="34" charset="0"/>
                </a:rPr>
                <a:t>10</a:t>
              </a:r>
              <a:endParaRPr lang="en-US" altLang="en-US" sz="1600" dirty="0">
                <a:latin typeface="Arial" panose="020B0604020202020204" pitchFamily="34" charset="0"/>
                <a:cs typeface="Arial" panose="020B0604020202020204" pitchFamily="34" charset="0"/>
              </a:endParaRPr>
            </a:p>
          </p:txBody>
        </p:sp>
        <p:sp>
          <p:nvSpPr>
            <p:cNvPr id="710740" name="Text Box 84">
              <a:extLst>
                <a:ext uri="{FF2B5EF4-FFF2-40B4-BE49-F238E27FC236}">
                  <a16:creationId xmlns:a16="http://schemas.microsoft.com/office/drawing/2014/main" id="{0F354EAC-9BAF-4735-9DC8-6E0300D4C60E}"/>
                </a:ext>
              </a:extLst>
            </p:cNvPr>
            <p:cNvSpPr txBox="1">
              <a:spLocks noChangeArrowheads="1"/>
            </p:cNvSpPr>
            <p:nvPr/>
          </p:nvSpPr>
          <p:spPr bwMode="auto">
            <a:xfrm>
              <a:off x="9703383" y="3588301"/>
              <a:ext cx="689644"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b="1" dirty="0">
                  <a:latin typeface="Arial" panose="020B0604020202020204" pitchFamily="34" charset="0"/>
                  <a:cs typeface="Arial" panose="020B0604020202020204" pitchFamily="34" charset="0"/>
                </a:rPr>
                <a:t>9/</a:t>
              </a:r>
              <a:r>
                <a:rPr lang="en-US" altLang="en-US" sz="2000" dirty="0">
                  <a:latin typeface="Arial" panose="020B0604020202020204" pitchFamily="34" charset="0"/>
                  <a:cs typeface="Arial" panose="020B0604020202020204" pitchFamily="34" charset="0"/>
                </a:rPr>
                <a:t>10</a:t>
              </a:r>
            </a:p>
          </p:txBody>
        </p:sp>
        <p:sp>
          <p:nvSpPr>
            <p:cNvPr id="710741" name="Text Box 85">
              <a:extLst>
                <a:ext uri="{FF2B5EF4-FFF2-40B4-BE49-F238E27FC236}">
                  <a16:creationId xmlns:a16="http://schemas.microsoft.com/office/drawing/2014/main" id="{DA3836EF-7B4F-4F15-B0F6-032168C5D6FA}"/>
                </a:ext>
              </a:extLst>
            </p:cNvPr>
            <p:cNvSpPr txBox="1">
              <a:spLocks noChangeArrowheads="1"/>
            </p:cNvSpPr>
            <p:nvPr/>
          </p:nvSpPr>
          <p:spPr bwMode="auto">
            <a:xfrm>
              <a:off x="8791308" y="3595078"/>
              <a:ext cx="545059"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15</a:t>
              </a:r>
            </a:p>
          </p:txBody>
        </p:sp>
        <p:sp>
          <p:nvSpPr>
            <p:cNvPr id="710742" name="Text Box 86">
              <a:extLst>
                <a:ext uri="{FF2B5EF4-FFF2-40B4-BE49-F238E27FC236}">
                  <a16:creationId xmlns:a16="http://schemas.microsoft.com/office/drawing/2014/main" id="{90B2F1EE-6551-462E-B731-7BC0ECF13613}"/>
                </a:ext>
              </a:extLst>
            </p:cNvPr>
            <p:cNvSpPr txBox="1">
              <a:spLocks noChangeArrowheads="1"/>
            </p:cNvSpPr>
            <p:nvPr/>
          </p:nvSpPr>
          <p:spPr bwMode="auto">
            <a:xfrm>
              <a:off x="6276229" y="3653451"/>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4</a:t>
              </a:r>
            </a:p>
          </p:txBody>
        </p:sp>
        <p:sp>
          <p:nvSpPr>
            <p:cNvPr id="710743" name="Text Box 87">
              <a:extLst>
                <a:ext uri="{FF2B5EF4-FFF2-40B4-BE49-F238E27FC236}">
                  <a16:creationId xmlns:a16="http://schemas.microsoft.com/office/drawing/2014/main" id="{4ECC4A50-EA5B-4BE9-8AA2-AA53B6EA7E58}"/>
                </a:ext>
              </a:extLst>
            </p:cNvPr>
            <p:cNvSpPr txBox="1">
              <a:spLocks noChangeArrowheads="1"/>
            </p:cNvSpPr>
            <p:nvPr/>
          </p:nvSpPr>
          <p:spPr bwMode="auto">
            <a:xfrm>
              <a:off x="6268652" y="5012007"/>
              <a:ext cx="403767" cy="307777"/>
            </a:xfrm>
            <a:prstGeom prst="rect">
              <a:avLst/>
            </a:prstGeom>
            <a:solidFill>
              <a:schemeClr val="accent1">
                <a:lumMod val="20000"/>
                <a:lumOff val="8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4</a:t>
              </a:r>
            </a:p>
          </p:txBody>
        </p:sp>
      </p:grpSp>
      <p:sp>
        <p:nvSpPr>
          <p:cNvPr id="52" name="TextBox 51">
            <a:extLst>
              <a:ext uri="{FF2B5EF4-FFF2-40B4-BE49-F238E27FC236}">
                <a16:creationId xmlns:a16="http://schemas.microsoft.com/office/drawing/2014/main" id="{D95B3B17-292E-4FC0-A21F-07FA171C2F7F}"/>
              </a:ext>
            </a:extLst>
          </p:cNvPr>
          <p:cNvSpPr txBox="1"/>
          <p:nvPr/>
        </p:nvSpPr>
        <p:spPr>
          <a:xfrm>
            <a:off x="1212645" y="3223173"/>
            <a:ext cx="2418547" cy="461665"/>
          </a:xfrm>
          <a:prstGeom prst="rect">
            <a:avLst/>
          </a:prstGeom>
          <a:noFill/>
        </p:spPr>
        <p:txBody>
          <a:bodyPr wrap="none" rtlCol="0">
            <a:spAutoFit/>
          </a:bodyPr>
          <a:lstStyle/>
          <a:p>
            <a:r>
              <a:rPr lang="en-US" sz="2400" dirty="0"/>
              <a:t>Value of flow = </a:t>
            </a:r>
            <a:r>
              <a:rPr lang="en-US" sz="2400" b="1" dirty="0">
                <a:solidFill>
                  <a:srgbClr val="0066CC"/>
                </a:solidFill>
              </a:rPr>
              <a:t>28</a:t>
            </a:r>
            <a:endParaRPr lang="en-US" sz="2400" b="1" dirty="0">
              <a:solidFill>
                <a:srgbClr val="C00000"/>
              </a:solidFill>
            </a:endParaRPr>
          </a:p>
        </p:txBody>
      </p: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0BF7A504-507F-4E95-BBB7-8388BE532A73}"/>
                  </a:ext>
                </a:extLst>
              </p:cNvPr>
              <p:cNvSpPr txBox="1"/>
              <p:nvPr/>
            </p:nvSpPr>
            <p:spPr>
              <a:xfrm>
                <a:off x="4428689" y="4702016"/>
                <a:ext cx="457176"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1" i="1" dirty="0" smtClean="0">
                          <a:solidFill>
                            <a:srgbClr val="0066CC"/>
                          </a:solidFill>
                          <a:latin typeface="Cambria Math" panose="02040503050406030204" pitchFamily="18" charset="0"/>
                        </a:rPr>
                        <m:t>𝑨</m:t>
                      </m:r>
                    </m:oMath>
                  </m:oMathPara>
                </a14:m>
                <a:endParaRPr lang="en-US" sz="2400" b="1" dirty="0">
                  <a:solidFill>
                    <a:srgbClr val="0066CC"/>
                  </a:solidFill>
                </a:endParaRPr>
              </a:p>
            </p:txBody>
          </p:sp>
        </mc:Choice>
        <mc:Fallback xmlns="">
          <p:sp>
            <p:nvSpPr>
              <p:cNvPr id="47" name="TextBox 46">
                <a:extLst>
                  <a:ext uri="{FF2B5EF4-FFF2-40B4-BE49-F238E27FC236}">
                    <a16:creationId xmlns:a16="http://schemas.microsoft.com/office/drawing/2014/main" id="{0BF7A504-507F-4E95-BBB7-8388BE532A73}"/>
                  </a:ext>
                </a:extLst>
              </p:cNvPr>
              <p:cNvSpPr txBox="1">
                <a:spLocks noRot="1" noChangeAspect="1" noMove="1" noResize="1" noEditPoints="1" noAdjustHandles="1" noChangeArrowheads="1" noChangeShapeType="1" noTextEdit="1"/>
              </p:cNvSpPr>
              <p:nvPr/>
            </p:nvSpPr>
            <p:spPr>
              <a:xfrm>
                <a:off x="4428689" y="4702016"/>
                <a:ext cx="457176" cy="461665"/>
              </a:xfrm>
              <a:prstGeom prst="rect">
                <a:avLst/>
              </a:prstGeom>
              <a:blipFill>
                <a:blip r:embed="rId4"/>
                <a:stretch>
                  <a:fillRect/>
                </a:stretch>
              </a:blipFill>
            </p:spPr>
            <p:txBody>
              <a:bodyPr/>
              <a:lstStyle/>
              <a:p>
                <a:r>
                  <a:rPr lang="en-US">
                    <a:noFill/>
                  </a:rPr>
                  <a:t> </a:t>
                </a:r>
              </a:p>
            </p:txBody>
          </p:sp>
        </mc:Fallback>
      </mc:AlternateContent>
      <p:sp>
        <p:nvSpPr>
          <p:cNvPr id="49" name="TextBox 48">
            <a:extLst>
              <a:ext uri="{FF2B5EF4-FFF2-40B4-BE49-F238E27FC236}">
                <a16:creationId xmlns:a16="http://schemas.microsoft.com/office/drawing/2014/main" id="{FCC33F47-5BC1-4F36-8505-FFC3FEA32403}"/>
              </a:ext>
            </a:extLst>
          </p:cNvPr>
          <p:cNvSpPr txBox="1"/>
          <p:nvPr/>
        </p:nvSpPr>
        <p:spPr>
          <a:xfrm>
            <a:off x="4188871" y="5659205"/>
            <a:ext cx="1208026" cy="461665"/>
          </a:xfrm>
          <a:prstGeom prst="rect">
            <a:avLst/>
          </a:prstGeom>
          <a:noFill/>
        </p:spPr>
        <p:txBody>
          <a:bodyPr wrap="square" rtlCol="0">
            <a:spAutoFit/>
          </a:bodyPr>
          <a:lstStyle/>
          <a:p>
            <a:endParaRPr lang="en-US" sz="2400" b="1" dirty="0">
              <a:solidFill>
                <a:srgbClr val="0066CC"/>
              </a:solidFill>
            </a:endParaRPr>
          </a:p>
        </p:txBody>
      </p:sp>
      <p:sp>
        <p:nvSpPr>
          <p:cNvPr id="50" name="TextBox 49">
            <a:extLst>
              <a:ext uri="{FF2B5EF4-FFF2-40B4-BE49-F238E27FC236}">
                <a16:creationId xmlns:a16="http://schemas.microsoft.com/office/drawing/2014/main" id="{A61FDB3F-7F51-4CA4-8895-8ABE85E14BE2}"/>
              </a:ext>
            </a:extLst>
          </p:cNvPr>
          <p:cNvSpPr txBox="1"/>
          <p:nvPr/>
        </p:nvSpPr>
        <p:spPr>
          <a:xfrm>
            <a:off x="1209051" y="3969069"/>
            <a:ext cx="2638864" cy="461665"/>
          </a:xfrm>
          <a:prstGeom prst="rect">
            <a:avLst/>
          </a:prstGeom>
          <a:noFill/>
        </p:spPr>
        <p:txBody>
          <a:bodyPr wrap="none" rtlCol="0">
            <a:spAutoFit/>
          </a:bodyPr>
          <a:lstStyle/>
          <a:p>
            <a:r>
              <a:rPr lang="en-US" sz="2400" dirty="0"/>
              <a:t>Capacity of cut = </a:t>
            </a:r>
            <a:r>
              <a:rPr lang="en-US" sz="2400" b="1" dirty="0">
                <a:solidFill>
                  <a:srgbClr val="0066CC"/>
                </a:solidFill>
              </a:rPr>
              <a:t>28</a:t>
            </a:r>
          </a:p>
        </p:txBody>
      </p:sp>
      <p:sp>
        <p:nvSpPr>
          <p:cNvPr id="2" name="TextBox 1">
            <a:extLst>
              <a:ext uri="{FF2B5EF4-FFF2-40B4-BE49-F238E27FC236}">
                <a16:creationId xmlns:a16="http://schemas.microsoft.com/office/drawing/2014/main" id="{80ACCF82-9B50-4139-B6FD-BD2EB55F81C3}"/>
              </a:ext>
            </a:extLst>
          </p:cNvPr>
          <p:cNvSpPr txBox="1"/>
          <p:nvPr/>
        </p:nvSpPr>
        <p:spPr>
          <a:xfrm>
            <a:off x="779668" y="4953316"/>
            <a:ext cx="3333072" cy="1200329"/>
          </a:xfrm>
          <a:prstGeom prst="rect">
            <a:avLst/>
          </a:prstGeom>
          <a:noFill/>
        </p:spPr>
        <p:txBody>
          <a:bodyPr wrap="square" rtlCol="0">
            <a:spAutoFit/>
          </a:bodyPr>
          <a:lstStyle/>
          <a:p>
            <a:r>
              <a:rPr lang="en-US" sz="2400" dirty="0">
                <a:solidFill>
                  <a:srgbClr val="C00000"/>
                </a:solidFill>
              </a:rPr>
              <a:t>Both are optimal!</a:t>
            </a:r>
          </a:p>
          <a:p>
            <a:r>
              <a:rPr lang="en-US" sz="2400" dirty="0">
                <a:solidFill>
                  <a:srgbClr val="C00000"/>
                </a:solidFill>
              </a:rPr>
              <a:t>Each “certified” correctness of the other!</a:t>
            </a:r>
          </a:p>
        </p:txBody>
      </p:sp>
      <p:sp>
        <p:nvSpPr>
          <p:cNvPr id="54" name="Slide Number Placeholder 1">
            <a:extLst>
              <a:ext uri="{FF2B5EF4-FFF2-40B4-BE49-F238E27FC236}">
                <a16:creationId xmlns:a16="http://schemas.microsoft.com/office/drawing/2014/main" id="{13EECA76-C030-4949-AE0B-155671702462}"/>
              </a:ext>
            </a:extLst>
          </p:cNvPr>
          <p:cNvSpPr>
            <a:spLocks noGrp="1"/>
          </p:cNvSpPr>
          <p:nvPr>
            <p:ph type="sldNum" sz="quarter" idx="12"/>
          </p:nvPr>
        </p:nvSpPr>
        <p:spPr>
          <a:xfrm>
            <a:off x="9880286" y="6336770"/>
            <a:ext cx="2057400" cy="365125"/>
          </a:xfrm>
        </p:spPr>
        <p:txBody>
          <a:bodyPr/>
          <a:lstStyle/>
          <a:p>
            <a:fld id="{859767C1-1CFC-4BF3-A3D8-E4104FCBBC17}" type="slidenum">
              <a:rPr lang="en-US" smtClean="0"/>
              <a:t>13</a:t>
            </a:fld>
            <a:endParaRPr lang="en-US" dirty="0"/>
          </a:p>
        </p:txBody>
      </p:sp>
    </p:spTree>
    <p:extLst>
      <p:ext uri="{BB962C8B-B14F-4D97-AF65-F5344CB8AC3E}">
        <p14:creationId xmlns:p14="http://schemas.microsoft.com/office/powerpoint/2010/main" val="13043897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89475" name="Rectangle 3">
                <a:extLst>
                  <a:ext uri="{FF2B5EF4-FFF2-40B4-BE49-F238E27FC236}">
                    <a16:creationId xmlns:a16="http://schemas.microsoft.com/office/drawing/2014/main" id="{A5AAA59D-1107-43F0-B01B-A3EAF2CF582A}"/>
                  </a:ext>
                </a:extLst>
              </p:cNvPr>
              <p:cNvSpPr>
                <a:spLocks noGrp="1" noChangeArrowheads="1"/>
              </p:cNvSpPr>
              <p:nvPr>
                <p:ph type="body" idx="1"/>
              </p:nvPr>
            </p:nvSpPr>
            <p:spPr>
              <a:xfrm>
                <a:off x="46515" y="1277872"/>
                <a:ext cx="11135888" cy="5200045"/>
              </a:xfrm>
            </p:spPr>
            <p:txBody>
              <a:bodyPr/>
              <a:lstStyle/>
              <a:p>
                <a:pPr marL="0" indent="0">
                  <a:buNone/>
                </a:pPr>
                <a:r>
                  <a:rPr lang="en-US" altLang="en-US" sz="2000" b="1" dirty="0">
                    <a:solidFill>
                      <a:srgbClr val="006600"/>
                    </a:solidFill>
                    <a:sym typeface="Symbol" panose="05050102010706020507" pitchFamily="18" charset="2"/>
                  </a:rPr>
                  <a:t>To Show:</a:t>
                </a:r>
                <a:r>
                  <a:rPr lang="en-US" altLang="en-US" sz="2000" dirty="0">
                    <a:sym typeface="Symbol" panose="05050102010706020507" pitchFamily="18" charset="2"/>
                  </a:rPr>
                  <a:t> If there is no augmenting path w.r.t. </a:t>
                </a:r>
                <a14:m>
                  <m:oMath xmlns:m="http://schemas.openxmlformats.org/officeDocument/2006/math">
                    <m:r>
                      <a:rPr lang="en-US" altLang="en-US" sz="2000" b="1" i="1" dirty="0">
                        <a:solidFill>
                          <a:srgbClr val="0066CC"/>
                        </a:solidFill>
                        <a:latin typeface="Cambria Math" panose="02040503050406030204" pitchFamily="18" charset="0"/>
                        <a:sym typeface="Symbol" panose="05050102010706020507" pitchFamily="18" charset="2"/>
                      </a:rPr>
                      <m:t>𝒇</m:t>
                    </m:r>
                  </m:oMath>
                </a14:m>
                <a:r>
                  <a:rPr lang="en-US" altLang="en-US" sz="2000" dirty="0">
                    <a:solidFill>
                      <a:prstClr val="black"/>
                    </a:solidFill>
                    <a:ea typeface="Cambria Math" panose="02040503050406030204" pitchFamily="18" charset="0"/>
                    <a:sym typeface="Symbol" panose="05050102010706020507" pitchFamily="18" charset="2"/>
                  </a:rPr>
                  <a:t>, </a:t>
                </a:r>
                <a:r>
                  <a:rPr lang="en-US" altLang="en-US" sz="2000" dirty="0">
                    <a:solidFill>
                      <a:prstClr val="black"/>
                    </a:solidFill>
                    <a:sym typeface="Symbol" panose="05050102010706020507" pitchFamily="18" charset="2"/>
                  </a:rPr>
                  <a:t>there is a cut </a:t>
                </a:r>
                <a14:m>
                  <m:oMath xmlns:m="http://schemas.openxmlformats.org/officeDocument/2006/math">
                    <m:r>
                      <a:rPr lang="en-US" altLang="en-US" sz="2000" b="1" i="1" dirty="0">
                        <a:solidFill>
                          <a:srgbClr val="0066CC"/>
                        </a:solidFill>
                        <a:latin typeface="Cambria Math" panose="02040503050406030204" pitchFamily="18" charset="0"/>
                        <a:sym typeface="Symbol" panose="05050102010706020507" pitchFamily="18" charset="2"/>
                      </a:rPr>
                      <m:t>(</m:t>
                    </m:r>
                    <m:r>
                      <a:rPr lang="en-US" altLang="en-US" sz="2000" b="1" i="1" dirty="0">
                        <a:solidFill>
                          <a:srgbClr val="0066CC"/>
                        </a:solidFill>
                        <a:latin typeface="Cambria Math" panose="02040503050406030204" pitchFamily="18" charset="0"/>
                        <a:sym typeface="Symbol" panose="05050102010706020507" pitchFamily="18" charset="2"/>
                      </a:rPr>
                      <m:t>𝑨</m:t>
                    </m:r>
                    <m:r>
                      <a:rPr lang="en-US" altLang="en-US" sz="2000" b="1" i="1" dirty="0">
                        <a:solidFill>
                          <a:srgbClr val="0066CC"/>
                        </a:solidFill>
                        <a:latin typeface="Cambria Math" panose="02040503050406030204" pitchFamily="18" charset="0"/>
                        <a:sym typeface="Symbol" panose="05050102010706020507" pitchFamily="18" charset="2"/>
                      </a:rPr>
                      <m:t>, </m:t>
                    </m:r>
                    <m:r>
                      <a:rPr lang="en-US" altLang="en-US" sz="2000" b="1" i="1" dirty="0">
                        <a:solidFill>
                          <a:srgbClr val="0066CC"/>
                        </a:solidFill>
                        <a:latin typeface="Cambria Math" panose="02040503050406030204" pitchFamily="18" charset="0"/>
                        <a:sym typeface="Symbol" panose="05050102010706020507" pitchFamily="18" charset="2"/>
                      </a:rPr>
                      <m:t>𝑩</m:t>
                    </m:r>
                    <m:r>
                      <a:rPr lang="en-US" altLang="en-US" sz="2000" b="1" i="1" dirty="0">
                        <a:solidFill>
                          <a:srgbClr val="0066CC"/>
                        </a:solidFill>
                        <a:latin typeface="Cambria Math" panose="02040503050406030204" pitchFamily="18" charset="0"/>
                        <a:sym typeface="Symbol" panose="05050102010706020507" pitchFamily="18" charset="2"/>
                      </a:rPr>
                      <m:t>)</m:t>
                    </m:r>
                  </m:oMath>
                </a14:m>
                <a:r>
                  <a:rPr lang="en-US" altLang="en-US" sz="2000" dirty="0">
                    <a:solidFill>
                      <a:prstClr val="black"/>
                    </a:solidFill>
                    <a:sym typeface="Symbol" panose="05050102010706020507" pitchFamily="18" charset="2"/>
                  </a:rPr>
                  <a:t> s.t. </a:t>
                </a:r>
                <a14:m>
                  <m:oMath xmlns:m="http://schemas.openxmlformats.org/officeDocument/2006/math">
                    <m:r>
                      <a:rPr lang="en-US" altLang="en-US" sz="2000" b="1" i="1" dirty="0">
                        <a:solidFill>
                          <a:srgbClr val="0066CC"/>
                        </a:solidFill>
                        <a:latin typeface="Cambria Math" panose="02040503050406030204" pitchFamily="18" charset="0"/>
                        <a:sym typeface="Symbol" panose="05050102010706020507" pitchFamily="18" charset="2"/>
                      </a:rPr>
                      <m:t>𝒗</m:t>
                    </m:r>
                    <m:r>
                      <a:rPr lang="en-US" altLang="en-US" sz="2000" b="1" i="1" dirty="0">
                        <a:solidFill>
                          <a:srgbClr val="0066CC"/>
                        </a:solidFill>
                        <a:latin typeface="Cambria Math" panose="02040503050406030204" pitchFamily="18" charset="0"/>
                        <a:sym typeface="Symbol" panose="05050102010706020507" pitchFamily="18" charset="2"/>
                      </a:rPr>
                      <m:t>(</m:t>
                    </m:r>
                    <m:r>
                      <a:rPr lang="en-US" altLang="en-US" sz="2000" b="1" i="1" dirty="0">
                        <a:solidFill>
                          <a:srgbClr val="0066CC"/>
                        </a:solidFill>
                        <a:latin typeface="Cambria Math" panose="02040503050406030204" pitchFamily="18" charset="0"/>
                        <a:sym typeface="Symbol" panose="05050102010706020507" pitchFamily="18" charset="2"/>
                      </a:rPr>
                      <m:t>𝒇</m:t>
                    </m:r>
                    <m:r>
                      <a:rPr lang="en-US" altLang="en-US" sz="2000" b="1" i="1" dirty="0">
                        <a:solidFill>
                          <a:srgbClr val="0066CC"/>
                        </a:solidFill>
                        <a:latin typeface="Cambria Math" panose="02040503050406030204" pitchFamily="18" charset="0"/>
                        <a:sym typeface="Symbol" panose="05050102010706020507" pitchFamily="18" charset="2"/>
                      </a:rPr>
                      <m:t>)=</m:t>
                    </m:r>
                    <m:r>
                      <a:rPr lang="en-US" altLang="en-US" sz="2000" b="1" i="1" dirty="0">
                        <a:solidFill>
                          <a:srgbClr val="0066CC"/>
                        </a:solidFill>
                        <a:latin typeface="Cambria Math" panose="02040503050406030204" pitchFamily="18" charset="0"/>
                        <a:sym typeface="Symbol" panose="05050102010706020507" pitchFamily="18" charset="2"/>
                      </a:rPr>
                      <m:t>𝒄</m:t>
                    </m:r>
                    <m:r>
                      <a:rPr lang="en-US" altLang="en-US" sz="2000" b="1" i="1" dirty="0">
                        <a:solidFill>
                          <a:srgbClr val="0066CC"/>
                        </a:solidFill>
                        <a:latin typeface="Cambria Math" panose="02040503050406030204" pitchFamily="18" charset="0"/>
                        <a:sym typeface="Symbol" panose="05050102010706020507" pitchFamily="18" charset="2"/>
                      </a:rPr>
                      <m:t>(</m:t>
                    </m:r>
                    <m:r>
                      <a:rPr lang="en-US" altLang="en-US" sz="2000" b="1" i="1" dirty="0">
                        <a:solidFill>
                          <a:srgbClr val="0066CC"/>
                        </a:solidFill>
                        <a:latin typeface="Cambria Math" panose="02040503050406030204" pitchFamily="18" charset="0"/>
                        <a:sym typeface="Symbol" panose="05050102010706020507" pitchFamily="18" charset="2"/>
                      </a:rPr>
                      <m:t>𝑨</m:t>
                    </m:r>
                    <m:r>
                      <a:rPr lang="en-US" altLang="en-US" sz="2000" b="1" i="1" dirty="0">
                        <a:solidFill>
                          <a:srgbClr val="0066CC"/>
                        </a:solidFill>
                        <a:latin typeface="Cambria Math" panose="02040503050406030204" pitchFamily="18" charset="0"/>
                        <a:sym typeface="Symbol" panose="05050102010706020507" pitchFamily="18" charset="2"/>
                      </a:rPr>
                      <m:t>, </m:t>
                    </m:r>
                    <m:r>
                      <a:rPr lang="en-US" altLang="en-US" sz="2000" b="1" i="1" dirty="0">
                        <a:solidFill>
                          <a:srgbClr val="0066CC"/>
                        </a:solidFill>
                        <a:latin typeface="Cambria Math" panose="02040503050406030204" pitchFamily="18" charset="0"/>
                        <a:sym typeface="Symbol" panose="05050102010706020507" pitchFamily="18" charset="2"/>
                      </a:rPr>
                      <m:t>𝑩</m:t>
                    </m:r>
                    <m:r>
                      <a:rPr lang="en-US" altLang="en-US" sz="2000" b="1" i="1" dirty="0">
                        <a:solidFill>
                          <a:srgbClr val="0066CC"/>
                        </a:solidFill>
                        <a:latin typeface="Cambria Math" panose="02040503050406030204" pitchFamily="18" charset="0"/>
                        <a:sym typeface="Symbol" panose="05050102010706020507" pitchFamily="18" charset="2"/>
                      </a:rPr>
                      <m:t>)</m:t>
                    </m:r>
                  </m:oMath>
                </a14:m>
                <a:r>
                  <a:rPr lang="en-US" altLang="en-US" sz="2000" dirty="0">
                    <a:solidFill>
                      <a:prstClr val="black"/>
                    </a:solidFill>
                    <a:sym typeface="Symbol" panose="05050102010706020507" pitchFamily="18" charset="2"/>
                  </a:rPr>
                  <a:t>.</a:t>
                </a:r>
                <a:endParaRPr lang="en-US" altLang="en-US" sz="2000" dirty="0">
                  <a:sym typeface="Symbol" panose="05050102010706020507" pitchFamily="18" charset="2"/>
                </a:endParaRPr>
              </a:p>
              <a:p>
                <a:pPr marL="0" indent="0">
                  <a:buNone/>
                </a:pPr>
                <a:r>
                  <a:rPr lang="en-US" altLang="en-US" sz="2000" b="1" dirty="0">
                    <a:solidFill>
                      <a:srgbClr val="006600"/>
                    </a:solidFill>
                    <a:sym typeface="Symbol" panose="05050102010706020507" pitchFamily="18" charset="2"/>
                  </a:rPr>
                  <a:t>Selecting a cut:</a:t>
                </a:r>
                <a:r>
                  <a:rPr lang="en-US" altLang="en-US" sz="2000" dirty="0">
                    <a:sym typeface="Symbol" panose="05050102010706020507" pitchFamily="18" charset="2"/>
                  </a:rPr>
                  <a:t> </a:t>
                </a:r>
                <a:r>
                  <a:rPr lang="en-US" altLang="en-US" sz="2000" dirty="0"/>
                  <a:t>Let </a:t>
                </a:r>
                <a14:m>
                  <m:oMath xmlns:m="http://schemas.openxmlformats.org/officeDocument/2006/math">
                    <m:r>
                      <a:rPr lang="en-US" altLang="en-US" sz="2000" b="1" i="1" dirty="0" smtClean="0">
                        <a:solidFill>
                          <a:srgbClr val="0066CC"/>
                        </a:solidFill>
                        <a:latin typeface="Cambria Math" panose="02040503050406030204" pitchFamily="18" charset="0"/>
                      </a:rPr>
                      <m:t>𝒇</m:t>
                    </m:r>
                  </m:oMath>
                </a14:m>
                <a:r>
                  <a:rPr lang="en-US" altLang="en-US" sz="2000" dirty="0"/>
                  <a:t> be a flow with no augmenting paths.</a:t>
                </a:r>
              </a:p>
              <a:p>
                <a:pPr marL="457200" lvl="1" indent="0">
                  <a:buNone/>
                </a:pPr>
                <a:r>
                  <a:rPr lang="en-US" altLang="en-US" sz="2000" dirty="0"/>
                  <a:t>Let </a:t>
                </a:r>
                <a14:m>
                  <m:oMath xmlns:m="http://schemas.openxmlformats.org/officeDocument/2006/math">
                    <m:r>
                      <a:rPr lang="en-US" altLang="en-US" sz="2000" b="1" i="1" dirty="0" smtClean="0">
                        <a:solidFill>
                          <a:srgbClr val="0066CC"/>
                        </a:solidFill>
                        <a:latin typeface="Cambria Math" panose="02040503050406030204" pitchFamily="18" charset="0"/>
                      </a:rPr>
                      <m:t>𝑨</m:t>
                    </m:r>
                  </m:oMath>
                </a14:m>
                <a:r>
                  <a:rPr lang="en-US" altLang="en-US" sz="2000" dirty="0"/>
                  <a:t> be the set of vertices reachable from </a:t>
                </a:r>
                <a14:m>
                  <m:oMath xmlns:m="http://schemas.openxmlformats.org/officeDocument/2006/math">
                    <m:r>
                      <a:rPr lang="en-US" altLang="en-US" sz="2000" b="1" i="1" dirty="0" smtClean="0">
                        <a:solidFill>
                          <a:srgbClr val="0066CC"/>
                        </a:solidFill>
                        <a:latin typeface="Cambria Math" panose="02040503050406030204" pitchFamily="18" charset="0"/>
                      </a:rPr>
                      <m:t>𝒔</m:t>
                    </m:r>
                  </m:oMath>
                </a14:m>
                <a:r>
                  <a:rPr lang="en-US" altLang="en-US" sz="2000" dirty="0"/>
                  <a:t> in residual graph </a:t>
                </a:r>
                <a14:m>
                  <m:oMath xmlns:m="http://schemas.openxmlformats.org/officeDocument/2006/math">
                    <m:sSub>
                      <m:sSubPr>
                        <m:ctrlPr>
                          <a:rPr lang="en-US" altLang="en-US" sz="2000" b="1" i="1" smtClean="0">
                            <a:solidFill>
                              <a:srgbClr val="0066CC"/>
                            </a:solidFill>
                            <a:latin typeface="Cambria Math" panose="02040503050406030204" pitchFamily="18" charset="0"/>
                          </a:rPr>
                        </m:ctrlPr>
                      </m:sSubPr>
                      <m:e>
                        <m:r>
                          <a:rPr lang="en-US" altLang="en-US" sz="2000" b="1" i="1" smtClean="0">
                            <a:solidFill>
                              <a:srgbClr val="0066CC"/>
                            </a:solidFill>
                            <a:latin typeface="Cambria Math" panose="02040503050406030204" pitchFamily="18" charset="0"/>
                          </a:rPr>
                          <m:t>𝑮</m:t>
                        </m:r>
                      </m:e>
                      <m:sub>
                        <m:r>
                          <a:rPr lang="en-US" altLang="en-US" sz="2000" b="1" i="1" smtClean="0">
                            <a:solidFill>
                              <a:srgbClr val="0066CC"/>
                            </a:solidFill>
                            <a:latin typeface="Cambria Math" panose="02040503050406030204" pitchFamily="18" charset="0"/>
                          </a:rPr>
                          <m:t>𝒇</m:t>
                        </m:r>
                      </m:sub>
                    </m:sSub>
                  </m:oMath>
                </a14:m>
                <a:r>
                  <a:rPr lang="en-US" altLang="en-US" sz="2000" dirty="0"/>
                  <a:t>.</a:t>
                </a:r>
              </a:p>
              <a:p>
                <a:pPr lvl="1"/>
                <a:r>
                  <a:rPr lang="en-US" altLang="en-US" sz="2000" dirty="0"/>
                  <a:t>By definition of </a:t>
                </a:r>
                <a14:m>
                  <m:oMath xmlns:m="http://schemas.openxmlformats.org/officeDocument/2006/math">
                    <m:r>
                      <a:rPr lang="en-US" altLang="en-US" sz="2000" b="1" i="1" dirty="0" smtClean="0">
                        <a:solidFill>
                          <a:srgbClr val="0066CC"/>
                        </a:solidFill>
                        <a:latin typeface="Cambria Math" panose="02040503050406030204" pitchFamily="18" charset="0"/>
                      </a:rPr>
                      <m:t>𝑨</m:t>
                    </m:r>
                  </m:oMath>
                </a14:m>
                <a:r>
                  <a:rPr lang="en-US" altLang="en-US" sz="2000" dirty="0"/>
                  <a:t>, </a:t>
                </a:r>
                <a14:m>
                  <m:oMath xmlns:m="http://schemas.openxmlformats.org/officeDocument/2006/math">
                    <m:r>
                      <a:rPr lang="en-US" altLang="en-US" sz="2000" b="1" i="1" dirty="0" smtClean="0">
                        <a:solidFill>
                          <a:srgbClr val="0066CC"/>
                        </a:solidFill>
                        <a:latin typeface="Cambria Math" panose="02040503050406030204" pitchFamily="18" charset="0"/>
                      </a:rPr>
                      <m:t>𝒔</m:t>
                    </m:r>
                    <m:r>
                      <a:rPr lang="en-US" altLang="en-US" sz="2000" b="1" i="1" dirty="0" smtClean="0">
                        <a:solidFill>
                          <a:srgbClr val="0066CC"/>
                        </a:solidFill>
                        <a:latin typeface="Cambria Math" panose="02040503050406030204" pitchFamily="18" charset="0"/>
                      </a:rPr>
                      <m:t>∈</m:t>
                    </m:r>
                    <m:r>
                      <a:rPr lang="en-US" altLang="en-US" sz="2000" b="1" i="1" dirty="0" smtClean="0">
                        <a:solidFill>
                          <a:srgbClr val="0066CC"/>
                        </a:solidFill>
                        <a:latin typeface="Cambria Math" panose="02040503050406030204" pitchFamily="18" charset="0"/>
                        <a:sym typeface="Symbol" panose="05050102010706020507" pitchFamily="18" charset="2"/>
                      </a:rPr>
                      <m:t>𝑨</m:t>
                    </m:r>
                  </m:oMath>
                </a14:m>
                <a:r>
                  <a:rPr lang="en-US" altLang="en-US" sz="2000" dirty="0">
                    <a:sym typeface="Symbol" panose="05050102010706020507" pitchFamily="18" charset="2"/>
                  </a:rPr>
                  <a:t>.</a:t>
                </a:r>
              </a:p>
              <a:p>
                <a:pPr lvl="1"/>
                <a:r>
                  <a:rPr lang="en-US" altLang="en-US" sz="2000" dirty="0">
                    <a:sym typeface="Symbol" panose="05050102010706020507" pitchFamily="18" charset="2"/>
                  </a:rPr>
                  <a:t>Since no augmenting path (</a:t>
                </a:r>
                <a14:m>
                  <m:oMath xmlns:m="http://schemas.openxmlformats.org/officeDocument/2006/math">
                    <m:r>
                      <a:rPr lang="en-US" altLang="en-US" sz="2000" b="1" i="1" dirty="0" smtClean="0">
                        <a:solidFill>
                          <a:srgbClr val="0066CC"/>
                        </a:solidFill>
                        <a:latin typeface="Cambria Math" panose="02040503050406030204" pitchFamily="18" charset="0"/>
                        <a:sym typeface="Symbol" panose="05050102010706020507" pitchFamily="18" charset="2"/>
                      </a:rPr>
                      <m:t>𝒔</m:t>
                    </m:r>
                  </m:oMath>
                </a14:m>
                <a:r>
                  <a:rPr lang="en-US" altLang="en-US" sz="2000" dirty="0">
                    <a:sym typeface="Symbol" panose="05050102010706020507" pitchFamily="18" charset="2"/>
                  </a:rPr>
                  <a:t>-</a:t>
                </a:r>
                <a14:m>
                  <m:oMath xmlns:m="http://schemas.openxmlformats.org/officeDocument/2006/math">
                    <m:r>
                      <a:rPr lang="en-US" altLang="en-US" sz="2000" b="1" i="1" dirty="0" smtClean="0">
                        <a:solidFill>
                          <a:srgbClr val="0066CC"/>
                        </a:solidFill>
                        <a:latin typeface="Cambria Math" panose="02040503050406030204" pitchFamily="18" charset="0"/>
                        <a:sym typeface="Symbol" panose="05050102010706020507" pitchFamily="18" charset="2"/>
                      </a:rPr>
                      <m:t>𝒕</m:t>
                    </m:r>
                  </m:oMath>
                </a14:m>
                <a:r>
                  <a:rPr lang="en-US" altLang="en-US" sz="2000" dirty="0">
                    <a:sym typeface="Symbol" panose="05050102010706020507" pitchFamily="18" charset="2"/>
                  </a:rPr>
                  <a:t> path in </a:t>
                </a:r>
                <a14:m>
                  <m:oMath xmlns:m="http://schemas.openxmlformats.org/officeDocument/2006/math">
                    <m:sSub>
                      <m:sSubPr>
                        <m:ctrlPr>
                          <a:rPr lang="en-US" altLang="en-US" sz="2000" b="1" i="1">
                            <a:solidFill>
                              <a:srgbClr val="0066CC"/>
                            </a:solidFill>
                            <a:latin typeface="Cambria Math" panose="02040503050406030204" pitchFamily="18" charset="0"/>
                          </a:rPr>
                        </m:ctrlPr>
                      </m:sSubPr>
                      <m:e>
                        <m:r>
                          <a:rPr lang="en-US" altLang="en-US" sz="2000" b="1" i="1">
                            <a:solidFill>
                              <a:srgbClr val="0066CC"/>
                            </a:solidFill>
                            <a:latin typeface="Cambria Math" panose="02040503050406030204" pitchFamily="18" charset="0"/>
                          </a:rPr>
                          <m:t>𝑮</m:t>
                        </m:r>
                      </m:e>
                      <m:sub>
                        <m:r>
                          <a:rPr lang="en-US" altLang="en-US" sz="2000" b="1" i="1">
                            <a:solidFill>
                              <a:srgbClr val="0066CC"/>
                            </a:solidFill>
                            <a:latin typeface="Cambria Math" panose="02040503050406030204" pitchFamily="18" charset="0"/>
                          </a:rPr>
                          <m:t>𝒇</m:t>
                        </m:r>
                      </m:sub>
                    </m:sSub>
                  </m:oMath>
                </a14:m>
                <a:r>
                  <a:rPr lang="en-US" altLang="en-US" sz="2000" dirty="0">
                    <a:sym typeface="Symbol" panose="05050102010706020507" pitchFamily="18" charset="2"/>
                  </a:rPr>
                  <a:t>), </a:t>
                </a:r>
                <a14:m>
                  <m:oMath xmlns:m="http://schemas.openxmlformats.org/officeDocument/2006/math">
                    <m:r>
                      <a:rPr lang="en-US" altLang="en-US" sz="2000" b="1" i="1" dirty="0" smtClean="0">
                        <a:solidFill>
                          <a:srgbClr val="0066CC"/>
                        </a:solidFill>
                        <a:latin typeface="Cambria Math" panose="02040503050406030204" pitchFamily="18" charset="0"/>
                      </a:rPr>
                      <m:t>𝒕</m:t>
                    </m:r>
                    <m:r>
                      <a:rPr lang="en-US" altLang="en-US" sz="2000" b="1" i="1" dirty="0" smtClean="0">
                        <a:solidFill>
                          <a:srgbClr val="0066CC"/>
                        </a:solidFill>
                        <a:latin typeface="Cambria Math" panose="02040503050406030204" pitchFamily="18" charset="0"/>
                      </a:rPr>
                      <m:t>∉</m:t>
                    </m:r>
                    <m:r>
                      <a:rPr lang="en-US" altLang="en-US" sz="2000" b="1" i="1" dirty="0">
                        <a:solidFill>
                          <a:srgbClr val="0066CC"/>
                        </a:solidFill>
                        <a:latin typeface="Cambria Math" panose="02040503050406030204" pitchFamily="18" charset="0"/>
                        <a:sym typeface="Symbol" panose="05050102010706020507" pitchFamily="18" charset="2"/>
                      </a:rPr>
                      <m:t>𝑨</m:t>
                    </m:r>
                  </m:oMath>
                </a14:m>
                <a:r>
                  <a:rPr lang="en-US" altLang="en-US" sz="2000" dirty="0">
                    <a:sym typeface="Symbol" panose="05050102010706020507" pitchFamily="18" charset="2"/>
                  </a:rPr>
                  <a:t>.</a:t>
                </a:r>
              </a:p>
              <a:p>
                <a:pPr marL="0" indent="0">
                  <a:buNone/>
                </a:pPr>
                <a:endParaRPr lang="en-US" altLang="en-US" sz="2000" dirty="0">
                  <a:sym typeface="Symbol" panose="05050102010706020507" pitchFamily="18" charset="2"/>
                </a:endParaRPr>
              </a:p>
            </p:txBody>
          </p:sp>
        </mc:Choice>
        <mc:Fallback>
          <p:sp>
            <p:nvSpPr>
              <p:cNvPr id="489475" name="Rectangle 3">
                <a:extLst>
                  <a:ext uri="{FF2B5EF4-FFF2-40B4-BE49-F238E27FC236}">
                    <a16:creationId xmlns:a16="http://schemas.microsoft.com/office/drawing/2014/main" id="{A5AAA59D-1107-43F0-B01B-A3EAF2CF582A}"/>
                  </a:ext>
                </a:extLst>
              </p:cNvPr>
              <p:cNvSpPr>
                <a:spLocks noGrp="1" noRot="1" noChangeAspect="1" noMove="1" noResize="1" noEditPoints="1" noAdjustHandles="1" noChangeArrowheads="1" noChangeShapeType="1" noTextEdit="1"/>
              </p:cNvSpPr>
              <p:nvPr>
                <p:ph type="body" idx="1"/>
              </p:nvPr>
            </p:nvSpPr>
            <p:spPr>
              <a:xfrm>
                <a:off x="46515" y="1277872"/>
                <a:ext cx="11135888" cy="5200045"/>
              </a:xfrm>
              <a:blipFill>
                <a:blip r:embed="rId3"/>
                <a:stretch>
                  <a:fillRect l="-602" t="-1290"/>
                </a:stretch>
              </a:blipFill>
            </p:spPr>
            <p:txBody>
              <a:bodyPr/>
              <a:lstStyle/>
              <a:p>
                <a:r>
                  <a:rPr lang="en-US">
                    <a:noFill/>
                  </a:rPr>
                  <a:t> </a:t>
                </a:r>
              </a:p>
            </p:txBody>
          </p:sp>
        </mc:Fallback>
      </mc:AlternateContent>
      <p:sp>
        <p:nvSpPr>
          <p:cNvPr id="32" name="Slide Number Placeholder 1">
            <a:extLst>
              <a:ext uri="{FF2B5EF4-FFF2-40B4-BE49-F238E27FC236}">
                <a16:creationId xmlns:a16="http://schemas.microsoft.com/office/drawing/2014/main" id="{5246F414-892B-470C-B796-B8F504C44A2C}"/>
              </a:ext>
            </a:extLst>
          </p:cNvPr>
          <p:cNvSpPr>
            <a:spLocks noGrp="1"/>
          </p:cNvSpPr>
          <p:nvPr>
            <p:ph type="sldNum" sz="quarter" idx="12"/>
          </p:nvPr>
        </p:nvSpPr>
        <p:spPr>
          <a:xfrm>
            <a:off x="9880286" y="6336770"/>
            <a:ext cx="20574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59767C1-1CFC-4BF3-A3D8-E4104FCBBC17}"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60" name="Rectangle 3">
            <a:extLst>
              <a:ext uri="{FF2B5EF4-FFF2-40B4-BE49-F238E27FC236}">
                <a16:creationId xmlns:a16="http://schemas.microsoft.com/office/drawing/2014/main" id="{470C3334-64B3-A068-E4DA-43E677A136B4}"/>
              </a:ext>
            </a:extLst>
          </p:cNvPr>
          <p:cNvSpPr txBox="1">
            <a:spLocks noChangeArrowheads="1"/>
          </p:cNvSpPr>
          <p:nvPr/>
        </p:nvSpPr>
        <p:spPr>
          <a:xfrm>
            <a:off x="838200" y="365125"/>
            <a:ext cx="10515600" cy="99885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000" b="1" i="0" kern="1200">
                <a:solidFill>
                  <a:schemeClr val="tx1"/>
                </a:solidFill>
                <a:latin typeface="Lato" panose="020F0502020204030203" pitchFamily="34" charset="77"/>
                <a:ea typeface="Inter SemiBold" panose="02000503000000020004" pitchFamily="2" charset="0"/>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altLang="en-US" sz="4000" b="1" i="0" u="none" strike="noStrike" kern="1200" cap="none" spc="0" normalizeH="0" baseline="0" noProof="0" dirty="0">
                <a:ln>
                  <a:noFill/>
                </a:ln>
                <a:solidFill>
                  <a:srgbClr val="000000"/>
                </a:solidFill>
                <a:effectLst/>
                <a:uLnTx/>
                <a:uFillTx/>
                <a:latin typeface="Lato" panose="020F0502020204030203" pitchFamily="34" charset="77"/>
                <a:cs typeface="+mj-cs"/>
              </a:rPr>
              <a:t>Identifying the cut</a:t>
            </a:r>
          </a:p>
        </p:txBody>
      </p:sp>
      <p:grpSp>
        <p:nvGrpSpPr>
          <p:cNvPr id="489513" name="Group 489512">
            <a:extLst>
              <a:ext uri="{FF2B5EF4-FFF2-40B4-BE49-F238E27FC236}">
                <a16:creationId xmlns:a16="http://schemas.microsoft.com/office/drawing/2014/main" id="{C421CFD1-C049-D6B2-218F-D4F9FA8F7EAC}"/>
              </a:ext>
            </a:extLst>
          </p:cNvPr>
          <p:cNvGrpSpPr/>
          <p:nvPr/>
        </p:nvGrpSpPr>
        <p:grpSpPr>
          <a:xfrm>
            <a:off x="-246760" y="3730743"/>
            <a:ext cx="6064379" cy="2792309"/>
            <a:chOff x="5452675" y="3523499"/>
            <a:chExt cx="6890968" cy="3172907"/>
          </a:xfrm>
        </p:grpSpPr>
        <p:sp>
          <p:nvSpPr>
            <p:cNvPr id="61" name="Freeform: Shape 60">
              <a:extLst>
                <a:ext uri="{FF2B5EF4-FFF2-40B4-BE49-F238E27FC236}">
                  <a16:creationId xmlns:a16="http://schemas.microsoft.com/office/drawing/2014/main" id="{DD3C147C-1B53-5D51-7A64-EF9D273F95E5}"/>
                </a:ext>
              </a:extLst>
            </p:cNvPr>
            <p:cNvSpPr/>
            <p:nvPr/>
          </p:nvSpPr>
          <p:spPr bwMode="auto">
            <a:xfrm>
              <a:off x="5452675" y="4469012"/>
              <a:ext cx="5425657" cy="2227394"/>
            </a:xfrm>
            <a:custGeom>
              <a:avLst/>
              <a:gdLst>
                <a:gd name="connsiteX0" fmla="*/ 31470 w 6228837"/>
                <a:gd name="connsiteY0" fmla="*/ 469433 h 2227394"/>
                <a:gd name="connsiteX1" fmla="*/ 414242 w 6228837"/>
                <a:gd name="connsiteY1" fmla="*/ 1203079 h 2227394"/>
                <a:gd name="connsiteX2" fmla="*/ 1371172 w 6228837"/>
                <a:gd name="connsiteY2" fmla="*/ 1755972 h 2227394"/>
                <a:gd name="connsiteX3" fmla="*/ 2434428 w 6228837"/>
                <a:gd name="connsiteY3" fmla="*/ 2170642 h 2227394"/>
                <a:gd name="connsiteX4" fmla="*/ 3444521 w 6228837"/>
                <a:gd name="connsiteY4" fmla="*/ 2202540 h 2227394"/>
                <a:gd name="connsiteX5" fmla="*/ 5687991 w 6228837"/>
                <a:gd name="connsiteY5" fmla="*/ 2202540 h 2227394"/>
                <a:gd name="connsiteX6" fmla="*/ 6187721 w 6228837"/>
                <a:gd name="connsiteY6" fmla="*/ 1883563 h 2227394"/>
                <a:gd name="connsiteX7" fmla="*/ 4922447 w 6228837"/>
                <a:gd name="connsiteY7" fmla="*/ 1309405 h 2227394"/>
                <a:gd name="connsiteX8" fmla="*/ 3391358 w 6228837"/>
                <a:gd name="connsiteY8" fmla="*/ 480065 h 2227394"/>
                <a:gd name="connsiteX9" fmla="*/ 2413163 w 6228837"/>
                <a:gd name="connsiteY9" fmla="*/ 161089 h 2227394"/>
                <a:gd name="connsiteX10" fmla="*/ 1179786 w 6228837"/>
                <a:gd name="connsiteY10" fmla="*/ 12233 h 2227394"/>
                <a:gd name="connsiteX11" fmla="*/ 31470 w 6228837"/>
                <a:gd name="connsiteY11" fmla="*/ 469433 h 2227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28837" h="2227394">
                  <a:moveTo>
                    <a:pt x="31470" y="469433"/>
                  </a:moveTo>
                  <a:cubicBezTo>
                    <a:pt x="-96121" y="667907"/>
                    <a:pt x="190958" y="988656"/>
                    <a:pt x="414242" y="1203079"/>
                  </a:cubicBezTo>
                  <a:cubicBezTo>
                    <a:pt x="637526" y="1417502"/>
                    <a:pt x="1034474" y="1594712"/>
                    <a:pt x="1371172" y="1755972"/>
                  </a:cubicBezTo>
                  <a:cubicBezTo>
                    <a:pt x="1707870" y="1917233"/>
                    <a:pt x="2088870" y="2096214"/>
                    <a:pt x="2434428" y="2170642"/>
                  </a:cubicBezTo>
                  <a:cubicBezTo>
                    <a:pt x="2779986" y="2245070"/>
                    <a:pt x="3444521" y="2202540"/>
                    <a:pt x="3444521" y="2202540"/>
                  </a:cubicBezTo>
                  <a:cubicBezTo>
                    <a:pt x="3986781" y="2207856"/>
                    <a:pt x="5230791" y="2255703"/>
                    <a:pt x="5687991" y="2202540"/>
                  </a:cubicBezTo>
                  <a:cubicBezTo>
                    <a:pt x="6145191" y="2149377"/>
                    <a:pt x="6315312" y="2032419"/>
                    <a:pt x="6187721" y="1883563"/>
                  </a:cubicBezTo>
                  <a:cubicBezTo>
                    <a:pt x="6060130" y="1734707"/>
                    <a:pt x="5388507" y="1543321"/>
                    <a:pt x="4922447" y="1309405"/>
                  </a:cubicBezTo>
                  <a:cubicBezTo>
                    <a:pt x="4456387" y="1075489"/>
                    <a:pt x="3809572" y="671451"/>
                    <a:pt x="3391358" y="480065"/>
                  </a:cubicBezTo>
                  <a:cubicBezTo>
                    <a:pt x="2973144" y="288679"/>
                    <a:pt x="2781758" y="239061"/>
                    <a:pt x="2413163" y="161089"/>
                  </a:cubicBezTo>
                  <a:cubicBezTo>
                    <a:pt x="2044568" y="83117"/>
                    <a:pt x="1576735" y="-39158"/>
                    <a:pt x="1179786" y="12233"/>
                  </a:cubicBezTo>
                  <a:cubicBezTo>
                    <a:pt x="782837" y="63624"/>
                    <a:pt x="159061" y="270959"/>
                    <a:pt x="31470" y="469433"/>
                  </a:cubicBezTo>
                  <a:close/>
                </a:path>
              </a:pathLst>
            </a:custGeom>
            <a:solidFill>
              <a:schemeClr val="accent1">
                <a:lumMod val="20000"/>
                <a:lumOff val="80000"/>
              </a:schemeClr>
            </a:solidFill>
            <a:ln w="38100" cap="flat" cmpd="sng">
              <a:noFill/>
              <a:prstDash val="solid"/>
              <a:round/>
              <a:headEnd type="triangle" w="med" len="med"/>
              <a:tailEnd type="none" w="med" len="med"/>
            </a:ln>
            <a:effectLst/>
          </p:spPr>
          <p:txBody>
            <a:bodyPr wrap="square" rtlCol="0" anchor="ctr">
              <a:spAutoFit/>
            </a:bodyPr>
            <a:lstStyle/>
            <a:p>
              <a:pPr algn="l"/>
              <a:endParaRPr lang="en-US" dirty="0"/>
            </a:p>
          </p:txBody>
        </p:sp>
        <p:grpSp>
          <p:nvGrpSpPr>
            <p:cNvPr id="62" name="Group 61">
              <a:extLst>
                <a:ext uri="{FF2B5EF4-FFF2-40B4-BE49-F238E27FC236}">
                  <a16:creationId xmlns:a16="http://schemas.microsoft.com/office/drawing/2014/main" id="{02467E84-C1AD-AF34-4C1E-0577BA7BF3A7}"/>
                </a:ext>
              </a:extLst>
            </p:cNvPr>
            <p:cNvGrpSpPr/>
            <p:nvPr/>
          </p:nvGrpSpPr>
          <p:grpSpPr>
            <a:xfrm>
              <a:off x="5744167" y="3523499"/>
              <a:ext cx="6599476" cy="3137327"/>
              <a:chOff x="4395659" y="2923138"/>
              <a:chExt cx="6599476" cy="3137327"/>
            </a:xfrm>
          </p:grpSpPr>
          <p:cxnSp>
            <p:nvCxnSpPr>
              <p:cNvPr id="63" name="AutoShape 68">
                <a:extLst>
                  <a:ext uri="{FF2B5EF4-FFF2-40B4-BE49-F238E27FC236}">
                    <a16:creationId xmlns:a16="http://schemas.microsoft.com/office/drawing/2014/main" id="{B318F633-E7BA-187F-7C37-424CF6D445B0}"/>
                  </a:ext>
                </a:extLst>
              </p:cNvPr>
              <p:cNvCxnSpPr>
                <a:cxnSpLocks noChangeShapeType="1"/>
                <a:stCxn id="489488" idx="1"/>
                <a:endCxn id="489476" idx="5"/>
              </p:cNvCxnSpPr>
              <p:nvPr/>
            </p:nvCxnSpPr>
            <p:spPr bwMode="auto">
              <a:xfrm flipH="1" flipV="1">
                <a:off x="6575184" y="4634480"/>
                <a:ext cx="2273571" cy="1129700"/>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472" name="Oval 50">
                <a:extLst>
                  <a:ext uri="{FF2B5EF4-FFF2-40B4-BE49-F238E27FC236}">
                    <a16:creationId xmlns:a16="http://schemas.microsoft.com/office/drawing/2014/main" id="{2B23C527-48EE-01E5-9355-3A202FACE983}"/>
                  </a:ext>
                </a:extLst>
              </p:cNvPr>
              <p:cNvSpPr>
                <a:spLocks noChangeAspect="1" noChangeArrowheads="1"/>
              </p:cNvSpPr>
              <p:nvPr/>
            </p:nvSpPr>
            <p:spPr bwMode="auto">
              <a:xfrm>
                <a:off x="4395659"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solidFill>
                      <a:srgbClr val="C00000"/>
                    </a:solidFill>
                  </a:rPr>
                  <a:t>s</a:t>
                </a:r>
              </a:p>
            </p:txBody>
          </p:sp>
          <p:sp>
            <p:nvSpPr>
              <p:cNvPr id="489473" name="Oval 51">
                <a:extLst>
                  <a:ext uri="{FF2B5EF4-FFF2-40B4-BE49-F238E27FC236}">
                    <a16:creationId xmlns:a16="http://schemas.microsoft.com/office/drawing/2014/main" id="{0CA02989-26DD-ABD1-EBA0-70FE1E45C24C}"/>
                  </a:ext>
                </a:extLst>
              </p:cNvPr>
              <p:cNvSpPr>
                <a:spLocks noChangeAspect="1" noChangeArrowheads="1"/>
              </p:cNvSpPr>
              <p:nvPr/>
            </p:nvSpPr>
            <p:spPr bwMode="auto">
              <a:xfrm>
                <a:off x="6278899" y="2923138"/>
                <a:ext cx="347119" cy="35151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a</a:t>
                </a:r>
              </a:p>
            </p:txBody>
          </p:sp>
          <p:sp>
            <p:nvSpPr>
              <p:cNvPr id="489476" name="Oval 52">
                <a:extLst>
                  <a:ext uri="{FF2B5EF4-FFF2-40B4-BE49-F238E27FC236}">
                    <a16:creationId xmlns:a16="http://schemas.microsoft.com/office/drawing/2014/main" id="{37CCFC9A-1AE1-FBBF-27E2-F6D203E83808}"/>
                  </a:ext>
                </a:extLst>
              </p:cNvPr>
              <p:cNvSpPr>
                <a:spLocks noChangeAspect="1" noChangeArrowheads="1"/>
              </p:cNvSpPr>
              <p:nvPr/>
            </p:nvSpPr>
            <p:spPr bwMode="auto">
              <a:xfrm>
                <a:off x="6278899"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b</a:t>
                </a:r>
              </a:p>
            </p:txBody>
          </p:sp>
          <p:sp>
            <p:nvSpPr>
              <p:cNvPr id="489477" name="Oval 53">
                <a:extLst>
                  <a:ext uri="{FF2B5EF4-FFF2-40B4-BE49-F238E27FC236}">
                    <a16:creationId xmlns:a16="http://schemas.microsoft.com/office/drawing/2014/main" id="{7E058C1A-839B-6297-584D-C210A7D0B3E9}"/>
                  </a:ext>
                </a:extLst>
              </p:cNvPr>
              <p:cNvSpPr>
                <a:spLocks noChangeAspect="1" noChangeArrowheads="1"/>
              </p:cNvSpPr>
              <p:nvPr/>
            </p:nvSpPr>
            <p:spPr bwMode="auto">
              <a:xfrm>
                <a:off x="6278899" y="5713346"/>
                <a:ext cx="347119" cy="347119"/>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c</a:t>
                </a:r>
              </a:p>
            </p:txBody>
          </p:sp>
          <p:cxnSp>
            <p:nvCxnSpPr>
              <p:cNvPr id="489478" name="AutoShape 54">
                <a:extLst>
                  <a:ext uri="{FF2B5EF4-FFF2-40B4-BE49-F238E27FC236}">
                    <a16:creationId xmlns:a16="http://schemas.microsoft.com/office/drawing/2014/main" id="{488D5C8B-8650-AB59-411B-729E84E0D072}"/>
                  </a:ext>
                </a:extLst>
              </p:cNvPr>
              <p:cNvCxnSpPr>
                <a:cxnSpLocks noChangeShapeType="1"/>
                <a:stCxn id="489472" idx="7"/>
                <a:endCxn id="489473" idx="3"/>
              </p:cNvCxnSpPr>
              <p:nvPr/>
            </p:nvCxnSpPr>
            <p:spPr bwMode="auto">
              <a:xfrm flipV="1">
                <a:off x="4691944" y="3223173"/>
                <a:ext cx="1637789" cy="1164304"/>
              </a:xfrm>
              <a:prstGeom prst="straightConnector1">
                <a:avLst/>
              </a:prstGeom>
              <a:noFill/>
              <a:ln w="38100">
                <a:solidFill>
                  <a:srgbClr val="0066CC"/>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479" name="AutoShape 55">
                <a:extLst>
                  <a:ext uri="{FF2B5EF4-FFF2-40B4-BE49-F238E27FC236}">
                    <a16:creationId xmlns:a16="http://schemas.microsoft.com/office/drawing/2014/main" id="{37D728C2-F90F-6147-683B-6B66840A77EF}"/>
                  </a:ext>
                </a:extLst>
              </p:cNvPr>
              <p:cNvCxnSpPr>
                <a:cxnSpLocks noChangeShapeType="1"/>
                <a:stCxn id="489472" idx="6"/>
                <a:endCxn id="489476" idx="2"/>
              </p:cNvCxnSpPr>
              <p:nvPr/>
            </p:nvCxnSpPr>
            <p:spPr bwMode="auto">
              <a:xfrm>
                <a:off x="4742778" y="4510979"/>
                <a:ext cx="1536121" cy="0"/>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480" name="AutoShape 56">
                <a:extLst>
                  <a:ext uri="{FF2B5EF4-FFF2-40B4-BE49-F238E27FC236}">
                    <a16:creationId xmlns:a16="http://schemas.microsoft.com/office/drawing/2014/main" id="{1E496403-068A-7B57-1AC6-B8E410E54AF7}"/>
                  </a:ext>
                </a:extLst>
              </p:cNvPr>
              <p:cNvCxnSpPr>
                <a:cxnSpLocks noChangeShapeType="1"/>
                <a:stCxn id="489472" idx="5"/>
                <a:endCxn id="489477" idx="1"/>
              </p:cNvCxnSpPr>
              <p:nvPr/>
            </p:nvCxnSpPr>
            <p:spPr bwMode="auto">
              <a:xfrm>
                <a:off x="4691944" y="4634480"/>
                <a:ext cx="1637789" cy="1129700"/>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481" name="AutoShape 57">
                <a:extLst>
                  <a:ext uri="{FF2B5EF4-FFF2-40B4-BE49-F238E27FC236}">
                    <a16:creationId xmlns:a16="http://schemas.microsoft.com/office/drawing/2014/main" id="{E031CAD7-3E19-A449-7C98-CFB64FE8EA95}"/>
                  </a:ext>
                </a:extLst>
              </p:cNvPr>
              <p:cNvCxnSpPr>
                <a:cxnSpLocks noChangeShapeType="1"/>
                <a:stCxn id="489476" idx="6"/>
                <a:endCxn id="489487" idx="2"/>
              </p:cNvCxnSpPr>
              <p:nvPr/>
            </p:nvCxnSpPr>
            <p:spPr bwMode="auto">
              <a:xfrm>
                <a:off x="6626018" y="4510979"/>
                <a:ext cx="2171903" cy="0"/>
              </a:xfrm>
              <a:prstGeom prst="straightConnector1">
                <a:avLst/>
              </a:prstGeom>
              <a:noFill/>
              <a:ln w="38100">
                <a:solidFill>
                  <a:srgbClr val="0066CC"/>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482" name="AutoShape 59">
                <a:extLst>
                  <a:ext uri="{FF2B5EF4-FFF2-40B4-BE49-F238E27FC236}">
                    <a16:creationId xmlns:a16="http://schemas.microsoft.com/office/drawing/2014/main" id="{A61749BB-4F1E-9B17-5912-C86748124AB7}"/>
                  </a:ext>
                </a:extLst>
              </p:cNvPr>
              <p:cNvCxnSpPr>
                <a:cxnSpLocks noChangeShapeType="1"/>
                <a:stCxn id="489476" idx="4"/>
                <a:endCxn id="489477" idx="0"/>
              </p:cNvCxnSpPr>
              <p:nvPr/>
            </p:nvCxnSpPr>
            <p:spPr bwMode="auto">
              <a:xfrm>
                <a:off x="6452459" y="4685636"/>
                <a:ext cx="0" cy="102771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483" name="AutoShape 60">
                <a:extLst>
                  <a:ext uri="{FF2B5EF4-FFF2-40B4-BE49-F238E27FC236}">
                    <a16:creationId xmlns:a16="http://schemas.microsoft.com/office/drawing/2014/main" id="{8A528EA6-AFDD-E868-1C8D-24909DA9266B}"/>
                  </a:ext>
                </a:extLst>
              </p:cNvPr>
              <p:cNvCxnSpPr>
                <a:cxnSpLocks noChangeShapeType="1"/>
                <a:stCxn id="489473" idx="6"/>
                <a:endCxn id="489486" idx="2"/>
              </p:cNvCxnSpPr>
              <p:nvPr/>
            </p:nvCxnSpPr>
            <p:spPr bwMode="auto">
              <a:xfrm>
                <a:off x="6626018" y="3098894"/>
                <a:ext cx="2171903" cy="0"/>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484" name="AutoShape 61">
                <a:extLst>
                  <a:ext uri="{FF2B5EF4-FFF2-40B4-BE49-F238E27FC236}">
                    <a16:creationId xmlns:a16="http://schemas.microsoft.com/office/drawing/2014/main" id="{6B39AF0F-87C4-3BB0-7D31-B11FE5082FAE}"/>
                  </a:ext>
                </a:extLst>
              </p:cNvPr>
              <p:cNvCxnSpPr>
                <a:cxnSpLocks noChangeShapeType="1"/>
                <a:stCxn id="489477" idx="6"/>
                <a:endCxn id="489488" idx="2"/>
              </p:cNvCxnSpPr>
              <p:nvPr/>
            </p:nvCxnSpPr>
            <p:spPr bwMode="auto">
              <a:xfrm>
                <a:off x="6626018" y="5886906"/>
                <a:ext cx="2171903" cy="0"/>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485" name="AutoShape 62">
                <a:extLst>
                  <a:ext uri="{FF2B5EF4-FFF2-40B4-BE49-F238E27FC236}">
                    <a16:creationId xmlns:a16="http://schemas.microsoft.com/office/drawing/2014/main" id="{29B28E4E-D4CF-C448-C709-EA6282D7B711}"/>
                  </a:ext>
                </a:extLst>
              </p:cNvPr>
              <p:cNvCxnSpPr>
                <a:cxnSpLocks noChangeShapeType="1"/>
                <a:stCxn id="489473" idx="4"/>
                <a:endCxn id="489476" idx="0"/>
              </p:cNvCxnSpPr>
              <p:nvPr/>
            </p:nvCxnSpPr>
            <p:spPr bwMode="auto">
              <a:xfrm>
                <a:off x="6452459" y="3274651"/>
                <a:ext cx="0" cy="106167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486" name="Oval 63">
                <a:extLst>
                  <a:ext uri="{FF2B5EF4-FFF2-40B4-BE49-F238E27FC236}">
                    <a16:creationId xmlns:a16="http://schemas.microsoft.com/office/drawing/2014/main" id="{D134859C-E6DE-DA1F-AF15-BC7651086705}"/>
                  </a:ext>
                </a:extLst>
              </p:cNvPr>
              <p:cNvSpPr>
                <a:spLocks noChangeAspect="1" noChangeArrowheads="1"/>
              </p:cNvSpPr>
              <p:nvPr/>
            </p:nvSpPr>
            <p:spPr bwMode="auto">
              <a:xfrm>
                <a:off x="8797921" y="2923138"/>
                <a:ext cx="347119" cy="35151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d</a:t>
                </a:r>
              </a:p>
            </p:txBody>
          </p:sp>
          <p:sp>
            <p:nvSpPr>
              <p:cNvPr id="489487" name="Oval 64">
                <a:extLst>
                  <a:ext uri="{FF2B5EF4-FFF2-40B4-BE49-F238E27FC236}">
                    <a16:creationId xmlns:a16="http://schemas.microsoft.com/office/drawing/2014/main" id="{DE7AEF7B-5D1A-454B-7692-5D323765AF63}"/>
                  </a:ext>
                </a:extLst>
              </p:cNvPr>
              <p:cNvSpPr>
                <a:spLocks noChangeAspect="1" noChangeArrowheads="1"/>
              </p:cNvSpPr>
              <p:nvPr/>
            </p:nvSpPr>
            <p:spPr bwMode="auto">
              <a:xfrm>
                <a:off x="8797921"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e</a:t>
                </a:r>
              </a:p>
            </p:txBody>
          </p:sp>
          <p:sp>
            <p:nvSpPr>
              <p:cNvPr id="489488" name="Oval 65">
                <a:extLst>
                  <a:ext uri="{FF2B5EF4-FFF2-40B4-BE49-F238E27FC236}">
                    <a16:creationId xmlns:a16="http://schemas.microsoft.com/office/drawing/2014/main" id="{D4F0ADD8-3A76-3932-A88C-1EF3FF74F056}"/>
                  </a:ext>
                </a:extLst>
              </p:cNvPr>
              <p:cNvSpPr>
                <a:spLocks noChangeAspect="1" noChangeArrowheads="1"/>
              </p:cNvSpPr>
              <p:nvPr/>
            </p:nvSpPr>
            <p:spPr bwMode="auto">
              <a:xfrm>
                <a:off x="8797921" y="5713346"/>
                <a:ext cx="347119" cy="347119"/>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f</a:t>
                </a:r>
              </a:p>
            </p:txBody>
          </p:sp>
          <p:cxnSp>
            <p:nvCxnSpPr>
              <p:cNvPr id="489489" name="AutoShape 66">
                <a:extLst>
                  <a:ext uri="{FF2B5EF4-FFF2-40B4-BE49-F238E27FC236}">
                    <a16:creationId xmlns:a16="http://schemas.microsoft.com/office/drawing/2014/main" id="{2FCC834E-8E91-CA10-15B2-5B5DF723589A}"/>
                  </a:ext>
                </a:extLst>
              </p:cNvPr>
              <p:cNvCxnSpPr>
                <a:cxnSpLocks noChangeShapeType="1"/>
                <a:stCxn id="489487" idx="4"/>
                <a:endCxn id="489488" idx="0"/>
              </p:cNvCxnSpPr>
              <p:nvPr/>
            </p:nvCxnSpPr>
            <p:spPr bwMode="auto">
              <a:xfrm>
                <a:off x="8971480" y="4685636"/>
                <a:ext cx="0" cy="102771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490" name="AutoShape 67">
                <a:extLst>
                  <a:ext uri="{FF2B5EF4-FFF2-40B4-BE49-F238E27FC236}">
                    <a16:creationId xmlns:a16="http://schemas.microsoft.com/office/drawing/2014/main" id="{AC315295-F291-479D-FA7D-840A9D60BFE3}"/>
                  </a:ext>
                </a:extLst>
              </p:cNvPr>
              <p:cNvCxnSpPr>
                <a:cxnSpLocks noChangeShapeType="1"/>
                <a:stCxn id="489486" idx="4"/>
                <a:endCxn id="489487" idx="0"/>
              </p:cNvCxnSpPr>
              <p:nvPr/>
            </p:nvCxnSpPr>
            <p:spPr bwMode="auto">
              <a:xfrm>
                <a:off x="8971480" y="3274651"/>
                <a:ext cx="0" cy="106167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491" name="AutoShape 68">
                <a:extLst>
                  <a:ext uri="{FF2B5EF4-FFF2-40B4-BE49-F238E27FC236}">
                    <a16:creationId xmlns:a16="http://schemas.microsoft.com/office/drawing/2014/main" id="{67839A3F-8627-6309-7A7D-5441C05A6637}"/>
                  </a:ext>
                </a:extLst>
              </p:cNvPr>
              <p:cNvCxnSpPr>
                <a:cxnSpLocks noChangeShapeType="1"/>
                <a:stCxn id="489473" idx="5"/>
                <a:endCxn id="489487" idx="1"/>
              </p:cNvCxnSpPr>
              <p:nvPr/>
            </p:nvCxnSpPr>
            <p:spPr bwMode="auto">
              <a:xfrm>
                <a:off x="6575184" y="3223173"/>
                <a:ext cx="2273571" cy="1164304"/>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492" name="Oval 69">
                <a:extLst>
                  <a:ext uri="{FF2B5EF4-FFF2-40B4-BE49-F238E27FC236}">
                    <a16:creationId xmlns:a16="http://schemas.microsoft.com/office/drawing/2014/main" id="{DC6AAB41-7E0B-6982-6B16-5AFCB95B5B0C}"/>
                  </a:ext>
                </a:extLst>
              </p:cNvPr>
              <p:cNvSpPr>
                <a:spLocks noChangeAspect="1" noChangeArrowheads="1"/>
              </p:cNvSpPr>
              <p:nvPr/>
            </p:nvSpPr>
            <p:spPr bwMode="auto">
              <a:xfrm>
                <a:off x="10648016"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solidFill>
                      <a:srgbClr val="C00000"/>
                    </a:solidFill>
                  </a:rPr>
                  <a:t>t</a:t>
                </a:r>
              </a:p>
            </p:txBody>
          </p:sp>
          <p:cxnSp>
            <p:nvCxnSpPr>
              <p:cNvPr id="489493" name="AutoShape 70">
                <a:extLst>
                  <a:ext uri="{FF2B5EF4-FFF2-40B4-BE49-F238E27FC236}">
                    <a16:creationId xmlns:a16="http://schemas.microsoft.com/office/drawing/2014/main" id="{0A54CA76-CB7E-E6D0-FF49-FE647A51DC7F}"/>
                  </a:ext>
                </a:extLst>
              </p:cNvPr>
              <p:cNvCxnSpPr>
                <a:cxnSpLocks noChangeShapeType="1"/>
                <a:stCxn id="489486" idx="6"/>
                <a:endCxn id="489492" idx="1"/>
              </p:cNvCxnSpPr>
              <p:nvPr/>
            </p:nvCxnSpPr>
            <p:spPr bwMode="auto">
              <a:xfrm>
                <a:off x="9145040" y="3098894"/>
                <a:ext cx="1553810" cy="1288583"/>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494" name="AutoShape 71">
                <a:extLst>
                  <a:ext uri="{FF2B5EF4-FFF2-40B4-BE49-F238E27FC236}">
                    <a16:creationId xmlns:a16="http://schemas.microsoft.com/office/drawing/2014/main" id="{A6C76FC6-2074-E946-9831-16C723BE1B91}"/>
                  </a:ext>
                </a:extLst>
              </p:cNvPr>
              <p:cNvCxnSpPr>
                <a:cxnSpLocks noChangeShapeType="1"/>
                <a:stCxn id="489487" idx="6"/>
                <a:endCxn id="489492" idx="2"/>
              </p:cNvCxnSpPr>
              <p:nvPr/>
            </p:nvCxnSpPr>
            <p:spPr bwMode="auto">
              <a:xfrm>
                <a:off x="9145040" y="4510979"/>
                <a:ext cx="1502976" cy="0"/>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495" name="AutoShape 72">
                <a:extLst>
                  <a:ext uri="{FF2B5EF4-FFF2-40B4-BE49-F238E27FC236}">
                    <a16:creationId xmlns:a16="http://schemas.microsoft.com/office/drawing/2014/main" id="{5C5027F5-204A-02B3-7D3A-819BC30AFA87}"/>
                  </a:ext>
                </a:extLst>
              </p:cNvPr>
              <p:cNvCxnSpPr>
                <a:cxnSpLocks noChangeShapeType="1"/>
                <a:stCxn id="489488" idx="7"/>
                <a:endCxn id="489492" idx="4"/>
              </p:cNvCxnSpPr>
              <p:nvPr/>
            </p:nvCxnSpPr>
            <p:spPr bwMode="auto">
              <a:xfrm flipV="1">
                <a:off x="9094206" y="4685636"/>
                <a:ext cx="1727370" cy="1078544"/>
              </a:xfrm>
              <a:prstGeom prst="straightConnector1">
                <a:avLst/>
              </a:prstGeom>
              <a:noFill/>
              <a:ln w="38100">
                <a:solidFill>
                  <a:srgbClr val="0066CC"/>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496" name="Text Box 73">
                <a:extLst>
                  <a:ext uri="{FF2B5EF4-FFF2-40B4-BE49-F238E27FC236}">
                    <a16:creationId xmlns:a16="http://schemas.microsoft.com/office/drawing/2014/main" id="{D295CFB0-14B6-1C4E-85E6-6EB92388B2D1}"/>
                  </a:ext>
                </a:extLst>
              </p:cNvPr>
              <p:cNvSpPr txBox="1">
                <a:spLocks noChangeArrowheads="1"/>
              </p:cNvSpPr>
              <p:nvPr/>
            </p:nvSpPr>
            <p:spPr bwMode="auto">
              <a:xfrm>
                <a:off x="5140632" y="5112122"/>
                <a:ext cx="892815" cy="314755"/>
              </a:xfrm>
              <a:prstGeom prst="rect">
                <a:avLst/>
              </a:prstGeom>
              <a:solidFill>
                <a:schemeClr val="accent1">
                  <a:lumMod val="20000"/>
                  <a:lumOff val="8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dirty="0">
                    <a:latin typeface="Arial" panose="020B0604020202020204" pitchFamily="34" charset="0"/>
                    <a:cs typeface="Arial" panose="020B0604020202020204" pitchFamily="34" charset="0"/>
                  </a:rPr>
                  <a:t> </a:t>
                </a:r>
                <a:r>
                  <a:rPr lang="en-US" altLang="en-US" b="1" dirty="0">
                    <a:latin typeface="Arial" panose="020B0604020202020204" pitchFamily="34" charset="0"/>
                    <a:cs typeface="Arial" panose="020B0604020202020204" pitchFamily="34" charset="0"/>
                  </a:rPr>
                  <a:t>14/</a:t>
                </a:r>
                <a:r>
                  <a:rPr lang="en-US" altLang="en-US" dirty="0">
                    <a:latin typeface="Arial" panose="020B0604020202020204" pitchFamily="34" charset="0"/>
                    <a:cs typeface="Arial" panose="020B0604020202020204" pitchFamily="34" charset="0"/>
                  </a:rPr>
                  <a:t>15</a:t>
                </a:r>
              </a:p>
            </p:txBody>
          </p:sp>
          <p:sp>
            <p:nvSpPr>
              <p:cNvPr id="489497" name="Text Box 74">
                <a:extLst>
                  <a:ext uri="{FF2B5EF4-FFF2-40B4-BE49-F238E27FC236}">
                    <a16:creationId xmlns:a16="http://schemas.microsoft.com/office/drawing/2014/main" id="{3B613DB9-A423-1192-428D-B394106DDCE8}"/>
                  </a:ext>
                </a:extLst>
              </p:cNvPr>
              <p:cNvSpPr txBox="1">
                <a:spLocks noChangeArrowheads="1"/>
              </p:cNvSpPr>
              <p:nvPr/>
            </p:nvSpPr>
            <p:spPr bwMode="auto">
              <a:xfrm>
                <a:off x="5458549" y="4352895"/>
                <a:ext cx="453335" cy="314755"/>
              </a:xfrm>
              <a:prstGeom prst="rect">
                <a:avLst/>
              </a:prstGeom>
              <a:solidFill>
                <a:schemeClr val="accent1">
                  <a:lumMod val="20000"/>
                  <a:lumOff val="80000"/>
                </a:schemeClr>
              </a:solidFill>
              <a:ln w="9525">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400" dirty="0">
                    <a:latin typeface="Arial" panose="020B0604020202020204" pitchFamily="34" charset="0"/>
                    <a:cs typeface="Arial" panose="020B0604020202020204" pitchFamily="34" charset="0"/>
                  </a:rPr>
                  <a:t> </a:t>
                </a:r>
                <a:r>
                  <a:rPr lang="en-US" altLang="en-US" b="1" dirty="0">
                    <a:latin typeface="Arial" panose="020B0604020202020204" pitchFamily="34" charset="0"/>
                    <a:cs typeface="Arial" panose="020B0604020202020204" pitchFamily="34" charset="0"/>
                  </a:rPr>
                  <a:t>4</a:t>
                </a:r>
                <a:r>
                  <a:rPr lang="en-US" altLang="en-US" sz="1400" b="1" dirty="0">
                    <a:solidFill>
                      <a:srgbClr val="0066CC"/>
                    </a:solidFill>
                    <a:latin typeface="Arial" panose="020B0604020202020204" pitchFamily="34" charset="0"/>
                    <a:cs typeface="Arial" panose="020B0604020202020204" pitchFamily="34" charset="0"/>
                  </a:rPr>
                  <a:t>/</a:t>
                </a:r>
                <a:r>
                  <a:rPr lang="en-US" altLang="en-US" dirty="0">
                    <a:latin typeface="Arial" panose="020B0604020202020204" pitchFamily="34" charset="0"/>
                    <a:cs typeface="Arial" panose="020B0604020202020204" pitchFamily="34" charset="0"/>
                  </a:rPr>
                  <a:t>5</a:t>
                </a:r>
                <a:endParaRPr lang="en-US" altLang="en-US" sz="1400" dirty="0">
                  <a:latin typeface="Arial" panose="020B0604020202020204" pitchFamily="34" charset="0"/>
                  <a:cs typeface="Arial" panose="020B0604020202020204" pitchFamily="34" charset="0"/>
                </a:endParaRPr>
              </a:p>
            </p:txBody>
          </p:sp>
          <p:sp>
            <p:nvSpPr>
              <p:cNvPr id="489498" name="Text Box 75">
                <a:extLst>
                  <a:ext uri="{FF2B5EF4-FFF2-40B4-BE49-F238E27FC236}">
                    <a16:creationId xmlns:a16="http://schemas.microsoft.com/office/drawing/2014/main" id="{82FD0025-D79E-8687-E718-54F2B875C491}"/>
                  </a:ext>
                </a:extLst>
              </p:cNvPr>
              <p:cNvSpPr txBox="1">
                <a:spLocks noChangeArrowheads="1"/>
              </p:cNvSpPr>
              <p:nvPr/>
            </p:nvSpPr>
            <p:spPr bwMode="auto">
              <a:xfrm>
                <a:off x="7331166" y="5713346"/>
                <a:ext cx="718833" cy="314755"/>
              </a:xfrm>
              <a:prstGeom prst="rect">
                <a:avLst/>
              </a:prstGeom>
              <a:solidFill>
                <a:schemeClr val="accent1">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14/</a:t>
                </a:r>
                <a:r>
                  <a:rPr lang="en-US" altLang="en-US" dirty="0">
                    <a:latin typeface="Arial" panose="020B0604020202020204" pitchFamily="34" charset="0"/>
                    <a:cs typeface="Arial" panose="020B0604020202020204" pitchFamily="34" charset="0"/>
                  </a:rPr>
                  <a:t>30</a:t>
                </a:r>
              </a:p>
            </p:txBody>
          </p:sp>
          <p:sp>
            <p:nvSpPr>
              <p:cNvPr id="489499" name="Text Box 76">
                <a:extLst>
                  <a:ext uri="{FF2B5EF4-FFF2-40B4-BE49-F238E27FC236}">
                    <a16:creationId xmlns:a16="http://schemas.microsoft.com/office/drawing/2014/main" id="{084AFBEE-9B7A-183D-15FE-349296927C28}"/>
                  </a:ext>
                </a:extLst>
              </p:cNvPr>
              <p:cNvSpPr txBox="1">
                <a:spLocks noChangeArrowheads="1"/>
              </p:cNvSpPr>
              <p:nvPr/>
            </p:nvSpPr>
            <p:spPr bwMode="auto">
              <a:xfrm>
                <a:off x="8736366" y="4983795"/>
                <a:ext cx="600782"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15</a:t>
                </a:r>
              </a:p>
            </p:txBody>
          </p:sp>
          <p:sp>
            <p:nvSpPr>
              <p:cNvPr id="489500" name="Text Box 77">
                <a:extLst>
                  <a:ext uri="{FF2B5EF4-FFF2-40B4-BE49-F238E27FC236}">
                    <a16:creationId xmlns:a16="http://schemas.microsoft.com/office/drawing/2014/main" id="{D801FCD1-FE69-2D2D-D5E4-5D591EAE484F}"/>
                  </a:ext>
                </a:extLst>
              </p:cNvPr>
              <p:cNvSpPr txBox="1">
                <a:spLocks noChangeArrowheads="1"/>
              </p:cNvSpPr>
              <p:nvPr/>
            </p:nvSpPr>
            <p:spPr bwMode="auto">
              <a:xfrm>
                <a:off x="5300960" y="3595078"/>
                <a:ext cx="685677" cy="314755"/>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solidFill>
                      <a:srgbClr val="0066CC"/>
                    </a:solidFill>
                    <a:latin typeface="Arial" panose="020B0604020202020204" pitchFamily="34" charset="0"/>
                    <a:cs typeface="Arial" panose="020B0604020202020204" pitchFamily="34" charset="0"/>
                  </a:rPr>
                  <a:t>10/</a:t>
                </a:r>
                <a:r>
                  <a:rPr lang="en-US" altLang="en-US" dirty="0">
                    <a:latin typeface="Arial" panose="020B0604020202020204" pitchFamily="34" charset="0"/>
                    <a:cs typeface="Arial" panose="020B0604020202020204" pitchFamily="34" charset="0"/>
                  </a:rPr>
                  <a:t>10</a:t>
                </a:r>
              </a:p>
            </p:txBody>
          </p:sp>
          <p:sp>
            <p:nvSpPr>
              <p:cNvPr id="489501" name="Text Box 78">
                <a:extLst>
                  <a:ext uri="{FF2B5EF4-FFF2-40B4-BE49-F238E27FC236}">
                    <a16:creationId xmlns:a16="http://schemas.microsoft.com/office/drawing/2014/main" id="{0AFD60C6-81D7-0BD9-F415-F62B2A5C9EBB}"/>
                  </a:ext>
                </a:extLst>
              </p:cNvPr>
              <p:cNvSpPr txBox="1">
                <a:spLocks noChangeArrowheads="1"/>
              </p:cNvSpPr>
              <p:nvPr/>
            </p:nvSpPr>
            <p:spPr bwMode="auto">
              <a:xfrm>
                <a:off x="7486213" y="4352895"/>
                <a:ext cx="469224" cy="314755"/>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solidFill>
                      <a:srgbClr val="C00000"/>
                    </a:solidFill>
                    <a:latin typeface="Arial" panose="020B0604020202020204" pitchFamily="34" charset="0"/>
                    <a:cs typeface="Arial" panose="020B0604020202020204" pitchFamily="34" charset="0"/>
                  </a:rPr>
                  <a:t> </a:t>
                </a:r>
                <a:r>
                  <a:rPr lang="en-US" altLang="en-US" b="1" dirty="0">
                    <a:solidFill>
                      <a:srgbClr val="0066CC"/>
                    </a:solidFill>
                    <a:latin typeface="Arial" panose="020B0604020202020204" pitchFamily="34" charset="0"/>
                    <a:cs typeface="Arial" panose="020B0604020202020204" pitchFamily="34" charset="0"/>
                  </a:rPr>
                  <a:t>8</a:t>
                </a:r>
                <a:r>
                  <a:rPr lang="en-US" altLang="en-US" dirty="0">
                    <a:solidFill>
                      <a:srgbClr val="0066CC"/>
                    </a:solidFill>
                    <a:latin typeface="Arial" panose="020B0604020202020204" pitchFamily="34" charset="0"/>
                    <a:cs typeface="Arial" panose="020B0604020202020204" pitchFamily="34" charset="0"/>
                  </a:rPr>
                  <a:t>/</a:t>
                </a:r>
                <a:r>
                  <a:rPr lang="en-US" altLang="en-US" dirty="0">
                    <a:latin typeface="Arial" panose="020B0604020202020204" pitchFamily="34" charset="0"/>
                    <a:cs typeface="Arial" panose="020B0604020202020204" pitchFamily="34" charset="0"/>
                  </a:rPr>
                  <a:t>8</a:t>
                </a:r>
              </a:p>
            </p:txBody>
          </p:sp>
          <p:sp>
            <p:nvSpPr>
              <p:cNvPr id="489502" name="Text Box 79">
                <a:extLst>
                  <a:ext uri="{FF2B5EF4-FFF2-40B4-BE49-F238E27FC236}">
                    <a16:creationId xmlns:a16="http://schemas.microsoft.com/office/drawing/2014/main" id="{B85B5B86-BEF4-42D4-504C-DAC6BFE575B8}"/>
                  </a:ext>
                </a:extLst>
              </p:cNvPr>
              <p:cNvSpPr txBox="1">
                <a:spLocks noChangeArrowheads="1"/>
              </p:cNvSpPr>
              <p:nvPr/>
            </p:nvSpPr>
            <p:spPr bwMode="auto">
              <a:xfrm>
                <a:off x="7425727" y="3622107"/>
                <a:ext cx="624271" cy="314755"/>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1/</a:t>
                </a:r>
                <a:r>
                  <a:rPr lang="en-US" altLang="en-US" dirty="0">
                    <a:latin typeface="Arial" panose="020B0604020202020204" pitchFamily="34" charset="0"/>
                    <a:cs typeface="Arial" panose="020B0604020202020204" pitchFamily="34" charset="0"/>
                  </a:rPr>
                  <a:t>15</a:t>
                </a:r>
              </a:p>
            </p:txBody>
          </p:sp>
          <p:sp>
            <p:nvSpPr>
              <p:cNvPr id="489503" name="Text Box 80">
                <a:extLst>
                  <a:ext uri="{FF2B5EF4-FFF2-40B4-BE49-F238E27FC236}">
                    <a16:creationId xmlns:a16="http://schemas.microsoft.com/office/drawing/2014/main" id="{2DF5D527-DA58-0358-945F-F6FBFB9FFAF5}"/>
                  </a:ext>
                </a:extLst>
              </p:cNvPr>
              <p:cNvSpPr txBox="1">
                <a:spLocks noChangeArrowheads="1"/>
              </p:cNvSpPr>
              <p:nvPr/>
            </p:nvSpPr>
            <p:spPr bwMode="auto">
              <a:xfrm>
                <a:off x="7444248" y="2939710"/>
                <a:ext cx="403767" cy="314755"/>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9/</a:t>
                </a:r>
                <a:r>
                  <a:rPr lang="en-US" altLang="en-US" dirty="0">
                    <a:latin typeface="Arial" panose="020B0604020202020204" pitchFamily="34" charset="0"/>
                    <a:cs typeface="Arial" panose="020B0604020202020204" pitchFamily="34" charset="0"/>
                  </a:rPr>
                  <a:t>9</a:t>
                </a:r>
              </a:p>
            </p:txBody>
          </p:sp>
          <p:sp>
            <p:nvSpPr>
              <p:cNvPr id="489504" name="Text Box 81">
                <a:extLst>
                  <a:ext uri="{FF2B5EF4-FFF2-40B4-BE49-F238E27FC236}">
                    <a16:creationId xmlns:a16="http://schemas.microsoft.com/office/drawing/2014/main" id="{D3F06787-F0A1-7B84-D344-200986902E9B}"/>
                  </a:ext>
                </a:extLst>
              </p:cNvPr>
              <p:cNvSpPr txBox="1">
                <a:spLocks noChangeArrowheads="1"/>
              </p:cNvSpPr>
              <p:nvPr/>
            </p:nvSpPr>
            <p:spPr bwMode="auto">
              <a:xfrm>
                <a:off x="7444248" y="5043023"/>
                <a:ext cx="403767" cy="314755"/>
              </a:xfrm>
              <a:prstGeom prst="rect">
                <a:avLst/>
              </a:prstGeom>
              <a:solidFill>
                <a:schemeClr val="accent1">
                  <a:lumMod val="20000"/>
                  <a:lumOff val="8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4/</a:t>
                </a:r>
                <a:r>
                  <a:rPr lang="en-US" altLang="en-US" dirty="0">
                    <a:latin typeface="Arial" panose="020B0604020202020204" pitchFamily="34" charset="0"/>
                    <a:cs typeface="Arial" panose="020B0604020202020204" pitchFamily="34" charset="0"/>
                  </a:rPr>
                  <a:t>6</a:t>
                </a:r>
              </a:p>
            </p:txBody>
          </p:sp>
          <p:sp>
            <p:nvSpPr>
              <p:cNvPr id="489505" name="Text Box 82">
                <a:extLst>
                  <a:ext uri="{FF2B5EF4-FFF2-40B4-BE49-F238E27FC236}">
                    <a16:creationId xmlns:a16="http://schemas.microsoft.com/office/drawing/2014/main" id="{93B80E23-5EA3-9249-E10E-513A6509628F}"/>
                  </a:ext>
                </a:extLst>
              </p:cNvPr>
              <p:cNvSpPr txBox="1">
                <a:spLocks noChangeArrowheads="1"/>
              </p:cNvSpPr>
              <p:nvPr/>
            </p:nvSpPr>
            <p:spPr bwMode="auto">
              <a:xfrm>
                <a:off x="9600403" y="5160001"/>
                <a:ext cx="714975" cy="314755"/>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solidFill>
                      <a:srgbClr val="0066CC"/>
                    </a:solidFill>
                    <a:latin typeface="Arial" panose="020B0604020202020204" pitchFamily="34" charset="0"/>
                    <a:cs typeface="Arial" panose="020B0604020202020204" pitchFamily="34" charset="0"/>
                  </a:rPr>
                  <a:t>10/</a:t>
                </a:r>
                <a:r>
                  <a:rPr lang="en-US" altLang="en-US" dirty="0">
                    <a:latin typeface="Arial" panose="020B0604020202020204" pitchFamily="34" charset="0"/>
                    <a:cs typeface="Arial" panose="020B0604020202020204" pitchFamily="34" charset="0"/>
                  </a:rPr>
                  <a:t>10</a:t>
                </a:r>
              </a:p>
            </p:txBody>
          </p:sp>
          <p:sp>
            <p:nvSpPr>
              <p:cNvPr id="489506" name="Text Box 83">
                <a:extLst>
                  <a:ext uri="{FF2B5EF4-FFF2-40B4-BE49-F238E27FC236}">
                    <a16:creationId xmlns:a16="http://schemas.microsoft.com/office/drawing/2014/main" id="{9DF46ED8-978F-9B5A-BFF1-E693A07B73DF}"/>
                  </a:ext>
                </a:extLst>
              </p:cNvPr>
              <p:cNvSpPr txBox="1">
                <a:spLocks noChangeArrowheads="1"/>
              </p:cNvSpPr>
              <p:nvPr/>
            </p:nvSpPr>
            <p:spPr bwMode="auto">
              <a:xfrm>
                <a:off x="9704822" y="4352895"/>
                <a:ext cx="596075" cy="314755"/>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 9/</a:t>
                </a:r>
                <a:r>
                  <a:rPr lang="en-US" altLang="en-US" dirty="0">
                    <a:latin typeface="Arial" panose="020B0604020202020204" pitchFamily="34" charset="0"/>
                    <a:cs typeface="Arial" panose="020B0604020202020204" pitchFamily="34" charset="0"/>
                  </a:rPr>
                  <a:t>10</a:t>
                </a:r>
                <a:endParaRPr lang="en-US" altLang="en-US" sz="1400" dirty="0">
                  <a:latin typeface="Arial" panose="020B0604020202020204" pitchFamily="34" charset="0"/>
                  <a:cs typeface="Arial" panose="020B0604020202020204" pitchFamily="34" charset="0"/>
                </a:endParaRPr>
              </a:p>
            </p:txBody>
          </p:sp>
          <p:sp>
            <p:nvSpPr>
              <p:cNvPr id="489507" name="Text Box 84">
                <a:extLst>
                  <a:ext uri="{FF2B5EF4-FFF2-40B4-BE49-F238E27FC236}">
                    <a16:creationId xmlns:a16="http://schemas.microsoft.com/office/drawing/2014/main" id="{BFDF02A5-FA17-CD27-02FA-C2B1D632461C}"/>
                  </a:ext>
                </a:extLst>
              </p:cNvPr>
              <p:cNvSpPr txBox="1">
                <a:spLocks noChangeArrowheads="1"/>
              </p:cNvSpPr>
              <p:nvPr/>
            </p:nvSpPr>
            <p:spPr bwMode="auto">
              <a:xfrm>
                <a:off x="9703383" y="3588301"/>
                <a:ext cx="689643" cy="314755"/>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9/</a:t>
                </a:r>
                <a:r>
                  <a:rPr lang="en-US" altLang="en-US" dirty="0">
                    <a:latin typeface="Arial" panose="020B0604020202020204" pitchFamily="34" charset="0"/>
                    <a:cs typeface="Arial" panose="020B0604020202020204" pitchFamily="34" charset="0"/>
                  </a:rPr>
                  <a:t>10</a:t>
                </a:r>
              </a:p>
            </p:txBody>
          </p:sp>
          <p:sp>
            <p:nvSpPr>
              <p:cNvPr id="489508" name="Text Box 85">
                <a:extLst>
                  <a:ext uri="{FF2B5EF4-FFF2-40B4-BE49-F238E27FC236}">
                    <a16:creationId xmlns:a16="http://schemas.microsoft.com/office/drawing/2014/main" id="{63FBFD2F-D8BB-2B61-FA57-B0A6620CA6A4}"/>
                  </a:ext>
                </a:extLst>
              </p:cNvPr>
              <p:cNvSpPr txBox="1">
                <a:spLocks noChangeArrowheads="1"/>
              </p:cNvSpPr>
              <p:nvPr/>
            </p:nvSpPr>
            <p:spPr bwMode="auto">
              <a:xfrm>
                <a:off x="8791308" y="3595078"/>
                <a:ext cx="545059" cy="314755"/>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dirty="0">
                    <a:latin typeface="Arial" panose="020B0604020202020204" pitchFamily="34" charset="0"/>
                    <a:cs typeface="Arial" panose="020B0604020202020204" pitchFamily="34" charset="0"/>
                  </a:rPr>
                  <a:t>15</a:t>
                </a:r>
              </a:p>
            </p:txBody>
          </p:sp>
          <p:sp>
            <p:nvSpPr>
              <p:cNvPr id="489509" name="Text Box 86">
                <a:extLst>
                  <a:ext uri="{FF2B5EF4-FFF2-40B4-BE49-F238E27FC236}">
                    <a16:creationId xmlns:a16="http://schemas.microsoft.com/office/drawing/2014/main" id="{8DFF4923-CE9B-126F-4069-EE8AFB753230}"/>
                  </a:ext>
                </a:extLst>
              </p:cNvPr>
              <p:cNvSpPr txBox="1">
                <a:spLocks noChangeArrowheads="1"/>
              </p:cNvSpPr>
              <p:nvPr/>
            </p:nvSpPr>
            <p:spPr bwMode="auto">
              <a:xfrm>
                <a:off x="6276229" y="3653451"/>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4</a:t>
                </a:r>
              </a:p>
            </p:txBody>
          </p:sp>
          <p:sp>
            <p:nvSpPr>
              <p:cNvPr id="489510" name="Text Box 87">
                <a:extLst>
                  <a:ext uri="{FF2B5EF4-FFF2-40B4-BE49-F238E27FC236}">
                    <a16:creationId xmlns:a16="http://schemas.microsoft.com/office/drawing/2014/main" id="{E30B402A-F9F5-565A-705C-A6F00FD2D982}"/>
                  </a:ext>
                </a:extLst>
              </p:cNvPr>
              <p:cNvSpPr txBox="1">
                <a:spLocks noChangeArrowheads="1"/>
              </p:cNvSpPr>
              <p:nvPr/>
            </p:nvSpPr>
            <p:spPr bwMode="auto">
              <a:xfrm>
                <a:off x="6268652" y="5012007"/>
                <a:ext cx="403767" cy="307777"/>
              </a:xfrm>
              <a:prstGeom prst="rect">
                <a:avLst/>
              </a:prstGeom>
              <a:solidFill>
                <a:schemeClr val="accent1">
                  <a:lumMod val="20000"/>
                  <a:lumOff val="8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4</a:t>
                </a:r>
              </a:p>
            </p:txBody>
          </p:sp>
        </p:grpSp>
      </p:grpSp>
      <mc:AlternateContent xmlns:mc="http://schemas.openxmlformats.org/markup-compatibility/2006">
        <mc:Choice xmlns:a14="http://schemas.microsoft.com/office/drawing/2010/main" Requires="a14">
          <p:sp>
            <p:nvSpPr>
              <p:cNvPr id="489511" name="TextBox 489510">
                <a:extLst>
                  <a:ext uri="{FF2B5EF4-FFF2-40B4-BE49-F238E27FC236}">
                    <a16:creationId xmlns:a16="http://schemas.microsoft.com/office/drawing/2014/main" id="{A84AFD5E-DFE9-3B21-ACDC-5F9FC3B9E6F7}"/>
                  </a:ext>
                </a:extLst>
              </p:cNvPr>
              <p:cNvSpPr txBox="1"/>
              <p:nvPr/>
            </p:nvSpPr>
            <p:spPr>
              <a:xfrm>
                <a:off x="4428689" y="4702016"/>
                <a:ext cx="457176"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1" i="1" dirty="0" smtClean="0">
                          <a:solidFill>
                            <a:srgbClr val="0066CC"/>
                          </a:solidFill>
                          <a:latin typeface="Cambria Math" panose="02040503050406030204" pitchFamily="18" charset="0"/>
                        </a:rPr>
                        <m:t>𝑨</m:t>
                      </m:r>
                    </m:oMath>
                  </m:oMathPara>
                </a14:m>
                <a:endParaRPr lang="en-US" sz="2400" b="1" dirty="0">
                  <a:solidFill>
                    <a:srgbClr val="0066CC"/>
                  </a:solidFill>
                </a:endParaRPr>
              </a:p>
            </p:txBody>
          </p:sp>
        </mc:Choice>
        <mc:Fallback>
          <p:sp>
            <p:nvSpPr>
              <p:cNvPr id="489511" name="TextBox 489510">
                <a:extLst>
                  <a:ext uri="{FF2B5EF4-FFF2-40B4-BE49-F238E27FC236}">
                    <a16:creationId xmlns:a16="http://schemas.microsoft.com/office/drawing/2014/main" id="{A84AFD5E-DFE9-3B21-ACDC-5F9FC3B9E6F7}"/>
                  </a:ext>
                </a:extLst>
              </p:cNvPr>
              <p:cNvSpPr txBox="1">
                <a:spLocks noRot="1" noChangeAspect="1" noMove="1" noResize="1" noEditPoints="1" noAdjustHandles="1" noChangeArrowheads="1" noChangeShapeType="1" noTextEdit="1"/>
              </p:cNvSpPr>
              <p:nvPr/>
            </p:nvSpPr>
            <p:spPr>
              <a:xfrm>
                <a:off x="4428689" y="4702016"/>
                <a:ext cx="457176" cy="461665"/>
              </a:xfrm>
              <a:prstGeom prst="rect">
                <a:avLst/>
              </a:prstGeom>
              <a:blipFill>
                <a:blip r:embed="rId4"/>
                <a:stretch>
                  <a:fillRect/>
                </a:stretch>
              </a:blipFill>
            </p:spPr>
            <p:txBody>
              <a:bodyPr/>
              <a:lstStyle/>
              <a:p>
                <a:r>
                  <a:rPr lang="en-US">
                    <a:noFill/>
                  </a:rPr>
                  <a:t> </a:t>
                </a:r>
              </a:p>
            </p:txBody>
          </p:sp>
        </mc:Fallback>
      </mc:AlternateContent>
      <p:sp>
        <p:nvSpPr>
          <p:cNvPr id="489512" name="TextBox 489511">
            <a:extLst>
              <a:ext uri="{FF2B5EF4-FFF2-40B4-BE49-F238E27FC236}">
                <a16:creationId xmlns:a16="http://schemas.microsoft.com/office/drawing/2014/main" id="{C05DBA92-CE85-5656-4263-5AAE79239F59}"/>
              </a:ext>
            </a:extLst>
          </p:cNvPr>
          <p:cNvSpPr txBox="1"/>
          <p:nvPr/>
        </p:nvSpPr>
        <p:spPr>
          <a:xfrm>
            <a:off x="4188871" y="5659205"/>
            <a:ext cx="1208026" cy="461665"/>
          </a:xfrm>
          <a:prstGeom prst="rect">
            <a:avLst/>
          </a:prstGeom>
          <a:noFill/>
        </p:spPr>
        <p:txBody>
          <a:bodyPr wrap="square" rtlCol="0">
            <a:spAutoFit/>
          </a:bodyPr>
          <a:lstStyle/>
          <a:p>
            <a:endParaRPr lang="en-US" sz="2400" b="1" dirty="0">
              <a:solidFill>
                <a:srgbClr val="0066CC"/>
              </a:solidFill>
            </a:endParaRPr>
          </a:p>
        </p:txBody>
      </p:sp>
      <p:grpSp>
        <p:nvGrpSpPr>
          <p:cNvPr id="489601" name="Group 489600">
            <a:extLst>
              <a:ext uri="{FF2B5EF4-FFF2-40B4-BE49-F238E27FC236}">
                <a16:creationId xmlns:a16="http://schemas.microsoft.com/office/drawing/2014/main" id="{1B4D333F-2BF1-F075-B255-C81CF6B9CEA7}"/>
              </a:ext>
            </a:extLst>
          </p:cNvPr>
          <p:cNvGrpSpPr/>
          <p:nvPr/>
        </p:nvGrpSpPr>
        <p:grpSpPr>
          <a:xfrm>
            <a:off x="6023170" y="3700878"/>
            <a:ext cx="6064379" cy="2843352"/>
            <a:chOff x="6007450" y="3954413"/>
            <a:chExt cx="6064379" cy="2843352"/>
          </a:xfrm>
        </p:grpSpPr>
        <p:sp>
          <p:nvSpPr>
            <p:cNvPr id="489515" name="Freeform: Shape 489514">
              <a:extLst>
                <a:ext uri="{FF2B5EF4-FFF2-40B4-BE49-F238E27FC236}">
                  <a16:creationId xmlns:a16="http://schemas.microsoft.com/office/drawing/2014/main" id="{561F8D79-07A9-A4D1-9675-C1C12ABCAAA5}"/>
                </a:ext>
              </a:extLst>
            </p:cNvPr>
            <p:cNvSpPr/>
            <p:nvPr/>
          </p:nvSpPr>
          <p:spPr bwMode="auto">
            <a:xfrm>
              <a:off x="6007450" y="4786509"/>
              <a:ext cx="4774836" cy="1960213"/>
            </a:xfrm>
            <a:custGeom>
              <a:avLst/>
              <a:gdLst>
                <a:gd name="connsiteX0" fmla="*/ 31470 w 6228837"/>
                <a:gd name="connsiteY0" fmla="*/ 469433 h 2227394"/>
                <a:gd name="connsiteX1" fmla="*/ 414242 w 6228837"/>
                <a:gd name="connsiteY1" fmla="*/ 1203079 h 2227394"/>
                <a:gd name="connsiteX2" fmla="*/ 1371172 w 6228837"/>
                <a:gd name="connsiteY2" fmla="*/ 1755972 h 2227394"/>
                <a:gd name="connsiteX3" fmla="*/ 2434428 w 6228837"/>
                <a:gd name="connsiteY3" fmla="*/ 2170642 h 2227394"/>
                <a:gd name="connsiteX4" fmla="*/ 3444521 w 6228837"/>
                <a:gd name="connsiteY4" fmla="*/ 2202540 h 2227394"/>
                <a:gd name="connsiteX5" fmla="*/ 5687991 w 6228837"/>
                <a:gd name="connsiteY5" fmla="*/ 2202540 h 2227394"/>
                <a:gd name="connsiteX6" fmla="*/ 6187721 w 6228837"/>
                <a:gd name="connsiteY6" fmla="*/ 1883563 h 2227394"/>
                <a:gd name="connsiteX7" fmla="*/ 4922447 w 6228837"/>
                <a:gd name="connsiteY7" fmla="*/ 1309405 h 2227394"/>
                <a:gd name="connsiteX8" fmla="*/ 3391358 w 6228837"/>
                <a:gd name="connsiteY8" fmla="*/ 480065 h 2227394"/>
                <a:gd name="connsiteX9" fmla="*/ 2413163 w 6228837"/>
                <a:gd name="connsiteY9" fmla="*/ 161089 h 2227394"/>
                <a:gd name="connsiteX10" fmla="*/ 1179786 w 6228837"/>
                <a:gd name="connsiteY10" fmla="*/ 12233 h 2227394"/>
                <a:gd name="connsiteX11" fmla="*/ 31470 w 6228837"/>
                <a:gd name="connsiteY11" fmla="*/ 469433 h 2227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28837" h="2227394">
                  <a:moveTo>
                    <a:pt x="31470" y="469433"/>
                  </a:moveTo>
                  <a:cubicBezTo>
                    <a:pt x="-96121" y="667907"/>
                    <a:pt x="190958" y="988656"/>
                    <a:pt x="414242" y="1203079"/>
                  </a:cubicBezTo>
                  <a:cubicBezTo>
                    <a:pt x="637526" y="1417502"/>
                    <a:pt x="1034474" y="1594712"/>
                    <a:pt x="1371172" y="1755972"/>
                  </a:cubicBezTo>
                  <a:cubicBezTo>
                    <a:pt x="1707870" y="1917233"/>
                    <a:pt x="2088870" y="2096214"/>
                    <a:pt x="2434428" y="2170642"/>
                  </a:cubicBezTo>
                  <a:cubicBezTo>
                    <a:pt x="2779986" y="2245070"/>
                    <a:pt x="3444521" y="2202540"/>
                    <a:pt x="3444521" y="2202540"/>
                  </a:cubicBezTo>
                  <a:cubicBezTo>
                    <a:pt x="3986781" y="2207856"/>
                    <a:pt x="5230791" y="2255703"/>
                    <a:pt x="5687991" y="2202540"/>
                  </a:cubicBezTo>
                  <a:cubicBezTo>
                    <a:pt x="6145191" y="2149377"/>
                    <a:pt x="6315312" y="2032419"/>
                    <a:pt x="6187721" y="1883563"/>
                  </a:cubicBezTo>
                  <a:cubicBezTo>
                    <a:pt x="6060130" y="1734707"/>
                    <a:pt x="5388507" y="1543321"/>
                    <a:pt x="4922447" y="1309405"/>
                  </a:cubicBezTo>
                  <a:cubicBezTo>
                    <a:pt x="4456387" y="1075489"/>
                    <a:pt x="3809572" y="671451"/>
                    <a:pt x="3391358" y="480065"/>
                  </a:cubicBezTo>
                  <a:cubicBezTo>
                    <a:pt x="2973144" y="288679"/>
                    <a:pt x="2781758" y="239061"/>
                    <a:pt x="2413163" y="161089"/>
                  </a:cubicBezTo>
                  <a:cubicBezTo>
                    <a:pt x="2044568" y="83117"/>
                    <a:pt x="1576735" y="-39158"/>
                    <a:pt x="1179786" y="12233"/>
                  </a:cubicBezTo>
                  <a:cubicBezTo>
                    <a:pt x="782837" y="63624"/>
                    <a:pt x="159061" y="270959"/>
                    <a:pt x="31470" y="469433"/>
                  </a:cubicBezTo>
                  <a:close/>
                </a:path>
              </a:pathLst>
            </a:custGeom>
            <a:solidFill>
              <a:schemeClr val="accent1">
                <a:lumMod val="20000"/>
                <a:lumOff val="80000"/>
              </a:schemeClr>
            </a:solidFill>
            <a:ln w="38100" cap="flat" cmpd="sng">
              <a:noFill/>
              <a:prstDash val="solid"/>
              <a:round/>
              <a:headEnd type="triangle" w="med" len="med"/>
              <a:tailEnd type="none" w="med" len="med"/>
            </a:ln>
            <a:effectLst/>
          </p:spPr>
          <p:txBody>
            <a:bodyPr wrap="square" rtlCol="0" anchor="ctr">
              <a:spAutoFit/>
            </a:bodyPr>
            <a:lstStyle/>
            <a:p>
              <a:pPr algn="l"/>
              <a:endParaRPr lang="en-US" dirty="0"/>
            </a:p>
          </p:txBody>
        </p:sp>
        <p:cxnSp>
          <p:nvCxnSpPr>
            <p:cNvPr id="489517" name="AutoShape 68">
              <a:extLst>
                <a:ext uri="{FF2B5EF4-FFF2-40B4-BE49-F238E27FC236}">
                  <a16:creationId xmlns:a16="http://schemas.microsoft.com/office/drawing/2014/main" id="{90B8EE44-DB27-F7A6-9DBB-B9E6C28FDE35}"/>
                </a:ext>
              </a:extLst>
            </p:cNvPr>
            <p:cNvCxnSpPr>
              <a:cxnSpLocks noChangeShapeType="1"/>
              <a:stCxn id="489532" idx="1"/>
              <a:endCxn id="489520" idx="4"/>
            </p:cNvCxnSpPr>
            <p:nvPr/>
          </p:nvCxnSpPr>
          <p:spPr bwMode="auto">
            <a:xfrm flipH="1" flipV="1">
              <a:off x="8074059" y="5505495"/>
              <a:ext cx="2108854" cy="949171"/>
            </a:xfrm>
            <a:prstGeom prst="straightConnector1">
              <a:avLst/>
            </a:prstGeom>
            <a:noFill/>
            <a:ln w="38100">
              <a:solidFill>
                <a:schemeClr val="tx1"/>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518" name="Oval 50">
              <a:extLst>
                <a:ext uri="{FF2B5EF4-FFF2-40B4-BE49-F238E27FC236}">
                  <a16:creationId xmlns:a16="http://schemas.microsoft.com/office/drawing/2014/main" id="{BAB64897-AAD9-F568-B94F-1CB9BB53C1DA}"/>
                </a:ext>
              </a:extLst>
            </p:cNvPr>
            <p:cNvSpPr>
              <a:spLocks noChangeAspect="1" noChangeArrowheads="1"/>
            </p:cNvSpPr>
            <p:nvPr/>
          </p:nvSpPr>
          <p:spPr bwMode="auto">
            <a:xfrm>
              <a:off x="6263977" y="5198081"/>
              <a:ext cx="305481" cy="307414"/>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solidFill>
                    <a:srgbClr val="C00000"/>
                  </a:solidFill>
                </a:rPr>
                <a:t>s</a:t>
              </a:r>
            </a:p>
          </p:txBody>
        </p:sp>
        <p:sp>
          <p:nvSpPr>
            <p:cNvPr id="489519" name="Oval 51">
              <a:extLst>
                <a:ext uri="{FF2B5EF4-FFF2-40B4-BE49-F238E27FC236}">
                  <a16:creationId xmlns:a16="http://schemas.microsoft.com/office/drawing/2014/main" id="{AB56FACF-CB4E-F912-BFC4-183F0817DEE5}"/>
                </a:ext>
              </a:extLst>
            </p:cNvPr>
            <p:cNvSpPr>
              <a:spLocks noChangeAspect="1" noChangeArrowheads="1"/>
            </p:cNvSpPr>
            <p:nvPr/>
          </p:nvSpPr>
          <p:spPr bwMode="auto">
            <a:xfrm>
              <a:off x="7921318" y="3954413"/>
              <a:ext cx="305481" cy="309348"/>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a</a:t>
              </a:r>
            </a:p>
          </p:txBody>
        </p:sp>
        <p:sp>
          <p:nvSpPr>
            <p:cNvPr id="489520" name="Oval 52">
              <a:extLst>
                <a:ext uri="{FF2B5EF4-FFF2-40B4-BE49-F238E27FC236}">
                  <a16:creationId xmlns:a16="http://schemas.microsoft.com/office/drawing/2014/main" id="{CDF6803E-D494-386A-7E8D-53AC253E3B6B}"/>
                </a:ext>
              </a:extLst>
            </p:cNvPr>
            <p:cNvSpPr>
              <a:spLocks noChangeAspect="1" noChangeArrowheads="1"/>
            </p:cNvSpPr>
            <p:nvPr/>
          </p:nvSpPr>
          <p:spPr bwMode="auto">
            <a:xfrm>
              <a:off x="7921318" y="5198081"/>
              <a:ext cx="305481" cy="307414"/>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b</a:t>
              </a:r>
            </a:p>
          </p:txBody>
        </p:sp>
        <p:sp>
          <p:nvSpPr>
            <p:cNvPr id="489521" name="Oval 53">
              <a:extLst>
                <a:ext uri="{FF2B5EF4-FFF2-40B4-BE49-F238E27FC236}">
                  <a16:creationId xmlns:a16="http://schemas.microsoft.com/office/drawing/2014/main" id="{AA441F2E-5E74-1622-71BF-0452CF4846B0}"/>
                </a:ext>
              </a:extLst>
            </p:cNvPr>
            <p:cNvSpPr>
              <a:spLocks noChangeAspect="1" noChangeArrowheads="1"/>
            </p:cNvSpPr>
            <p:nvPr/>
          </p:nvSpPr>
          <p:spPr bwMode="auto">
            <a:xfrm>
              <a:off x="7921318" y="6409929"/>
              <a:ext cx="305481" cy="305481"/>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c</a:t>
              </a:r>
            </a:p>
          </p:txBody>
        </p:sp>
        <p:cxnSp>
          <p:nvCxnSpPr>
            <p:cNvPr id="489522" name="AutoShape 54">
              <a:extLst>
                <a:ext uri="{FF2B5EF4-FFF2-40B4-BE49-F238E27FC236}">
                  <a16:creationId xmlns:a16="http://schemas.microsoft.com/office/drawing/2014/main" id="{D3FC0BF0-4E7C-5987-71D2-CFE9FB07AB63}"/>
                </a:ext>
              </a:extLst>
            </p:cNvPr>
            <p:cNvCxnSpPr>
              <a:cxnSpLocks noChangeShapeType="1"/>
              <a:stCxn id="489518" idx="7"/>
              <a:endCxn id="489519" idx="3"/>
            </p:cNvCxnSpPr>
            <p:nvPr/>
          </p:nvCxnSpPr>
          <p:spPr bwMode="auto">
            <a:xfrm flipV="1">
              <a:off x="6524722" y="4218458"/>
              <a:ext cx="1441332" cy="1024643"/>
            </a:xfrm>
            <a:prstGeom prst="straightConnector1">
              <a:avLst/>
            </a:prstGeom>
            <a:noFill/>
            <a:ln w="38100">
              <a:solidFill>
                <a:srgbClr val="0066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523" name="AutoShape 55">
              <a:extLst>
                <a:ext uri="{FF2B5EF4-FFF2-40B4-BE49-F238E27FC236}">
                  <a16:creationId xmlns:a16="http://schemas.microsoft.com/office/drawing/2014/main" id="{3B7CF538-3CCA-2131-A621-F1C408EA4BF2}"/>
                </a:ext>
              </a:extLst>
            </p:cNvPr>
            <p:cNvCxnSpPr>
              <a:cxnSpLocks noChangeShapeType="1"/>
              <a:stCxn id="489518" idx="6"/>
              <a:endCxn id="489520" idx="2"/>
            </p:cNvCxnSpPr>
            <p:nvPr/>
          </p:nvCxnSpPr>
          <p:spPr bwMode="auto">
            <a:xfrm>
              <a:off x="6569458" y="5351789"/>
              <a:ext cx="1351859" cy="0"/>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524" name="AutoShape 56">
              <a:extLst>
                <a:ext uri="{FF2B5EF4-FFF2-40B4-BE49-F238E27FC236}">
                  <a16:creationId xmlns:a16="http://schemas.microsoft.com/office/drawing/2014/main" id="{F4D92FA0-A956-C28A-A30D-FBD83B2E978F}"/>
                </a:ext>
              </a:extLst>
            </p:cNvPr>
            <p:cNvCxnSpPr>
              <a:cxnSpLocks noChangeShapeType="1"/>
              <a:stCxn id="489518" idx="4"/>
              <a:endCxn id="489521" idx="1"/>
            </p:cNvCxnSpPr>
            <p:nvPr/>
          </p:nvCxnSpPr>
          <p:spPr bwMode="auto">
            <a:xfrm>
              <a:off x="6416718" y="5505495"/>
              <a:ext cx="1549337" cy="949171"/>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525" name="AutoShape 57">
              <a:extLst>
                <a:ext uri="{FF2B5EF4-FFF2-40B4-BE49-F238E27FC236}">
                  <a16:creationId xmlns:a16="http://schemas.microsoft.com/office/drawing/2014/main" id="{35D568D4-4C36-0633-2B3B-C165B245C7D3}"/>
                </a:ext>
              </a:extLst>
            </p:cNvPr>
            <p:cNvCxnSpPr>
              <a:cxnSpLocks noChangeShapeType="1"/>
              <a:stCxn id="489520" idx="6"/>
              <a:endCxn id="489531" idx="2"/>
            </p:cNvCxnSpPr>
            <p:nvPr/>
          </p:nvCxnSpPr>
          <p:spPr bwMode="auto">
            <a:xfrm>
              <a:off x="8226799" y="5351789"/>
              <a:ext cx="1911378" cy="0"/>
            </a:xfrm>
            <a:prstGeom prst="straightConnector1">
              <a:avLst/>
            </a:prstGeom>
            <a:noFill/>
            <a:ln w="38100">
              <a:solidFill>
                <a:srgbClr val="0066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526" name="AutoShape 59">
              <a:extLst>
                <a:ext uri="{FF2B5EF4-FFF2-40B4-BE49-F238E27FC236}">
                  <a16:creationId xmlns:a16="http://schemas.microsoft.com/office/drawing/2014/main" id="{FB9EB58C-B149-45CE-C9EE-C23E761A1E4E}"/>
                </a:ext>
              </a:extLst>
            </p:cNvPr>
            <p:cNvCxnSpPr>
              <a:cxnSpLocks noChangeShapeType="1"/>
              <a:stCxn id="489520" idx="4"/>
              <a:endCxn id="489521" idx="0"/>
            </p:cNvCxnSpPr>
            <p:nvPr/>
          </p:nvCxnSpPr>
          <p:spPr bwMode="auto">
            <a:xfrm>
              <a:off x="8074059" y="5505495"/>
              <a:ext cx="0" cy="904434"/>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527" name="AutoShape 60">
              <a:extLst>
                <a:ext uri="{FF2B5EF4-FFF2-40B4-BE49-F238E27FC236}">
                  <a16:creationId xmlns:a16="http://schemas.microsoft.com/office/drawing/2014/main" id="{C650D2D7-B259-9F56-ECBF-C7F95FCE56F3}"/>
                </a:ext>
              </a:extLst>
            </p:cNvPr>
            <p:cNvCxnSpPr>
              <a:cxnSpLocks noChangeShapeType="1"/>
              <a:stCxn id="489519" idx="6"/>
              <a:endCxn id="489530" idx="2"/>
            </p:cNvCxnSpPr>
            <p:nvPr/>
          </p:nvCxnSpPr>
          <p:spPr bwMode="auto">
            <a:xfrm>
              <a:off x="8226799" y="4109087"/>
              <a:ext cx="1911378" cy="0"/>
            </a:xfrm>
            <a:prstGeom prst="straightConnector1">
              <a:avLst/>
            </a:prstGeom>
            <a:noFill/>
            <a:ln w="38100">
              <a:solidFill>
                <a:schemeClr val="tx1"/>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528" name="AutoShape 61">
              <a:extLst>
                <a:ext uri="{FF2B5EF4-FFF2-40B4-BE49-F238E27FC236}">
                  <a16:creationId xmlns:a16="http://schemas.microsoft.com/office/drawing/2014/main" id="{37135FFC-9CC6-AB9B-57C5-4DCAC0ADB0E1}"/>
                </a:ext>
              </a:extLst>
            </p:cNvPr>
            <p:cNvCxnSpPr>
              <a:cxnSpLocks noChangeShapeType="1"/>
              <a:stCxn id="489521" idx="6"/>
              <a:endCxn id="489532" idx="2"/>
            </p:cNvCxnSpPr>
            <p:nvPr/>
          </p:nvCxnSpPr>
          <p:spPr bwMode="auto">
            <a:xfrm>
              <a:off x="8226799" y="6562670"/>
              <a:ext cx="1911378" cy="0"/>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529" name="AutoShape 62">
              <a:extLst>
                <a:ext uri="{FF2B5EF4-FFF2-40B4-BE49-F238E27FC236}">
                  <a16:creationId xmlns:a16="http://schemas.microsoft.com/office/drawing/2014/main" id="{DD20937B-4385-E5D2-E33D-E722F7D2D565}"/>
                </a:ext>
              </a:extLst>
            </p:cNvPr>
            <p:cNvCxnSpPr>
              <a:cxnSpLocks noChangeShapeType="1"/>
              <a:stCxn id="489519" idx="4"/>
              <a:endCxn id="489520" idx="0"/>
            </p:cNvCxnSpPr>
            <p:nvPr/>
          </p:nvCxnSpPr>
          <p:spPr bwMode="auto">
            <a:xfrm>
              <a:off x="8074059" y="4263761"/>
              <a:ext cx="0" cy="934320"/>
            </a:xfrm>
            <a:prstGeom prst="straightConnector1">
              <a:avLst/>
            </a:prstGeom>
            <a:noFill/>
            <a:ln w="9525">
              <a:solidFill>
                <a:schemeClr val="accent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530" name="Oval 63">
              <a:extLst>
                <a:ext uri="{FF2B5EF4-FFF2-40B4-BE49-F238E27FC236}">
                  <a16:creationId xmlns:a16="http://schemas.microsoft.com/office/drawing/2014/main" id="{7F7D993A-B969-1DDE-7F22-84690507AC78}"/>
                </a:ext>
              </a:extLst>
            </p:cNvPr>
            <p:cNvSpPr>
              <a:spLocks noChangeAspect="1" noChangeArrowheads="1"/>
            </p:cNvSpPr>
            <p:nvPr/>
          </p:nvSpPr>
          <p:spPr bwMode="auto">
            <a:xfrm>
              <a:off x="10138176" y="3954413"/>
              <a:ext cx="305481" cy="309348"/>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d</a:t>
              </a:r>
            </a:p>
          </p:txBody>
        </p:sp>
        <p:sp>
          <p:nvSpPr>
            <p:cNvPr id="489531" name="Oval 64">
              <a:extLst>
                <a:ext uri="{FF2B5EF4-FFF2-40B4-BE49-F238E27FC236}">
                  <a16:creationId xmlns:a16="http://schemas.microsoft.com/office/drawing/2014/main" id="{832F62A0-D730-852E-8795-78FBE1546D18}"/>
                </a:ext>
              </a:extLst>
            </p:cNvPr>
            <p:cNvSpPr>
              <a:spLocks noChangeAspect="1" noChangeArrowheads="1"/>
            </p:cNvSpPr>
            <p:nvPr/>
          </p:nvSpPr>
          <p:spPr bwMode="auto">
            <a:xfrm>
              <a:off x="10138176" y="5198081"/>
              <a:ext cx="305481" cy="307414"/>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e</a:t>
              </a:r>
            </a:p>
          </p:txBody>
        </p:sp>
        <p:sp>
          <p:nvSpPr>
            <p:cNvPr id="489532" name="Oval 65">
              <a:extLst>
                <a:ext uri="{FF2B5EF4-FFF2-40B4-BE49-F238E27FC236}">
                  <a16:creationId xmlns:a16="http://schemas.microsoft.com/office/drawing/2014/main" id="{4A4BE649-9FC5-94C7-937E-544ED30B650C}"/>
                </a:ext>
              </a:extLst>
            </p:cNvPr>
            <p:cNvSpPr>
              <a:spLocks noChangeAspect="1" noChangeArrowheads="1"/>
            </p:cNvSpPr>
            <p:nvPr/>
          </p:nvSpPr>
          <p:spPr bwMode="auto">
            <a:xfrm>
              <a:off x="10138176" y="6409929"/>
              <a:ext cx="305481" cy="305481"/>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f</a:t>
              </a:r>
            </a:p>
          </p:txBody>
        </p:sp>
        <p:cxnSp>
          <p:nvCxnSpPr>
            <p:cNvPr id="489533" name="AutoShape 66">
              <a:extLst>
                <a:ext uri="{FF2B5EF4-FFF2-40B4-BE49-F238E27FC236}">
                  <a16:creationId xmlns:a16="http://schemas.microsoft.com/office/drawing/2014/main" id="{C6EE8749-F709-63C7-C293-6CEA00A1AB0C}"/>
                </a:ext>
              </a:extLst>
            </p:cNvPr>
            <p:cNvCxnSpPr>
              <a:cxnSpLocks noChangeShapeType="1"/>
              <a:stCxn id="489531" idx="4"/>
              <a:endCxn id="489532" idx="0"/>
            </p:cNvCxnSpPr>
            <p:nvPr/>
          </p:nvCxnSpPr>
          <p:spPr bwMode="auto">
            <a:xfrm>
              <a:off x="10290917" y="5505495"/>
              <a:ext cx="0" cy="904434"/>
            </a:xfrm>
            <a:prstGeom prst="straightConnector1">
              <a:avLst/>
            </a:prstGeom>
            <a:noFill/>
            <a:ln w="9525">
              <a:solidFill>
                <a:schemeClr val="accent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534" name="AutoShape 67">
              <a:extLst>
                <a:ext uri="{FF2B5EF4-FFF2-40B4-BE49-F238E27FC236}">
                  <a16:creationId xmlns:a16="http://schemas.microsoft.com/office/drawing/2014/main" id="{74B18F2A-F676-9AAA-B3EF-2D0588C79554}"/>
                </a:ext>
              </a:extLst>
            </p:cNvPr>
            <p:cNvCxnSpPr>
              <a:cxnSpLocks noChangeShapeType="1"/>
              <a:stCxn id="489530" idx="4"/>
              <a:endCxn id="489531" idx="0"/>
            </p:cNvCxnSpPr>
            <p:nvPr/>
          </p:nvCxnSpPr>
          <p:spPr bwMode="auto">
            <a:xfrm>
              <a:off x="10290917" y="4263761"/>
              <a:ext cx="0" cy="93432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535" name="AutoShape 68">
              <a:extLst>
                <a:ext uri="{FF2B5EF4-FFF2-40B4-BE49-F238E27FC236}">
                  <a16:creationId xmlns:a16="http://schemas.microsoft.com/office/drawing/2014/main" id="{4C8162FF-DF24-FECE-7B8B-CC9294FC7D5C}"/>
                </a:ext>
              </a:extLst>
            </p:cNvPr>
            <p:cNvCxnSpPr>
              <a:cxnSpLocks noChangeShapeType="1"/>
              <a:stCxn id="489519" idx="5"/>
              <a:endCxn id="489531" idx="1"/>
            </p:cNvCxnSpPr>
            <p:nvPr/>
          </p:nvCxnSpPr>
          <p:spPr bwMode="auto">
            <a:xfrm>
              <a:off x="8182062" y="4218458"/>
              <a:ext cx="2000850" cy="1024643"/>
            </a:xfrm>
            <a:prstGeom prst="straightConnector1">
              <a:avLst/>
            </a:prstGeom>
            <a:noFill/>
            <a:ln w="38100">
              <a:solidFill>
                <a:schemeClr val="tx1"/>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536" name="Oval 69">
              <a:extLst>
                <a:ext uri="{FF2B5EF4-FFF2-40B4-BE49-F238E27FC236}">
                  <a16:creationId xmlns:a16="http://schemas.microsoft.com/office/drawing/2014/main" id="{73274EDC-2770-AEEE-A077-FA44B6746FAA}"/>
                </a:ext>
              </a:extLst>
            </p:cNvPr>
            <p:cNvSpPr>
              <a:spLocks noChangeAspect="1" noChangeArrowheads="1"/>
            </p:cNvSpPr>
            <p:nvPr/>
          </p:nvSpPr>
          <p:spPr bwMode="auto">
            <a:xfrm>
              <a:off x="11766348" y="5198081"/>
              <a:ext cx="305481" cy="307414"/>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solidFill>
                    <a:srgbClr val="C00000"/>
                  </a:solidFill>
                </a:rPr>
                <a:t>t</a:t>
              </a:r>
            </a:p>
          </p:txBody>
        </p:sp>
        <p:cxnSp>
          <p:nvCxnSpPr>
            <p:cNvPr id="489537" name="AutoShape 70">
              <a:extLst>
                <a:ext uri="{FF2B5EF4-FFF2-40B4-BE49-F238E27FC236}">
                  <a16:creationId xmlns:a16="http://schemas.microsoft.com/office/drawing/2014/main" id="{A3745D45-D4CD-F7E3-B577-D3D57E16BBF4}"/>
                </a:ext>
              </a:extLst>
            </p:cNvPr>
            <p:cNvCxnSpPr>
              <a:cxnSpLocks noChangeShapeType="1"/>
              <a:stCxn id="489530" idx="6"/>
              <a:endCxn id="489536" idx="1"/>
            </p:cNvCxnSpPr>
            <p:nvPr/>
          </p:nvCxnSpPr>
          <p:spPr bwMode="auto">
            <a:xfrm>
              <a:off x="10443658" y="4109087"/>
              <a:ext cx="1367427" cy="1134014"/>
            </a:xfrm>
            <a:prstGeom prst="straightConnector1">
              <a:avLst/>
            </a:prstGeom>
            <a:noFill/>
            <a:ln w="38100">
              <a:solidFill>
                <a:schemeClr val="tx1"/>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538" name="AutoShape 71">
              <a:extLst>
                <a:ext uri="{FF2B5EF4-FFF2-40B4-BE49-F238E27FC236}">
                  <a16:creationId xmlns:a16="http://schemas.microsoft.com/office/drawing/2014/main" id="{46F1FC79-AE7B-BDE9-CFCE-D0D7FCE87E3F}"/>
                </a:ext>
              </a:extLst>
            </p:cNvPr>
            <p:cNvCxnSpPr>
              <a:cxnSpLocks noChangeShapeType="1"/>
              <a:stCxn id="489531" idx="6"/>
              <a:endCxn id="489536" idx="2"/>
            </p:cNvCxnSpPr>
            <p:nvPr/>
          </p:nvCxnSpPr>
          <p:spPr bwMode="auto">
            <a:xfrm>
              <a:off x="10443658" y="5351789"/>
              <a:ext cx="1322690" cy="0"/>
            </a:xfrm>
            <a:prstGeom prst="straightConnector1">
              <a:avLst/>
            </a:prstGeom>
            <a:noFill/>
            <a:ln w="38100">
              <a:solidFill>
                <a:schemeClr val="tx1"/>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539" name="AutoShape 72">
              <a:extLst>
                <a:ext uri="{FF2B5EF4-FFF2-40B4-BE49-F238E27FC236}">
                  <a16:creationId xmlns:a16="http://schemas.microsoft.com/office/drawing/2014/main" id="{CF1A416E-E481-CB74-36F9-BDCE2EAFBD87}"/>
                </a:ext>
              </a:extLst>
            </p:cNvPr>
            <p:cNvCxnSpPr>
              <a:cxnSpLocks noChangeShapeType="1"/>
              <a:stCxn id="489532" idx="7"/>
              <a:endCxn id="489536" idx="4"/>
            </p:cNvCxnSpPr>
            <p:nvPr/>
          </p:nvCxnSpPr>
          <p:spPr bwMode="auto">
            <a:xfrm flipV="1">
              <a:off x="10398921" y="5505495"/>
              <a:ext cx="1520168" cy="949170"/>
            </a:xfrm>
            <a:prstGeom prst="straightConnector1">
              <a:avLst/>
            </a:prstGeom>
            <a:noFill/>
            <a:ln w="38100">
              <a:solidFill>
                <a:srgbClr val="0066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540" name="Text Box 73">
              <a:extLst>
                <a:ext uri="{FF2B5EF4-FFF2-40B4-BE49-F238E27FC236}">
                  <a16:creationId xmlns:a16="http://schemas.microsoft.com/office/drawing/2014/main" id="{26654B58-6197-11C4-7A60-242AD644094E}"/>
                </a:ext>
              </a:extLst>
            </p:cNvPr>
            <p:cNvSpPr txBox="1">
              <a:spLocks noChangeArrowheads="1"/>
            </p:cNvSpPr>
            <p:nvPr/>
          </p:nvSpPr>
          <p:spPr bwMode="auto">
            <a:xfrm>
              <a:off x="6919589" y="5880823"/>
              <a:ext cx="785720" cy="276999"/>
            </a:xfrm>
            <a:prstGeom prst="rect">
              <a:avLst/>
            </a:prstGeom>
            <a:solidFill>
              <a:schemeClr val="accent1">
                <a:lumMod val="20000"/>
                <a:lumOff val="8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dirty="0">
                  <a:latin typeface="Arial" panose="020B0604020202020204" pitchFamily="34" charset="0"/>
                  <a:cs typeface="Arial" panose="020B0604020202020204" pitchFamily="34" charset="0"/>
                </a:rPr>
                <a:t> </a:t>
              </a:r>
              <a:r>
                <a:rPr lang="en-US" altLang="en-US" b="1" dirty="0">
                  <a:latin typeface="Arial" panose="020B0604020202020204" pitchFamily="34" charset="0"/>
                  <a:cs typeface="Arial" panose="020B0604020202020204" pitchFamily="34" charset="0"/>
                </a:rPr>
                <a:t>1</a:t>
              </a:r>
              <a:endParaRPr lang="en-US" altLang="en-US" dirty="0">
                <a:latin typeface="Arial" panose="020B0604020202020204" pitchFamily="34" charset="0"/>
                <a:cs typeface="Arial" panose="020B0604020202020204" pitchFamily="34" charset="0"/>
              </a:endParaRPr>
            </a:p>
          </p:txBody>
        </p:sp>
        <p:sp>
          <p:nvSpPr>
            <p:cNvPr id="489541" name="Text Box 74">
              <a:extLst>
                <a:ext uri="{FF2B5EF4-FFF2-40B4-BE49-F238E27FC236}">
                  <a16:creationId xmlns:a16="http://schemas.microsoft.com/office/drawing/2014/main" id="{10D35DB4-57C5-37E9-96FE-5A5CDFD9B356}"/>
                </a:ext>
              </a:extLst>
            </p:cNvPr>
            <p:cNvSpPr txBox="1">
              <a:spLocks noChangeArrowheads="1"/>
            </p:cNvSpPr>
            <p:nvPr/>
          </p:nvSpPr>
          <p:spPr bwMode="auto">
            <a:xfrm>
              <a:off x="6998369" y="5168406"/>
              <a:ext cx="398956" cy="276999"/>
            </a:xfrm>
            <a:prstGeom prst="rect">
              <a:avLst/>
            </a:prstGeom>
            <a:solidFill>
              <a:schemeClr val="accent1">
                <a:lumMod val="20000"/>
                <a:lumOff val="80000"/>
              </a:schemeClr>
            </a:solidFill>
            <a:ln w="9525">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400" dirty="0">
                  <a:latin typeface="Arial" panose="020B0604020202020204" pitchFamily="34" charset="0"/>
                  <a:cs typeface="Arial" panose="020B0604020202020204" pitchFamily="34" charset="0"/>
                </a:rPr>
                <a:t> </a:t>
              </a:r>
              <a:r>
                <a:rPr lang="en-US" altLang="en-US" b="1" dirty="0">
                  <a:latin typeface="Arial" panose="020B0604020202020204" pitchFamily="34" charset="0"/>
                  <a:cs typeface="Arial" panose="020B0604020202020204" pitchFamily="34" charset="0"/>
                </a:rPr>
                <a:t>1</a:t>
              </a:r>
              <a:endParaRPr lang="en-US" altLang="en-US" sz="1400" dirty="0">
                <a:latin typeface="Arial" panose="020B0604020202020204" pitchFamily="34" charset="0"/>
                <a:cs typeface="Arial" panose="020B0604020202020204" pitchFamily="34" charset="0"/>
              </a:endParaRPr>
            </a:p>
          </p:txBody>
        </p:sp>
        <p:sp>
          <p:nvSpPr>
            <p:cNvPr id="489542" name="Text Box 75">
              <a:extLst>
                <a:ext uri="{FF2B5EF4-FFF2-40B4-BE49-F238E27FC236}">
                  <a16:creationId xmlns:a16="http://schemas.microsoft.com/office/drawing/2014/main" id="{A6840A7F-CAF9-AC40-D2AE-A6AE5C5D53C5}"/>
                </a:ext>
              </a:extLst>
            </p:cNvPr>
            <p:cNvSpPr txBox="1">
              <a:spLocks noChangeArrowheads="1"/>
            </p:cNvSpPr>
            <p:nvPr/>
          </p:nvSpPr>
          <p:spPr bwMode="auto">
            <a:xfrm>
              <a:off x="8847362" y="6520766"/>
              <a:ext cx="632607" cy="276999"/>
            </a:xfrm>
            <a:prstGeom prst="rect">
              <a:avLst/>
            </a:prstGeom>
            <a:solidFill>
              <a:schemeClr val="accent1">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16</a:t>
              </a:r>
              <a:endParaRPr lang="en-US" altLang="en-US" dirty="0">
                <a:latin typeface="Arial" panose="020B0604020202020204" pitchFamily="34" charset="0"/>
                <a:cs typeface="Arial" panose="020B0604020202020204" pitchFamily="34" charset="0"/>
              </a:endParaRPr>
            </a:p>
          </p:txBody>
        </p:sp>
        <p:sp>
          <p:nvSpPr>
            <p:cNvPr id="489543" name="Text Box 76">
              <a:extLst>
                <a:ext uri="{FF2B5EF4-FFF2-40B4-BE49-F238E27FC236}">
                  <a16:creationId xmlns:a16="http://schemas.microsoft.com/office/drawing/2014/main" id="{6AC115F4-E127-0A2A-27E7-027262F620E0}"/>
                </a:ext>
              </a:extLst>
            </p:cNvPr>
            <p:cNvSpPr txBox="1">
              <a:spLocks noChangeArrowheads="1"/>
            </p:cNvSpPr>
            <p:nvPr/>
          </p:nvSpPr>
          <p:spPr bwMode="auto">
            <a:xfrm>
              <a:off x="10084005" y="5767889"/>
              <a:ext cx="52871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dirty="0">
                  <a:solidFill>
                    <a:srgbClr val="0070C0"/>
                  </a:solidFill>
                  <a:latin typeface="Arial" panose="020B0604020202020204" pitchFamily="34" charset="0"/>
                  <a:cs typeface="Arial" panose="020B0604020202020204" pitchFamily="34" charset="0"/>
                </a:rPr>
                <a:t> 15</a:t>
              </a:r>
            </a:p>
          </p:txBody>
        </p:sp>
        <p:sp>
          <p:nvSpPr>
            <p:cNvPr id="489544" name="Text Box 77">
              <a:extLst>
                <a:ext uri="{FF2B5EF4-FFF2-40B4-BE49-F238E27FC236}">
                  <a16:creationId xmlns:a16="http://schemas.microsoft.com/office/drawing/2014/main" id="{38A61317-4DFD-6CBD-7F5C-FF0E75D88531}"/>
                </a:ext>
              </a:extLst>
            </p:cNvPr>
            <p:cNvSpPr txBox="1">
              <a:spLocks noChangeArrowheads="1"/>
            </p:cNvSpPr>
            <p:nvPr/>
          </p:nvSpPr>
          <p:spPr bwMode="auto">
            <a:xfrm>
              <a:off x="7060685" y="4545752"/>
              <a:ext cx="60342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solidFill>
                    <a:srgbClr val="0066CC"/>
                  </a:solidFill>
                  <a:latin typeface="Arial" panose="020B0604020202020204" pitchFamily="34" charset="0"/>
                  <a:cs typeface="Arial" panose="020B0604020202020204" pitchFamily="34" charset="0"/>
                </a:rPr>
                <a:t>10</a:t>
              </a:r>
              <a:endParaRPr lang="en-US" altLang="en-US" dirty="0">
                <a:latin typeface="Arial" panose="020B0604020202020204" pitchFamily="34" charset="0"/>
                <a:cs typeface="Arial" panose="020B0604020202020204" pitchFamily="34" charset="0"/>
              </a:endParaRPr>
            </a:p>
          </p:txBody>
        </p:sp>
        <p:sp>
          <p:nvSpPr>
            <p:cNvPr id="489545" name="Text Box 78">
              <a:extLst>
                <a:ext uri="{FF2B5EF4-FFF2-40B4-BE49-F238E27FC236}">
                  <a16:creationId xmlns:a16="http://schemas.microsoft.com/office/drawing/2014/main" id="{73B70698-2AB8-C537-36FA-81DBFD4227E7}"/>
                </a:ext>
              </a:extLst>
            </p:cNvPr>
            <p:cNvSpPr txBox="1">
              <a:spLocks noChangeArrowheads="1"/>
            </p:cNvSpPr>
            <p:nvPr/>
          </p:nvSpPr>
          <p:spPr bwMode="auto">
            <a:xfrm>
              <a:off x="8983811" y="5212667"/>
              <a:ext cx="412939"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solidFill>
                    <a:srgbClr val="C00000"/>
                  </a:solidFill>
                  <a:latin typeface="Arial" panose="020B0604020202020204" pitchFamily="34" charset="0"/>
                  <a:cs typeface="Arial" panose="020B0604020202020204" pitchFamily="34" charset="0"/>
                </a:rPr>
                <a:t> </a:t>
              </a:r>
              <a:r>
                <a:rPr lang="en-US" altLang="en-US" b="1" dirty="0">
                  <a:solidFill>
                    <a:srgbClr val="0066CC"/>
                  </a:solidFill>
                  <a:latin typeface="Arial" panose="020B0604020202020204" pitchFamily="34" charset="0"/>
                  <a:cs typeface="Arial" panose="020B0604020202020204" pitchFamily="34" charset="0"/>
                </a:rPr>
                <a:t>8</a:t>
              </a:r>
              <a:endParaRPr lang="en-US" altLang="en-US" dirty="0">
                <a:latin typeface="Arial" panose="020B0604020202020204" pitchFamily="34" charset="0"/>
                <a:cs typeface="Arial" panose="020B0604020202020204" pitchFamily="34" charset="0"/>
              </a:endParaRPr>
            </a:p>
          </p:txBody>
        </p:sp>
        <p:sp>
          <p:nvSpPr>
            <p:cNvPr id="489546" name="Text Box 79">
              <a:extLst>
                <a:ext uri="{FF2B5EF4-FFF2-40B4-BE49-F238E27FC236}">
                  <a16:creationId xmlns:a16="http://schemas.microsoft.com/office/drawing/2014/main" id="{B14631D7-DBB5-D25E-9AA9-7555047FAECD}"/>
                </a:ext>
              </a:extLst>
            </p:cNvPr>
            <p:cNvSpPr txBox="1">
              <a:spLocks noChangeArrowheads="1"/>
            </p:cNvSpPr>
            <p:nvPr/>
          </p:nvSpPr>
          <p:spPr bwMode="auto">
            <a:xfrm>
              <a:off x="8930581" y="4569539"/>
              <a:ext cx="54938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1</a:t>
              </a:r>
              <a:endParaRPr lang="en-US" altLang="en-US" dirty="0">
                <a:latin typeface="Arial" panose="020B0604020202020204" pitchFamily="34" charset="0"/>
                <a:cs typeface="Arial" panose="020B0604020202020204" pitchFamily="34" charset="0"/>
              </a:endParaRPr>
            </a:p>
          </p:txBody>
        </p:sp>
        <p:sp>
          <p:nvSpPr>
            <p:cNvPr id="489547" name="Text Box 80">
              <a:extLst>
                <a:ext uri="{FF2B5EF4-FFF2-40B4-BE49-F238E27FC236}">
                  <a16:creationId xmlns:a16="http://schemas.microsoft.com/office/drawing/2014/main" id="{0A850A4E-6692-1099-DF8D-FCF7FDF5FE07}"/>
                </a:ext>
              </a:extLst>
            </p:cNvPr>
            <p:cNvSpPr txBox="1">
              <a:spLocks noChangeArrowheads="1"/>
            </p:cNvSpPr>
            <p:nvPr/>
          </p:nvSpPr>
          <p:spPr bwMode="auto">
            <a:xfrm>
              <a:off x="8946880" y="3968997"/>
              <a:ext cx="355334"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9</a:t>
              </a:r>
              <a:endParaRPr lang="en-US" altLang="en-US" dirty="0">
                <a:latin typeface="Arial" panose="020B0604020202020204" pitchFamily="34" charset="0"/>
                <a:cs typeface="Arial" panose="020B0604020202020204" pitchFamily="34" charset="0"/>
              </a:endParaRPr>
            </a:p>
          </p:txBody>
        </p:sp>
        <p:sp>
          <p:nvSpPr>
            <p:cNvPr id="489548" name="Text Box 81">
              <a:extLst>
                <a:ext uri="{FF2B5EF4-FFF2-40B4-BE49-F238E27FC236}">
                  <a16:creationId xmlns:a16="http://schemas.microsoft.com/office/drawing/2014/main" id="{891789EE-4353-947E-85F9-79F9B7B8D2CE}"/>
                </a:ext>
              </a:extLst>
            </p:cNvPr>
            <p:cNvSpPr txBox="1">
              <a:spLocks noChangeArrowheads="1"/>
            </p:cNvSpPr>
            <p:nvPr/>
          </p:nvSpPr>
          <p:spPr bwMode="auto">
            <a:xfrm>
              <a:off x="8946880" y="5820013"/>
              <a:ext cx="355334" cy="276999"/>
            </a:xfrm>
            <a:prstGeom prst="rect">
              <a:avLst/>
            </a:prstGeom>
            <a:solidFill>
              <a:schemeClr val="accent1">
                <a:lumMod val="20000"/>
                <a:lumOff val="8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2</a:t>
              </a:r>
              <a:endParaRPr lang="en-US" altLang="en-US" dirty="0">
                <a:latin typeface="Arial" panose="020B0604020202020204" pitchFamily="34" charset="0"/>
                <a:cs typeface="Arial" panose="020B0604020202020204" pitchFamily="34" charset="0"/>
              </a:endParaRPr>
            </a:p>
          </p:txBody>
        </p:sp>
        <p:sp>
          <p:nvSpPr>
            <p:cNvPr id="489549" name="Text Box 82">
              <a:extLst>
                <a:ext uri="{FF2B5EF4-FFF2-40B4-BE49-F238E27FC236}">
                  <a16:creationId xmlns:a16="http://schemas.microsoft.com/office/drawing/2014/main" id="{32F444E6-D623-9739-1499-4AD0F4646289}"/>
                </a:ext>
              </a:extLst>
            </p:cNvPr>
            <p:cNvSpPr txBox="1">
              <a:spLocks noChangeArrowheads="1"/>
            </p:cNvSpPr>
            <p:nvPr/>
          </p:nvSpPr>
          <p:spPr bwMode="auto">
            <a:xfrm>
              <a:off x="10844399" y="5922959"/>
              <a:ext cx="629212"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solidFill>
                    <a:srgbClr val="0066CC"/>
                  </a:solidFill>
                  <a:latin typeface="Arial" panose="020B0604020202020204" pitchFamily="34" charset="0"/>
                  <a:cs typeface="Arial" panose="020B0604020202020204" pitchFamily="34" charset="0"/>
                </a:rPr>
                <a:t>10</a:t>
              </a:r>
              <a:endParaRPr lang="en-US" altLang="en-US" dirty="0">
                <a:latin typeface="Arial" panose="020B0604020202020204" pitchFamily="34" charset="0"/>
                <a:cs typeface="Arial" panose="020B0604020202020204" pitchFamily="34" charset="0"/>
              </a:endParaRPr>
            </a:p>
          </p:txBody>
        </p:sp>
        <p:sp>
          <p:nvSpPr>
            <p:cNvPr id="489550" name="Text Box 83">
              <a:extLst>
                <a:ext uri="{FF2B5EF4-FFF2-40B4-BE49-F238E27FC236}">
                  <a16:creationId xmlns:a16="http://schemas.microsoft.com/office/drawing/2014/main" id="{F2E644E8-6BF5-6C86-FB47-244E081353E2}"/>
                </a:ext>
              </a:extLst>
            </p:cNvPr>
            <p:cNvSpPr txBox="1">
              <a:spLocks noChangeArrowheads="1"/>
            </p:cNvSpPr>
            <p:nvPr/>
          </p:nvSpPr>
          <p:spPr bwMode="auto">
            <a:xfrm>
              <a:off x="10936292" y="5212667"/>
              <a:ext cx="407577"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 9</a:t>
              </a:r>
              <a:endParaRPr lang="en-US" altLang="en-US" sz="1400" dirty="0">
                <a:latin typeface="Arial" panose="020B0604020202020204" pitchFamily="34" charset="0"/>
                <a:cs typeface="Arial" panose="020B0604020202020204" pitchFamily="34" charset="0"/>
              </a:endParaRPr>
            </a:p>
          </p:txBody>
        </p:sp>
        <p:sp>
          <p:nvSpPr>
            <p:cNvPr id="489551" name="Text Box 84">
              <a:extLst>
                <a:ext uri="{FF2B5EF4-FFF2-40B4-BE49-F238E27FC236}">
                  <a16:creationId xmlns:a16="http://schemas.microsoft.com/office/drawing/2014/main" id="{2FD9E984-527B-D697-1337-C662A812894F}"/>
                </a:ext>
              </a:extLst>
            </p:cNvPr>
            <p:cNvSpPr txBox="1">
              <a:spLocks noChangeArrowheads="1"/>
            </p:cNvSpPr>
            <p:nvPr/>
          </p:nvSpPr>
          <p:spPr bwMode="auto">
            <a:xfrm>
              <a:off x="10835300" y="4537594"/>
              <a:ext cx="606919"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9</a:t>
              </a:r>
              <a:endParaRPr lang="en-US" altLang="en-US" dirty="0">
                <a:latin typeface="Arial" panose="020B0604020202020204" pitchFamily="34" charset="0"/>
                <a:cs typeface="Arial" panose="020B0604020202020204" pitchFamily="34" charset="0"/>
              </a:endParaRPr>
            </a:p>
          </p:txBody>
        </p:sp>
        <p:sp>
          <p:nvSpPr>
            <p:cNvPr id="489552" name="Text Box 85">
              <a:extLst>
                <a:ext uri="{FF2B5EF4-FFF2-40B4-BE49-F238E27FC236}">
                  <a16:creationId xmlns:a16="http://schemas.microsoft.com/office/drawing/2014/main" id="{DD1FCE18-2001-7B3D-A773-462F95B1BF29}"/>
                </a:ext>
              </a:extLst>
            </p:cNvPr>
            <p:cNvSpPr txBox="1">
              <a:spLocks noChangeArrowheads="1"/>
            </p:cNvSpPr>
            <p:nvPr/>
          </p:nvSpPr>
          <p:spPr bwMode="auto">
            <a:xfrm>
              <a:off x="10132357" y="4545752"/>
              <a:ext cx="47967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dirty="0">
                  <a:latin typeface="Arial" panose="020B0604020202020204" pitchFamily="34" charset="0"/>
                  <a:cs typeface="Arial" panose="020B0604020202020204" pitchFamily="34" charset="0"/>
                </a:rPr>
                <a:t>15</a:t>
              </a:r>
            </a:p>
          </p:txBody>
        </p:sp>
        <p:sp>
          <p:nvSpPr>
            <p:cNvPr id="489553" name="Text Box 86">
              <a:extLst>
                <a:ext uri="{FF2B5EF4-FFF2-40B4-BE49-F238E27FC236}">
                  <a16:creationId xmlns:a16="http://schemas.microsoft.com/office/drawing/2014/main" id="{7D9D5FB8-8A7A-4838-BB34-3055A47D571E}"/>
                </a:ext>
              </a:extLst>
            </p:cNvPr>
            <p:cNvSpPr txBox="1">
              <a:spLocks noChangeArrowheads="1"/>
            </p:cNvSpPr>
            <p:nvPr/>
          </p:nvSpPr>
          <p:spPr bwMode="auto">
            <a:xfrm>
              <a:off x="7918968" y="4597123"/>
              <a:ext cx="355334"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solidFill>
                    <a:srgbClr val="0070C0"/>
                  </a:solidFill>
                  <a:latin typeface="Arial" panose="020B0604020202020204" pitchFamily="34" charset="0"/>
                  <a:cs typeface="Arial" panose="020B0604020202020204" pitchFamily="34" charset="0"/>
                </a:rPr>
                <a:t>4</a:t>
              </a:r>
            </a:p>
          </p:txBody>
        </p:sp>
        <p:sp>
          <p:nvSpPr>
            <p:cNvPr id="489554" name="Text Box 87">
              <a:extLst>
                <a:ext uri="{FF2B5EF4-FFF2-40B4-BE49-F238E27FC236}">
                  <a16:creationId xmlns:a16="http://schemas.microsoft.com/office/drawing/2014/main" id="{B21305B8-CB6C-1668-EA37-94884D40B5AC}"/>
                </a:ext>
              </a:extLst>
            </p:cNvPr>
            <p:cNvSpPr txBox="1">
              <a:spLocks noChangeArrowheads="1"/>
            </p:cNvSpPr>
            <p:nvPr/>
          </p:nvSpPr>
          <p:spPr bwMode="auto">
            <a:xfrm>
              <a:off x="7912300" y="5792717"/>
              <a:ext cx="355334" cy="270858"/>
            </a:xfrm>
            <a:prstGeom prst="rect">
              <a:avLst/>
            </a:prstGeom>
            <a:solidFill>
              <a:schemeClr val="accent1">
                <a:lumMod val="20000"/>
                <a:lumOff val="8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4</a:t>
              </a:r>
            </a:p>
          </p:txBody>
        </p:sp>
        <p:cxnSp>
          <p:nvCxnSpPr>
            <p:cNvPr id="489555" name="AutoShape 64">
              <a:extLst>
                <a:ext uri="{FF2B5EF4-FFF2-40B4-BE49-F238E27FC236}">
                  <a16:creationId xmlns:a16="http://schemas.microsoft.com/office/drawing/2014/main" id="{F7C814E3-041E-D609-EA61-B369B63854E6}"/>
                </a:ext>
              </a:extLst>
            </p:cNvPr>
            <p:cNvCxnSpPr>
              <a:cxnSpLocks noChangeShapeType="1"/>
              <a:stCxn id="489520" idx="3"/>
              <a:endCxn id="489518" idx="5"/>
            </p:cNvCxnSpPr>
            <p:nvPr/>
          </p:nvCxnSpPr>
          <p:spPr bwMode="auto">
            <a:xfrm rot="5400000">
              <a:off x="7245388" y="4739808"/>
              <a:ext cx="12700" cy="1441334"/>
            </a:xfrm>
            <a:prstGeom prst="curvedConnector3">
              <a:avLst>
                <a:gd name="adj1" fmla="val 1427213"/>
              </a:avLst>
            </a:prstGeom>
            <a:noFill/>
            <a:ln w="158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560" name="Text Box 74">
              <a:extLst>
                <a:ext uri="{FF2B5EF4-FFF2-40B4-BE49-F238E27FC236}">
                  <a16:creationId xmlns:a16="http://schemas.microsoft.com/office/drawing/2014/main" id="{05039C3D-AC3D-BA41-EA9D-4412C29E1498}"/>
                </a:ext>
              </a:extLst>
            </p:cNvPr>
            <p:cNvSpPr txBox="1">
              <a:spLocks noChangeArrowheads="1"/>
            </p:cNvSpPr>
            <p:nvPr/>
          </p:nvSpPr>
          <p:spPr bwMode="auto">
            <a:xfrm>
              <a:off x="7326973" y="5442056"/>
              <a:ext cx="398956" cy="276999"/>
            </a:xfrm>
            <a:prstGeom prst="rect">
              <a:avLst/>
            </a:prstGeom>
            <a:solidFill>
              <a:schemeClr val="accent1">
                <a:lumMod val="20000"/>
                <a:lumOff val="80000"/>
              </a:schemeClr>
            </a:solidFill>
            <a:ln w="9525">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400" dirty="0">
                  <a:latin typeface="Arial" panose="020B0604020202020204" pitchFamily="34" charset="0"/>
                  <a:cs typeface="Arial" panose="020B0604020202020204" pitchFamily="34" charset="0"/>
                </a:rPr>
                <a:t> </a:t>
              </a:r>
              <a:r>
                <a:rPr lang="en-US" altLang="en-US" b="1" dirty="0">
                  <a:latin typeface="Arial" panose="020B0604020202020204" pitchFamily="34" charset="0"/>
                  <a:cs typeface="Arial" panose="020B0604020202020204" pitchFamily="34" charset="0"/>
                </a:rPr>
                <a:t>4</a:t>
              </a:r>
              <a:endParaRPr lang="en-US" altLang="en-US" sz="1400" dirty="0">
                <a:latin typeface="Arial" panose="020B0604020202020204" pitchFamily="34" charset="0"/>
                <a:cs typeface="Arial" panose="020B0604020202020204" pitchFamily="34" charset="0"/>
              </a:endParaRPr>
            </a:p>
          </p:txBody>
        </p:sp>
        <p:cxnSp>
          <p:nvCxnSpPr>
            <p:cNvPr id="489561" name="AutoShape 64">
              <a:extLst>
                <a:ext uri="{FF2B5EF4-FFF2-40B4-BE49-F238E27FC236}">
                  <a16:creationId xmlns:a16="http://schemas.microsoft.com/office/drawing/2014/main" id="{74590868-E8D0-D1FA-5360-AB51436E9572}"/>
                </a:ext>
              </a:extLst>
            </p:cNvPr>
            <p:cNvCxnSpPr>
              <a:cxnSpLocks noChangeShapeType="1"/>
              <a:stCxn id="489521" idx="2"/>
              <a:endCxn id="489518" idx="4"/>
            </p:cNvCxnSpPr>
            <p:nvPr/>
          </p:nvCxnSpPr>
          <p:spPr bwMode="auto">
            <a:xfrm rot="10800000">
              <a:off x="6416718" y="5505496"/>
              <a:ext cx="1504600" cy="1057175"/>
            </a:xfrm>
            <a:prstGeom prst="curvedConnector2">
              <a:avLst/>
            </a:prstGeom>
            <a:noFill/>
            <a:ln w="158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565" name="Text Box 74">
              <a:extLst>
                <a:ext uri="{FF2B5EF4-FFF2-40B4-BE49-F238E27FC236}">
                  <a16:creationId xmlns:a16="http://schemas.microsoft.com/office/drawing/2014/main" id="{D46DC8D7-C928-92BD-D8A9-30103E9AEBA1}"/>
                </a:ext>
              </a:extLst>
            </p:cNvPr>
            <p:cNvSpPr txBox="1">
              <a:spLocks noChangeArrowheads="1"/>
            </p:cNvSpPr>
            <p:nvPr/>
          </p:nvSpPr>
          <p:spPr bwMode="auto">
            <a:xfrm>
              <a:off x="6787586" y="6102980"/>
              <a:ext cx="398956" cy="276999"/>
            </a:xfrm>
            <a:prstGeom prst="rect">
              <a:avLst/>
            </a:prstGeom>
            <a:solidFill>
              <a:schemeClr val="accent1">
                <a:lumMod val="20000"/>
                <a:lumOff val="80000"/>
              </a:schemeClr>
            </a:solidFill>
            <a:ln w="9525">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400" dirty="0">
                  <a:latin typeface="Arial" panose="020B0604020202020204" pitchFamily="34" charset="0"/>
                  <a:cs typeface="Arial" panose="020B0604020202020204" pitchFamily="34" charset="0"/>
                </a:rPr>
                <a:t> </a:t>
              </a:r>
              <a:r>
                <a:rPr lang="en-US" altLang="en-US" b="1" dirty="0">
                  <a:latin typeface="Arial" panose="020B0604020202020204" pitchFamily="34" charset="0"/>
                  <a:cs typeface="Arial" panose="020B0604020202020204" pitchFamily="34" charset="0"/>
                </a:rPr>
                <a:t>14</a:t>
              </a:r>
              <a:endParaRPr lang="en-US" altLang="en-US" sz="1400" dirty="0">
                <a:latin typeface="Arial" panose="020B0604020202020204" pitchFamily="34" charset="0"/>
                <a:cs typeface="Arial" panose="020B0604020202020204" pitchFamily="34" charset="0"/>
              </a:endParaRPr>
            </a:p>
          </p:txBody>
        </p:sp>
        <p:cxnSp>
          <p:nvCxnSpPr>
            <p:cNvPr id="489566" name="AutoShape 64">
              <a:extLst>
                <a:ext uri="{FF2B5EF4-FFF2-40B4-BE49-F238E27FC236}">
                  <a16:creationId xmlns:a16="http://schemas.microsoft.com/office/drawing/2014/main" id="{96BD1D24-B7E8-2C63-C005-F49AB298681E}"/>
                </a:ext>
              </a:extLst>
            </p:cNvPr>
            <p:cNvCxnSpPr>
              <a:cxnSpLocks noChangeShapeType="1"/>
              <a:stCxn id="489532" idx="1"/>
              <a:endCxn id="489521" idx="7"/>
            </p:cNvCxnSpPr>
            <p:nvPr/>
          </p:nvCxnSpPr>
          <p:spPr bwMode="auto">
            <a:xfrm rot="16200000" flipV="1">
              <a:off x="9182488" y="5454240"/>
              <a:ext cx="12700" cy="2000851"/>
            </a:xfrm>
            <a:prstGeom prst="curvedConnector3">
              <a:avLst>
                <a:gd name="adj1" fmla="val 479535"/>
              </a:avLst>
            </a:prstGeom>
            <a:noFill/>
            <a:ln w="158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571" name="Text Box 75">
              <a:extLst>
                <a:ext uri="{FF2B5EF4-FFF2-40B4-BE49-F238E27FC236}">
                  <a16:creationId xmlns:a16="http://schemas.microsoft.com/office/drawing/2014/main" id="{DA08B0BF-7BC9-8500-E61A-A45B49E5A78F}"/>
                </a:ext>
              </a:extLst>
            </p:cNvPr>
            <p:cNvSpPr txBox="1">
              <a:spLocks noChangeArrowheads="1"/>
            </p:cNvSpPr>
            <p:nvPr/>
          </p:nvSpPr>
          <p:spPr bwMode="auto">
            <a:xfrm>
              <a:off x="8837352" y="6184017"/>
              <a:ext cx="632607" cy="276999"/>
            </a:xfrm>
            <a:prstGeom prst="rect">
              <a:avLst/>
            </a:prstGeom>
            <a:solidFill>
              <a:schemeClr val="accent1">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14</a:t>
              </a:r>
              <a:endParaRPr lang="en-US" altLang="en-US" dirty="0">
                <a:latin typeface="Arial" panose="020B0604020202020204" pitchFamily="34" charset="0"/>
                <a:cs typeface="Arial" panose="020B0604020202020204" pitchFamily="34" charset="0"/>
              </a:endParaRPr>
            </a:p>
          </p:txBody>
        </p:sp>
        <p:cxnSp>
          <p:nvCxnSpPr>
            <p:cNvPr id="489572" name="AutoShape 64">
              <a:extLst>
                <a:ext uri="{FF2B5EF4-FFF2-40B4-BE49-F238E27FC236}">
                  <a16:creationId xmlns:a16="http://schemas.microsoft.com/office/drawing/2014/main" id="{11352BB6-1458-EAC8-3AC2-06990957B015}"/>
                </a:ext>
              </a:extLst>
            </p:cNvPr>
            <p:cNvCxnSpPr>
              <a:cxnSpLocks noChangeShapeType="1"/>
              <a:stCxn id="489532" idx="0"/>
              <a:endCxn id="489520" idx="6"/>
            </p:cNvCxnSpPr>
            <p:nvPr/>
          </p:nvCxnSpPr>
          <p:spPr bwMode="auto">
            <a:xfrm rot="16200000" flipV="1">
              <a:off x="8729788" y="4848800"/>
              <a:ext cx="1058141" cy="2064118"/>
            </a:xfrm>
            <a:prstGeom prst="curvedConnector2">
              <a:avLst/>
            </a:prstGeom>
            <a:noFill/>
            <a:ln w="158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584" name="Text Box 81">
              <a:extLst>
                <a:ext uri="{FF2B5EF4-FFF2-40B4-BE49-F238E27FC236}">
                  <a16:creationId xmlns:a16="http://schemas.microsoft.com/office/drawing/2014/main" id="{7D364A05-AD20-3802-37C2-0DDAAAB48437}"/>
                </a:ext>
              </a:extLst>
            </p:cNvPr>
            <p:cNvSpPr txBox="1">
              <a:spLocks noChangeArrowheads="1"/>
            </p:cNvSpPr>
            <p:nvPr/>
          </p:nvSpPr>
          <p:spPr bwMode="auto">
            <a:xfrm>
              <a:off x="9421919" y="5580555"/>
              <a:ext cx="355334" cy="276999"/>
            </a:xfrm>
            <a:prstGeom prst="rect">
              <a:avLst/>
            </a:prstGeom>
            <a:solidFill>
              <a:schemeClr val="accent1">
                <a:lumMod val="20000"/>
                <a:lumOff val="8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4</a:t>
              </a:r>
              <a:endParaRPr lang="en-US" altLang="en-US" dirty="0">
                <a:latin typeface="Arial" panose="020B0604020202020204" pitchFamily="34" charset="0"/>
                <a:cs typeface="Arial" panose="020B0604020202020204" pitchFamily="34" charset="0"/>
              </a:endParaRPr>
            </a:p>
          </p:txBody>
        </p:sp>
        <p:cxnSp>
          <p:nvCxnSpPr>
            <p:cNvPr id="489585" name="AutoShape 64">
              <a:extLst>
                <a:ext uri="{FF2B5EF4-FFF2-40B4-BE49-F238E27FC236}">
                  <a16:creationId xmlns:a16="http://schemas.microsoft.com/office/drawing/2014/main" id="{9DB88348-882D-93B9-112D-8FE831A41EB4}"/>
                </a:ext>
              </a:extLst>
            </p:cNvPr>
            <p:cNvCxnSpPr>
              <a:cxnSpLocks noChangeShapeType="1"/>
              <a:stCxn id="489531" idx="0"/>
              <a:endCxn id="489519" idx="6"/>
            </p:cNvCxnSpPr>
            <p:nvPr/>
          </p:nvCxnSpPr>
          <p:spPr bwMode="auto">
            <a:xfrm rot="16200000" flipV="1">
              <a:off x="8714361" y="3621525"/>
              <a:ext cx="1088994" cy="2064118"/>
            </a:xfrm>
            <a:prstGeom prst="curvedConnector2">
              <a:avLst/>
            </a:prstGeom>
            <a:noFill/>
            <a:ln w="158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590" name="Text Box 79">
              <a:extLst>
                <a:ext uri="{FF2B5EF4-FFF2-40B4-BE49-F238E27FC236}">
                  <a16:creationId xmlns:a16="http://schemas.microsoft.com/office/drawing/2014/main" id="{69DAFE4B-CB25-0D67-8921-DF5C6DFC9E90}"/>
                </a:ext>
              </a:extLst>
            </p:cNvPr>
            <p:cNvSpPr txBox="1">
              <a:spLocks noChangeArrowheads="1"/>
            </p:cNvSpPr>
            <p:nvPr/>
          </p:nvSpPr>
          <p:spPr bwMode="auto">
            <a:xfrm>
              <a:off x="9363310" y="4326058"/>
              <a:ext cx="54938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14</a:t>
              </a:r>
              <a:endParaRPr lang="en-US" altLang="en-US" dirty="0">
                <a:latin typeface="Arial" panose="020B0604020202020204" pitchFamily="34" charset="0"/>
                <a:cs typeface="Arial" panose="020B0604020202020204" pitchFamily="34" charset="0"/>
              </a:endParaRPr>
            </a:p>
          </p:txBody>
        </p:sp>
        <p:cxnSp>
          <p:nvCxnSpPr>
            <p:cNvPr id="489591" name="AutoShape 64">
              <a:extLst>
                <a:ext uri="{FF2B5EF4-FFF2-40B4-BE49-F238E27FC236}">
                  <a16:creationId xmlns:a16="http://schemas.microsoft.com/office/drawing/2014/main" id="{60D64D9C-6473-4563-0D2E-8220AA9B1288}"/>
                </a:ext>
              </a:extLst>
            </p:cNvPr>
            <p:cNvCxnSpPr>
              <a:cxnSpLocks noChangeShapeType="1"/>
              <a:stCxn id="489530" idx="6"/>
              <a:endCxn id="489536" idx="0"/>
            </p:cNvCxnSpPr>
            <p:nvPr/>
          </p:nvCxnSpPr>
          <p:spPr bwMode="auto">
            <a:xfrm>
              <a:off x="10443657" y="4109087"/>
              <a:ext cx="1475432" cy="1088994"/>
            </a:xfrm>
            <a:prstGeom prst="curvedConnector2">
              <a:avLst/>
            </a:prstGeom>
            <a:noFill/>
            <a:ln w="158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594" name="Text Box 84">
              <a:extLst>
                <a:ext uri="{FF2B5EF4-FFF2-40B4-BE49-F238E27FC236}">
                  <a16:creationId xmlns:a16="http://schemas.microsoft.com/office/drawing/2014/main" id="{5C805AD3-98F9-CDB6-68A2-01514EF60AF3}"/>
                </a:ext>
              </a:extLst>
            </p:cNvPr>
            <p:cNvSpPr txBox="1">
              <a:spLocks noChangeArrowheads="1"/>
            </p:cNvSpPr>
            <p:nvPr/>
          </p:nvSpPr>
          <p:spPr bwMode="auto">
            <a:xfrm>
              <a:off x="11319423" y="4366806"/>
              <a:ext cx="471809"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1</a:t>
              </a:r>
              <a:endParaRPr lang="en-US" altLang="en-US" dirty="0">
                <a:latin typeface="Arial" panose="020B0604020202020204" pitchFamily="34" charset="0"/>
                <a:cs typeface="Arial" panose="020B0604020202020204" pitchFamily="34" charset="0"/>
              </a:endParaRPr>
            </a:p>
          </p:txBody>
        </p:sp>
        <p:cxnSp>
          <p:nvCxnSpPr>
            <p:cNvPr id="489595" name="AutoShape 64">
              <a:extLst>
                <a:ext uri="{FF2B5EF4-FFF2-40B4-BE49-F238E27FC236}">
                  <a16:creationId xmlns:a16="http://schemas.microsoft.com/office/drawing/2014/main" id="{D8AEBECB-7659-F71D-0584-C05A8B19C9DC}"/>
                </a:ext>
              </a:extLst>
            </p:cNvPr>
            <p:cNvCxnSpPr>
              <a:cxnSpLocks noChangeShapeType="1"/>
              <a:stCxn id="489531" idx="5"/>
              <a:endCxn id="489536" idx="3"/>
            </p:cNvCxnSpPr>
            <p:nvPr/>
          </p:nvCxnSpPr>
          <p:spPr bwMode="auto">
            <a:xfrm rot="16200000" flipH="1">
              <a:off x="11105002" y="4754392"/>
              <a:ext cx="12700" cy="1412165"/>
            </a:xfrm>
            <a:prstGeom prst="curvedConnector3">
              <a:avLst>
                <a:gd name="adj1" fmla="val 2154488"/>
              </a:avLst>
            </a:prstGeom>
            <a:noFill/>
            <a:ln w="158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599" name="Text Box 84">
              <a:extLst>
                <a:ext uri="{FF2B5EF4-FFF2-40B4-BE49-F238E27FC236}">
                  <a16:creationId xmlns:a16="http://schemas.microsoft.com/office/drawing/2014/main" id="{B95D4DA9-7248-D378-D3FB-FBB3D1CEF157}"/>
                </a:ext>
              </a:extLst>
            </p:cNvPr>
            <p:cNvSpPr txBox="1">
              <a:spLocks noChangeArrowheads="1"/>
            </p:cNvSpPr>
            <p:nvPr/>
          </p:nvSpPr>
          <p:spPr bwMode="auto">
            <a:xfrm>
              <a:off x="10592825" y="5556664"/>
              <a:ext cx="471809"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1</a:t>
              </a:r>
              <a:endParaRPr lang="en-US" altLang="en-US" dirty="0">
                <a:latin typeface="Arial" panose="020B0604020202020204" pitchFamily="34" charset="0"/>
                <a:cs typeface="Arial" panose="020B0604020202020204" pitchFamily="34" charset="0"/>
              </a:endParaRPr>
            </a:p>
          </p:txBody>
        </p:sp>
      </p:grpSp>
      <p:sp>
        <p:nvSpPr>
          <p:cNvPr id="489600" name="TextBox 489599">
            <a:extLst>
              <a:ext uri="{FF2B5EF4-FFF2-40B4-BE49-F238E27FC236}">
                <a16:creationId xmlns:a16="http://schemas.microsoft.com/office/drawing/2014/main" id="{89E38D3D-D291-661F-6760-F98933C7D6DC}"/>
              </a:ext>
            </a:extLst>
          </p:cNvPr>
          <p:cNvSpPr txBox="1"/>
          <p:nvPr/>
        </p:nvSpPr>
        <p:spPr>
          <a:xfrm>
            <a:off x="2110299" y="6375801"/>
            <a:ext cx="1611852" cy="461665"/>
          </a:xfrm>
          <a:prstGeom prst="rect">
            <a:avLst/>
          </a:prstGeom>
          <a:noFill/>
        </p:spPr>
        <p:txBody>
          <a:bodyPr wrap="none" rtlCol="0">
            <a:spAutoFit/>
          </a:bodyPr>
          <a:lstStyle/>
          <a:p>
            <a:r>
              <a:rPr lang="en-US" sz="2400" dirty="0"/>
              <a:t>Flow Graph</a:t>
            </a:r>
            <a:endParaRPr lang="en-US" sz="2400" b="1" dirty="0">
              <a:solidFill>
                <a:srgbClr val="C00000"/>
              </a:solidFill>
            </a:endParaRPr>
          </a:p>
        </p:txBody>
      </p:sp>
      <p:sp>
        <p:nvSpPr>
          <p:cNvPr id="489602" name="TextBox 489601">
            <a:extLst>
              <a:ext uri="{FF2B5EF4-FFF2-40B4-BE49-F238E27FC236}">
                <a16:creationId xmlns:a16="http://schemas.microsoft.com/office/drawing/2014/main" id="{502B8E47-DC4D-E1A9-5575-6AE43A636C32}"/>
              </a:ext>
            </a:extLst>
          </p:cNvPr>
          <p:cNvSpPr txBox="1"/>
          <p:nvPr/>
        </p:nvSpPr>
        <p:spPr>
          <a:xfrm>
            <a:off x="8290022" y="6457996"/>
            <a:ext cx="2067746" cy="461665"/>
          </a:xfrm>
          <a:prstGeom prst="rect">
            <a:avLst/>
          </a:prstGeom>
          <a:noFill/>
        </p:spPr>
        <p:txBody>
          <a:bodyPr wrap="none" rtlCol="0">
            <a:spAutoFit/>
          </a:bodyPr>
          <a:lstStyle/>
          <a:p>
            <a:r>
              <a:rPr lang="en-US" sz="2400" dirty="0"/>
              <a:t>Residual Graph</a:t>
            </a:r>
            <a:endParaRPr lang="en-US" sz="2400" b="1" dirty="0">
              <a:solidFill>
                <a:srgbClr val="C00000"/>
              </a:solidFill>
            </a:endParaRPr>
          </a:p>
        </p:txBody>
      </p:sp>
      <p:sp>
        <p:nvSpPr>
          <p:cNvPr id="489603" name="TextBox 489602">
            <a:extLst>
              <a:ext uri="{FF2B5EF4-FFF2-40B4-BE49-F238E27FC236}">
                <a16:creationId xmlns:a16="http://schemas.microsoft.com/office/drawing/2014/main" id="{40CA1BA9-B86B-75D0-F712-6E48B0C6E70D}"/>
              </a:ext>
            </a:extLst>
          </p:cNvPr>
          <p:cNvSpPr txBox="1"/>
          <p:nvPr/>
        </p:nvSpPr>
        <p:spPr>
          <a:xfrm>
            <a:off x="7503765" y="2160468"/>
            <a:ext cx="4511452" cy="1323439"/>
          </a:xfrm>
          <a:prstGeom prst="rect">
            <a:avLst/>
          </a:prstGeom>
          <a:noFill/>
          <a:ln>
            <a:solidFill>
              <a:schemeClr val="tx1"/>
            </a:solidFill>
          </a:ln>
        </p:spPr>
        <p:txBody>
          <a:bodyPr wrap="square" rtlCol="0">
            <a:spAutoFit/>
          </a:bodyPr>
          <a:lstStyle/>
          <a:p>
            <a:r>
              <a:rPr lang="en-US" sz="2000" dirty="0"/>
              <a:t>Notice: </a:t>
            </a:r>
          </a:p>
          <a:p>
            <a:pPr marL="342900" indent="-342900">
              <a:buFont typeface="Arial" panose="020B0604020202020204" pitchFamily="34" charset="0"/>
              <a:buChar char="•"/>
            </a:pPr>
            <a:r>
              <a:rPr lang="en-US" sz="2000" dirty="0"/>
              <a:t>all edges out of the cut are saturated (flow=capacity) </a:t>
            </a:r>
          </a:p>
          <a:p>
            <a:pPr marL="342900" indent="-342900">
              <a:buFont typeface="Arial" panose="020B0604020202020204" pitchFamily="34" charset="0"/>
              <a:buChar char="•"/>
            </a:pPr>
            <a:r>
              <a:rPr lang="en-US" sz="2000" dirty="0"/>
              <a:t>all edges into the cut have no flow</a:t>
            </a:r>
            <a:endParaRPr lang="en-US" sz="2000" b="1" dirty="0">
              <a:solidFill>
                <a:srgbClr val="C00000"/>
              </a:solidFill>
            </a:endParaRPr>
          </a:p>
        </p:txBody>
      </p:sp>
    </p:spTree>
    <p:extLst>
      <p:ext uri="{BB962C8B-B14F-4D97-AF65-F5344CB8AC3E}">
        <p14:creationId xmlns:p14="http://schemas.microsoft.com/office/powerpoint/2010/main" val="17463486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838A1C-7EFF-FCF3-BA92-C5DD1ECD89DF}"/>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89475" name="Rectangle 3">
                <a:extLst>
                  <a:ext uri="{FF2B5EF4-FFF2-40B4-BE49-F238E27FC236}">
                    <a16:creationId xmlns:a16="http://schemas.microsoft.com/office/drawing/2014/main" id="{C2DAD57C-0CCE-4A5F-3D3D-C043B0CD2FFD}"/>
                  </a:ext>
                </a:extLst>
              </p:cNvPr>
              <p:cNvSpPr>
                <a:spLocks noGrp="1" noChangeArrowheads="1"/>
              </p:cNvSpPr>
              <p:nvPr>
                <p:ph type="body" idx="1"/>
              </p:nvPr>
            </p:nvSpPr>
            <p:spPr>
              <a:xfrm>
                <a:off x="46514" y="710944"/>
                <a:ext cx="12078429" cy="5200045"/>
              </a:xfrm>
            </p:spPr>
            <p:txBody>
              <a:bodyPr/>
              <a:lstStyle/>
              <a:p>
                <a:pPr marL="0" indent="0">
                  <a:buNone/>
                </a:pPr>
                <a:r>
                  <a:rPr lang="en-US" altLang="en-US" sz="2000" b="1" dirty="0">
                    <a:solidFill>
                      <a:srgbClr val="006600"/>
                    </a:solidFill>
                    <a:sym typeface="Symbol" panose="05050102010706020507" pitchFamily="18" charset="2"/>
                  </a:rPr>
                  <a:t>To Show:</a:t>
                </a:r>
                <a:r>
                  <a:rPr lang="en-US" altLang="en-US" sz="2000" dirty="0">
                    <a:sym typeface="Symbol" panose="05050102010706020507" pitchFamily="18" charset="2"/>
                  </a:rPr>
                  <a:t> If there is no augmenting path w.r.t. </a:t>
                </a:r>
                <a14:m>
                  <m:oMath xmlns:m="http://schemas.openxmlformats.org/officeDocument/2006/math">
                    <m:r>
                      <a:rPr lang="en-US" altLang="en-US" sz="2000" b="1" i="1" dirty="0">
                        <a:solidFill>
                          <a:srgbClr val="0066CC"/>
                        </a:solidFill>
                        <a:latin typeface="Cambria Math" panose="02040503050406030204" pitchFamily="18" charset="0"/>
                        <a:sym typeface="Symbol" panose="05050102010706020507" pitchFamily="18" charset="2"/>
                      </a:rPr>
                      <m:t>𝒇</m:t>
                    </m:r>
                  </m:oMath>
                </a14:m>
                <a:r>
                  <a:rPr lang="en-US" altLang="en-US" sz="2000" dirty="0">
                    <a:solidFill>
                      <a:prstClr val="black"/>
                    </a:solidFill>
                    <a:ea typeface="Cambria Math" panose="02040503050406030204" pitchFamily="18" charset="0"/>
                    <a:sym typeface="Symbol" panose="05050102010706020507" pitchFamily="18" charset="2"/>
                  </a:rPr>
                  <a:t>, </a:t>
                </a:r>
                <a:r>
                  <a:rPr lang="en-US" altLang="en-US" sz="2000" dirty="0">
                    <a:solidFill>
                      <a:prstClr val="black"/>
                    </a:solidFill>
                    <a:sym typeface="Symbol" panose="05050102010706020507" pitchFamily="18" charset="2"/>
                  </a:rPr>
                  <a:t>there is a cut </a:t>
                </a:r>
                <a14:m>
                  <m:oMath xmlns:m="http://schemas.openxmlformats.org/officeDocument/2006/math">
                    <m:r>
                      <a:rPr lang="en-US" altLang="en-US" sz="2000" b="1" i="1" dirty="0">
                        <a:solidFill>
                          <a:srgbClr val="0066CC"/>
                        </a:solidFill>
                        <a:latin typeface="Cambria Math" panose="02040503050406030204" pitchFamily="18" charset="0"/>
                        <a:sym typeface="Symbol" panose="05050102010706020507" pitchFamily="18" charset="2"/>
                      </a:rPr>
                      <m:t>(</m:t>
                    </m:r>
                    <m:r>
                      <a:rPr lang="en-US" altLang="en-US" sz="2000" b="1" i="1" dirty="0">
                        <a:solidFill>
                          <a:srgbClr val="0066CC"/>
                        </a:solidFill>
                        <a:latin typeface="Cambria Math" panose="02040503050406030204" pitchFamily="18" charset="0"/>
                        <a:sym typeface="Symbol" panose="05050102010706020507" pitchFamily="18" charset="2"/>
                      </a:rPr>
                      <m:t>𝑨</m:t>
                    </m:r>
                    <m:r>
                      <a:rPr lang="en-US" altLang="en-US" sz="2000" b="1" i="1" dirty="0">
                        <a:solidFill>
                          <a:srgbClr val="0066CC"/>
                        </a:solidFill>
                        <a:latin typeface="Cambria Math" panose="02040503050406030204" pitchFamily="18" charset="0"/>
                        <a:sym typeface="Symbol" panose="05050102010706020507" pitchFamily="18" charset="2"/>
                      </a:rPr>
                      <m:t>, </m:t>
                    </m:r>
                    <m:r>
                      <a:rPr lang="en-US" altLang="en-US" sz="2000" b="1" i="1" dirty="0">
                        <a:solidFill>
                          <a:srgbClr val="0066CC"/>
                        </a:solidFill>
                        <a:latin typeface="Cambria Math" panose="02040503050406030204" pitchFamily="18" charset="0"/>
                        <a:sym typeface="Symbol" panose="05050102010706020507" pitchFamily="18" charset="2"/>
                      </a:rPr>
                      <m:t>𝑩</m:t>
                    </m:r>
                    <m:r>
                      <a:rPr lang="en-US" altLang="en-US" sz="2000" b="1" i="1" dirty="0">
                        <a:solidFill>
                          <a:srgbClr val="0066CC"/>
                        </a:solidFill>
                        <a:latin typeface="Cambria Math" panose="02040503050406030204" pitchFamily="18" charset="0"/>
                        <a:sym typeface="Symbol" panose="05050102010706020507" pitchFamily="18" charset="2"/>
                      </a:rPr>
                      <m:t>)</m:t>
                    </m:r>
                  </m:oMath>
                </a14:m>
                <a:r>
                  <a:rPr lang="en-US" altLang="en-US" sz="2000" dirty="0">
                    <a:solidFill>
                      <a:prstClr val="black"/>
                    </a:solidFill>
                    <a:sym typeface="Symbol" panose="05050102010706020507" pitchFamily="18" charset="2"/>
                  </a:rPr>
                  <a:t> s.t. </a:t>
                </a:r>
                <a14:m>
                  <m:oMath xmlns:m="http://schemas.openxmlformats.org/officeDocument/2006/math">
                    <m:r>
                      <a:rPr lang="en-US" altLang="en-US" sz="2000" b="1" i="1" dirty="0">
                        <a:solidFill>
                          <a:srgbClr val="0066CC"/>
                        </a:solidFill>
                        <a:latin typeface="Cambria Math" panose="02040503050406030204" pitchFamily="18" charset="0"/>
                        <a:sym typeface="Symbol" panose="05050102010706020507" pitchFamily="18" charset="2"/>
                      </a:rPr>
                      <m:t>𝒗</m:t>
                    </m:r>
                    <m:r>
                      <a:rPr lang="en-US" altLang="en-US" sz="2000" b="1" i="1" dirty="0">
                        <a:solidFill>
                          <a:srgbClr val="0066CC"/>
                        </a:solidFill>
                        <a:latin typeface="Cambria Math" panose="02040503050406030204" pitchFamily="18" charset="0"/>
                        <a:sym typeface="Symbol" panose="05050102010706020507" pitchFamily="18" charset="2"/>
                      </a:rPr>
                      <m:t>(</m:t>
                    </m:r>
                    <m:r>
                      <a:rPr lang="en-US" altLang="en-US" sz="2000" b="1" i="1" dirty="0">
                        <a:solidFill>
                          <a:srgbClr val="0066CC"/>
                        </a:solidFill>
                        <a:latin typeface="Cambria Math" panose="02040503050406030204" pitchFamily="18" charset="0"/>
                        <a:sym typeface="Symbol" panose="05050102010706020507" pitchFamily="18" charset="2"/>
                      </a:rPr>
                      <m:t>𝒇</m:t>
                    </m:r>
                    <m:r>
                      <a:rPr lang="en-US" altLang="en-US" sz="2000" b="1" i="1" dirty="0">
                        <a:solidFill>
                          <a:srgbClr val="0066CC"/>
                        </a:solidFill>
                        <a:latin typeface="Cambria Math" panose="02040503050406030204" pitchFamily="18" charset="0"/>
                        <a:sym typeface="Symbol" panose="05050102010706020507" pitchFamily="18" charset="2"/>
                      </a:rPr>
                      <m:t>)=</m:t>
                    </m:r>
                    <m:r>
                      <a:rPr lang="en-US" altLang="en-US" sz="2000" b="1" i="1" dirty="0">
                        <a:solidFill>
                          <a:srgbClr val="0066CC"/>
                        </a:solidFill>
                        <a:latin typeface="Cambria Math" panose="02040503050406030204" pitchFamily="18" charset="0"/>
                        <a:sym typeface="Symbol" panose="05050102010706020507" pitchFamily="18" charset="2"/>
                      </a:rPr>
                      <m:t>𝒄</m:t>
                    </m:r>
                    <m:r>
                      <a:rPr lang="en-US" altLang="en-US" sz="2000" b="1" i="1" dirty="0">
                        <a:solidFill>
                          <a:srgbClr val="0066CC"/>
                        </a:solidFill>
                        <a:latin typeface="Cambria Math" panose="02040503050406030204" pitchFamily="18" charset="0"/>
                        <a:sym typeface="Symbol" panose="05050102010706020507" pitchFamily="18" charset="2"/>
                      </a:rPr>
                      <m:t>(</m:t>
                    </m:r>
                    <m:r>
                      <a:rPr lang="en-US" altLang="en-US" sz="2000" b="1" i="1" dirty="0">
                        <a:solidFill>
                          <a:srgbClr val="0066CC"/>
                        </a:solidFill>
                        <a:latin typeface="Cambria Math" panose="02040503050406030204" pitchFamily="18" charset="0"/>
                        <a:sym typeface="Symbol" panose="05050102010706020507" pitchFamily="18" charset="2"/>
                      </a:rPr>
                      <m:t>𝑨</m:t>
                    </m:r>
                    <m:r>
                      <a:rPr lang="en-US" altLang="en-US" sz="2000" b="1" i="1" dirty="0">
                        <a:solidFill>
                          <a:srgbClr val="0066CC"/>
                        </a:solidFill>
                        <a:latin typeface="Cambria Math" panose="02040503050406030204" pitchFamily="18" charset="0"/>
                        <a:sym typeface="Symbol" panose="05050102010706020507" pitchFamily="18" charset="2"/>
                      </a:rPr>
                      <m:t>, </m:t>
                    </m:r>
                    <m:r>
                      <a:rPr lang="en-US" altLang="en-US" sz="2000" b="1" i="1" dirty="0">
                        <a:solidFill>
                          <a:srgbClr val="0066CC"/>
                        </a:solidFill>
                        <a:latin typeface="Cambria Math" panose="02040503050406030204" pitchFamily="18" charset="0"/>
                        <a:sym typeface="Symbol" panose="05050102010706020507" pitchFamily="18" charset="2"/>
                      </a:rPr>
                      <m:t>𝑩</m:t>
                    </m:r>
                    <m:r>
                      <a:rPr lang="en-US" altLang="en-US" sz="2000" b="1" i="1" dirty="0">
                        <a:solidFill>
                          <a:srgbClr val="0066CC"/>
                        </a:solidFill>
                        <a:latin typeface="Cambria Math" panose="02040503050406030204" pitchFamily="18" charset="0"/>
                        <a:sym typeface="Symbol" panose="05050102010706020507" pitchFamily="18" charset="2"/>
                      </a:rPr>
                      <m:t>)</m:t>
                    </m:r>
                  </m:oMath>
                </a14:m>
                <a:r>
                  <a:rPr lang="en-US" altLang="en-US" sz="2000" dirty="0">
                    <a:solidFill>
                      <a:prstClr val="black"/>
                    </a:solidFill>
                    <a:sym typeface="Symbol" panose="05050102010706020507" pitchFamily="18" charset="2"/>
                  </a:rPr>
                  <a:t>.</a:t>
                </a:r>
                <a:endParaRPr lang="en-US" altLang="en-US" sz="2000" dirty="0">
                  <a:sym typeface="Symbol" panose="05050102010706020507" pitchFamily="18" charset="2"/>
                </a:endParaRPr>
              </a:p>
              <a:p>
                <a:pPr marL="0" indent="0">
                  <a:buNone/>
                </a:pPr>
                <a:r>
                  <a:rPr lang="en-US" altLang="en-US" sz="2000" b="1" dirty="0">
                    <a:solidFill>
                      <a:srgbClr val="006600"/>
                    </a:solidFill>
                    <a:sym typeface="Symbol" panose="05050102010706020507" pitchFamily="18" charset="2"/>
                  </a:rPr>
                  <a:t>The cut: </a:t>
                </a:r>
                <a14:m>
                  <m:oMath xmlns:m="http://schemas.openxmlformats.org/officeDocument/2006/math">
                    <m:r>
                      <a:rPr lang="en-US" altLang="en-US" sz="2000" b="1" i="1" dirty="0" smtClean="0">
                        <a:solidFill>
                          <a:srgbClr val="0066CC"/>
                        </a:solidFill>
                        <a:latin typeface="Cambria Math" panose="02040503050406030204" pitchFamily="18" charset="0"/>
                        <a:sym typeface="Symbol" panose="05050102010706020507" pitchFamily="18" charset="2"/>
                      </a:rPr>
                      <m:t>𝑨</m:t>
                    </m:r>
                  </m:oMath>
                </a14:m>
                <a:r>
                  <a:rPr lang="en-US" altLang="en-US" sz="2000" dirty="0">
                    <a:solidFill>
                      <a:prstClr val="black"/>
                    </a:solidFill>
                    <a:sym typeface="Symbol" panose="05050102010706020507" pitchFamily="18" charset="2"/>
                  </a:rPr>
                  <a:t> is the set of all nodes reachable from </a:t>
                </a:r>
                <a14:m>
                  <m:oMath xmlns:m="http://schemas.openxmlformats.org/officeDocument/2006/math">
                    <m:r>
                      <a:rPr lang="en-US" altLang="en-US" sz="2000" b="0" i="1" smtClean="0">
                        <a:solidFill>
                          <a:prstClr val="black"/>
                        </a:solidFill>
                        <a:latin typeface="Cambria Math" panose="02040503050406030204" pitchFamily="18" charset="0"/>
                        <a:sym typeface="Symbol" panose="05050102010706020507" pitchFamily="18" charset="2"/>
                      </a:rPr>
                      <m:t>𝑠</m:t>
                    </m:r>
                  </m:oMath>
                </a14:m>
                <a:r>
                  <a:rPr lang="en-US" altLang="en-US" sz="2000" dirty="0">
                    <a:sym typeface="Symbol" panose="05050102010706020507" pitchFamily="18" charset="2"/>
                  </a:rPr>
                  <a:t> in the residual graph</a:t>
                </a:r>
              </a:p>
              <a:p>
                <a:pPr marL="0" indent="0">
                  <a:buNone/>
                </a:pPr>
                <a14:m>
                  <m:oMath xmlns:m="http://schemas.openxmlformats.org/officeDocument/2006/math">
                    <m:r>
                      <a:rPr lang="en-US" altLang="en-US" sz="2000" b="1" i="1" dirty="0" smtClean="0">
                        <a:solidFill>
                          <a:srgbClr val="0066CC"/>
                        </a:solidFill>
                        <a:latin typeface="Cambria Math" panose="02040503050406030204" pitchFamily="18" charset="0"/>
                        <a:sym typeface="Symbol" panose="05050102010706020507" pitchFamily="18" charset="2"/>
                      </a:rPr>
                      <m:t>𝑩</m:t>
                    </m:r>
                  </m:oMath>
                </a14:m>
                <a:r>
                  <a:rPr lang="en-US" altLang="en-US" sz="2000" dirty="0">
                    <a:solidFill>
                      <a:prstClr val="black"/>
                    </a:solidFill>
                    <a:sym typeface="Symbol" panose="05050102010706020507" pitchFamily="18" charset="2"/>
                  </a:rPr>
                  <a:t> is the set of all the other nodes in the graph</a:t>
                </a:r>
                <a:endParaRPr lang="en-US" altLang="en-US" sz="2000" dirty="0">
                  <a:sym typeface="Symbol" panose="05050102010706020507" pitchFamily="18" charset="2"/>
                </a:endParaRPr>
              </a:p>
              <a:p>
                <a:pPr marL="0" indent="0">
                  <a:buNone/>
                </a:pPr>
                <a:r>
                  <a:rPr lang="en-US" altLang="en-US" sz="2000" b="1" dirty="0">
                    <a:solidFill>
                      <a:srgbClr val="006600"/>
                    </a:solidFill>
                    <a:sym typeface="Symbol" panose="05050102010706020507" pitchFamily="18" charset="2"/>
                  </a:rPr>
                  <a:t>Showing Flow value = Cut Capacity:</a:t>
                </a:r>
              </a:p>
              <a:p>
                <a:pPr marL="0" indent="0">
                  <a:buNone/>
                </a:pPr>
                <a:r>
                  <a:rPr lang="en-US" sz="2000" dirty="0"/>
                  <a:t>For any edge outgoing from </a:t>
                </a:r>
                <a14:m>
                  <m:oMath xmlns:m="http://schemas.openxmlformats.org/officeDocument/2006/math">
                    <m:r>
                      <a:rPr lang="en-US" altLang="en-US" sz="2000" b="1" i="1" dirty="0">
                        <a:solidFill>
                          <a:srgbClr val="0066CC"/>
                        </a:solidFill>
                        <a:latin typeface="Cambria Math" panose="02040503050406030204" pitchFamily="18" charset="0"/>
                        <a:sym typeface="Symbol" panose="05050102010706020507" pitchFamily="18" charset="2"/>
                      </a:rPr>
                      <m:t>𝑨</m:t>
                    </m:r>
                  </m:oMath>
                </a14:m>
                <a:r>
                  <a:rPr lang="en-US" sz="2000" dirty="0"/>
                  <a:t> to </a:t>
                </a:r>
                <a14:m>
                  <m:oMath xmlns:m="http://schemas.openxmlformats.org/officeDocument/2006/math">
                    <m:r>
                      <a:rPr lang="en-US" altLang="en-US" sz="2000" b="1" i="1" dirty="0">
                        <a:solidFill>
                          <a:srgbClr val="0066CC"/>
                        </a:solidFill>
                        <a:latin typeface="Cambria Math" panose="02040503050406030204" pitchFamily="18" charset="0"/>
                        <a:sym typeface="Symbol" panose="05050102010706020507" pitchFamily="18" charset="2"/>
                      </a:rPr>
                      <m:t>𝑩</m:t>
                    </m:r>
                  </m:oMath>
                </a14:m>
                <a:r>
                  <a:rPr lang="en-US" sz="2000" dirty="0"/>
                  <a:t>, that edge is saturated (flow = capacity) </a:t>
                </a:r>
              </a:p>
              <a:p>
                <a:pPr marL="0" indent="0">
                  <a:buNone/>
                </a:pPr>
                <a:r>
                  <a:rPr lang="en-US" sz="2000" dirty="0"/>
                  <a:t>	Otherwise there would be an edge in the residual graph for the remaining capacity. Contradiction!</a:t>
                </a:r>
              </a:p>
              <a:p>
                <a:pPr marL="0" indent="0">
                  <a:buNone/>
                </a:pPr>
                <a:r>
                  <a:rPr lang="en-US" sz="2000" dirty="0"/>
                  <a:t>For any edge incoming from </a:t>
                </a:r>
                <a14:m>
                  <m:oMath xmlns:m="http://schemas.openxmlformats.org/officeDocument/2006/math">
                    <m:r>
                      <a:rPr lang="en-US" altLang="en-US" sz="2000" b="1" i="1" dirty="0" smtClean="0">
                        <a:solidFill>
                          <a:srgbClr val="0066CC"/>
                        </a:solidFill>
                        <a:latin typeface="Cambria Math" panose="02040503050406030204" pitchFamily="18" charset="0"/>
                        <a:sym typeface="Symbol" panose="05050102010706020507" pitchFamily="18" charset="2"/>
                      </a:rPr>
                      <m:t>𝑩</m:t>
                    </m:r>
                  </m:oMath>
                </a14:m>
                <a:r>
                  <a:rPr lang="en-US" sz="2000" dirty="0"/>
                  <a:t> to </a:t>
                </a:r>
                <a14:m>
                  <m:oMath xmlns:m="http://schemas.openxmlformats.org/officeDocument/2006/math">
                    <m:r>
                      <a:rPr lang="en-US" altLang="en-US" sz="2000" b="1" i="1" dirty="0" smtClean="0">
                        <a:solidFill>
                          <a:srgbClr val="0066CC"/>
                        </a:solidFill>
                        <a:latin typeface="Cambria Math" panose="02040503050406030204" pitchFamily="18" charset="0"/>
                        <a:sym typeface="Symbol" panose="05050102010706020507" pitchFamily="18" charset="2"/>
                      </a:rPr>
                      <m:t>𝑨</m:t>
                    </m:r>
                  </m:oMath>
                </a14:m>
                <a:r>
                  <a:rPr lang="en-US" sz="2000" dirty="0"/>
                  <a:t>, that edge has no flow (flow = 0) </a:t>
                </a:r>
              </a:p>
              <a:p>
                <a:pPr marL="0" indent="0">
                  <a:buNone/>
                </a:pPr>
                <a:r>
                  <a:rPr lang="en-US" sz="2000" dirty="0"/>
                  <a:t>	Otherwise there would be an edge in the residual graph to undo the flow. Contradiction!</a:t>
                </a:r>
              </a:p>
              <a:p>
                <a:pPr marL="0" indent="0">
                  <a:buNone/>
                </a:pPr>
                <a:r>
                  <a:rPr lang="en-US" altLang="en-US" sz="2000" dirty="0">
                    <a:sym typeface="Symbol" panose="05050102010706020507" pitchFamily="18" charset="2"/>
                  </a:rPr>
                  <a:t>So summing the flows of all </a:t>
                </a:r>
                <a14:m>
                  <m:oMath xmlns:m="http://schemas.openxmlformats.org/officeDocument/2006/math">
                    <m:r>
                      <a:rPr lang="en-US" altLang="en-US" sz="2000" b="1" i="1" dirty="0">
                        <a:solidFill>
                          <a:srgbClr val="0066CC"/>
                        </a:solidFill>
                        <a:latin typeface="Cambria Math" panose="02040503050406030204" pitchFamily="18" charset="0"/>
                        <a:sym typeface="Symbol" panose="05050102010706020507" pitchFamily="18" charset="2"/>
                      </a:rPr>
                      <m:t>𝑨</m:t>
                    </m:r>
                  </m:oMath>
                </a14:m>
                <a:r>
                  <a:rPr lang="en-US" sz="2000" dirty="0"/>
                  <a:t> to </a:t>
                </a:r>
                <a14:m>
                  <m:oMath xmlns:m="http://schemas.openxmlformats.org/officeDocument/2006/math">
                    <m:r>
                      <a:rPr lang="en-US" altLang="en-US" sz="2000" b="1" i="1" dirty="0">
                        <a:solidFill>
                          <a:srgbClr val="0066CC"/>
                        </a:solidFill>
                        <a:latin typeface="Cambria Math" panose="02040503050406030204" pitchFamily="18" charset="0"/>
                        <a:sym typeface="Symbol" panose="05050102010706020507" pitchFamily="18" charset="2"/>
                      </a:rPr>
                      <m:t>𝑩</m:t>
                    </m:r>
                    <m:r>
                      <a:rPr lang="en-US" altLang="en-US" sz="2000" b="1" i="1" dirty="0">
                        <a:solidFill>
                          <a:srgbClr val="0066CC"/>
                        </a:solidFill>
                        <a:latin typeface="Cambria Math" panose="02040503050406030204" pitchFamily="18" charset="0"/>
                        <a:sym typeface="Symbol" panose="05050102010706020507" pitchFamily="18" charset="2"/>
                      </a:rPr>
                      <m:t> </m:t>
                    </m:r>
                  </m:oMath>
                </a14:m>
                <a:r>
                  <a:rPr lang="en-US" altLang="en-US" sz="2000" dirty="0">
                    <a:sym typeface="Symbol" panose="05050102010706020507" pitchFamily="18" charset="2"/>
                  </a:rPr>
                  <a:t>edges is the same as summing the capacities!</a:t>
                </a:r>
              </a:p>
            </p:txBody>
          </p:sp>
        </mc:Choice>
        <mc:Fallback>
          <p:sp>
            <p:nvSpPr>
              <p:cNvPr id="489475" name="Rectangle 3">
                <a:extLst>
                  <a:ext uri="{FF2B5EF4-FFF2-40B4-BE49-F238E27FC236}">
                    <a16:creationId xmlns:a16="http://schemas.microsoft.com/office/drawing/2014/main" id="{C2DAD57C-0CCE-4A5F-3D3D-C043B0CD2FFD}"/>
                  </a:ext>
                </a:extLst>
              </p:cNvPr>
              <p:cNvSpPr>
                <a:spLocks noGrp="1" noRot="1" noChangeAspect="1" noMove="1" noResize="1" noEditPoints="1" noAdjustHandles="1" noChangeArrowheads="1" noChangeShapeType="1" noTextEdit="1"/>
              </p:cNvSpPr>
              <p:nvPr>
                <p:ph type="body" idx="1"/>
              </p:nvPr>
            </p:nvSpPr>
            <p:spPr>
              <a:xfrm>
                <a:off x="46514" y="710944"/>
                <a:ext cx="12078429" cy="5200045"/>
              </a:xfrm>
              <a:blipFill>
                <a:blip r:embed="rId3"/>
                <a:stretch>
                  <a:fillRect l="-555" t="-1290"/>
                </a:stretch>
              </a:blipFill>
            </p:spPr>
            <p:txBody>
              <a:bodyPr/>
              <a:lstStyle/>
              <a:p>
                <a:r>
                  <a:rPr lang="en-US">
                    <a:noFill/>
                  </a:rPr>
                  <a:t> </a:t>
                </a:r>
              </a:p>
            </p:txBody>
          </p:sp>
        </mc:Fallback>
      </mc:AlternateContent>
      <p:sp>
        <p:nvSpPr>
          <p:cNvPr id="32" name="Slide Number Placeholder 1">
            <a:extLst>
              <a:ext uri="{FF2B5EF4-FFF2-40B4-BE49-F238E27FC236}">
                <a16:creationId xmlns:a16="http://schemas.microsoft.com/office/drawing/2014/main" id="{2D24FE10-3988-1931-9B88-3D6B07000A4A}"/>
              </a:ext>
            </a:extLst>
          </p:cNvPr>
          <p:cNvSpPr>
            <a:spLocks noGrp="1"/>
          </p:cNvSpPr>
          <p:nvPr>
            <p:ph type="sldNum" sz="quarter" idx="12"/>
          </p:nvPr>
        </p:nvSpPr>
        <p:spPr>
          <a:xfrm>
            <a:off x="9880286" y="6336770"/>
            <a:ext cx="20574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59767C1-1CFC-4BF3-A3D8-E4104FCBBC17}"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60" name="Rectangle 3">
            <a:extLst>
              <a:ext uri="{FF2B5EF4-FFF2-40B4-BE49-F238E27FC236}">
                <a16:creationId xmlns:a16="http://schemas.microsoft.com/office/drawing/2014/main" id="{C17E11CD-430E-F6DE-6C46-344217D2B494}"/>
              </a:ext>
            </a:extLst>
          </p:cNvPr>
          <p:cNvSpPr txBox="1">
            <a:spLocks noChangeArrowheads="1"/>
          </p:cNvSpPr>
          <p:nvPr/>
        </p:nvSpPr>
        <p:spPr>
          <a:xfrm>
            <a:off x="838200" y="-201803"/>
            <a:ext cx="10515600" cy="99885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000" b="1" i="0" kern="1200">
                <a:solidFill>
                  <a:schemeClr val="tx1"/>
                </a:solidFill>
                <a:latin typeface="Lato" panose="020F0502020204030203" pitchFamily="34" charset="77"/>
                <a:ea typeface="Inter SemiBold" panose="02000503000000020004" pitchFamily="2" charset="0"/>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altLang="en-US" sz="4000" b="1" i="0" u="none" strike="noStrike" kern="1200" cap="none" spc="0" normalizeH="0" baseline="0" noProof="0" dirty="0">
                <a:ln>
                  <a:noFill/>
                </a:ln>
                <a:solidFill>
                  <a:srgbClr val="000000"/>
                </a:solidFill>
                <a:effectLst/>
                <a:uLnTx/>
                <a:uFillTx/>
                <a:latin typeface="Lato" panose="020F0502020204030203" pitchFamily="34" charset="77"/>
                <a:cs typeface="+mj-cs"/>
              </a:rPr>
              <a:t>Flow Value = Cut Capacity</a:t>
            </a:r>
          </a:p>
        </p:txBody>
      </p:sp>
      <p:grpSp>
        <p:nvGrpSpPr>
          <p:cNvPr id="489513" name="Group 489512">
            <a:extLst>
              <a:ext uri="{FF2B5EF4-FFF2-40B4-BE49-F238E27FC236}">
                <a16:creationId xmlns:a16="http://schemas.microsoft.com/office/drawing/2014/main" id="{915D10C4-C733-48D2-E866-B843C234FA17}"/>
              </a:ext>
            </a:extLst>
          </p:cNvPr>
          <p:cNvGrpSpPr/>
          <p:nvPr/>
        </p:nvGrpSpPr>
        <p:grpSpPr>
          <a:xfrm>
            <a:off x="-246760" y="4266384"/>
            <a:ext cx="5159233" cy="2375540"/>
            <a:chOff x="5452675" y="3523499"/>
            <a:chExt cx="6890968" cy="3172907"/>
          </a:xfrm>
        </p:grpSpPr>
        <p:sp>
          <p:nvSpPr>
            <p:cNvPr id="61" name="Freeform: Shape 60">
              <a:extLst>
                <a:ext uri="{FF2B5EF4-FFF2-40B4-BE49-F238E27FC236}">
                  <a16:creationId xmlns:a16="http://schemas.microsoft.com/office/drawing/2014/main" id="{47568E3B-550A-F128-0716-7D74CBF48AED}"/>
                </a:ext>
              </a:extLst>
            </p:cNvPr>
            <p:cNvSpPr/>
            <p:nvPr/>
          </p:nvSpPr>
          <p:spPr bwMode="auto">
            <a:xfrm>
              <a:off x="5452675" y="4469012"/>
              <a:ext cx="5425657" cy="2227394"/>
            </a:xfrm>
            <a:custGeom>
              <a:avLst/>
              <a:gdLst>
                <a:gd name="connsiteX0" fmla="*/ 31470 w 6228837"/>
                <a:gd name="connsiteY0" fmla="*/ 469433 h 2227394"/>
                <a:gd name="connsiteX1" fmla="*/ 414242 w 6228837"/>
                <a:gd name="connsiteY1" fmla="*/ 1203079 h 2227394"/>
                <a:gd name="connsiteX2" fmla="*/ 1371172 w 6228837"/>
                <a:gd name="connsiteY2" fmla="*/ 1755972 h 2227394"/>
                <a:gd name="connsiteX3" fmla="*/ 2434428 w 6228837"/>
                <a:gd name="connsiteY3" fmla="*/ 2170642 h 2227394"/>
                <a:gd name="connsiteX4" fmla="*/ 3444521 w 6228837"/>
                <a:gd name="connsiteY4" fmla="*/ 2202540 h 2227394"/>
                <a:gd name="connsiteX5" fmla="*/ 5687991 w 6228837"/>
                <a:gd name="connsiteY5" fmla="*/ 2202540 h 2227394"/>
                <a:gd name="connsiteX6" fmla="*/ 6187721 w 6228837"/>
                <a:gd name="connsiteY6" fmla="*/ 1883563 h 2227394"/>
                <a:gd name="connsiteX7" fmla="*/ 4922447 w 6228837"/>
                <a:gd name="connsiteY7" fmla="*/ 1309405 h 2227394"/>
                <a:gd name="connsiteX8" fmla="*/ 3391358 w 6228837"/>
                <a:gd name="connsiteY8" fmla="*/ 480065 h 2227394"/>
                <a:gd name="connsiteX9" fmla="*/ 2413163 w 6228837"/>
                <a:gd name="connsiteY9" fmla="*/ 161089 h 2227394"/>
                <a:gd name="connsiteX10" fmla="*/ 1179786 w 6228837"/>
                <a:gd name="connsiteY10" fmla="*/ 12233 h 2227394"/>
                <a:gd name="connsiteX11" fmla="*/ 31470 w 6228837"/>
                <a:gd name="connsiteY11" fmla="*/ 469433 h 2227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28837" h="2227394">
                  <a:moveTo>
                    <a:pt x="31470" y="469433"/>
                  </a:moveTo>
                  <a:cubicBezTo>
                    <a:pt x="-96121" y="667907"/>
                    <a:pt x="190958" y="988656"/>
                    <a:pt x="414242" y="1203079"/>
                  </a:cubicBezTo>
                  <a:cubicBezTo>
                    <a:pt x="637526" y="1417502"/>
                    <a:pt x="1034474" y="1594712"/>
                    <a:pt x="1371172" y="1755972"/>
                  </a:cubicBezTo>
                  <a:cubicBezTo>
                    <a:pt x="1707870" y="1917233"/>
                    <a:pt x="2088870" y="2096214"/>
                    <a:pt x="2434428" y="2170642"/>
                  </a:cubicBezTo>
                  <a:cubicBezTo>
                    <a:pt x="2779986" y="2245070"/>
                    <a:pt x="3444521" y="2202540"/>
                    <a:pt x="3444521" y="2202540"/>
                  </a:cubicBezTo>
                  <a:cubicBezTo>
                    <a:pt x="3986781" y="2207856"/>
                    <a:pt x="5230791" y="2255703"/>
                    <a:pt x="5687991" y="2202540"/>
                  </a:cubicBezTo>
                  <a:cubicBezTo>
                    <a:pt x="6145191" y="2149377"/>
                    <a:pt x="6315312" y="2032419"/>
                    <a:pt x="6187721" y="1883563"/>
                  </a:cubicBezTo>
                  <a:cubicBezTo>
                    <a:pt x="6060130" y="1734707"/>
                    <a:pt x="5388507" y="1543321"/>
                    <a:pt x="4922447" y="1309405"/>
                  </a:cubicBezTo>
                  <a:cubicBezTo>
                    <a:pt x="4456387" y="1075489"/>
                    <a:pt x="3809572" y="671451"/>
                    <a:pt x="3391358" y="480065"/>
                  </a:cubicBezTo>
                  <a:cubicBezTo>
                    <a:pt x="2973144" y="288679"/>
                    <a:pt x="2781758" y="239061"/>
                    <a:pt x="2413163" y="161089"/>
                  </a:cubicBezTo>
                  <a:cubicBezTo>
                    <a:pt x="2044568" y="83117"/>
                    <a:pt x="1576735" y="-39158"/>
                    <a:pt x="1179786" y="12233"/>
                  </a:cubicBezTo>
                  <a:cubicBezTo>
                    <a:pt x="782837" y="63624"/>
                    <a:pt x="159061" y="270959"/>
                    <a:pt x="31470" y="469433"/>
                  </a:cubicBezTo>
                  <a:close/>
                </a:path>
              </a:pathLst>
            </a:custGeom>
            <a:solidFill>
              <a:schemeClr val="accent1">
                <a:lumMod val="20000"/>
                <a:lumOff val="80000"/>
              </a:schemeClr>
            </a:solidFill>
            <a:ln w="38100" cap="flat" cmpd="sng">
              <a:noFill/>
              <a:prstDash val="solid"/>
              <a:round/>
              <a:headEnd type="triangle" w="med" len="med"/>
              <a:tailEnd type="none" w="med" len="med"/>
            </a:ln>
            <a:effectLst/>
          </p:spPr>
          <p:txBody>
            <a:bodyPr wrap="square" rtlCol="0" anchor="ctr">
              <a:spAutoFit/>
            </a:bodyPr>
            <a:lstStyle/>
            <a:p>
              <a:pPr algn="l"/>
              <a:endParaRPr lang="en-US" dirty="0"/>
            </a:p>
          </p:txBody>
        </p:sp>
        <p:grpSp>
          <p:nvGrpSpPr>
            <p:cNvPr id="62" name="Group 61">
              <a:extLst>
                <a:ext uri="{FF2B5EF4-FFF2-40B4-BE49-F238E27FC236}">
                  <a16:creationId xmlns:a16="http://schemas.microsoft.com/office/drawing/2014/main" id="{2474A211-69EE-4DDB-898F-40A3598E3D3F}"/>
                </a:ext>
              </a:extLst>
            </p:cNvPr>
            <p:cNvGrpSpPr/>
            <p:nvPr/>
          </p:nvGrpSpPr>
          <p:grpSpPr>
            <a:xfrm>
              <a:off x="5744167" y="3523499"/>
              <a:ext cx="6599476" cy="3160184"/>
              <a:chOff x="4395659" y="2923138"/>
              <a:chExt cx="6599476" cy="3160184"/>
            </a:xfrm>
          </p:grpSpPr>
          <p:cxnSp>
            <p:nvCxnSpPr>
              <p:cNvPr id="63" name="AutoShape 68">
                <a:extLst>
                  <a:ext uri="{FF2B5EF4-FFF2-40B4-BE49-F238E27FC236}">
                    <a16:creationId xmlns:a16="http://schemas.microsoft.com/office/drawing/2014/main" id="{5900B6AB-C0DE-AA39-19E8-25CDF6CB8133}"/>
                  </a:ext>
                </a:extLst>
              </p:cNvPr>
              <p:cNvCxnSpPr>
                <a:cxnSpLocks noChangeShapeType="1"/>
                <a:stCxn id="489488" idx="1"/>
                <a:endCxn id="489476" idx="5"/>
              </p:cNvCxnSpPr>
              <p:nvPr/>
            </p:nvCxnSpPr>
            <p:spPr bwMode="auto">
              <a:xfrm flipH="1" flipV="1">
                <a:off x="6575184" y="4634480"/>
                <a:ext cx="2273571" cy="1129700"/>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472" name="Oval 50">
                <a:extLst>
                  <a:ext uri="{FF2B5EF4-FFF2-40B4-BE49-F238E27FC236}">
                    <a16:creationId xmlns:a16="http://schemas.microsoft.com/office/drawing/2014/main" id="{591B1483-1578-4ADA-1E83-480B1D6D292B}"/>
                  </a:ext>
                </a:extLst>
              </p:cNvPr>
              <p:cNvSpPr>
                <a:spLocks noChangeAspect="1" noChangeArrowheads="1"/>
              </p:cNvSpPr>
              <p:nvPr/>
            </p:nvSpPr>
            <p:spPr bwMode="auto">
              <a:xfrm>
                <a:off x="4395659"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solidFill>
                      <a:srgbClr val="C00000"/>
                    </a:solidFill>
                  </a:rPr>
                  <a:t>s</a:t>
                </a:r>
              </a:p>
            </p:txBody>
          </p:sp>
          <p:sp>
            <p:nvSpPr>
              <p:cNvPr id="489473" name="Oval 51">
                <a:extLst>
                  <a:ext uri="{FF2B5EF4-FFF2-40B4-BE49-F238E27FC236}">
                    <a16:creationId xmlns:a16="http://schemas.microsoft.com/office/drawing/2014/main" id="{BDDA5B1D-E677-5F07-A92C-008319888D36}"/>
                  </a:ext>
                </a:extLst>
              </p:cNvPr>
              <p:cNvSpPr>
                <a:spLocks noChangeAspect="1" noChangeArrowheads="1"/>
              </p:cNvSpPr>
              <p:nvPr/>
            </p:nvSpPr>
            <p:spPr bwMode="auto">
              <a:xfrm>
                <a:off x="6278899" y="2923138"/>
                <a:ext cx="347119" cy="35151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a</a:t>
                </a:r>
              </a:p>
            </p:txBody>
          </p:sp>
          <p:sp>
            <p:nvSpPr>
              <p:cNvPr id="489476" name="Oval 52">
                <a:extLst>
                  <a:ext uri="{FF2B5EF4-FFF2-40B4-BE49-F238E27FC236}">
                    <a16:creationId xmlns:a16="http://schemas.microsoft.com/office/drawing/2014/main" id="{BA9421F4-0B06-D7FA-CFBC-7B1D751F69E4}"/>
                  </a:ext>
                </a:extLst>
              </p:cNvPr>
              <p:cNvSpPr>
                <a:spLocks noChangeAspect="1" noChangeArrowheads="1"/>
              </p:cNvSpPr>
              <p:nvPr/>
            </p:nvSpPr>
            <p:spPr bwMode="auto">
              <a:xfrm>
                <a:off x="6278899"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b</a:t>
                </a:r>
              </a:p>
            </p:txBody>
          </p:sp>
          <p:sp>
            <p:nvSpPr>
              <p:cNvPr id="489477" name="Oval 53">
                <a:extLst>
                  <a:ext uri="{FF2B5EF4-FFF2-40B4-BE49-F238E27FC236}">
                    <a16:creationId xmlns:a16="http://schemas.microsoft.com/office/drawing/2014/main" id="{B1362BE2-9935-9860-77C3-9F9D2E1CD717}"/>
                  </a:ext>
                </a:extLst>
              </p:cNvPr>
              <p:cNvSpPr>
                <a:spLocks noChangeAspect="1" noChangeArrowheads="1"/>
              </p:cNvSpPr>
              <p:nvPr/>
            </p:nvSpPr>
            <p:spPr bwMode="auto">
              <a:xfrm>
                <a:off x="6278899" y="5713346"/>
                <a:ext cx="347119" cy="347119"/>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c</a:t>
                </a:r>
              </a:p>
            </p:txBody>
          </p:sp>
          <p:cxnSp>
            <p:nvCxnSpPr>
              <p:cNvPr id="489478" name="AutoShape 54">
                <a:extLst>
                  <a:ext uri="{FF2B5EF4-FFF2-40B4-BE49-F238E27FC236}">
                    <a16:creationId xmlns:a16="http://schemas.microsoft.com/office/drawing/2014/main" id="{B93B3B6C-D97B-9C1D-C17F-C3B5D41009F0}"/>
                  </a:ext>
                </a:extLst>
              </p:cNvPr>
              <p:cNvCxnSpPr>
                <a:cxnSpLocks noChangeShapeType="1"/>
                <a:stCxn id="489472" idx="7"/>
                <a:endCxn id="489473" idx="3"/>
              </p:cNvCxnSpPr>
              <p:nvPr/>
            </p:nvCxnSpPr>
            <p:spPr bwMode="auto">
              <a:xfrm flipV="1">
                <a:off x="4691944" y="3223173"/>
                <a:ext cx="1637789" cy="1164304"/>
              </a:xfrm>
              <a:prstGeom prst="straightConnector1">
                <a:avLst/>
              </a:prstGeom>
              <a:noFill/>
              <a:ln w="38100">
                <a:solidFill>
                  <a:srgbClr val="0066CC"/>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479" name="AutoShape 55">
                <a:extLst>
                  <a:ext uri="{FF2B5EF4-FFF2-40B4-BE49-F238E27FC236}">
                    <a16:creationId xmlns:a16="http://schemas.microsoft.com/office/drawing/2014/main" id="{D402D02C-C544-6466-A4E7-AAC54ABF6D6C}"/>
                  </a:ext>
                </a:extLst>
              </p:cNvPr>
              <p:cNvCxnSpPr>
                <a:cxnSpLocks noChangeShapeType="1"/>
                <a:stCxn id="489472" idx="6"/>
                <a:endCxn id="489476" idx="2"/>
              </p:cNvCxnSpPr>
              <p:nvPr/>
            </p:nvCxnSpPr>
            <p:spPr bwMode="auto">
              <a:xfrm>
                <a:off x="4742778" y="4510979"/>
                <a:ext cx="1536121" cy="0"/>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480" name="AutoShape 56">
                <a:extLst>
                  <a:ext uri="{FF2B5EF4-FFF2-40B4-BE49-F238E27FC236}">
                    <a16:creationId xmlns:a16="http://schemas.microsoft.com/office/drawing/2014/main" id="{E5DC3B0B-D696-CA84-C3E6-FA262EC97D6B}"/>
                  </a:ext>
                </a:extLst>
              </p:cNvPr>
              <p:cNvCxnSpPr>
                <a:cxnSpLocks noChangeShapeType="1"/>
                <a:stCxn id="489472" idx="5"/>
                <a:endCxn id="489477" idx="1"/>
              </p:cNvCxnSpPr>
              <p:nvPr/>
            </p:nvCxnSpPr>
            <p:spPr bwMode="auto">
              <a:xfrm>
                <a:off x="4691944" y="4634480"/>
                <a:ext cx="1637789" cy="1129700"/>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481" name="AutoShape 57">
                <a:extLst>
                  <a:ext uri="{FF2B5EF4-FFF2-40B4-BE49-F238E27FC236}">
                    <a16:creationId xmlns:a16="http://schemas.microsoft.com/office/drawing/2014/main" id="{4FDA7A1E-BFC5-B17A-2D98-C7D4F1A6BDFA}"/>
                  </a:ext>
                </a:extLst>
              </p:cNvPr>
              <p:cNvCxnSpPr>
                <a:cxnSpLocks noChangeShapeType="1"/>
                <a:stCxn id="489476" idx="6"/>
                <a:endCxn id="489487" idx="2"/>
              </p:cNvCxnSpPr>
              <p:nvPr/>
            </p:nvCxnSpPr>
            <p:spPr bwMode="auto">
              <a:xfrm>
                <a:off x="6626018" y="4510979"/>
                <a:ext cx="2171903" cy="0"/>
              </a:xfrm>
              <a:prstGeom prst="straightConnector1">
                <a:avLst/>
              </a:prstGeom>
              <a:noFill/>
              <a:ln w="38100">
                <a:solidFill>
                  <a:srgbClr val="0066CC"/>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482" name="AutoShape 59">
                <a:extLst>
                  <a:ext uri="{FF2B5EF4-FFF2-40B4-BE49-F238E27FC236}">
                    <a16:creationId xmlns:a16="http://schemas.microsoft.com/office/drawing/2014/main" id="{07062B7D-AC41-313F-E5B4-F42DA3745E52}"/>
                  </a:ext>
                </a:extLst>
              </p:cNvPr>
              <p:cNvCxnSpPr>
                <a:cxnSpLocks noChangeShapeType="1"/>
                <a:stCxn id="489476" idx="4"/>
                <a:endCxn id="489477" idx="0"/>
              </p:cNvCxnSpPr>
              <p:nvPr/>
            </p:nvCxnSpPr>
            <p:spPr bwMode="auto">
              <a:xfrm>
                <a:off x="6452459" y="4685636"/>
                <a:ext cx="0" cy="102771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483" name="AutoShape 60">
                <a:extLst>
                  <a:ext uri="{FF2B5EF4-FFF2-40B4-BE49-F238E27FC236}">
                    <a16:creationId xmlns:a16="http://schemas.microsoft.com/office/drawing/2014/main" id="{F3E1197F-41F1-A552-2B1A-88ABB1741E7F}"/>
                  </a:ext>
                </a:extLst>
              </p:cNvPr>
              <p:cNvCxnSpPr>
                <a:cxnSpLocks noChangeShapeType="1"/>
                <a:stCxn id="489473" idx="6"/>
                <a:endCxn id="489486" idx="2"/>
              </p:cNvCxnSpPr>
              <p:nvPr/>
            </p:nvCxnSpPr>
            <p:spPr bwMode="auto">
              <a:xfrm>
                <a:off x="6626018" y="3098894"/>
                <a:ext cx="2171903" cy="0"/>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484" name="AutoShape 61">
                <a:extLst>
                  <a:ext uri="{FF2B5EF4-FFF2-40B4-BE49-F238E27FC236}">
                    <a16:creationId xmlns:a16="http://schemas.microsoft.com/office/drawing/2014/main" id="{2F9B2A9D-5B9F-6232-573B-80422D51B68F}"/>
                  </a:ext>
                </a:extLst>
              </p:cNvPr>
              <p:cNvCxnSpPr>
                <a:cxnSpLocks noChangeShapeType="1"/>
                <a:stCxn id="489477" idx="6"/>
                <a:endCxn id="489488" idx="2"/>
              </p:cNvCxnSpPr>
              <p:nvPr/>
            </p:nvCxnSpPr>
            <p:spPr bwMode="auto">
              <a:xfrm>
                <a:off x="6626018" y="5886906"/>
                <a:ext cx="2171903" cy="0"/>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485" name="AutoShape 62">
                <a:extLst>
                  <a:ext uri="{FF2B5EF4-FFF2-40B4-BE49-F238E27FC236}">
                    <a16:creationId xmlns:a16="http://schemas.microsoft.com/office/drawing/2014/main" id="{3A0DB976-9482-8AAD-AB85-C737F96F66D7}"/>
                  </a:ext>
                </a:extLst>
              </p:cNvPr>
              <p:cNvCxnSpPr>
                <a:cxnSpLocks noChangeShapeType="1"/>
                <a:stCxn id="489473" idx="4"/>
                <a:endCxn id="489476" idx="0"/>
              </p:cNvCxnSpPr>
              <p:nvPr/>
            </p:nvCxnSpPr>
            <p:spPr bwMode="auto">
              <a:xfrm>
                <a:off x="6452459" y="3274651"/>
                <a:ext cx="0" cy="106167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486" name="Oval 63">
                <a:extLst>
                  <a:ext uri="{FF2B5EF4-FFF2-40B4-BE49-F238E27FC236}">
                    <a16:creationId xmlns:a16="http://schemas.microsoft.com/office/drawing/2014/main" id="{A6E08ED8-B22D-0A63-4462-A2199A88B816}"/>
                  </a:ext>
                </a:extLst>
              </p:cNvPr>
              <p:cNvSpPr>
                <a:spLocks noChangeAspect="1" noChangeArrowheads="1"/>
              </p:cNvSpPr>
              <p:nvPr/>
            </p:nvSpPr>
            <p:spPr bwMode="auto">
              <a:xfrm>
                <a:off x="8797921" y="2923138"/>
                <a:ext cx="347119" cy="35151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d</a:t>
                </a:r>
              </a:p>
            </p:txBody>
          </p:sp>
          <p:sp>
            <p:nvSpPr>
              <p:cNvPr id="489487" name="Oval 64">
                <a:extLst>
                  <a:ext uri="{FF2B5EF4-FFF2-40B4-BE49-F238E27FC236}">
                    <a16:creationId xmlns:a16="http://schemas.microsoft.com/office/drawing/2014/main" id="{1A207862-9D90-B7A4-0FFE-E02A492D076E}"/>
                  </a:ext>
                </a:extLst>
              </p:cNvPr>
              <p:cNvSpPr>
                <a:spLocks noChangeAspect="1" noChangeArrowheads="1"/>
              </p:cNvSpPr>
              <p:nvPr/>
            </p:nvSpPr>
            <p:spPr bwMode="auto">
              <a:xfrm>
                <a:off x="8797921"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e</a:t>
                </a:r>
              </a:p>
            </p:txBody>
          </p:sp>
          <p:sp>
            <p:nvSpPr>
              <p:cNvPr id="489488" name="Oval 65">
                <a:extLst>
                  <a:ext uri="{FF2B5EF4-FFF2-40B4-BE49-F238E27FC236}">
                    <a16:creationId xmlns:a16="http://schemas.microsoft.com/office/drawing/2014/main" id="{602F8C33-DAB4-C3AA-3CC7-FD6896B58B8D}"/>
                  </a:ext>
                </a:extLst>
              </p:cNvPr>
              <p:cNvSpPr>
                <a:spLocks noChangeAspect="1" noChangeArrowheads="1"/>
              </p:cNvSpPr>
              <p:nvPr/>
            </p:nvSpPr>
            <p:spPr bwMode="auto">
              <a:xfrm>
                <a:off x="8797921" y="5713346"/>
                <a:ext cx="347119" cy="347119"/>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f</a:t>
                </a:r>
              </a:p>
            </p:txBody>
          </p:sp>
          <p:cxnSp>
            <p:nvCxnSpPr>
              <p:cNvPr id="489489" name="AutoShape 66">
                <a:extLst>
                  <a:ext uri="{FF2B5EF4-FFF2-40B4-BE49-F238E27FC236}">
                    <a16:creationId xmlns:a16="http://schemas.microsoft.com/office/drawing/2014/main" id="{80AF2C5F-2575-F358-FB4B-F8803A41AA16}"/>
                  </a:ext>
                </a:extLst>
              </p:cNvPr>
              <p:cNvCxnSpPr>
                <a:cxnSpLocks noChangeShapeType="1"/>
                <a:stCxn id="489487" idx="4"/>
                <a:endCxn id="489488" idx="0"/>
              </p:cNvCxnSpPr>
              <p:nvPr/>
            </p:nvCxnSpPr>
            <p:spPr bwMode="auto">
              <a:xfrm>
                <a:off x="8971480" y="4685636"/>
                <a:ext cx="0" cy="102771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490" name="AutoShape 67">
                <a:extLst>
                  <a:ext uri="{FF2B5EF4-FFF2-40B4-BE49-F238E27FC236}">
                    <a16:creationId xmlns:a16="http://schemas.microsoft.com/office/drawing/2014/main" id="{F58B0C21-5741-8F1E-7C48-50DD360380B8}"/>
                  </a:ext>
                </a:extLst>
              </p:cNvPr>
              <p:cNvCxnSpPr>
                <a:cxnSpLocks noChangeShapeType="1"/>
                <a:stCxn id="489486" idx="4"/>
                <a:endCxn id="489487" idx="0"/>
              </p:cNvCxnSpPr>
              <p:nvPr/>
            </p:nvCxnSpPr>
            <p:spPr bwMode="auto">
              <a:xfrm>
                <a:off x="8971480" y="3274651"/>
                <a:ext cx="0" cy="106167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491" name="AutoShape 68">
                <a:extLst>
                  <a:ext uri="{FF2B5EF4-FFF2-40B4-BE49-F238E27FC236}">
                    <a16:creationId xmlns:a16="http://schemas.microsoft.com/office/drawing/2014/main" id="{A301D77A-F123-9D9E-D01F-3A61B657ABF9}"/>
                  </a:ext>
                </a:extLst>
              </p:cNvPr>
              <p:cNvCxnSpPr>
                <a:cxnSpLocks noChangeShapeType="1"/>
                <a:stCxn id="489473" idx="5"/>
                <a:endCxn id="489487" idx="1"/>
              </p:cNvCxnSpPr>
              <p:nvPr/>
            </p:nvCxnSpPr>
            <p:spPr bwMode="auto">
              <a:xfrm>
                <a:off x="6575184" y="3223173"/>
                <a:ext cx="2273571" cy="1164304"/>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492" name="Oval 69">
                <a:extLst>
                  <a:ext uri="{FF2B5EF4-FFF2-40B4-BE49-F238E27FC236}">
                    <a16:creationId xmlns:a16="http://schemas.microsoft.com/office/drawing/2014/main" id="{69DA3AF8-E33F-B91A-AFBE-06C549AA8D5C}"/>
                  </a:ext>
                </a:extLst>
              </p:cNvPr>
              <p:cNvSpPr>
                <a:spLocks noChangeAspect="1" noChangeArrowheads="1"/>
              </p:cNvSpPr>
              <p:nvPr/>
            </p:nvSpPr>
            <p:spPr bwMode="auto">
              <a:xfrm>
                <a:off x="10648016"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solidFill>
                      <a:srgbClr val="C00000"/>
                    </a:solidFill>
                  </a:rPr>
                  <a:t>t</a:t>
                </a:r>
              </a:p>
            </p:txBody>
          </p:sp>
          <p:cxnSp>
            <p:nvCxnSpPr>
              <p:cNvPr id="489493" name="AutoShape 70">
                <a:extLst>
                  <a:ext uri="{FF2B5EF4-FFF2-40B4-BE49-F238E27FC236}">
                    <a16:creationId xmlns:a16="http://schemas.microsoft.com/office/drawing/2014/main" id="{3FA2F4CC-6949-D5F9-FD38-DACA06D7261A}"/>
                  </a:ext>
                </a:extLst>
              </p:cNvPr>
              <p:cNvCxnSpPr>
                <a:cxnSpLocks noChangeShapeType="1"/>
                <a:stCxn id="489486" idx="6"/>
                <a:endCxn id="489492" idx="1"/>
              </p:cNvCxnSpPr>
              <p:nvPr/>
            </p:nvCxnSpPr>
            <p:spPr bwMode="auto">
              <a:xfrm>
                <a:off x="9145040" y="3098894"/>
                <a:ext cx="1553810" cy="1288583"/>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494" name="AutoShape 71">
                <a:extLst>
                  <a:ext uri="{FF2B5EF4-FFF2-40B4-BE49-F238E27FC236}">
                    <a16:creationId xmlns:a16="http://schemas.microsoft.com/office/drawing/2014/main" id="{E9396139-81EC-9231-33CD-69760B97CA31}"/>
                  </a:ext>
                </a:extLst>
              </p:cNvPr>
              <p:cNvCxnSpPr>
                <a:cxnSpLocks noChangeShapeType="1"/>
                <a:stCxn id="489487" idx="6"/>
                <a:endCxn id="489492" idx="2"/>
              </p:cNvCxnSpPr>
              <p:nvPr/>
            </p:nvCxnSpPr>
            <p:spPr bwMode="auto">
              <a:xfrm>
                <a:off x="9145040" y="4510979"/>
                <a:ext cx="1502976" cy="0"/>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495" name="AutoShape 72">
                <a:extLst>
                  <a:ext uri="{FF2B5EF4-FFF2-40B4-BE49-F238E27FC236}">
                    <a16:creationId xmlns:a16="http://schemas.microsoft.com/office/drawing/2014/main" id="{3DCB5A4E-EFC2-6BC6-85FE-6BC596283037}"/>
                  </a:ext>
                </a:extLst>
              </p:cNvPr>
              <p:cNvCxnSpPr>
                <a:cxnSpLocks noChangeShapeType="1"/>
                <a:stCxn id="489488" idx="7"/>
                <a:endCxn id="489492" idx="4"/>
              </p:cNvCxnSpPr>
              <p:nvPr/>
            </p:nvCxnSpPr>
            <p:spPr bwMode="auto">
              <a:xfrm flipV="1">
                <a:off x="9094206" y="4685636"/>
                <a:ext cx="1727370" cy="1078544"/>
              </a:xfrm>
              <a:prstGeom prst="straightConnector1">
                <a:avLst/>
              </a:prstGeom>
              <a:noFill/>
              <a:ln w="38100">
                <a:solidFill>
                  <a:srgbClr val="0066CC"/>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496" name="Text Box 73">
                <a:extLst>
                  <a:ext uri="{FF2B5EF4-FFF2-40B4-BE49-F238E27FC236}">
                    <a16:creationId xmlns:a16="http://schemas.microsoft.com/office/drawing/2014/main" id="{3DE796EB-9B27-B56C-FE4B-506A2335F7BF}"/>
                  </a:ext>
                </a:extLst>
              </p:cNvPr>
              <p:cNvSpPr txBox="1">
                <a:spLocks noChangeArrowheads="1"/>
              </p:cNvSpPr>
              <p:nvPr/>
            </p:nvSpPr>
            <p:spPr bwMode="auto">
              <a:xfrm>
                <a:off x="5140632" y="5112122"/>
                <a:ext cx="892815" cy="314755"/>
              </a:xfrm>
              <a:prstGeom prst="rect">
                <a:avLst/>
              </a:prstGeom>
              <a:solidFill>
                <a:schemeClr val="accent1">
                  <a:lumMod val="20000"/>
                  <a:lumOff val="8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dirty="0">
                    <a:latin typeface="Arial" panose="020B0604020202020204" pitchFamily="34" charset="0"/>
                    <a:cs typeface="Arial" panose="020B0604020202020204" pitchFamily="34" charset="0"/>
                  </a:rPr>
                  <a:t> </a:t>
                </a:r>
                <a:r>
                  <a:rPr lang="en-US" altLang="en-US" b="1" dirty="0">
                    <a:latin typeface="Arial" panose="020B0604020202020204" pitchFamily="34" charset="0"/>
                    <a:cs typeface="Arial" panose="020B0604020202020204" pitchFamily="34" charset="0"/>
                  </a:rPr>
                  <a:t>14/</a:t>
                </a:r>
                <a:r>
                  <a:rPr lang="en-US" altLang="en-US" dirty="0">
                    <a:latin typeface="Arial" panose="020B0604020202020204" pitchFamily="34" charset="0"/>
                    <a:cs typeface="Arial" panose="020B0604020202020204" pitchFamily="34" charset="0"/>
                  </a:rPr>
                  <a:t>15</a:t>
                </a:r>
              </a:p>
            </p:txBody>
          </p:sp>
          <p:sp>
            <p:nvSpPr>
              <p:cNvPr id="489497" name="Text Box 74">
                <a:extLst>
                  <a:ext uri="{FF2B5EF4-FFF2-40B4-BE49-F238E27FC236}">
                    <a16:creationId xmlns:a16="http://schemas.microsoft.com/office/drawing/2014/main" id="{5B81C628-B632-6836-BA85-717745FE76C8}"/>
                  </a:ext>
                </a:extLst>
              </p:cNvPr>
              <p:cNvSpPr txBox="1">
                <a:spLocks noChangeArrowheads="1"/>
              </p:cNvSpPr>
              <p:nvPr/>
            </p:nvSpPr>
            <p:spPr bwMode="auto">
              <a:xfrm>
                <a:off x="5458549" y="4352895"/>
                <a:ext cx="453336" cy="369976"/>
              </a:xfrm>
              <a:prstGeom prst="rect">
                <a:avLst/>
              </a:prstGeom>
              <a:solidFill>
                <a:schemeClr val="accent1">
                  <a:lumMod val="20000"/>
                  <a:lumOff val="80000"/>
                </a:schemeClr>
              </a:solidFill>
              <a:ln w="9525">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4</a:t>
                </a:r>
                <a:r>
                  <a:rPr lang="en-US" altLang="en-US" sz="1400" b="1" dirty="0">
                    <a:solidFill>
                      <a:srgbClr val="0066CC"/>
                    </a:solidFill>
                    <a:latin typeface="Arial" panose="020B0604020202020204" pitchFamily="34" charset="0"/>
                    <a:cs typeface="Arial" panose="020B0604020202020204" pitchFamily="34" charset="0"/>
                  </a:rPr>
                  <a:t>/</a:t>
                </a:r>
                <a:r>
                  <a:rPr lang="en-US" altLang="en-US" dirty="0">
                    <a:latin typeface="Arial" panose="020B0604020202020204" pitchFamily="34" charset="0"/>
                    <a:cs typeface="Arial" panose="020B0604020202020204" pitchFamily="34" charset="0"/>
                  </a:rPr>
                  <a:t>5</a:t>
                </a:r>
                <a:endParaRPr lang="en-US" altLang="en-US" sz="1400" dirty="0">
                  <a:latin typeface="Arial" panose="020B0604020202020204" pitchFamily="34" charset="0"/>
                  <a:cs typeface="Arial" panose="020B0604020202020204" pitchFamily="34" charset="0"/>
                </a:endParaRPr>
              </a:p>
            </p:txBody>
          </p:sp>
          <p:sp>
            <p:nvSpPr>
              <p:cNvPr id="489498" name="Text Box 75">
                <a:extLst>
                  <a:ext uri="{FF2B5EF4-FFF2-40B4-BE49-F238E27FC236}">
                    <a16:creationId xmlns:a16="http://schemas.microsoft.com/office/drawing/2014/main" id="{0A0E8AF9-A9B6-A6CC-82CF-DFF69D0D85B1}"/>
                  </a:ext>
                </a:extLst>
              </p:cNvPr>
              <p:cNvSpPr txBox="1">
                <a:spLocks noChangeArrowheads="1"/>
              </p:cNvSpPr>
              <p:nvPr/>
            </p:nvSpPr>
            <p:spPr bwMode="auto">
              <a:xfrm>
                <a:off x="7331166" y="5713346"/>
                <a:ext cx="876483" cy="369976"/>
              </a:xfrm>
              <a:prstGeom prst="rect">
                <a:avLst/>
              </a:prstGeom>
              <a:solidFill>
                <a:schemeClr val="accent1">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14/</a:t>
                </a:r>
                <a:r>
                  <a:rPr lang="en-US" altLang="en-US" dirty="0">
                    <a:latin typeface="Arial" panose="020B0604020202020204" pitchFamily="34" charset="0"/>
                    <a:cs typeface="Arial" panose="020B0604020202020204" pitchFamily="34" charset="0"/>
                  </a:rPr>
                  <a:t>30</a:t>
                </a:r>
              </a:p>
            </p:txBody>
          </p:sp>
          <p:sp>
            <p:nvSpPr>
              <p:cNvPr id="489499" name="Text Box 76">
                <a:extLst>
                  <a:ext uri="{FF2B5EF4-FFF2-40B4-BE49-F238E27FC236}">
                    <a16:creationId xmlns:a16="http://schemas.microsoft.com/office/drawing/2014/main" id="{95C286E1-D302-0392-5CF5-1179DD29E113}"/>
                  </a:ext>
                </a:extLst>
              </p:cNvPr>
              <p:cNvSpPr txBox="1">
                <a:spLocks noChangeArrowheads="1"/>
              </p:cNvSpPr>
              <p:nvPr/>
            </p:nvSpPr>
            <p:spPr bwMode="auto">
              <a:xfrm>
                <a:off x="8736366" y="4983795"/>
                <a:ext cx="600782"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15</a:t>
                </a:r>
              </a:p>
            </p:txBody>
          </p:sp>
          <p:sp>
            <p:nvSpPr>
              <p:cNvPr id="489500" name="Text Box 77">
                <a:extLst>
                  <a:ext uri="{FF2B5EF4-FFF2-40B4-BE49-F238E27FC236}">
                    <a16:creationId xmlns:a16="http://schemas.microsoft.com/office/drawing/2014/main" id="{7F1A88EB-EE97-9324-BDE0-B3CCA1D60B4C}"/>
                  </a:ext>
                </a:extLst>
              </p:cNvPr>
              <p:cNvSpPr txBox="1">
                <a:spLocks noChangeArrowheads="1"/>
              </p:cNvSpPr>
              <p:nvPr/>
            </p:nvSpPr>
            <p:spPr bwMode="auto">
              <a:xfrm>
                <a:off x="5117697" y="3595079"/>
                <a:ext cx="868941" cy="369976"/>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solidFill>
                      <a:srgbClr val="0066CC"/>
                    </a:solidFill>
                    <a:latin typeface="Arial" panose="020B0604020202020204" pitchFamily="34" charset="0"/>
                    <a:cs typeface="Arial" panose="020B0604020202020204" pitchFamily="34" charset="0"/>
                  </a:rPr>
                  <a:t>10/</a:t>
                </a:r>
                <a:r>
                  <a:rPr lang="en-US" altLang="en-US" dirty="0">
                    <a:latin typeface="Arial" panose="020B0604020202020204" pitchFamily="34" charset="0"/>
                    <a:cs typeface="Arial" panose="020B0604020202020204" pitchFamily="34" charset="0"/>
                  </a:rPr>
                  <a:t>10</a:t>
                </a:r>
              </a:p>
            </p:txBody>
          </p:sp>
          <p:sp>
            <p:nvSpPr>
              <p:cNvPr id="489501" name="Text Box 78">
                <a:extLst>
                  <a:ext uri="{FF2B5EF4-FFF2-40B4-BE49-F238E27FC236}">
                    <a16:creationId xmlns:a16="http://schemas.microsoft.com/office/drawing/2014/main" id="{4328F4D5-DE9F-7485-0377-9A9C5FE1B893}"/>
                  </a:ext>
                </a:extLst>
              </p:cNvPr>
              <p:cNvSpPr txBox="1">
                <a:spLocks noChangeArrowheads="1"/>
              </p:cNvSpPr>
              <p:nvPr/>
            </p:nvSpPr>
            <p:spPr bwMode="auto">
              <a:xfrm>
                <a:off x="7486213" y="4352895"/>
                <a:ext cx="469225" cy="369976"/>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solidFill>
                      <a:srgbClr val="0066CC"/>
                    </a:solidFill>
                    <a:latin typeface="Arial" panose="020B0604020202020204" pitchFamily="34" charset="0"/>
                    <a:cs typeface="Arial" panose="020B0604020202020204" pitchFamily="34" charset="0"/>
                  </a:rPr>
                  <a:t>8</a:t>
                </a:r>
                <a:r>
                  <a:rPr lang="en-US" altLang="en-US" dirty="0">
                    <a:solidFill>
                      <a:srgbClr val="0066CC"/>
                    </a:solidFill>
                    <a:latin typeface="Arial" panose="020B0604020202020204" pitchFamily="34" charset="0"/>
                    <a:cs typeface="Arial" panose="020B0604020202020204" pitchFamily="34" charset="0"/>
                  </a:rPr>
                  <a:t>/</a:t>
                </a:r>
                <a:r>
                  <a:rPr lang="en-US" altLang="en-US" dirty="0">
                    <a:latin typeface="Arial" panose="020B0604020202020204" pitchFamily="34" charset="0"/>
                    <a:cs typeface="Arial" panose="020B0604020202020204" pitchFamily="34" charset="0"/>
                  </a:rPr>
                  <a:t>8</a:t>
                </a:r>
              </a:p>
            </p:txBody>
          </p:sp>
          <p:sp>
            <p:nvSpPr>
              <p:cNvPr id="489502" name="Text Box 79">
                <a:extLst>
                  <a:ext uri="{FF2B5EF4-FFF2-40B4-BE49-F238E27FC236}">
                    <a16:creationId xmlns:a16="http://schemas.microsoft.com/office/drawing/2014/main" id="{98478437-59A5-49FC-19A7-609DF49ECD75}"/>
                  </a:ext>
                </a:extLst>
              </p:cNvPr>
              <p:cNvSpPr txBox="1">
                <a:spLocks noChangeArrowheads="1"/>
              </p:cNvSpPr>
              <p:nvPr/>
            </p:nvSpPr>
            <p:spPr bwMode="auto">
              <a:xfrm>
                <a:off x="7425727" y="3622107"/>
                <a:ext cx="624271" cy="314755"/>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1/</a:t>
                </a:r>
                <a:r>
                  <a:rPr lang="en-US" altLang="en-US" dirty="0">
                    <a:latin typeface="Arial" panose="020B0604020202020204" pitchFamily="34" charset="0"/>
                    <a:cs typeface="Arial" panose="020B0604020202020204" pitchFamily="34" charset="0"/>
                  </a:rPr>
                  <a:t>15</a:t>
                </a:r>
              </a:p>
            </p:txBody>
          </p:sp>
          <p:sp>
            <p:nvSpPr>
              <p:cNvPr id="489503" name="Text Box 80">
                <a:extLst>
                  <a:ext uri="{FF2B5EF4-FFF2-40B4-BE49-F238E27FC236}">
                    <a16:creationId xmlns:a16="http://schemas.microsoft.com/office/drawing/2014/main" id="{B0AE19D2-B6E2-6BC0-28A7-32D8E6E76C5D}"/>
                  </a:ext>
                </a:extLst>
              </p:cNvPr>
              <p:cNvSpPr txBox="1">
                <a:spLocks noChangeArrowheads="1"/>
              </p:cNvSpPr>
              <p:nvPr/>
            </p:nvSpPr>
            <p:spPr bwMode="auto">
              <a:xfrm>
                <a:off x="7340507" y="2939711"/>
                <a:ext cx="507507" cy="369976"/>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9/</a:t>
                </a:r>
                <a:r>
                  <a:rPr lang="en-US" altLang="en-US" dirty="0">
                    <a:latin typeface="Arial" panose="020B0604020202020204" pitchFamily="34" charset="0"/>
                    <a:cs typeface="Arial" panose="020B0604020202020204" pitchFamily="34" charset="0"/>
                  </a:rPr>
                  <a:t>9</a:t>
                </a:r>
              </a:p>
            </p:txBody>
          </p:sp>
          <p:sp>
            <p:nvSpPr>
              <p:cNvPr id="489504" name="Text Box 81">
                <a:extLst>
                  <a:ext uri="{FF2B5EF4-FFF2-40B4-BE49-F238E27FC236}">
                    <a16:creationId xmlns:a16="http://schemas.microsoft.com/office/drawing/2014/main" id="{E6808645-6C82-26B9-7150-A64CE01C1A34}"/>
                  </a:ext>
                </a:extLst>
              </p:cNvPr>
              <p:cNvSpPr txBox="1">
                <a:spLocks noChangeArrowheads="1"/>
              </p:cNvSpPr>
              <p:nvPr/>
            </p:nvSpPr>
            <p:spPr bwMode="auto">
              <a:xfrm>
                <a:off x="7444248" y="5043023"/>
                <a:ext cx="484360" cy="369976"/>
              </a:xfrm>
              <a:prstGeom prst="rect">
                <a:avLst/>
              </a:prstGeom>
              <a:solidFill>
                <a:schemeClr val="accent1">
                  <a:lumMod val="20000"/>
                  <a:lumOff val="8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4/</a:t>
                </a:r>
                <a:r>
                  <a:rPr lang="en-US" altLang="en-US" dirty="0">
                    <a:latin typeface="Arial" panose="020B0604020202020204" pitchFamily="34" charset="0"/>
                    <a:cs typeface="Arial" panose="020B0604020202020204" pitchFamily="34" charset="0"/>
                  </a:rPr>
                  <a:t>6</a:t>
                </a:r>
              </a:p>
            </p:txBody>
          </p:sp>
          <p:sp>
            <p:nvSpPr>
              <p:cNvPr id="489505" name="Text Box 82">
                <a:extLst>
                  <a:ext uri="{FF2B5EF4-FFF2-40B4-BE49-F238E27FC236}">
                    <a16:creationId xmlns:a16="http://schemas.microsoft.com/office/drawing/2014/main" id="{B65BEB1E-2891-3D7C-8CB4-F97E0E33F1A1}"/>
                  </a:ext>
                </a:extLst>
              </p:cNvPr>
              <p:cNvSpPr txBox="1">
                <a:spLocks noChangeArrowheads="1"/>
              </p:cNvSpPr>
              <p:nvPr/>
            </p:nvSpPr>
            <p:spPr bwMode="auto">
              <a:xfrm>
                <a:off x="9522452" y="5160001"/>
                <a:ext cx="792925" cy="369976"/>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solidFill>
                      <a:srgbClr val="0066CC"/>
                    </a:solidFill>
                    <a:latin typeface="Arial" panose="020B0604020202020204" pitchFamily="34" charset="0"/>
                    <a:cs typeface="Arial" panose="020B0604020202020204" pitchFamily="34" charset="0"/>
                  </a:rPr>
                  <a:t>10/</a:t>
                </a:r>
                <a:r>
                  <a:rPr lang="en-US" altLang="en-US" dirty="0">
                    <a:latin typeface="Arial" panose="020B0604020202020204" pitchFamily="34" charset="0"/>
                    <a:cs typeface="Arial" panose="020B0604020202020204" pitchFamily="34" charset="0"/>
                  </a:rPr>
                  <a:t>10</a:t>
                </a:r>
              </a:p>
            </p:txBody>
          </p:sp>
          <p:sp>
            <p:nvSpPr>
              <p:cNvPr id="489506" name="Text Box 83">
                <a:extLst>
                  <a:ext uri="{FF2B5EF4-FFF2-40B4-BE49-F238E27FC236}">
                    <a16:creationId xmlns:a16="http://schemas.microsoft.com/office/drawing/2014/main" id="{77513CE1-C686-1387-99BB-30696F45AA69}"/>
                  </a:ext>
                </a:extLst>
              </p:cNvPr>
              <p:cNvSpPr txBox="1">
                <a:spLocks noChangeArrowheads="1"/>
              </p:cNvSpPr>
              <p:nvPr/>
            </p:nvSpPr>
            <p:spPr bwMode="auto">
              <a:xfrm>
                <a:off x="9704822" y="4352895"/>
                <a:ext cx="596075" cy="314755"/>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 9/</a:t>
                </a:r>
                <a:r>
                  <a:rPr lang="en-US" altLang="en-US" dirty="0">
                    <a:latin typeface="Arial" panose="020B0604020202020204" pitchFamily="34" charset="0"/>
                    <a:cs typeface="Arial" panose="020B0604020202020204" pitchFamily="34" charset="0"/>
                  </a:rPr>
                  <a:t>10</a:t>
                </a:r>
                <a:endParaRPr lang="en-US" altLang="en-US" sz="1400" dirty="0">
                  <a:latin typeface="Arial" panose="020B0604020202020204" pitchFamily="34" charset="0"/>
                  <a:cs typeface="Arial" panose="020B0604020202020204" pitchFamily="34" charset="0"/>
                </a:endParaRPr>
              </a:p>
            </p:txBody>
          </p:sp>
          <p:sp>
            <p:nvSpPr>
              <p:cNvPr id="489507" name="Text Box 84">
                <a:extLst>
                  <a:ext uri="{FF2B5EF4-FFF2-40B4-BE49-F238E27FC236}">
                    <a16:creationId xmlns:a16="http://schemas.microsoft.com/office/drawing/2014/main" id="{368C5864-28D8-B2A4-128B-E35BBA8D85EB}"/>
                  </a:ext>
                </a:extLst>
              </p:cNvPr>
              <p:cNvSpPr txBox="1">
                <a:spLocks noChangeArrowheads="1"/>
              </p:cNvSpPr>
              <p:nvPr/>
            </p:nvSpPr>
            <p:spPr bwMode="auto">
              <a:xfrm>
                <a:off x="9703383" y="3588301"/>
                <a:ext cx="689643" cy="314755"/>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9/</a:t>
                </a:r>
                <a:r>
                  <a:rPr lang="en-US" altLang="en-US" dirty="0">
                    <a:latin typeface="Arial" panose="020B0604020202020204" pitchFamily="34" charset="0"/>
                    <a:cs typeface="Arial" panose="020B0604020202020204" pitchFamily="34" charset="0"/>
                  </a:rPr>
                  <a:t>10</a:t>
                </a:r>
              </a:p>
            </p:txBody>
          </p:sp>
          <p:sp>
            <p:nvSpPr>
              <p:cNvPr id="489508" name="Text Box 85">
                <a:extLst>
                  <a:ext uri="{FF2B5EF4-FFF2-40B4-BE49-F238E27FC236}">
                    <a16:creationId xmlns:a16="http://schemas.microsoft.com/office/drawing/2014/main" id="{95B80BD8-0CE5-33C3-3911-D08E2FA73AC1}"/>
                  </a:ext>
                </a:extLst>
              </p:cNvPr>
              <p:cNvSpPr txBox="1">
                <a:spLocks noChangeArrowheads="1"/>
              </p:cNvSpPr>
              <p:nvPr/>
            </p:nvSpPr>
            <p:spPr bwMode="auto">
              <a:xfrm>
                <a:off x="8791308" y="3595078"/>
                <a:ext cx="545059" cy="314755"/>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dirty="0">
                    <a:latin typeface="Arial" panose="020B0604020202020204" pitchFamily="34" charset="0"/>
                    <a:cs typeface="Arial" panose="020B0604020202020204" pitchFamily="34" charset="0"/>
                  </a:rPr>
                  <a:t>15</a:t>
                </a:r>
              </a:p>
            </p:txBody>
          </p:sp>
          <p:sp>
            <p:nvSpPr>
              <p:cNvPr id="489509" name="Text Box 86">
                <a:extLst>
                  <a:ext uri="{FF2B5EF4-FFF2-40B4-BE49-F238E27FC236}">
                    <a16:creationId xmlns:a16="http://schemas.microsoft.com/office/drawing/2014/main" id="{0BBD22C1-10F1-4809-1C0C-340F1C47C57E}"/>
                  </a:ext>
                </a:extLst>
              </p:cNvPr>
              <p:cNvSpPr txBox="1">
                <a:spLocks noChangeArrowheads="1"/>
              </p:cNvSpPr>
              <p:nvPr/>
            </p:nvSpPr>
            <p:spPr bwMode="auto">
              <a:xfrm>
                <a:off x="6276229" y="3653451"/>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4</a:t>
                </a:r>
              </a:p>
            </p:txBody>
          </p:sp>
          <p:sp>
            <p:nvSpPr>
              <p:cNvPr id="489510" name="Text Box 87">
                <a:extLst>
                  <a:ext uri="{FF2B5EF4-FFF2-40B4-BE49-F238E27FC236}">
                    <a16:creationId xmlns:a16="http://schemas.microsoft.com/office/drawing/2014/main" id="{E9EDE5EB-0553-FE79-F30F-C47A8D86F9FD}"/>
                  </a:ext>
                </a:extLst>
              </p:cNvPr>
              <p:cNvSpPr txBox="1">
                <a:spLocks noChangeArrowheads="1"/>
              </p:cNvSpPr>
              <p:nvPr/>
            </p:nvSpPr>
            <p:spPr bwMode="auto">
              <a:xfrm>
                <a:off x="6268652" y="5012007"/>
                <a:ext cx="403767" cy="307777"/>
              </a:xfrm>
              <a:prstGeom prst="rect">
                <a:avLst/>
              </a:prstGeom>
              <a:solidFill>
                <a:schemeClr val="accent1">
                  <a:lumMod val="20000"/>
                  <a:lumOff val="8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4</a:t>
                </a:r>
              </a:p>
            </p:txBody>
          </p:sp>
        </p:grpSp>
      </p:grpSp>
      <mc:AlternateContent xmlns:mc="http://schemas.openxmlformats.org/markup-compatibility/2006">
        <mc:Choice xmlns:a14="http://schemas.microsoft.com/office/drawing/2010/main" Requires="a14">
          <p:sp>
            <p:nvSpPr>
              <p:cNvPr id="489511" name="TextBox 489510">
                <a:extLst>
                  <a:ext uri="{FF2B5EF4-FFF2-40B4-BE49-F238E27FC236}">
                    <a16:creationId xmlns:a16="http://schemas.microsoft.com/office/drawing/2014/main" id="{D5CD1474-BAAC-6A73-99C7-8207BB4535DF}"/>
                  </a:ext>
                </a:extLst>
              </p:cNvPr>
              <p:cNvSpPr txBox="1"/>
              <p:nvPr/>
            </p:nvSpPr>
            <p:spPr>
              <a:xfrm>
                <a:off x="4428689" y="4702016"/>
                <a:ext cx="457176"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1" i="1" dirty="0" smtClean="0">
                          <a:solidFill>
                            <a:srgbClr val="0066CC"/>
                          </a:solidFill>
                          <a:latin typeface="Cambria Math" panose="02040503050406030204" pitchFamily="18" charset="0"/>
                        </a:rPr>
                        <m:t>𝑨</m:t>
                      </m:r>
                    </m:oMath>
                  </m:oMathPara>
                </a14:m>
                <a:endParaRPr lang="en-US" sz="2400" b="1" dirty="0">
                  <a:solidFill>
                    <a:srgbClr val="0066CC"/>
                  </a:solidFill>
                </a:endParaRPr>
              </a:p>
            </p:txBody>
          </p:sp>
        </mc:Choice>
        <mc:Fallback>
          <p:sp>
            <p:nvSpPr>
              <p:cNvPr id="489511" name="TextBox 489510">
                <a:extLst>
                  <a:ext uri="{FF2B5EF4-FFF2-40B4-BE49-F238E27FC236}">
                    <a16:creationId xmlns:a16="http://schemas.microsoft.com/office/drawing/2014/main" id="{D5CD1474-BAAC-6A73-99C7-8207BB4535DF}"/>
                  </a:ext>
                </a:extLst>
              </p:cNvPr>
              <p:cNvSpPr txBox="1">
                <a:spLocks noRot="1" noChangeAspect="1" noMove="1" noResize="1" noEditPoints="1" noAdjustHandles="1" noChangeArrowheads="1" noChangeShapeType="1" noTextEdit="1"/>
              </p:cNvSpPr>
              <p:nvPr/>
            </p:nvSpPr>
            <p:spPr>
              <a:xfrm>
                <a:off x="4428689" y="4702016"/>
                <a:ext cx="457176" cy="461665"/>
              </a:xfrm>
              <a:prstGeom prst="rect">
                <a:avLst/>
              </a:prstGeom>
              <a:blipFill>
                <a:blip r:embed="rId4"/>
                <a:stretch>
                  <a:fillRect/>
                </a:stretch>
              </a:blipFill>
            </p:spPr>
            <p:txBody>
              <a:bodyPr/>
              <a:lstStyle/>
              <a:p>
                <a:r>
                  <a:rPr lang="en-US">
                    <a:noFill/>
                  </a:rPr>
                  <a:t> </a:t>
                </a:r>
              </a:p>
            </p:txBody>
          </p:sp>
        </mc:Fallback>
      </mc:AlternateContent>
      <p:sp>
        <p:nvSpPr>
          <p:cNvPr id="489512" name="TextBox 489511">
            <a:extLst>
              <a:ext uri="{FF2B5EF4-FFF2-40B4-BE49-F238E27FC236}">
                <a16:creationId xmlns:a16="http://schemas.microsoft.com/office/drawing/2014/main" id="{118F220A-166D-88B7-227D-5577F9315A35}"/>
              </a:ext>
            </a:extLst>
          </p:cNvPr>
          <p:cNvSpPr txBox="1"/>
          <p:nvPr/>
        </p:nvSpPr>
        <p:spPr>
          <a:xfrm>
            <a:off x="4188871" y="5659205"/>
            <a:ext cx="1208026" cy="461665"/>
          </a:xfrm>
          <a:prstGeom prst="rect">
            <a:avLst/>
          </a:prstGeom>
          <a:noFill/>
        </p:spPr>
        <p:txBody>
          <a:bodyPr wrap="square" rtlCol="0">
            <a:spAutoFit/>
          </a:bodyPr>
          <a:lstStyle/>
          <a:p>
            <a:endParaRPr lang="en-US" sz="2400" b="1" dirty="0">
              <a:solidFill>
                <a:srgbClr val="0066CC"/>
              </a:solidFill>
            </a:endParaRPr>
          </a:p>
        </p:txBody>
      </p:sp>
      <p:grpSp>
        <p:nvGrpSpPr>
          <p:cNvPr id="489601" name="Group 489600">
            <a:extLst>
              <a:ext uri="{FF2B5EF4-FFF2-40B4-BE49-F238E27FC236}">
                <a16:creationId xmlns:a16="http://schemas.microsoft.com/office/drawing/2014/main" id="{CC887037-C30E-40C3-170B-92B41CC28A9D}"/>
              </a:ext>
            </a:extLst>
          </p:cNvPr>
          <p:cNvGrpSpPr/>
          <p:nvPr/>
        </p:nvGrpSpPr>
        <p:grpSpPr>
          <a:xfrm>
            <a:off x="6023170" y="4225850"/>
            <a:ext cx="5159233" cy="2418964"/>
            <a:chOff x="6007450" y="3954413"/>
            <a:chExt cx="6064379" cy="2843352"/>
          </a:xfrm>
        </p:grpSpPr>
        <p:sp>
          <p:nvSpPr>
            <p:cNvPr id="489515" name="Freeform: Shape 489514">
              <a:extLst>
                <a:ext uri="{FF2B5EF4-FFF2-40B4-BE49-F238E27FC236}">
                  <a16:creationId xmlns:a16="http://schemas.microsoft.com/office/drawing/2014/main" id="{67B1DF18-205C-5165-2058-05F8E8E5D4A4}"/>
                </a:ext>
              </a:extLst>
            </p:cNvPr>
            <p:cNvSpPr/>
            <p:nvPr/>
          </p:nvSpPr>
          <p:spPr bwMode="auto">
            <a:xfrm>
              <a:off x="6007450" y="4786509"/>
              <a:ext cx="4774836" cy="1960213"/>
            </a:xfrm>
            <a:custGeom>
              <a:avLst/>
              <a:gdLst>
                <a:gd name="connsiteX0" fmla="*/ 31470 w 6228837"/>
                <a:gd name="connsiteY0" fmla="*/ 469433 h 2227394"/>
                <a:gd name="connsiteX1" fmla="*/ 414242 w 6228837"/>
                <a:gd name="connsiteY1" fmla="*/ 1203079 h 2227394"/>
                <a:gd name="connsiteX2" fmla="*/ 1371172 w 6228837"/>
                <a:gd name="connsiteY2" fmla="*/ 1755972 h 2227394"/>
                <a:gd name="connsiteX3" fmla="*/ 2434428 w 6228837"/>
                <a:gd name="connsiteY3" fmla="*/ 2170642 h 2227394"/>
                <a:gd name="connsiteX4" fmla="*/ 3444521 w 6228837"/>
                <a:gd name="connsiteY4" fmla="*/ 2202540 h 2227394"/>
                <a:gd name="connsiteX5" fmla="*/ 5687991 w 6228837"/>
                <a:gd name="connsiteY5" fmla="*/ 2202540 h 2227394"/>
                <a:gd name="connsiteX6" fmla="*/ 6187721 w 6228837"/>
                <a:gd name="connsiteY6" fmla="*/ 1883563 h 2227394"/>
                <a:gd name="connsiteX7" fmla="*/ 4922447 w 6228837"/>
                <a:gd name="connsiteY7" fmla="*/ 1309405 h 2227394"/>
                <a:gd name="connsiteX8" fmla="*/ 3391358 w 6228837"/>
                <a:gd name="connsiteY8" fmla="*/ 480065 h 2227394"/>
                <a:gd name="connsiteX9" fmla="*/ 2413163 w 6228837"/>
                <a:gd name="connsiteY9" fmla="*/ 161089 h 2227394"/>
                <a:gd name="connsiteX10" fmla="*/ 1179786 w 6228837"/>
                <a:gd name="connsiteY10" fmla="*/ 12233 h 2227394"/>
                <a:gd name="connsiteX11" fmla="*/ 31470 w 6228837"/>
                <a:gd name="connsiteY11" fmla="*/ 469433 h 2227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28837" h="2227394">
                  <a:moveTo>
                    <a:pt x="31470" y="469433"/>
                  </a:moveTo>
                  <a:cubicBezTo>
                    <a:pt x="-96121" y="667907"/>
                    <a:pt x="190958" y="988656"/>
                    <a:pt x="414242" y="1203079"/>
                  </a:cubicBezTo>
                  <a:cubicBezTo>
                    <a:pt x="637526" y="1417502"/>
                    <a:pt x="1034474" y="1594712"/>
                    <a:pt x="1371172" y="1755972"/>
                  </a:cubicBezTo>
                  <a:cubicBezTo>
                    <a:pt x="1707870" y="1917233"/>
                    <a:pt x="2088870" y="2096214"/>
                    <a:pt x="2434428" y="2170642"/>
                  </a:cubicBezTo>
                  <a:cubicBezTo>
                    <a:pt x="2779986" y="2245070"/>
                    <a:pt x="3444521" y="2202540"/>
                    <a:pt x="3444521" y="2202540"/>
                  </a:cubicBezTo>
                  <a:cubicBezTo>
                    <a:pt x="3986781" y="2207856"/>
                    <a:pt x="5230791" y="2255703"/>
                    <a:pt x="5687991" y="2202540"/>
                  </a:cubicBezTo>
                  <a:cubicBezTo>
                    <a:pt x="6145191" y="2149377"/>
                    <a:pt x="6315312" y="2032419"/>
                    <a:pt x="6187721" y="1883563"/>
                  </a:cubicBezTo>
                  <a:cubicBezTo>
                    <a:pt x="6060130" y="1734707"/>
                    <a:pt x="5388507" y="1543321"/>
                    <a:pt x="4922447" y="1309405"/>
                  </a:cubicBezTo>
                  <a:cubicBezTo>
                    <a:pt x="4456387" y="1075489"/>
                    <a:pt x="3809572" y="671451"/>
                    <a:pt x="3391358" y="480065"/>
                  </a:cubicBezTo>
                  <a:cubicBezTo>
                    <a:pt x="2973144" y="288679"/>
                    <a:pt x="2781758" y="239061"/>
                    <a:pt x="2413163" y="161089"/>
                  </a:cubicBezTo>
                  <a:cubicBezTo>
                    <a:pt x="2044568" y="83117"/>
                    <a:pt x="1576735" y="-39158"/>
                    <a:pt x="1179786" y="12233"/>
                  </a:cubicBezTo>
                  <a:cubicBezTo>
                    <a:pt x="782837" y="63624"/>
                    <a:pt x="159061" y="270959"/>
                    <a:pt x="31470" y="469433"/>
                  </a:cubicBezTo>
                  <a:close/>
                </a:path>
              </a:pathLst>
            </a:custGeom>
            <a:solidFill>
              <a:schemeClr val="accent1">
                <a:lumMod val="20000"/>
                <a:lumOff val="80000"/>
              </a:schemeClr>
            </a:solidFill>
            <a:ln w="38100" cap="flat" cmpd="sng">
              <a:noFill/>
              <a:prstDash val="solid"/>
              <a:round/>
              <a:headEnd type="triangle" w="med" len="med"/>
              <a:tailEnd type="none" w="med" len="med"/>
            </a:ln>
            <a:effectLst/>
          </p:spPr>
          <p:txBody>
            <a:bodyPr wrap="square" rtlCol="0" anchor="ctr">
              <a:spAutoFit/>
            </a:bodyPr>
            <a:lstStyle/>
            <a:p>
              <a:pPr algn="l"/>
              <a:endParaRPr lang="en-US" dirty="0"/>
            </a:p>
          </p:txBody>
        </p:sp>
        <p:cxnSp>
          <p:nvCxnSpPr>
            <p:cNvPr id="489517" name="AutoShape 68">
              <a:extLst>
                <a:ext uri="{FF2B5EF4-FFF2-40B4-BE49-F238E27FC236}">
                  <a16:creationId xmlns:a16="http://schemas.microsoft.com/office/drawing/2014/main" id="{5073FFF4-D20A-2A95-7712-C66C83D51B11}"/>
                </a:ext>
              </a:extLst>
            </p:cNvPr>
            <p:cNvCxnSpPr>
              <a:cxnSpLocks noChangeShapeType="1"/>
              <a:stCxn id="489532" idx="1"/>
              <a:endCxn id="489520" idx="4"/>
            </p:cNvCxnSpPr>
            <p:nvPr/>
          </p:nvCxnSpPr>
          <p:spPr bwMode="auto">
            <a:xfrm flipH="1" flipV="1">
              <a:off x="8074059" y="5505495"/>
              <a:ext cx="2108854" cy="949171"/>
            </a:xfrm>
            <a:prstGeom prst="straightConnector1">
              <a:avLst/>
            </a:prstGeom>
            <a:noFill/>
            <a:ln w="38100">
              <a:solidFill>
                <a:schemeClr val="tx1"/>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518" name="Oval 50">
              <a:extLst>
                <a:ext uri="{FF2B5EF4-FFF2-40B4-BE49-F238E27FC236}">
                  <a16:creationId xmlns:a16="http://schemas.microsoft.com/office/drawing/2014/main" id="{45B0520F-1FDD-4B7C-6B16-A6A24BCBEACB}"/>
                </a:ext>
              </a:extLst>
            </p:cNvPr>
            <p:cNvSpPr>
              <a:spLocks noChangeAspect="1" noChangeArrowheads="1"/>
            </p:cNvSpPr>
            <p:nvPr/>
          </p:nvSpPr>
          <p:spPr bwMode="auto">
            <a:xfrm>
              <a:off x="6263977" y="5198081"/>
              <a:ext cx="305481" cy="307414"/>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solidFill>
                    <a:srgbClr val="C00000"/>
                  </a:solidFill>
                </a:rPr>
                <a:t>s</a:t>
              </a:r>
            </a:p>
          </p:txBody>
        </p:sp>
        <p:sp>
          <p:nvSpPr>
            <p:cNvPr id="489519" name="Oval 51">
              <a:extLst>
                <a:ext uri="{FF2B5EF4-FFF2-40B4-BE49-F238E27FC236}">
                  <a16:creationId xmlns:a16="http://schemas.microsoft.com/office/drawing/2014/main" id="{2F426A2A-A67D-84BE-F783-BD73F40B93C4}"/>
                </a:ext>
              </a:extLst>
            </p:cNvPr>
            <p:cNvSpPr>
              <a:spLocks noChangeAspect="1" noChangeArrowheads="1"/>
            </p:cNvSpPr>
            <p:nvPr/>
          </p:nvSpPr>
          <p:spPr bwMode="auto">
            <a:xfrm>
              <a:off x="7921318" y="3954413"/>
              <a:ext cx="305481" cy="309348"/>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a</a:t>
              </a:r>
            </a:p>
          </p:txBody>
        </p:sp>
        <p:sp>
          <p:nvSpPr>
            <p:cNvPr id="489520" name="Oval 52">
              <a:extLst>
                <a:ext uri="{FF2B5EF4-FFF2-40B4-BE49-F238E27FC236}">
                  <a16:creationId xmlns:a16="http://schemas.microsoft.com/office/drawing/2014/main" id="{59501D10-EFFA-E852-66A4-71ABD0710E93}"/>
                </a:ext>
              </a:extLst>
            </p:cNvPr>
            <p:cNvSpPr>
              <a:spLocks noChangeAspect="1" noChangeArrowheads="1"/>
            </p:cNvSpPr>
            <p:nvPr/>
          </p:nvSpPr>
          <p:spPr bwMode="auto">
            <a:xfrm>
              <a:off x="7921318" y="5198081"/>
              <a:ext cx="305481" cy="307414"/>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b</a:t>
              </a:r>
            </a:p>
          </p:txBody>
        </p:sp>
        <p:sp>
          <p:nvSpPr>
            <p:cNvPr id="489521" name="Oval 53">
              <a:extLst>
                <a:ext uri="{FF2B5EF4-FFF2-40B4-BE49-F238E27FC236}">
                  <a16:creationId xmlns:a16="http://schemas.microsoft.com/office/drawing/2014/main" id="{47DFC5C4-3A6E-87DD-3C16-9DCFDDA52F9E}"/>
                </a:ext>
              </a:extLst>
            </p:cNvPr>
            <p:cNvSpPr>
              <a:spLocks noChangeAspect="1" noChangeArrowheads="1"/>
            </p:cNvSpPr>
            <p:nvPr/>
          </p:nvSpPr>
          <p:spPr bwMode="auto">
            <a:xfrm>
              <a:off x="7921318" y="6409929"/>
              <a:ext cx="305481" cy="305481"/>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c</a:t>
              </a:r>
            </a:p>
          </p:txBody>
        </p:sp>
        <p:cxnSp>
          <p:nvCxnSpPr>
            <p:cNvPr id="489522" name="AutoShape 54">
              <a:extLst>
                <a:ext uri="{FF2B5EF4-FFF2-40B4-BE49-F238E27FC236}">
                  <a16:creationId xmlns:a16="http://schemas.microsoft.com/office/drawing/2014/main" id="{2A6B2334-B731-1041-00F3-740D7133AB61}"/>
                </a:ext>
              </a:extLst>
            </p:cNvPr>
            <p:cNvCxnSpPr>
              <a:cxnSpLocks noChangeShapeType="1"/>
              <a:stCxn id="489518" idx="7"/>
              <a:endCxn id="489519" idx="3"/>
            </p:cNvCxnSpPr>
            <p:nvPr/>
          </p:nvCxnSpPr>
          <p:spPr bwMode="auto">
            <a:xfrm flipV="1">
              <a:off x="6524722" y="4218458"/>
              <a:ext cx="1441332" cy="1024643"/>
            </a:xfrm>
            <a:prstGeom prst="straightConnector1">
              <a:avLst/>
            </a:prstGeom>
            <a:noFill/>
            <a:ln w="38100">
              <a:solidFill>
                <a:srgbClr val="0066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523" name="AutoShape 55">
              <a:extLst>
                <a:ext uri="{FF2B5EF4-FFF2-40B4-BE49-F238E27FC236}">
                  <a16:creationId xmlns:a16="http://schemas.microsoft.com/office/drawing/2014/main" id="{7E405726-5858-F620-02D8-19A641AFC70D}"/>
                </a:ext>
              </a:extLst>
            </p:cNvPr>
            <p:cNvCxnSpPr>
              <a:cxnSpLocks noChangeShapeType="1"/>
              <a:stCxn id="489518" idx="6"/>
              <a:endCxn id="489520" idx="2"/>
            </p:cNvCxnSpPr>
            <p:nvPr/>
          </p:nvCxnSpPr>
          <p:spPr bwMode="auto">
            <a:xfrm>
              <a:off x="6569458" y="5351789"/>
              <a:ext cx="1351859" cy="0"/>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524" name="AutoShape 56">
              <a:extLst>
                <a:ext uri="{FF2B5EF4-FFF2-40B4-BE49-F238E27FC236}">
                  <a16:creationId xmlns:a16="http://schemas.microsoft.com/office/drawing/2014/main" id="{A8E75C8E-239D-1AF3-CF6E-F71D0A66B9C7}"/>
                </a:ext>
              </a:extLst>
            </p:cNvPr>
            <p:cNvCxnSpPr>
              <a:cxnSpLocks noChangeShapeType="1"/>
              <a:stCxn id="489518" idx="4"/>
              <a:endCxn id="489521" idx="1"/>
            </p:cNvCxnSpPr>
            <p:nvPr/>
          </p:nvCxnSpPr>
          <p:spPr bwMode="auto">
            <a:xfrm>
              <a:off x="6416718" y="5505495"/>
              <a:ext cx="1549337" cy="949171"/>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525" name="AutoShape 57">
              <a:extLst>
                <a:ext uri="{FF2B5EF4-FFF2-40B4-BE49-F238E27FC236}">
                  <a16:creationId xmlns:a16="http://schemas.microsoft.com/office/drawing/2014/main" id="{EA73B27E-977B-9C99-1B46-3E923A0FD656}"/>
                </a:ext>
              </a:extLst>
            </p:cNvPr>
            <p:cNvCxnSpPr>
              <a:cxnSpLocks noChangeShapeType="1"/>
              <a:stCxn id="489520" idx="6"/>
              <a:endCxn id="489531" idx="2"/>
            </p:cNvCxnSpPr>
            <p:nvPr/>
          </p:nvCxnSpPr>
          <p:spPr bwMode="auto">
            <a:xfrm>
              <a:off x="8226799" y="5351789"/>
              <a:ext cx="1911378" cy="0"/>
            </a:xfrm>
            <a:prstGeom prst="straightConnector1">
              <a:avLst/>
            </a:prstGeom>
            <a:noFill/>
            <a:ln w="38100">
              <a:solidFill>
                <a:srgbClr val="0066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526" name="AutoShape 59">
              <a:extLst>
                <a:ext uri="{FF2B5EF4-FFF2-40B4-BE49-F238E27FC236}">
                  <a16:creationId xmlns:a16="http://schemas.microsoft.com/office/drawing/2014/main" id="{1E350160-918A-DD24-F6AD-C79321D151AD}"/>
                </a:ext>
              </a:extLst>
            </p:cNvPr>
            <p:cNvCxnSpPr>
              <a:cxnSpLocks noChangeShapeType="1"/>
              <a:stCxn id="489520" idx="4"/>
              <a:endCxn id="489521" idx="0"/>
            </p:cNvCxnSpPr>
            <p:nvPr/>
          </p:nvCxnSpPr>
          <p:spPr bwMode="auto">
            <a:xfrm>
              <a:off x="8074059" y="5505495"/>
              <a:ext cx="0" cy="904434"/>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527" name="AutoShape 60">
              <a:extLst>
                <a:ext uri="{FF2B5EF4-FFF2-40B4-BE49-F238E27FC236}">
                  <a16:creationId xmlns:a16="http://schemas.microsoft.com/office/drawing/2014/main" id="{226A695C-9998-EAA1-2BE7-1CA2E199DCE0}"/>
                </a:ext>
              </a:extLst>
            </p:cNvPr>
            <p:cNvCxnSpPr>
              <a:cxnSpLocks noChangeShapeType="1"/>
              <a:stCxn id="489519" idx="6"/>
              <a:endCxn id="489530" idx="2"/>
            </p:cNvCxnSpPr>
            <p:nvPr/>
          </p:nvCxnSpPr>
          <p:spPr bwMode="auto">
            <a:xfrm>
              <a:off x="8226799" y="4109087"/>
              <a:ext cx="1911378" cy="0"/>
            </a:xfrm>
            <a:prstGeom prst="straightConnector1">
              <a:avLst/>
            </a:prstGeom>
            <a:noFill/>
            <a:ln w="38100">
              <a:solidFill>
                <a:schemeClr val="tx1"/>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528" name="AutoShape 61">
              <a:extLst>
                <a:ext uri="{FF2B5EF4-FFF2-40B4-BE49-F238E27FC236}">
                  <a16:creationId xmlns:a16="http://schemas.microsoft.com/office/drawing/2014/main" id="{84D05779-4930-B993-1B04-AAFB5C6A22E6}"/>
                </a:ext>
              </a:extLst>
            </p:cNvPr>
            <p:cNvCxnSpPr>
              <a:cxnSpLocks noChangeShapeType="1"/>
              <a:stCxn id="489521" idx="6"/>
              <a:endCxn id="489532" idx="2"/>
            </p:cNvCxnSpPr>
            <p:nvPr/>
          </p:nvCxnSpPr>
          <p:spPr bwMode="auto">
            <a:xfrm>
              <a:off x="8226799" y="6562670"/>
              <a:ext cx="1911378" cy="0"/>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529" name="AutoShape 62">
              <a:extLst>
                <a:ext uri="{FF2B5EF4-FFF2-40B4-BE49-F238E27FC236}">
                  <a16:creationId xmlns:a16="http://schemas.microsoft.com/office/drawing/2014/main" id="{348B474F-D4CF-780A-D7E0-62F5DAE22E5C}"/>
                </a:ext>
              </a:extLst>
            </p:cNvPr>
            <p:cNvCxnSpPr>
              <a:cxnSpLocks noChangeShapeType="1"/>
              <a:stCxn id="489519" idx="4"/>
              <a:endCxn id="489520" idx="0"/>
            </p:cNvCxnSpPr>
            <p:nvPr/>
          </p:nvCxnSpPr>
          <p:spPr bwMode="auto">
            <a:xfrm>
              <a:off x="8074059" y="4263761"/>
              <a:ext cx="0" cy="934320"/>
            </a:xfrm>
            <a:prstGeom prst="straightConnector1">
              <a:avLst/>
            </a:prstGeom>
            <a:noFill/>
            <a:ln w="9525">
              <a:solidFill>
                <a:schemeClr val="accent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530" name="Oval 63">
              <a:extLst>
                <a:ext uri="{FF2B5EF4-FFF2-40B4-BE49-F238E27FC236}">
                  <a16:creationId xmlns:a16="http://schemas.microsoft.com/office/drawing/2014/main" id="{3EEFA349-AEA6-D4C2-4DA5-FDEF77FB6420}"/>
                </a:ext>
              </a:extLst>
            </p:cNvPr>
            <p:cNvSpPr>
              <a:spLocks noChangeAspect="1" noChangeArrowheads="1"/>
            </p:cNvSpPr>
            <p:nvPr/>
          </p:nvSpPr>
          <p:spPr bwMode="auto">
            <a:xfrm>
              <a:off x="10138176" y="3954413"/>
              <a:ext cx="305481" cy="309348"/>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d</a:t>
              </a:r>
            </a:p>
          </p:txBody>
        </p:sp>
        <p:sp>
          <p:nvSpPr>
            <p:cNvPr id="489531" name="Oval 64">
              <a:extLst>
                <a:ext uri="{FF2B5EF4-FFF2-40B4-BE49-F238E27FC236}">
                  <a16:creationId xmlns:a16="http://schemas.microsoft.com/office/drawing/2014/main" id="{1D9D51E5-752E-F4D5-FB67-CAC914356529}"/>
                </a:ext>
              </a:extLst>
            </p:cNvPr>
            <p:cNvSpPr>
              <a:spLocks noChangeAspect="1" noChangeArrowheads="1"/>
            </p:cNvSpPr>
            <p:nvPr/>
          </p:nvSpPr>
          <p:spPr bwMode="auto">
            <a:xfrm>
              <a:off x="10138176" y="5198081"/>
              <a:ext cx="305481" cy="307414"/>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e</a:t>
              </a:r>
            </a:p>
          </p:txBody>
        </p:sp>
        <p:sp>
          <p:nvSpPr>
            <p:cNvPr id="489532" name="Oval 65">
              <a:extLst>
                <a:ext uri="{FF2B5EF4-FFF2-40B4-BE49-F238E27FC236}">
                  <a16:creationId xmlns:a16="http://schemas.microsoft.com/office/drawing/2014/main" id="{6B4691FD-4CB6-ED10-21C6-715DE5B5CF16}"/>
                </a:ext>
              </a:extLst>
            </p:cNvPr>
            <p:cNvSpPr>
              <a:spLocks noChangeAspect="1" noChangeArrowheads="1"/>
            </p:cNvSpPr>
            <p:nvPr/>
          </p:nvSpPr>
          <p:spPr bwMode="auto">
            <a:xfrm>
              <a:off x="10138176" y="6409929"/>
              <a:ext cx="305481" cy="305481"/>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f</a:t>
              </a:r>
            </a:p>
          </p:txBody>
        </p:sp>
        <p:cxnSp>
          <p:nvCxnSpPr>
            <p:cNvPr id="489533" name="AutoShape 66">
              <a:extLst>
                <a:ext uri="{FF2B5EF4-FFF2-40B4-BE49-F238E27FC236}">
                  <a16:creationId xmlns:a16="http://schemas.microsoft.com/office/drawing/2014/main" id="{DEB91ABD-E892-555F-C29F-0B087F37A870}"/>
                </a:ext>
              </a:extLst>
            </p:cNvPr>
            <p:cNvCxnSpPr>
              <a:cxnSpLocks noChangeShapeType="1"/>
              <a:stCxn id="489531" idx="4"/>
              <a:endCxn id="489532" idx="0"/>
            </p:cNvCxnSpPr>
            <p:nvPr/>
          </p:nvCxnSpPr>
          <p:spPr bwMode="auto">
            <a:xfrm>
              <a:off x="10290917" y="5505495"/>
              <a:ext cx="0" cy="904434"/>
            </a:xfrm>
            <a:prstGeom prst="straightConnector1">
              <a:avLst/>
            </a:prstGeom>
            <a:noFill/>
            <a:ln w="9525">
              <a:solidFill>
                <a:schemeClr val="accent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534" name="AutoShape 67">
              <a:extLst>
                <a:ext uri="{FF2B5EF4-FFF2-40B4-BE49-F238E27FC236}">
                  <a16:creationId xmlns:a16="http://schemas.microsoft.com/office/drawing/2014/main" id="{792BC344-4F72-CE9A-863D-202658702A1E}"/>
                </a:ext>
              </a:extLst>
            </p:cNvPr>
            <p:cNvCxnSpPr>
              <a:cxnSpLocks noChangeShapeType="1"/>
              <a:stCxn id="489530" idx="4"/>
              <a:endCxn id="489531" idx="0"/>
            </p:cNvCxnSpPr>
            <p:nvPr/>
          </p:nvCxnSpPr>
          <p:spPr bwMode="auto">
            <a:xfrm>
              <a:off x="10290917" y="4263761"/>
              <a:ext cx="0" cy="93432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535" name="AutoShape 68">
              <a:extLst>
                <a:ext uri="{FF2B5EF4-FFF2-40B4-BE49-F238E27FC236}">
                  <a16:creationId xmlns:a16="http://schemas.microsoft.com/office/drawing/2014/main" id="{4889E72A-AFAB-865D-B82C-F8767BF81DCB}"/>
                </a:ext>
              </a:extLst>
            </p:cNvPr>
            <p:cNvCxnSpPr>
              <a:cxnSpLocks noChangeShapeType="1"/>
              <a:stCxn id="489519" idx="5"/>
              <a:endCxn id="489531" idx="1"/>
            </p:cNvCxnSpPr>
            <p:nvPr/>
          </p:nvCxnSpPr>
          <p:spPr bwMode="auto">
            <a:xfrm>
              <a:off x="8182062" y="4218458"/>
              <a:ext cx="2000850" cy="1024643"/>
            </a:xfrm>
            <a:prstGeom prst="straightConnector1">
              <a:avLst/>
            </a:prstGeom>
            <a:noFill/>
            <a:ln w="38100">
              <a:solidFill>
                <a:schemeClr val="tx1"/>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536" name="Oval 69">
              <a:extLst>
                <a:ext uri="{FF2B5EF4-FFF2-40B4-BE49-F238E27FC236}">
                  <a16:creationId xmlns:a16="http://schemas.microsoft.com/office/drawing/2014/main" id="{BA2A20BB-D6AB-5EF5-B4BB-4D731A17C186}"/>
                </a:ext>
              </a:extLst>
            </p:cNvPr>
            <p:cNvSpPr>
              <a:spLocks noChangeAspect="1" noChangeArrowheads="1"/>
            </p:cNvSpPr>
            <p:nvPr/>
          </p:nvSpPr>
          <p:spPr bwMode="auto">
            <a:xfrm>
              <a:off x="11766348" y="5198081"/>
              <a:ext cx="305481" cy="307414"/>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solidFill>
                    <a:srgbClr val="C00000"/>
                  </a:solidFill>
                </a:rPr>
                <a:t>t</a:t>
              </a:r>
            </a:p>
          </p:txBody>
        </p:sp>
        <p:cxnSp>
          <p:nvCxnSpPr>
            <p:cNvPr id="489537" name="AutoShape 70">
              <a:extLst>
                <a:ext uri="{FF2B5EF4-FFF2-40B4-BE49-F238E27FC236}">
                  <a16:creationId xmlns:a16="http://schemas.microsoft.com/office/drawing/2014/main" id="{86D75ED0-1429-E498-BB97-386F3217BC53}"/>
                </a:ext>
              </a:extLst>
            </p:cNvPr>
            <p:cNvCxnSpPr>
              <a:cxnSpLocks noChangeShapeType="1"/>
              <a:stCxn id="489530" idx="6"/>
              <a:endCxn id="489536" idx="1"/>
            </p:cNvCxnSpPr>
            <p:nvPr/>
          </p:nvCxnSpPr>
          <p:spPr bwMode="auto">
            <a:xfrm>
              <a:off x="10443658" y="4109087"/>
              <a:ext cx="1367427" cy="1134014"/>
            </a:xfrm>
            <a:prstGeom prst="straightConnector1">
              <a:avLst/>
            </a:prstGeom>
            <a:noFill/>
            <a:ln w="38100">
              <a:solidFill>
                <a:schemeClr val="tx1"/>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538" name="AutoShape 71">
              <a:extLst>
                <a:ext uri="{FF2B5EF4-FFF2-40B4-BE49-F238E27FC236}">
                  <a16:creationId xmlns:a16="http://schemas.microsoft.com/office/drawing/2014/main" id="{0C34CF72-129D-6F77-8119-28986B1E8F81}"/>
                </a:ext>
              </a:extLst>
            </p:cNvPr>
            <p:cNvCxnSpPr>
              <a:cxnSpLocks noChangeShapeType="1"/>
              <a:stCxn id="489531" idx="6"/>
              <a:endCxn id="489536" idx="2"/>
            </p:cNvCxnSpPr>
            <p:nvPr/>
          </p:nvCxnSpPr>
          <p:spPr bwMode="auto">
            <a:xfrm>
              <a:off x="10443658" y="5351789"/>
              <a:ext cx="1322690" cy="0"/>
            </a:xfrm>
            <a:prstGeom prst="straightConnector1">
              <a:avLst/>
            </a:prstGeom>
            <a:noFill/>
            <a:ln w="38100">
              <a:solidFill>
                <a:schemeClr val="tx1"/>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539" name="AutoShape 72">
              <a:extLst>
                <a:ext uri="{FF2B5EF4-FFF2-40B4-BE49-F238E27FC236}">
                  <a16:creationId xmlns:a16="http://schemas.microsoft.com/office/drawing/2014/main" id="{668E6CCA-6E05-CADA-1673-B81BA1AF8F00}"/>
                </a:ext>
              </a:extLst>
            </p:cNvPr>
            <p:cNvCxnSpPr>
              <a:cxnSpLocks noChangeShapeType="1"/>
              <a:stCxn id="489532" idx="7"/>
              <a:endCxn id="489536" idx="4"/>
            </p:cNvCxnSpPr>
            <p:nvPr/>
          </p:nvCxnSpPr>
          <p:spPr bwMode="auto">
            <a:xfrm flipV="1">
              <a:off x="10398921" y="5505495"/>
              <a:ext cx="1520168" cy="949170"/>
            </a:xfrm>
            <a:prstGeom prst="straightConnector1">
              <a:avLst/>
            </a:prstGeom>
            <a:noFill/>
            <a:ln w="38100">
              <a:solidFill>
                <a:srgbClr val="0066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540" name="Text Box 73">
              <a:extLst>
                <a:ext uri="{FF2B5EF4-FFF2-40B4-BE49-F238E27FC236}">
                  <a16:creationId xmlns:a16="http://schemas.microsoft.com/office/drawing/2014/main" id="{29249449-0B7B-C5F0-A041-C4643D64E988}"/>
                </a:ext>
              </a:extLst>
            </p:cNvPr>
            <p:cNvSpPr txBox="1">
              <a:spLocks noChangeArrowheads="1"/>
            </p:cNvSpPr>
            <p:nvPr/>
          </p:nvSpPr>
          <p:spPr bwMode="auto">
            <a:xfrm>
              <a:off x="6919589" y="5880823"/>
              <a:ext cx="785720" cy="276999"/>
            </a:xfrm>
            <a:prstGeom prst="rect">
              <a:avLst/>
            </a:prstGeom>
            <a:solidFill>
              <a:schemeClr val="accent1">
                <a:lumMod val="20000"/>
                <a:lumOff val="8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dirty="0">
                  <a:latin typeface="Arial" panose="020B0604020202020204" pitchFamily="34" charset="0"/>
                  <a:cs typeface="Arial" panose="020B0604020202020204" pitchFamily="34" charset="0"/>
                </a:rPr>
                <a:t> </a:t>
              </a:r>
              <a:r>
                <a:rPr lang="en-US" altLang="en-US" b="1" dirty="0">
                  <a:latin typeface="Arial" panose="020B0604020202020204" pitchFamily="34" charset="0"/>
                  <a:cs typeface="Arial" panose="020B0604020202020204" pitchFamily="34" charset="0"/>
                </a:rPr>
                <a:t>1</a:t>
              </a:r>
              <a:endParaRPr lang="en-US" altLang="en-US" dirty="0">
                <a:latin typeface="Arial" panose="020B0604020202020204" pitchFamily="34" charset="0"/>
                <a:cs typeface="Arial" panose="020B0604020202020204" pitchFamily="34" charset="0"/>
              </a:endParaRPr>
            </a:p>
          </p:txBody>
        </p:sp>
        <p:sp>
          <p:nvSpPr>
            <p:cNvPr id="489541" name="Text Box 74">
              <a:extLst>
                <a:ext uri="{FF2B5EF4-FFF2-40B4-BE49-F238E27FC236}">
                  <a16:creationId xmlns:a16="http://schemas.microsoft.com/office/drawing/2014/main" id="{39F33F7A-1E23-ACEA-4A1B-7FEC0481C51D}"/>
                </a:ext>
              </a:extLst>
            </p:cNvPr>
            <p:cNvSpPr txBox="1">
              <a:spLocks noChangeArrowheads="1"/>
            </p:cNvSpPr>
            <p:nvPr/>
          </p:nvSpPr>
          <p:spPr bwMode="auto">
            <a:xfrm>
              <a:off x="6998369" y="5168406"/>
              <a:ext cx="398956" cy="276999"/>
            </a:xfrm>
            <a:prstGeom prst="rect">
              <a:avLst/>
            </a:prstGeom>
            <a:solidFill>
              <a:schemeClr val="accent1">
                <a:lumMod val="20000"/>
                <a:lumOff val="80000"/>
              </a:schemeClr>
            </a:solidFill>
            <a:ln w="9525">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400" dirty="0">
                  <a:latin typeface="Arial" panose="020B0604020202020204" pitchFamily="34" charset="0"/>
                  <a:cs typeface="Arial" panose="020B0604020202020204" pitchFamily="34" charset="0"/>
                </a:rPr>
                <a:t> </a:t>
              </a:r>
              <a:r>
                <a:rPr lang="en-US" altLang="en-US" b="1" dirty="0">
                  <a:latin typeface="Arial" panose="020B0604020202020204" pitchFamily="34" charset="0"/>
                  <a:cs typeface="Arial" panose="020B0604020202020204" pitchFamily="34" charset="0"/>
                </a:rPr>
                <a:t>1</a:t>
              </a:r>
              <a:endParaRPr lang="en-US" altLang="en-US" sz="1400" dirty="0">
                <a:latin typeface="Arial" panose="020B0604020202020204" pitchFamily="34" charset="0"/>
                <a:cs typeface="Arial" panose="020B0604020202020204" pitchFamily="34" charset="0"/>
              </a:endParaRPr>
            </a:p>
          </p:txBody>
        </p:sp>
        <p:sp>
          <p:nvSpPr>
            <p:cNvPr id="489542" name="Text Box 75">
              <a:extLst>
                <a:ext uri="{FF2B5EF4-FFF2-40B4-BE49-F238E27FC236}">
                  <a16:creationId xmlns:a16="http://schemas.microsoft.com/office/drawing/2014/main" id="{39F056C5-DEEE-8F38-E0E9-9929B69F89A9}"/>
                </a:ext>
              </a:extLst>
            </p:cNvPr>
            <p:cNvSpPr txBox="1">
              <a:spLocks noChangeArrowheads="1"/>
            </p:cNvSpPr>
            <p:nvPr/>
          </p:nvSpPr>
          <p:spPr bwMode="auto">
            <a:xfrm>
              <a:off x="8847362" y="6520766"/>
              <a:ext cx="632607" cy="276999"/>
            </a:xfrm>
            <a:prstGeom prst="rect">
              <a:avLst/>
            </a:prstGeom>
            <a:solidFill>
              <a:schemeClr val="accent1">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16</a:t>
              </a:r>
              <a:endParaRPr lang="en-US" altLang="en-US" dirty="0">
                <a:latin typeface="Arial" panose="020B0604020202020204" pitchFamily="34" charset="0"/>
                <a:cs typeface="Arial" panose="020B0604020202020204" pitchFamily="34" charset="0"/>
              </a:endParaRPr>
            </a:p>
          </p:txBody>
        </p:sp>
        <p:sp>
          <p:nvSpPr>
            <p:cNvPr id="489543" name="Text Box 76">
              <a:extLst>
                <a:ext uri="{FF2B5EF4-FFF2-40B4-BE49-F238E27FC236}">
                  <a16:creationId xmlns:a16="http://schemas.microsoft.com/office/drawing/2014/main" id="{CB198EE1-C7CD-64E9-6030-6DAC0F431944}"/>
                </a:ext>
              </a:extLst>
            </p:cNvPr>
            <p:cNvSpPr txBox="1">
              <a:spLocks noChangeArrowheads="1"/>
            </p:cNvSpPr>
            <p:nvPr/>
          </p:nvSpPr>
          <p:spPr bwMode="auto">
            <a:xfrm>
              <a:off x="10084005" y="5767889"/>
              <a:ext cx="52871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dirty="0">
                  <a:solidFill>
                    <a:srgbClr val="0070C0"/>
                  </a:solidFill>
                  <a:latin typeface="Arial" panose="020B0604020202020204" pitchFamily="34" charset="0"/>
                  <a:cs typeface="Arial" panose="020B0604020202020204" pitchFamily="34" charset="0"/>
                </a:rPr>
                <a:t> 15</a:t>
              </a:r>
            </a:p>
          </p:txBody>
        </p:sp>
        <p:sp>
          <p:nvSpPr>
            <p:cNvPr id="489544" name="Text Box 77">
              <a:extLst>
                <a:ext uri="{FF2B5EF4-FFF2-40B4-BE49-F238E27FC236}">
                  <a16:creationId xmlns:a16="http://schemas.microsoft.com/office/drawing/2014/main" id="{03165759-15CB-F612-067F-DD07C4D40D9F}"/>
                </a:ext>
              </a:extLst>
            </p:cNvPr>
            <p:cNvSpPr txBox="1">
              <a:spLocks noChangeArrowheads="1"/>
            </p:cNvSpPr>
            <p:nvPr/>
          </p:nvSpPr>
          <p:spPr bwMode="auto">
            <a:xfrm>
              <a:off x="7060685" y="4545752"/>
              <a:ext cx="60342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solidFill>
                    <a:srgbClr val="0066CC"/>
                  </a:solidFill>
                  <a:latin typeface="Arial" panose="020B0604020202020204" pitchFamily="34" charset="0"/>
                  <a:cs typeface="Arial" panose="020B0604020202020204" pitchFamily="34" charset="0"/>
                </a:rPr>
                <a:t>10</a:t>
              </a:r>
              <a:endParaRPr lang="en-US" altLang="en-US" dirty="0">
                <a:latin typeface="Arial" panose="020B0604020202020204" pitchFamily="34" charset="0"/>
                <a:cs typeface="Arial" panose="020B0604020202020204" pitchFamily="34" charset="0"/>
              </a:endParaRPr>
            </a:p>
          </p:txBody>
        </p:sp>
        <p:sp>
          <p:nvSpPr>
            <p:cNvPr id="489545" name="Text Box 78">
              <a:extLst>
                <a:ext uri="{FF2B5EF4-FFF2-40B4-BE49-F238E27FC236}">
                  <a16:creationId xmlns:a16="http://schemas.microsoft.com/office/drawing/2014/main" id="{D7A4E334-70C2-0DBA-3869-8C594CE7D346}"/>
                </a:ext>
              </a:extLst>
            </p:cNvPr>
            <p:cNvSpPr txBox="1">
              <a:spLocks noChangeArrowheads="1"/>
            </p:cNvSpPr>
            <p:nvPr/>
          </p:nvSpPr>
          <p:spPr bwMode="auto">
            <a:xfrm>
              <a:off x="8983811" y="5212667"/>
              <a:ext cx="412939"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solidFill>
                    <a:srgbClr val="C00000"/>
                  </a:solidFill>
                  <a:latin typeface="Arial" panose="020B0604020202020204" pitchFamily="34" charset="0"/>
                  <a:cs typeface="Arial" panose="020B0604020202020204" pitchFamily="34" charset="0"/>
                </a:rPr>
                <a:t> </a:t>
              </a:r>
              <a:r>
                <a:rPr lang="en-US" altLang="en-US" b="1" dirty="0">
                  <a:solidFill>
                    <a:srgbClr val="0066CC"/>
                  </a:solidFill>
                  <a:latin typeface="Arial" panose="020B0604020202020204" pitchFamily="34" charset="0"/>
                  <a:cs typeface="Arial" panose="020B0604020202020204" pitchFamily="34" charset="0"/>
                </a:rPr>
                <a:t>8</a:t>
              </a:r>
              <a:endParaRPr lang="en-US" altLang="en-US" dirty="0">
                <a:latin typeface="Arial" panose="020B0604020202020204" pitchFamily="34" charset="0"/>
                <a:cs typeface="Arial" panose="020B0604020202020204" pitchFamily="34" charset="0"/>
              </a:endParaRPr>
            </a:p>
          </p:txBody>
        </p:sp>
        <p:sp>
          <p:nvSpPr>
            <p:cNvPr id="489546" name="Text Box 79">
              <a:extLst>
                <a:ext uri="{FF2B5EF4-FFF2-40B4-BE49-F238E27FC236}">
                  <a16:creationId xmlns:a16="http://schemas.microsoft.com/office/drawing/2014/main" id="{A566AA71-0816-2651-AF13-721375EE3157}"/>
                </a:ext>
              </a:extLst>
            </p:cNvPr>
            <p:cNvSpPr txBox="1">
              <a:spLocks noChangeArrowheads="1"/>
            </p:cNvSpPr>
            <p:nvPr/>
          </p:nvSpPr>
          <p:spPr bwMode="auto">
            <a:xfrm>
              <a:off x="8930581" y="4569539"/>
              <a:ext cx="54938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1</a:t>
              </a:r>
              <a:endParaRPr lang="en-US" altLang="en-US" dirty="0">
                <a:latin typeface="Arial" panose="020B0604020202020204" pitchFamily="34" charset="0"/>
                <a:cs typeface="Arial" panose="020B0604020202020204" pitchFamily="34" charset="0"/>
              </a:endParaRPr>
            </a:p>
          </p:txBody>
        </p:sp>
        <p:sp>
          <p:nvSpPr>
            <p:cNvPr id="489547" name="Text Box 80">
              <a:extLst>
                <a:ext uri="{FF2B5EF4-FFF2-40B4-BE49-F238E27FC236}">
                  <a16:creationId xmlns:a16="http://schemas.microsoft.com/office/drawing/2014/main" id="{53BCE3D2-D24E-2221-4873-8CB6C6272171}"/>
                </a:ext>
              </a:extLst>
            </p:cNvPr>
            <p:cNvSpPr txBox="1">
              <a:spLocks noChangeArrowheads="1"/>
            </p:cNvSpPr>
            <p:nvPr/>
          </p:nvSpPr>
          <p:spPr bwMode="auto">
            <a:xfrm>
              <a:off x="8946880" y="3968997"/>
              <a:ext cx="355334"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9</a:t>
              </a:r>
              <a:endParaRPr lang="en-US" altLang="en-US" dirty="0">
                <a:latin typeface="Arial" panose="020B0604020202020204" pitchFamily="34" charset="0"/>
                <a:cs typeface="Arial" panose="020B0604020202020204" pitchFamily="34" charset="0"/>
              </a:endParaRPr>
            </a:p>
          </p:txBody>
        </p:sp>
        <p:sp>
          <p:nvSpPr>
            <p:cNvPr id="489548" name="Text Box 81">
              <a:extLst>
                <a:ext uri="{FF2B5EF4-FFF2-40B4-BE49-F238E27FC236}">
                  <a16:creationId xmlns:a16="http://schemas.microsoft.com/office/drawing/2014/main" id="{EC270D46-00B7-6E4E-72B5-0C4AA837ADDD}"/>
                </a:ext>
              </a:extLst>
            </p:cNvPr>
            <p:cNvSpPr txBox="1">
              <a:spLocks noChangeArrowheads="1"/>
            </p:cNvSpPr>
            <p:nvPr/>
          </p:nvSpPr>
          <p:spPr bwMode="auto">
            <a:xfrm>
              <a:off x="8946880" y="5820013"/>
              <a:ext cx="355334" cy="276999"/>
            </a:xfrm>
            <a:prstGeom prst="rect">
              <a:avLst/>
            </a:prstGeom>
            <a:solidFill>
              <a:schemeClr val="accent1">
                <a:lumMod val="20000"/>
                <a:lumOff val="8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2</a:t>
              </a:r>
              <a:endParaRPr lang="en-US" altLang="en-US" dirty="0">
                <a:latin typeface="Arial" panose="020B0604020202020204" pitchFamily="34" charset="0"/>
                <a:cs typeface="Arial" panose="020B0604020202020204" pitchFamily="34" charset="0"/>
              </a:endParaRPr>
            </a:p>
          </p:txBody>
        </p:sp>
        <p:sp>
          <p:nvSpPr>
            <p:cNvPr id="489549" name="Text Box 82">
              <a:extLst>
                <a:ext uri="{FF2B5EF4-FFF2-40B4-BE49-F238E27FC236}">
                  <a16:creationId xmlns:a16="http://schemas.microsoft.com/office/drawing/2014/main" id="{8D62B06A-01A4-A9AC-FDAD-6D956C7B4E9A}"/>
                </a:ext>
              </a:extLst>
            </p:cNvPr>
            <p:cNvSpPr txBox="1">
              <a:spLocks noChangeArrowheads="1"/>
            </p:cNvSpPr>
            <p:nvPr/>
          </p:nvSpPr>
          <p:spPr bwMode="auto">
            <a:xfrm>
              <a:off x="10844399" y="5922959"/>
              <a:ext cx="629212"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solidFill>
                    <a:srgbClr val="0066CC"/>
                  </a:solidFill>
                  <a:latin typeface="Arial" panose="020B0604020202020204" pitchFamily="34" charset="0"/>
                  <a:cs typeface="Arial" panose="020B0604020202020204" pitchFamily="34" charset="0"/>
                </a:rPr>
                <a:t>10</a:t>
              </a:r>
              <a:endParaRPr lang="en-US" altLang="en-US" dirty="0">
                <a:latin typeface="Arial" panose="020B0604020202020204" pitchFamily="34" charset="0"/>
                <a:cs typeface="Arial" panose="020B0604020202020204" pitchFamily="34" charset="0"/>
              </a:endParaRPr>
            </a:p>
          </p:txBody>
        </p:sp>
        <p:sp>
          <p:nvSpPr>
            <p:cNvPr id="489550" name="Text Box 83">
              <a:extLst>
                <a:ext uri="{FF2B5EF4-FFF2-40B4-BE49-F238E27FC236}">
                  <a16:creationId xmlns:a16="http://schemas.microsoft.com/office/drawing/2014/main" id="{19A33335-55A9-1C35-2B49-D3D975DA8539}"/>
                </a:ext>
              </a:extLst>
            </p:cNvPr>
            <p:cNvSpPr txBox="1">
              <a:spLocks noChangeArrowheads="1"/>
            </p:cNvSpPr>
            <p:nvPr/>
          </p:nvSpPr>
          <p:spPr bwMode="auto">
            <a:xfrm>
              <a:off x="10936292" y="5212667"/>
              <a:ext cx="407577"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 9</a:t>
              </a:r>
              <a:endParaRPr lang="en-US" altLang="en-US" sz="1400" dirty="0">
                <a:latin typeface="Arial" panose="020B0604020202020204" pitchFamily="34" charset="0"/>
                <a:cs typeface="Arial" panose="020B0604020202020204" pitchFamily="34" charset="0"/>
              </a:endParaRPr>
            </a:p>
          </p:txBody>
        </p:sp>
        <p:sp>
          <p:nvSpPr>
            <p:cNvPr id="489551" name="Text Box 84">
              <a:extLst>
                <a:ext uri="{FF2B5EF4-FFF2-40B4-BE49-F238E27FC236}">
                  <a16:creationId xmlns:a16="http://schemas.microsoft.com/office/drawing/2014/main" id="{5FB38B69-B8F2-0B6D-C3BA-3EA67D0FE335}"/>
                </a:ext>
              </a:extLst>
            </p:cNvPr>
            <p:cNvSpPr txBox="1">
              <a:spLocks noChangeArrowheads="1"/>
            </p:cNvSpPr>
            <p:nvPr/>
          </p:nvSpPr>
          <p:spPr bwMode="auto">
            <a:xfrm>
              <a:off x="10835300" y="4537594"/>
              <a:ext cx="606919"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9</a:t>
              </a:r>
              <a:endParaRPr lang="en-US" altLang="en-US" dirty="0">
                <a:latin typeface="Arial" panose="020B0604020202020204" pitchFamily="34" charset="0"/>
                <a:cs typeface="Arial" panose="020B0604020202020204" pitchFamily="34" charset="0"/>
              </a:endParaRPr>
            </a:p>
          </p:txBody>
        </p:sp>
        <p:sp>
          <p:nvSpPr>
            <p:cNvPr id="489552" name="Text Box 85">
              <a:extLst>
                <a:ext uri="{FF2B5EF4-FFF2-40B4-BE49-F238E27FC236}">
                  <a16:creationId xmlns:a16="http://schemas.microsoft.com/office/drawing/2014/main" id="{C7297DD1-46A1-841C-7DA0-F5B5C5D61B4E}"/>
                </a:ext>
              </a:extLst>
            </p:cNvPr>
            <p:cNvSpPr txBox="1">
              <a:spLocks noChangeArrowheads="1"/>
            </p:cNvSpPr>
            <p:nvPr/>
          </p:nvSpPr>
          <p:spPr bwMode="auto">
            <a:xfrm>
              <a:off x="10132357" y="4545752"/>
              <a:ext cx="47967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dirty="0">
                  <a:latin typeface="Arial" panose="020B0604020202020204" pitchFamily="34" charset="0"/>
                  <a:cs typeface="Arial" panose="020B0604020202020204" pitchFamily="34" charset="0"/>
                </a:rPr>
                <a:t>15</a:t>
              </a:r>
            </a:p>
          </p:txBody>
        </p:sp>
        <p:sp>
          <p:nvSpPr>
            <p:cNvPr id="489553" name="Text Box 86">
              <a:extLst>
                <a:ext uri="{FF2B5EF4-FFF2-40B4-BE49-F238E27FC236}">
                  <a16:creationId xmlns:a16="http://schemas.microsoft.com/office/drawing/2014/main" id="{D217F4F6-B6B9-D907-3609-B356EDCAA9FD}"/>
                </a:ext>
              </a:extLst>
            </p:cNvPr>
            <p:cNvSpPr txBox="1">
              <a:spLocks noChangeArrowheads="1"/>
            </p:cNvSpPr>
            <p:nvPr/>
          </p:nvSpPr>
          <p:spPr bwMode="auto">
            <a:xfrm>
              <a:off x="7918968" y="4597123"/>
              <a:ext cx="355334"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solidFill>
                    <a:srgbClr val="0070C0"/>
                  </a:solidFill>
                  <a:latin typeface="Arial" panose="020B0604020202020204" pitchFamily="34" charset="0"/>
                  <a:cs typeface="Arial" panose="020B0604020202020204" pitchFamily="34" charset="0"/>
                </a:rPr>
                <a:t>4</a:t>
              </a:r>
            </a:p>
          </p:txBody>
        </p:sp>
        <p:sp>
          <p:nvSpPr>
            <p:cNvPr id="489554" name="Text Box 87">
              <a:extLst>
                <a:ext uri="{FF2B5EF4-FFF2-40B4-BE49-F238E27FC236}">
                  <a16:creationId xmlns:a16="http://schemas.microsoft.com/office/drawing/2014/main" id="{013A6C7F-F458-8425-EC01-BC8CBD9372BC}"/>
                </a:ext>
              </a:extLst>
            </p:cNvPr>
            <p:cNvSpPr txBox="1">
              <a:spLocks noChangeArrowheads="1"/>
            </p:cNvSpPr>
            <p:nvPr/>
          </p:nvSpPr>
          <p:spPr bwMode="auto">
            <a:xfrm>
              <a:off x="7912300" y="5792717"/>
              <a:ext cx="355334" cy="270858"/>
            </a:xfrm>
            <a:prstGeom prst="rect">
              <a:avLst/>
            </a:prstGeom>
            <a:solidFill>
              <a:schemeClr val="accent1">
                <a:lumMod val="20000"/>
                <a:lumOff val="8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4</a:t>
              </a:r>
            </a:p>
          </p:txBody>
        </p:sp>
        <p:cxnSp>
          <p:nvCxnSpPr>
            <p:cNvPr id="489555" name="AutoShape 64">
              <a:extLst>
                <a:ext uri="{FF2B5EF4-FFF2-40B4-BE49-F238E27FC236}">
                  <a16:creationId xmlns:a16="http://schemas.microsoft.com/office/drawing/2014/main" id="{59F1180F-910F-2059-DAB2-F383DF183189}"/>
                </a:ext>
              </a:extLst>
            </p:cNvPr>
            <p:cNvCxnSpPr>
              <a:cxnSpLocks noChangeShapeType="1"/>
              <a:stCxn id="489520" idx="3"/>
              <a:endCxn id="489518" idx="5"/>
            </p:cNvCxnSpPr>
            <p:nvPr/>
          </p:nvCxnSpPr>
          <p:spPr bwMode="auto">
            <a:xfrm rot="5400000">
              <a:off x="7245388" y="4739808"/>
              <a:ext cx="12700" cy="1441334"/>
            </a:xfrm>
            <a:prstGeom prst="curvedConnector3">
              <a:avLst>
                <a:gd name="adj1" fmla="val 1427213"/>
              </a:avLst>
            </a:prstGeom>
            <a:noFill/>
            <a:ln w="158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560" name="Text Box 74">
              <a:extLst>
                <a:ext uri="{FF2B5EF4-FFF2-40B4-BE49-F238E27FC236}">
                  <a16:creationId xmlns:a16="http://schemas.microsoft.com/office/drawing/2014/main" id="{A5805849-3771-275F-BE62-3D5BEE82E45C}"/>
                </a:ext>
              </a:extLst>
            </p:cNvPr>
            <p:cNvSpPr txBox="1">
              <a:spLocks noChangeArrowheads="1"/>
            </p:cNvSpPr>
            <p:nvPr/>
          </p:nvSpPr>
          <p:spPr bwMode="auto">
            <a:xfrm>
              <a:off x="7326973" y="5442056"/>
              <a:ext cx="398956" cy="276999"/>
            </a:xfrm>
            <a:prstGeom prst="rect">
              <a:avLst/>
            </a:prstGeom>
            <a:solidFill>
              <a:schemeClr val="accent1">
                <a:lumMod val="20000"/>
                <a:lumOff val="80000"/>
              </a:schemeClr>
            </a:solidFill>
            <a:ln w="9525">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400" dirty="0">
                  <a:latin typeface="Arial" panose="020B0604020202020204" pitchFamily="34" charset="0"/>
                  <a:cs typeface="Arial" panose="020B0604020202020204" pitchFamily="34" charset="0"/>
                </a:rPr>
                <a:t> </a:t>
              </a:r>
              <a:r>
                <a:rPr lang="en-US" altLang="en-US" b="1" dirty="0">
                  <a:latin typeface="Arial" panose="020B0604020202020204" pitchFamily="34" charset="0"/>
                  <a:cs typeface="Arial" panose="020B0604020202020204" pitchFamily="34" charset="0"/>
                </a:rPr>
                <a:t>4</a:t>
              </a:r>
              <a:endParaRPr lang="en-US" altLang="en-US" sz="1400" dirty="0">
                <a:latin typeface="Arial" panose="020B0604020202020204" pitchFamily="34" charset="0"/>
                <a:cs typeface="Arial" panose="020B0604020202020204" pitchFamily="34" charset="0"/>
              </a:endParaRPr>
            </a:p>
          </p:txBody>
        </p:sp>
        <p:cxnSp>
          <p:nvCxnSpPr>
            <p:cNvPr id="489561" name="AutoShape 64">
              <a:extLst>
                <a:ext uri="{FF2B5EF4-FFF2-40B4-BE49-F238E27FC236}">
                  <a16:creationId xmlns:a16="http://schemas.microsoft.com/office/drawing/2014/main" id="{0AF0C030-3547-FE06-D81C-B7272F0EF44D}"/>
                </a:ext>
              </a:extLst>
            </p:cNvPr>
            <p:cNvCxnSpPr>
              <a:cxnSpLocks noChangeShapeType="1"/>
              <a:stCxn id="489521" idx="2"/>
              <a:endCxn id="489518" idx="4"/>
            </p:cNvCxnSpPr>
            <p:nvPr/>
          </p:nvCxnSpPr>
          <p:spPr bwMode="auto">
            <a:xfrm rot="10800000">
              <a:off x="6416718" y="5505496"/>
              <a:ext cx="1504600" cy="1057175"/>
            </a:xfrm>
            <a:prstGeom prst="curvedConnector2">
              <a:avLst/>
            </a:prstGeom>
            <a:noFill/>
            <a:ln w="158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565" name="Text Box 74">
              <a:extLst>
                <a:ext uri="{FF2B5EF4-FFF2-40B4-BE49-F238E27FC236}">
                  <a16:creationId xmlns:a16="http://schemas.microsoft.com/office/drawing/2014/main" id="{56988337-4098-D75F-1FE7-F8AD1658E9A8}"/>
                </a:ext>
              </a:extLst>
            </p:cNvPr>
            <p:cNvSpPr txBox="1">
              <a:spLocks noChangeArrowheads="1"/>
            </p:cNvSpPr>
            <p:nvPr/>
          </p:nvSpPr>
          <p:spPr bwMode="auto">
            <a:xfrm>
              <a:off x="6787586" y="6102980"/>
              <a:ext cx="398956" cy="276999"/>
            </a:xfrm>
            <a:prstGeom prst="rect">
              <a:avLst/>
            </a:prstGeom>
            <a:solidFill>
              <a:schemeClr val="accent1">
                <a:lumMod val="20000"/>
                <a:lumOff val="80000"/>
              </a:schemeClr>
            </a:solidFill>
            <a:ln w="9525">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400" dirty="0">
                  <a:latin typeface="Arial" panose="020B0604020202020204" pitchFamily="34" charset="0"/>
                  <a:cs typeface="Arial" panose="020B0604020202020204" pitchFamily="34" charset="0"/>
                </a:rPr>
                <a:t> </a:t>
              </a:r>
              <a:r>
                <a:rPr lang="en-US" altLang="en-US" b="1" dirty="0">
                  <a:latin typeface="Arial" panose="020B0604020202020204" pitchFamily="34" charset="0"/>
                  <a:cs typeface="Arial" panose="020B0604020202020204" pitchFamily="34" charset="0"/>
                </a:rPr>
                <a:t>14</a:t>
              </a:r>
              <a:endParaRPr lang="en-US" altLang="en-US" sz="1400" dirty="0">
                <a:latin typeface="Arial" panose="020B0604020202020204" pitchFamily="34" charset="0"/>
                <a:cs typeface="Arial" panose="020B0604020202020204" pitchFamily="34" charset="0"/>
              </a:endParaRPr>
            </a:p>
          </p:txBody>
        </p:sp>
        <p:cxnSp>
          <p:nvCxnSpPr>
            <p:cNvPr id="489566" name="AutoShape 64">
              <a:extLst>
                <a:ext uri="{FF2B5EF4-FFF2-40B4-BE49-F238E27FC236}">
                  <a16:creationId xmlns:a16="http://schemas.microsoft.com/office/drawing/2014/main" id="{CE297D09-C220-D1BA-2ABF-E9A3F1DBC70A}"/>
                </a:ext>
              </a:extLst>
            </p:cNvPr>
            <p:cNvCxnSpPr>
              <a:cxnSpLocks noChangeShapeType="1"/>
              <a:stCxn id="489532" idx="1"/>
              <a:endCxn id="489521" idx="7"/>
            </p:cNvCxnSpPr>
            <p:nvPr/>
          </p:nvCxnSpPr>
          <p:spPr bwMode="auto">
            <a:xfrm rot="16200000" flipV="1">
              <a:off x="9182488" y="5454240"/>
              <a:ext cx="12700" cy="2000851"/>
            </a:xfrm>
            <a:prstGeom prst="curvedConnector3">
              <a:avLst>
                <a:gd name="adj1" fmla="val 479535"/>
              </a:avLst>
            </a:prstGeom>
            <a:noFill/>
            <a:ln w="158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571" name="Text Box 75">
              <a:extLst>
                <a:ext uri="{FF2B5EF4-FFF2-40B4-BE49-F238E27FC236}">
                  <a16:creationId xmlns:a16="http://schemas.microsoft.com/office/drawing/2014/main" id="{BD236D1B-AA8D-8BCB-F967-CF602BFB9377}"/>
                </a:ext>
              </a:extLst>
            </p:cNvPr>
            <p:cNvSpPr txBox="1">
              <a:spLocks noChangeArrowheads="1"/>
            </p:cNvSpPr>
            <p:nvPr/>
          </p:nvSpPr>
          <p:spPr bwMode="auto">
            <a:xfrm>
              <a:off x="8837352" y="6184017"/>
              <a:ext cx="632607" cy="276999"/>
            </a:xfrm>
            <a:prstGeom prst="rect">
              <a:avLst/>
            </a:prstGeom>
            <a:solidFill>
              <a:schemeClr val="accent1">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14</a:t>
              </a:r>
              <a:endParaRPr lang="en-US" altLang="en-US" dirty="0">
                <a:latin typeface="Arial" panose="020B0604020202020204" pitchFamily="34" charset="0"/>
                <a:cs typeface="Arial" panose="020B0604020202020204" pitchFamily="34" charset="0"/>
              </a:endParaRPr>
            </a:p>
          </p:txBody>
        </p:sp>
        <p:cxnSp>
          <p:nvCxnSpPr>
            <p:cNvPr id="489572" name="AutoShape 64">
              <a:extLst>
                <a:ext uri="{FF2B5EF4-FFF2-40B4-BE49-F238E27FC236}">
                  <a16:creationId xmlns:a16="http://schemas.microsoft.com/office/drawing/2014/main" id="{BC852530-687B-2792-E9E3-C01212710059}"/>
                </a:ext>
              </a:extLst>
            </p:cNvPr>
            <p:cNvCxnSpPr>
              <a:cxnSpLocks noChangeShapeType="1"/>
              <a:stCxn id="489532" idx="0"/>
              <a:endCxn id="489520" idx="6"/>
            </p:cNvCxnSpPr>
            <p:nvPr/>
          </p:nvCxnSpPr>
          <p:spPr bwMode="auto">
            <a:xfrm rot="16200000" flipV="1">
              <a:off x="8729788" y="4848800"/>
              <a:ext cx="1058141" cy="2064118"/>
            </a:xfrm>
            <a:prstGeom prst="curvedConnector2">
              <a:avLst/>
            </a:prstGeom>
            <a:noFill/>
            <a:ln w="158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584" name="Text Box 81">
              <a:extLst>
                <a:ext uri="{FF2B5EF4-FFF2-40B4-BE49-F238E27FC236}">
                  <a16:creationId xmlns:a16="http://schemas.microsoft.com/office/drawing/2014/main" id="{D76607D3-7AF2-52AE-81B2-F66D1C49AB39}"/>
                </a:ext>
              </a:extLst>
            </p:cNvPr>
            <p:cNvSpPr txBox="1">
              <a:spLocks noChangeArrowheads="1"/>
            </p:cNvSpPr>
            <p:nvPr/>
          </p:nvSpPr>
          <p:spPr bwMode="auto">
            <a:xfrm>
              <a:off x="9421919" y="5580555"/>
              <a:ext cx="355334" cy="276999"/>
            </a:xfrm>
            <a:prstGeom prst="rect">
              <a:avLst/>
            </a:prstGeom>
            <a:solidFill>
              <a:schemeClr val="accent1">
                <a:lumMod val="20000"/>
                <a:lumOff val="8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4</a:t>
              </a:r>
              <a:endParaRPr lang="en-US" altLang="en-US" dirty="0">
                <a:latin typeface="Arial" panose="020B0604020202020204" pitchFamily="34" charset="0"/>
                <a:cs typeface="Arial" panose="020B0604020202020204" pitchFamily="34" charset="0"/>
              </a:endParaRPr>
            </a:p>
          </p:txBody>
        </p:sp>
        <p:cxnSp>
          <p:nvCxnSpPr>
            <p:cNvPr id="489585" name="AutoShape 64">
              <a:extLst>
                <a:ext uri="{FF2B5EF4-FFF2-40B4-BE49-F238E27FC236}">
                  <a16:creationId xmlns:a16="http://schemas.microsoft.com/office/drawing/2014/main" id="{87B6735F-4E5A-92F1-76DC-F22D989A0219}"/>
                </a:ext>
              </a:extLst>
            </p:cNvPr>
            <p:cNvCxnSpPr>
              <a:cxnSpLocks noChangeShapeType="1"/>
              <a:stCxn id="489531" idx="0"/>
              <a:endCxn id="489519" idx="6"/>
            </p:cNvCxnSpPr>
            <p:nvPr/>
          </p:nvCxnSpPr>
          <p:spPr bwMode="auto">
            <a:xfrm rot="16200000" flipV="1">
              <a:off x="8714361" y="3621525"/>
              <a:ext cx="1088994" cy="2064118"/>
            </a:xfrm>
            <a:prstGeom prst="curvedConnector2">
              <a:avLst/>
            </a:prstGeom>
            <a:noFill/>
            <a:ln w="158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590" name="Text Box 79">
              <a:extLst>
                <a:ext uri="{FF2B5EF4-FFF2-40B4-BE49-F238E27FC236}">
                  <a16:creationId xmlns:a16="http://schemas.microsoft.com/office/drawing/2014/main" id="{041DC420-265C-B8E5-5A41-122217D63F4E}"/>
                </a:ext>
              </a:extLst>
            </p:cNvPr>
            <p:cNvSpPr txBox="1">
              <a:spLocks noChangeArrowheads="1"/>
            </p:cNvSpPr>
            <p:nvPr/>
          </p:nvSpPr>
          <p:spPr bwMode="auto">
            <a:xfrm>
              <a:off x="9363310" y="4326058"/>
              <a:ext cx="54938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14</a:t>
              </a:r>
              <a:endParaRPr lang="en-US" altLang="en-US" dirty="0">
                <a:latin typeface="Arial" panose="020B0604020202020204" pitchFamily="34" charset="0"/>
                <a:cs typeface="Arial" panose="020B0604020202020204" pitchFamily="34" charset="0"/>
              </a:endParaRPr>
            </a:p>
          </p:txBody>
        </p:sp>
        <p:cxnSp>
          <p:nvCxnSpPr>
            <p:cNvPr id="489591" name="AutoShape 64">
              <a:extLst>
                <a:ext uri="{FF2B5EF4-FFF2-40B4-BE49-F238E27FC236}">
                  <a16:creationId xmlns:a16="http://schemas.microsoft.com/office/drawing/2014/main" id="{6D094264-2917-E3F9-DDB9-D7D69BF3FCA8}"/>
                </a:ext>
              </a:extLst>
            </p:cNvPr>
            <p:cNvCxnSpPr>
              <a:cxnSpLocks noChangeShapeType="1"/>
              <a:stCxn id="489530" idx="6"/>
              <a:endCxn id="489536" idx="0"/>
            </p:cNvCxnSpPr>
            <p:nvPr/>
          </p:nvCxnSpPr>
          <p:spPr bwMode="auto">
            <a:xfrm>
              <a:off x="10443657" y="4109087"/>
              <a:ext cx="1475432" cy="1088994"/>
            </a:xfrm>
            <a:prstGeom prst="curvedConnector2">
              <a:avLst/>
            </a:prstGeom>
            <a:noFill/>
            <a:ln w="158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594" name="Text Box 84">
              <a:extLst>
                <a:ext uri="{FF2B5EF4-FFF2-40B4-BE49-F238E27FC236}">
                  <a16:creationId xmlns:a16="http://schemas.microsoft.com/office/drawing/2014/main" id="{73FE8D70-7B71-60DB-EA10-A9DA45A4507A}"/>
                </a:ext>
              </a:extLst>
            </p:cNvPr>
            <p:cNvSpPr txBox="1">
              <a:spLocks noChangeArrowheads="1"/>
            </p:cNvSpPr>
            <p:nvPr/>
          </p:nvSpPr>
          <p:spPr bwMode="auto">
            <a:xfrm>
              <a:off x="11319423" y="4366806"/>
              <a:ext cx="471809"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1</a:t>
              </a:r>
              <a:endParaRPr lang="en-US" altLang="en-US" dirty="0">
                <a:latin typeface="Arial" panose="020B0604020202020204" pitchFamily="34" charset="0"/>
                <a:cs typeface="Arial" panose="020B0604020202020204" pitchFamily="34" charset="0"/>
              </a:endParaRPr>
            </a:p>
          </p:txBody>
        </p:sp>
        <p:cxnSp>
          <p:nvCxnSpPr>
            <p:cNvPr id="489595" name="AutoShape 64">
              <a:extLst>
                <a:ext uri="{FF2B5EF4-FFF2-40B4-BE49-F238E27FC236}">
                  <a16:creationId xmlns:a16="http://schemas.microsoft.com/office/drawing/2014/main" id="{A6CCE149-FA1C-1060-288F-474C84967C0D}"/>
                </a:ext>
              </a:extLst>
            </p:cNvPr>
            <p:cNvCxnSpPr>
              <a:cxnSpLocks noChangeShapeType="1"/>
              <a:stCxn id="489531" idx="5"/>
              <a:endCxn id="489536" idx="3"/>
            </p:cNvCxnSpPr>
            <p:nvPr/>
          </p:nvCxnSpPr>
          <p:spPr bwMode="auto">
            <a:xfrm rot="16200000" flipH="1">
              <a:off x="11105002" y="4754392"/>
              <a:ext cx="12700" cy="1412165"/>
            </a:xfrm>
            <a:prstGeom prst="curvedConnector3">
              <a:avLst>
                <a:gd name="adj1" fmla="val 2154488"/>
              </a:avLst>
            </a:prstGeom>
            <a:noFill/>
            <a:ln w="158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599" name="Text Box 84">
              <a:extLst>
                <a:ext uri="{FF2B5EF4-FFF2-40B4-BE49-F238E27FC236}">
                  <a16:creationId xmlns:a16="http://schemas.microsoft.com/office/drawing/2014/main" id="{DA6C3AA9-F62F-1EFE-2C18-B1505F658259}"/>
                </a:ext>
              </a:extLst>
            </p:cNvPr>
            <p:cNvSpPr txBox="1">
              <a:spLocks noChangeArrowheads="1"/>
            </p:cNvSpPr>
            <p:nvPr/>
          </p:nvSpPr>
          <p:spPr bwMode="auto">
            <a:xfrm>
              <a:off x="10592825" y="5556664"/>
              <a:ext cx="471809"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1</a:t>
              </a:r>
              <a:endParaRPr lang="en-US" altLang="en-US" dirty="0">
                <a:latin typeface="Arial" panose="020B0604020202020204" pitchFamily="34" charset="0"/>
                <a:cs typeface="Arial" panose="020B0604020202020204" pitchFamily="34" charset="0"/>
              </a:endParaRPr>
            </a:p>
          </p:txBody>
        </p:sp>
      </p:grpSp>
      <p:sp>
        <p:nvSpPr>
          <p:cNvPr id="489600" name="TextBox 489599">
            <a:extLst>
              <a:ext uri="{FF2B5EF4-FFF2-40B4-BE49-F238E27FC236}">
                <a16:creationId xmlns:a16="http://schemas.microsoft.com/office/drawing/2014/main" id="{2EDAF9F7-D693-743A-1FE3-E1325F57075E}"/>
              </a:ext>
            </a:extLst>
          </p:cNvPr>
          <p:cNvSpPr txBox="1"/>
          <p:nvPr/>
        </p:nvSpPr>
        <p:spPr>
          <a:xfrm>
            <a:off x="2110299" y="6494673"/>
            <a:ext cx="1611852" cy="461665"/>
          </a:xfrm>
          <a:prstGeom prst="rect">
            <a:avLst/>
          </a:prstGeom>
          <a:noFill/>
        </p:spPr>
        <p:txBody>
          <a:bodyPr wrap="none" rtlCol="0">
            <a:spAutoFit/>
          </a:bodyPr>
          <a:lstStyle/>
          <a:p>
            <a:r>
              <a:rPr lang="en-US" sz="2400" dirty="0"/>
              <a:t>Flow Graph</a:t>
            </a:r>
            <a:endParaRPr lang="en-US" sz="2400" b="1" dirty="0">
              <a:solidFill>
                <a:srgbClr val="C00000"/>
              </a:solidFill>
            </a:endParaRPr>
          </a:p>
        </p:txBody>
      </p:sp>
      <p:sp>
        <p:nvSpPr>
          <p:cNvPr id="489602" name="TextBox 489601">
            <a:extLst>
              <a:ext uri="{FF2B5EF4-FFF2-40B4-BE49-F238E27FC236}">
                <a16:creationId xmlns:a16="http://schemas.microsoft.com/office/drawing/2014/main" id="{282E3E5A-2C48-332C-ECB6-A2B9AE5C189F}"/>
              </a:ext>
            </a:extLst>
          </p:cNvPr>
          <p:cNvSpPr txBox="1"/>
          <p:nvPr/>
        </p:nvSpPr>
        <p:spPr>
          <a:xfrm>
            <a:off x="8290022" y="6494572"/>
            <a:ext cx="2067746" cy="461665"/>
          </a:xfrm>
          <a:prstGeom prst="rect">
            <a:avLst/>
          </a:prstGeom>
          <a:noFill/>
        </p:spPr>
        <p:txBody>
          <a:bodyPr wrap="none" rtlCol="0">
            <a:spAutoFit/>
          </a:bodyPr>
          <a:lstStyle/>
          <a:p>
            <a:r>
              <a:rPr lang="en-US" sz="2400" dirty="0"/>
              <a:t>Residual Graph</a:t>
            </a:r>
            <a:endParaRPr lang="en-US" sz="2400" b="1" dirty="0">
              <a:solidFill>
                <a:srgbClr val="C00000"/>
              </a:solidFill>
            </a:endParaRPr>
          </a:p>
        </p:txBody>
      </p:sp>
    </p:spTree>
    <p:extLst>
      <p:ext uri="{BB962C8B-B14F-4D97-AF65-F5344CB8AC3E}">
        <p14:creationId xmlns:p14="http://schemas.microsoft.com/office/powerpoint/2010/main" val="15923094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323DCA-AEFD-7B34-8B7C-3E3F206D36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C8251D-7870-9225-188C-ACBA4DD78EFC}"/>
              </a:ext>
            </a:extLst>
          </p:cNvPr>
          <p:cNvSpPr>
            <a:spLocks noGrp="1"/>
          </p:cNvSpPr>
          <p:nvPr>
            <p:ph type="title"/>
          </p:nvPr>
        </p:nvSpPr>
        <p:spPr/>
        <p:txBody>
          <a:bodyPr/>
          <a:lstStyle/>
          <a:p>
            <a:r>
              <a:rPr lang="en-US" dirty="0"/>
              <a:t>Flows and Cuts (Complete)</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F0C7468E-810A-423E-C03E-82D636B8F7E7}"/>
                  </a:ext>
                </a:extLst>
              </p:cNvPr>
              <p:cNvSpPr>
                <a:spLocks noGrp="1"/>
              </p:cNvSpPr>
              <p:nvPr>
                <p:ph idx="1"/>
              </p:nvPr>
            </p:nvSpPr>
            <p:spPr>
              <a:xfrm>
                <a:off x="628650" y="1366475"/>
                <a:ext cx="10891156" cy="5200045"/>
              </a:xfrm>
            </p:spPr>
            <p:txBody>
              <a:bodyPr>
                <a:noAutofit/>
              </a:bodyPr>
              <a:lstStyle/>
              <a:p>
                <a:pPr marL="457200" indent="-457200">
                  <a:spcBef>
                    <a:spcPts val="0"/>
                  </a:spcBef>
                  <a:buFont typeface="+mj-lt"/>
                  <a:buAutoNum type="arabicPeriod"/>
                </a:pPr>
                <a:r>
                  <a:rPr lang="en-US" sz="2400" dirty="0"/>
                  <a:t>The net flow crossing any cut equals the flow value.</a:t>
                </a:r>
              </a:p>
              <a:p>
                <a:pPr marL="1381125" lvl="2" indent="-457200">
                  <a:spcBef>
                    <a:spcPts val="0"/>
                  </a:spcBef>
                </a:pPr>
                <a:r>
                  <a:rPr lang="en-US" sz="2400" dirty="0"/>
                  <a:t>Why? Everything must cross the cut eventually</a:t>
                </a:r>
              </a:p>
              <a:p>
                <a:pPr marL="457200" indent="-457200">
                  <a:spcBef>
                    <a:spcPts val="0"/>
                  </a:spcBef>
                  <a:buFont typeface="+mj-lt"/>
                  <a:buAutoNum type="arabicPeriod"/>
                </a:pPr>
                <a:r>
                  <a:rPr lang="en-US" sz="2400" dirty="0"/>
                  <a:t>The capacity of any cut therefore is an upper bound on the max flow</a:t>
                </a:r>
              </a:p>
              <a:p>
                <a:pPr marL="1381125" lvl="2" indent="-457200">
                  <a:spcBef>
                    <a:spcPts val="0"/>
                  </a:spcBef>
                </a:pPr>
                <a:r>
                  <a:rPr lang="en-US" sz="2400" dirty="0"/>
                  <a:t>Why? No flow can exceed that capacity due to statement 1</a:t>
                </a:r>
              </a:p>
              <a:p>
                <a:pPr marL="457200" indent="-457200">
                  <a:spcBef>
                    <a:spcPts val="0"/>
                  </a:spcBef>
                  <a:buFont typeface="+mj-lt"/>
                  <a:buAutoNum type="arabicPeriod"/>
                </a:pPr>
                <a:r>
                  <a:rPr lang="en-US" sz="2400" dirty="0"/>
                  <a:t>If we found a flow whose value matches the capacity of some cut, then we know that the flow must be maximum, and the cut must be minimum</a:t>
                </a:r>
              </a:p>
              <a:p>
                <a:pPr marL="1381125" lvl="2" indent="-457200">
                  <a:spcBef>
                    <a:spcPts val="0"/>
                  </a:spcBef>
                </a:pPr>
                <a:r>
                  <a:rPr lang="en-US" sz="2400" dirty="0"/>
                  <a:t>Why? If there was a smaller cut or larger flow, we’ve broken statement 2</a:t>
                </a:r>
              </a:p>
              <a:p>
                <a:pPr marL="466725" indent="-457200">
                  <a:spcBef>
                    <a:spcPts val="0"/>
                  </a:spcBef>
                  <a:buFont typeface="+mj-lt"/>
                  <a:buAutoNum type="arabicPeriod"/>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When Ford Fulkerson terminates, there is a cut whose capacity matches the flow</a:t>
                </a:r>
              </a:p>
              <a:p>
                <a:pPr marL="1381125" lvl="2" indent="-457200">
                  <a:spcBef>
                    <a:spcPts val="0"/>
                  </a:spcBef>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Why? </a:t>
                </a:r>
                <a:r>
                  <a:rPr lang="en-US" sz="2400" dirty="0">
                    <a:solidFill>
                      <a:prstClr val="black"/>
                    </a:solidFill>
                    <a:latin typeface="Calibri" panose="020F0502020204030204"/>
                  </a:rPr>
                  <a:t>Select one side of the cut to be nodes reaching from </a:t>
                </a:r>
                <a14:m>
                  <m:oMath xmlns:m="http://schemas.openxmlformats.org/officeDocument/2006/math">
                    <m:r>
                      <a:rPr lang="en-US" sz="2400" b="0" i="1" smtClean="0">
                        <a:solidFill>
                          <a:prstClr val="black"/>
                        </a:solidFill>
                        <a:latin typeface="Cambria Math" panose="02040503050406030204" pitchFamily="18" charset="0"/>
                      </a:rPr>
                      <m:t>𝑠</m:t>
                    </m:r>
                  </m:oMath>
                </a14:m>
                <a:r>
                  <a:rPr lang="en-US" sz="2400" dirty="0"/>
                  <a:t> in the residual graph, the other side to be the rest of the nodes. That cut’s capacity matches the flow value.</a:t>
                </a:r>
                <a:endParaRPr lang="en-US" sz="3200" dirty="0"/>
              </a:p>
              <a:p>
                <a:pPr marL="1381125" lvl="2" indent="-457200">
                  <a:spcBef>
                    <a:spcPts val="0"/>
                  </a:spcBef>
                </a:pPr>
                <a:r>
                  <a:rPr lang="en-US" sz="3200" dirty="0"/>
                  <a:t>Thus the cut is minimum, and the flow is maximum!</a:t>
                </a:r>
                <a:endParaRPr lang="en-US" sz="2200" dirty="0"/>
              </a:p>
            </p:txBody>
          </p:sp>
        </mc:Choice>
        <mc:Fallback>
          <p:sp>
            <p:nvSpPr>
              <p:cNvPr id="3" name="Content Placeholder 2">
                <a:extLst>
                  <a:ext uri="{FF2B5EF4-FFF2-40B4-BE49-F238E27FC236}">
                    <a16:creationId xmlns:a16="http://schemas.microsoft.com/office/drawing/2014/main" id="{F0C7468E-810A-423E-C03E-82D636B8F7E7}"/>
                  </a:ext>
                </a:extLst>
              </p:cNvPr>
              <p:cNvSpPr>
                <a:spLocks noGrp="1" noRot="1" noChangeAspect="1" noMove="1" noResize="1" noEditPoints="1" noAdjustHandles="1" noChangeArrowheads="1" noChangeShapeType="1" noTextEdit="1"/>
              </p:cNvSpPr>
              <p:nvPr>
                <p:ph idx="1"/>
              </p:nvPr>
            </p:nvSpPr>
            <p:spPr>
              <a:xfrm>
                <a:off x="628650" y="1366475"/>
                <a:ext cx="10891156" cy="5200045"/>
              </a:xfrm>
              <a:blipFill>
                <a:blip r:embed="rId2"/>
                <a:stretch>
                  <a:fillRect l="-895" t="-1758" r="-951"/>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BE95DD4E-53CF-D221-EA22-AA6136B30ADA}"/>
              </a:ext>
            </a:extLst>
          </p:cNvPr>
          <p:cNvSpPr>
            <a:spLocks noGrp="1"/>
          </p:cNvSpPr>
          <p:nvPr>
            <p:ph type="sldNum" sz="quarter" idx="12"/>
          </p:nvPr>
        </p:nvSpPr>
        <p:spPr/>
        <p:txBody>
          <a:bodyPr/>
          <a:lstStyle/>
          <a:p>
            <a:fld id="{859767C1-1CFC-4BF3-A3D8-E4104FCBBC17}" type="slidenum">
              <a:rPr lang="en-US" smtClean="0"/>
              <a:pPr/>
              <a:t>16</a:t>
            </a:fld>
            <a:endParaRPr lang="en-US" dirty="0"/>
          </a:p>
        </p:txBody>
      </p:sp>
    </p:spTree>
    <p:extLst>
      <p:ext uri="{BB962C8B-B14F-4D97-AF65-F5344CB8AC3E}">
        <p14:creationId xmlns:p14="http://schemas.microsoft.com/office/powerpoint/2010/main" val="38041141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6868" name="Rectangle 3"/>
              <p:cNvSpPr>
                <a:spLocks noGrp="1" noChangeArrowheads="1"/>
              </p:cNvSpPr>
              <p:nvPr>
                <p:ph type="body" idx="1"/>
              </p:nvPr>
            </p:nvSpPr>
            <p:spPr>
              <a:xfrm>
                <a:off x="628650" y="1282585"/>
                <a:ext cx="10237824" cy="5200045"/>
              </a:xfrm>
            </p:spPr>
            <p:txBody>
              <a:bodyPr/>
              <a:lstStyle/>
              <a:p>
                <a:pPr marL="0" indent="0" eaLnBrk="1" hangingPunct="1">
                  <a:buNone/>
                </a:pPr>
                <a:r>
                  <a:rPr lang="en-US" altLang="en-US" dirty="0"/>
                  <a:t>Worst case runtime </a:t>
                </a:r>
                <a14:m>
                  <m:oMath xmlns:m="http://schemas.openxmlformats.org/officeDocument/2006/math">
                    <m:r>
                      <a:rPr lang="en-US" altLang="en-US" b="0" i="1" smtClean="0">
                        <a:solidFill>
                          <a:srgbClr val="0066CC"/>
                        </a:solidFill>
                        <a:latin typeface="Cambria Math" panose="02040503050406030204" pitchFamily="18" charset="0"/>
                      </a:rPr>
                      <m:t>𝑂</m:t>
                    </m:r>
                    <m:d>
                      <m:dPr>
                        <m:ctrlPr>
                          <a:rPr lang="en-US" altLang="en-US" b="0" i="1" smtClean="0">
                            <a:solidFill>
                              <a:srgbClr val="0066CC"/>
                            </a:solidFill>
                            <a:latin typeface="Cambria Math" panose="02040503050406030204" pitchFamily="18" charset="0"/>
                          </a:rPr>
                        </m:ctrlPr>
                      </m:dPr>
                      <m:e>
                        <m:r>
                          <a:rPr lang="en-US" altLang="en-US" b="1" i="1" smtClean="0">
                            <a:solidFill>
                              <a:srgbClr val="0066CC"/>
                            </a:solidFill>
                            <a:latin typeface="Cambria Math" panose="02040503050406030204" pitchFamily="18" charset="0"/>
                          </a:rPr>
                          <m:t>𝒎𝒏𝑪</m:t>
                        </m:r>
                      </m:e>
                    </m:d>
                  </m:oMath>
                </a14:m>
                <a:r>
                  <a:rPr lang="en-US" altLang="en-US" b="0" dirty="0"/>
                  <a:t> with integer capacities </a:t>
                </a:r>
                <a14:m>
                  <m:oMath xmlns:m="http://schemas.openxmlformats.org/officeDocument/2006/math">
                    <m:r>
                      <a:rPr lang="en-US" altLang="en-US" b="1" i="1" dirty="0" smtClean="0">
                        <a:solidFill>
                          <a:srgbClr val="0066CC"/>
                        </a:solidFill>
                        <a:latin typeface="Cambria Math" panose="02040503050406030204" pitchFamily="18" charset="0"/>
                      </a:rPr>
                      <m:t>≤</m:t>
                    </m:r>
                    <m:r>
                      <a:rPr lang="en-US" altLang="en-US" b="1" i="1" dirty="0" smtClean="0">
                        <a:solidFill>
                          <a:srgbClr val="0066CC"/>
                        </a:solidFill>
                        <a:latin typeface="Cambria Math" panose="02040503050406030204" pitchFamily="18" charset="0"/>
                      </a:rPr>
                      <m:t>𝑪</m:t>
                    </m:r>
                  </m:oMath>
                </a14:m>
                <a:r>
                  <a:rPr lang="en-US" altLang="en-US" dirty="0"/>
                  <a:t>.</a:t>
                </a:r>
              </a:p>
              <a:p>
                <a:pPr lvl="1"/>
                <a14:m>
                  <m:oMath xmlns:m="http://schemas.openxmlformats.org/officeDocument/2006/math">
                    <m:r>
                      <a:rPr lang="en-US" altLang="en-US" i="1" dirty="0" smtClean="0">
                        <a:solidFill>
                          <a:srgbClr val="0066CC"/>
                        </a:solidFill>
                        <a:latin typeface="Cambria Math" panose="02040503050406030204" pitchFamily="18" charset="0"/>
                      </a:rPr>
                      <m:t>𝑂</m:t>
                    </m:r>
                    <m:r>
                      <a:rPr lang="en-US" altLang="en-US" i="1" dirty="0" smtClean="0">
                        <a:solidFill>
                          <a:srgbClr val="0066CC"/>
                        </a:solidFill>
                        <a:latin typeface="Cambria Math" panose="02040503050406030204" pitchFamily="18" charset="0"/>
                      </a:rPr>
                      <m:t>(</m:t>
                    </m:r>
                    <m:r>
                      <a:rPr lang="en-US" altLang="en-US" b="1" i="1" dirty="0" smtClean="0">
                        <a:solidFill>
                          <a:srgbClr val="0066CC"/>
                        </a:solidFill>
                        <a:latin typeface="Cambria Math" panose="02040503050406030204" pitchFamily="18" charset="0"/>
                      </a:rPr>
                      <m:t>𝒎</m:t>
                    </m:r>
                    <m:r>
                      <a:rPr lang="en-US" altLang="en-US" i="1" dirty="0" smtClean="0">
                        <a:solidFill>
                          <a:srgbClr val="0066CC"/>
                        </a:solidFill>
                        <a:latin typeface="Cambria Math" panose="02040503050406030204" pitchFamily="18" charset="0"/>
                      </a:rPr>
                      <m:t>)</m:t>
                    </m:r>
                  </m:oMath>
                </a14:m>
                <a:r>
                  <a:rPr lang="en-US" altLang="en-US" dirty="0"/>
                  <a:t> time per iteration.</a:t>
                </a:r>
              </a:p>
              <a:p>
                <a:pPr lvl="1"/>
                <a:r>
                  <a:rPr lang="en-US" altLang="en-US" dirty="0"/>
                  <a:t>At most </a:t>
                </a:r>
                <a14:m>
                  <m:oMath xmlns:m="http://schemas.openxmlformats.org/officeDocument/2006/math">
                    <m:r>
                      <a:rPr lang="en-US" altLang="en-US" b="1" i="1" dirty="0" smtClean="0">
                        <a:solidFill>
                          <a:srgbClr val="0066CC"/>
                        </a:solidFill>
                        <a:latin typeface="Cambria Math" panose="02040503050406030204" pitchFamily="18" charset="0"/>
                      </a:rPr>
                      <m:t>𝒏𝑪</m:t>
                    </m:r>
                  </m:oMath>
                </a14:m>
                <a:r>
                  <a:rPr lang="en-US" altLang="en-US" dirty="0"/>
                  <a:t> iterations.</a:t>
                </a:r>
              </a:p>
              <a:p>
                <a:pPr lvl="1"/>
                <a:r>
                  <a:rPr lang="en-US" altLang="en-US" dirty="0"/>
                  <a:t>This is “pseudo-polynomial” running time.</a:t>
                </a:r>
              </a:p>
              <a:p>
                <a:pPr eaLnBrk="1" hangingPunct="1"/>
                <a:endParaRPr lang="en-US" altLang="en-US" sz="600" dirty="0"/>
              </a:p>
              <a:p>
                <a:pPr eaLnBrk="1" hangingPunct="1"/>
                <a:r>
                  <a:rPr lang="en-US" altLang="en-US" dirty="0"/>
                  <a:t>May take exponential time, even with integer capacities:</a:t>
                </a:r>
              </a:p>
            </p:txBody>
          </p:sp>
        </mc:Choice>
        <mc:Fallback xmlns="">
          <p:sp>
            <p:nvSpPr>
              <p:cNvPr id="36868" name="Rectangle 3"/>
              <p:cNvSpPr>
                <a:spLocks noGrp="1" noRot="1" noChangeAspect="1" noMove="1" noResize="1" noEditPoints="1" noAdjustHandles="1" noChangeArrowheads="1" noChangeShapeType="1" noTextEdit="1"/>
              </p:cNvSpPr>
              <p:nvPr>
                <p:ph type="body" idx="1"/>
              </p:nvPr>
            </p:nvSpPr>
            <p:spPr>
              <a:xfrm>
                <a:off x="628650" y="1282585"/>
                <a:ext cx="10237824" cy="5200045"/>
              </a:xfrm>
              <a:blipFill>
                <a:blip r:embed="rId3"/>
                <a:stretch>
                  <a:fillRect l="-1190" t="-1876"/>
                </a:stretch>
              </a:blipFill>
            </p:spPr>
            <p:txBody>
              <a:bodyPr/>
              <a:lstStyle/>
              <a:p>
                <a:r>
                  <a:rPr lang="en-US">
                    <a:noFill/>
                  </a:rPr>
                  <a:t> </a:t>
                </a:r>
              </a:p>
            </p:txBody>
          </p:sp>
        </mc:Fallback>
      </mc:AlternateContent>
      <p:sp>
        <p:nvSpPr>
          <p:cNvPr id="41" name="Freeform 20">
            <a:extLst>
              <a:ext uri="{FF2B5EF4-FFF2-40B4-BE49-F238E27FC236}">
                <a16:creationId xmlns:a16="http://schemas.microsoft.com/office/drawing/2014/main" id="{9C27428B-0C0F-430C-B8E6-7E38D0CEA8AC}"/>
              </a:ext>
            </a:extLst>
          </p:cNvPr>
          <p:cNvSpPr>
            <a:spLocks/>
          </p:cNvSpPr>
          <p:nvPr/>
        </p:nvSpPr>
        <p:spPr bwMode="auto">
          <a:xfrm>
            <a:off x="4849918" y="4829411"/>
            <a:ext cx="2555875" cy="595313"/>
          </a:xfrm>
          <a:custGeom>
            <a:avLst/>
            <a:gdLst>
              <a:gd name="T0" fmla="*/ 0 w 1610"/>
              <a:gd name="T1" fmla="*/ 160 h 375"/>
              <a:gd name="T2" fmla="*/ 533 w 1610"/>
              <a:gd name="T3" fmla="*/ 31 h 375"/>
              <a:gd name="T4" fmla="*/ 926 w 1610"/>
              <a:gd name="T5" fmla="*/ 347 h 375"/>
              <a:gd name="T6" fmla="*/ 1503 w 1610"/>
              <a:gd name="T7" fmla="*/ 200 h 375"/>
              <a:gd name="T8" fmla="*/ 1570 w 1610"/>
              <a:gd name="T9" fmla="*/ 172 h 37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610" h="375">
                <a:moveTo>
                  <a:pt x="0" y="160"/>
                </a:moveTo>
                <a:cubicBezTo>
                  <a:pt x="89" y="139"/>
                  <a:pt x="379" y="0"/>
                  <a:pt x="533" y="31"/>
                </a:cubicBezTo>
                <a:cubicBezTo>
                  <a:pt x="687" y="62"/>
                  <a:pt x="764" y="319"/>
                  <a:pt x="926" y="347"/>
                </a:cubicBezTo>
                <a:cubicBezTo>
                  <a:pt x="1088" y="375"/>
                  <a:pt x="1396" y="229"/>
                  <a:pt x="1503" y="200"/>
                </a:cubicBezTo>
                <a:cubicBezTo>
                  <a:pt x="1610" y="171"/>
                  <a:pt x="1556" y="178"/>
                  <a:pt x="1570" y="172"/>
                </a:cubicBezTo>
              </a:path>
            </a:pathLst>
          </a:custGeom>
          <a:noFill/>
          <a:ln w="57150" cap="flat" cmpd="sng">
            <a:solidFill>
              <a:srgbClr val="00B0F0"/>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nvGrpSpPr>
          <p:cNvPr id="12" name="Group 11">
            <a:extLst>
              <a:ext uri="{FF2B5EF4-FFF2-40B4-BE49-F238E27FC236}">
                <a16:creationId xmlns:a16="http://schemas.microsoft.com/office/drawing/2014/main" id="{884AA8A9-D8D8-48A7-ABDD-62111F43ED4A}"/>
              </a:ext>
            </a:extLst>
          </p:cNvPr>
          <p:cNvGrpSpPr/>
          <p:nvPr/>
        </p:nvGrpSpPr>
        <p:grpSpPr>
          <a:xfrm>
            <a:off x="4405784" y="4444501"/>
            <a:ext cx="3276600" cy="1465241"/>
            <a:chOff x="4405784" y="4444501"/>
            <a:chExt cx="3276600" cy="1465241"/>
          </a:xfrm>
        </p:grpSpPr>
        <p:sp>
          <p:nvSpPr>
            <p:cNvPr id="49" name="Freeform: Shape 48">
              <a:extLst>
                <a:ext uri="{FF2B5EF4-FFF2-40B4-BE49-F238E27FC236}">
                  <a16:creationId xmlns:a16="http://schemas.microsoft.com/office/drawing/2014/main" id="{648550CA-854B-4463-A0B0-152CC69D88A8}"/>
                </a:ext>
              </a:extLst>
            </p:cNvPr>
            <p:cNvSpPr/>
            <p:nvPr/>
          </p:nvSpPr>
          <p:spPr bwMode="auto">
            <a:xfrm>
              <a:off x="6244903" y="4554588"/>
              <a:ext cx="1137684" cy="349669"/>
            </a:xfrm>
            <a:custGeom>
              <a:avLst/>
              <a:gdLst>
                <a:gd name="connsiteX0" fmla="*/ 1137684 w 1137684"/>
                <a:gd name="connsiteY0" fmla="*/ 349669 h 349669"/>
                <a:gd name="connsiteX1" fmla="*/ 701749 w 1137684"/>
                <a:gd name="connsiteY1" fmla="*/ 30693 h 349669"/>
                <a:gd name="connsiteX2" fmla="*/ 0 w 1137684"/>
                <a:gd name="connsiteY2" fmla="*/ 30693 h 349669"/>
              </a:gdLst>
              <a:ahLst/>
              <a:cxnLst>
                <a:cxn ang="0">
                  <a:pos x="connsiteX0" y="connsiteY0"/>
                </a:cxn>
                <a:cxn ang="0">
                  <a:pos x="connsiteX1" y="connsiteY1"/>
                </a:cxn>
                <a:cxn ang="0">
                  <a:pos x="connsiteX2" y="connsiteY2"/>
                </a:cxn>
              </a:cxnLst>
              <a:rect l="l" t="t" r="r" b="b"/>
              <a:pathLst>
                <a:path w="1137684" h="349669">
                  <a:moveTo>
                    <a:pt x="1137684" y="349669"/>
                  </a:moveTo>
                  <a:cubicBezTo>
                    <a:pt x="1014523" y="216762"/>
                    <a:pt x="891363" y="83856"/>
                    <a:pt x="701749" y="30693"/>
                  </a:cubicBezTo>
                  <a:cubicBezTo>
                    <a:pt x="512135" y="-22470"/>
                    <a:pt x="256067" y="4111"/>
                    <a:pt x="0" y="30693"/>
                  </a:cubicBezTo>
                </a:path>
              </a:pathLst>
            </a:custGeom>
            <a:noFill/>
            <a:ln w="12700" cap="flat" cmpd="sng">
              <a:solidFill>
                <a:srgbClr val="695082"/>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Oval 5">
              <a:extLst>
                <a:ext uri="{FF2B5EF4-FFF2-40B4-BE49-F238E27FC236}">
                  <a16:creationId xmlns:a16="http://schemas.microsoft.com/office/drawing/2014/main" id="{FE9B55A2-115E-4D27-97DB-3FBEA1E37BC3}"/>
                </a:ext>
              </a:extLst>
            </p:cNvPr>
            <p:cNvSpPr>
              <a:spLocks noChangeArrowheads="1"/>
            </p:cNvSpPr>
            <p:nvPr/>
          </p:nvSpPr>
          <p:spPr bwMode="auto">
            <a:xfrm>
              <a:off x="4405784" y="4893956"/>
              <a:ext cx="381000" cy="381000"/>
            </a:xfrm>
            <a:prstGeom prst="ellipse">
              <a:avLst/>
            </a:prstGeom>
            <a:solidFill>
              <a:srgbClr val="FFFFCC"/>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a:ln>
                    <a:noFill/>
                  </a:ln>
                  <a:solidFill>
                    <a:prstClr val="black"/>
                  </a:solidFill>
                  <a:effectLst/>
                  <a:uLnTx/>
                  <a:uFillTx/>
                  <a:latin typeface="Arial" panose="020B0604020202020204" pitchFamily="34" charset="0"/>
                  <a:ea typeface="+mn-ea"/>
                  <a:cs typeface="+mn-cs"/>
                </a:rPr>
                <a:t>s</a:t>
              </a:r>
            </a:p>
          </p:txBody>
        </p:sp>
        <p:sp>
          <p:nvSpPr>
            <p:cNvPr id="27" name="Line 6">
              <a:extLst>
                <a:ext uri="{FF2B5EF4-FFF2-40B4-BE49-F238E27FC236}">
                  <a16:creationId xmlns:a16="http://schemas.microsoft.com/office/drawing/2014/main" id="{483BFF57-5175-4431-AED7-1A9005F2A9D0}"/>
                </a:ext>
              </a:extLst>
            </p:cNvPr>
            <p:cNvSpPr>
              <a:spLocks noChangeShapeType="1"/>
            </p:cNvSpPr>
            <p:nvPr/>
          </p:nvSpPr>
          <p:spPr bwMode="auto">
            <a:xfrm flipV="1">
              <a:off x="4786784" y="4741556"/>
              <a:ext cx="1066800" cy="352425"/>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Text Box 7">
              <a:extLst>
                <a:ext uri="{FF2B5EF4-FFF2-40B4-BE49-F238E27FC236}">
                  <a16:creationId xmlns:a16="http://schemas.microsoft.com/office/drawing/2014/main" id="{BBB53D32-5280-4D79-B334-3446DA4709D4}"/>
                </a:ext>
              </a:extLst>
            </p:cNvPr>
            <p:cNvSpPr txBox="1">
              <a:spLocks noChangeArrowheads="1"/>
            </p:cNvSpPr>
            <p:nvPr/>
          </p:nvSpPr>
          <p:spPr bwMode="auto">
            <a:xfrm>
              <a:off x="5178897" y="4685872"/>
              <a:ext cx="311150" cy="396875"/>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mn-cs"/>
                </a:rPr>
                <a:t>c</a:t>
              </a:r>
            </a:p>
          </p:txBody>
        </p:sp>
        <p:sp>
          <p:nvSpPr>
            <p:cNvPr id="29" name="Oval 8">
              <a:extLst>
                <a:ext uri="{FF2B5EF4-FFF2-40B4-BE49-F238E27FC236}">
                  <a16:creationId xmlns:a16="http://schemas.microsoft.com/office/drawing/2014/main" id="{4DDC0B09-E376-4E25-93B0-ED9CF1251EF7}"/>
                </a:ext>
              </a:extLst>
            </p:cNvPr>
            <p:cNvSpPr>
              <a:spLocks noChangeArrowheads="1"/>
            </p:cNvSpPr>
            <p:nvPr/>
          </p:nvSpPr>
          <p:spPr bwMode="auto">
            <a:xfrm>
              <a:off x="5853584" y="4512956"/>
              <a:ext cx="381000" cy="381000"/>
            </a:xfrm>
            <a:prstGeom prst="ellipse">
              <a:avLst/>
            </a:prstGeom>
            <a:solidFill>
              <a:srgbClr val="FFFFCC"/>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a:ln>
                    <a:noFill/>
                  </a:ln>
                  <a:solidFill>
                    <a:prstClr val="black"/>
                  </a:solidFill>
                  <a:effectLst/>
                  <a:uLnTx/>
                  <a:uFillTx/>
                  <a:latin typeface="Arial" panose="020B0604020202020204" pitchFamily="34" charset="0"/>
                  <a:ea typeface="+mn-ea"/>
                  <a:cs typeface="+mn-cs"/>
                </a:rPr>
                <a:t>a</a:t>
              </a:r>
            </a:p>
          </p:txBody>
        </p:sp>
        <p:sp>
          <p:nvSpPr>
            <p:cNvPr id="30" name="Oval 9">
              <a:extLst>
                <a:ext uri="{FF2B5EF4-FFF2-40B4-BE49-F238E27FC236}">
                  <a16:creationId xmlns:a16="http://schemas.microsoft.com/office/drawing/2014/main" id="{D894FB12-ADA6-423E-BCE5-3403327EEC62}"/>
                </a:ext>
              </a:extLst>
            </p:cNvPr>
            <p:cNvSpPr>
              <a:spLocks noChangeArrowheads="1"/>
            </p:cNvSpPr>
            <p:nvPr/>
          </p:nvSpPr>
          <p:spPr bwMode="auto">
            <a:xfrm>
              <a:off x="7301384" y="4893956"/>
              <a:ext cx="381000" cy="381000"/>
            </a:xfrm>
            <a:prstGeom prst="ellipse">
              <a:avLst/>
            </a:prstGeom>
            <a:solidFill>
              <a:srgbClr val="FFFFCC"/>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a:ln>
                    <a:noFill/>
                  </a:ln>
                  <a:solidFill>
                    <a:prstClr val="black"/>
                  </a:solidFill>
                  <a:effectLst/>
                  <a:uLnTx/>
                  <a:uFillTx/>
                  <a:latin typeface="Arial" panose="020B0604020202020204" pitchFamily="34" charset="0"/>
                  <a:ea typeface="+mn-ea"/>
                  <a:cs typeface="+mn-cs"/>
                </a:rPr>
                <a:t>t</a:t>
              </a:r>
            </a:p>
          </p:txBody>
        </p:sp>
        <p:sp>
          <p:nvSpPr>
            <p:cNvPr id="31" name="Oval 10">
              <a:extLst>
                <a:ext uri="{FF2B5EF4-FFF2-40B4-BE49-F238E27FC236}">
                  <a16:creationId xmlns:a16="http://schemas.microsoft.com/office/drawing/2014/main" id="{B385E51A-3C1C-4009-A231-8C4FB6B40DE3}"/>
                </a:ext>
              </a:extLst>
            </p:cNvPr>
            <p:cNvSpPr>
              <a:spLocks noChangeArrowheads="1"/>
            </p:cNvSpPr>
            <p:nvPr/>
          </p:nvSpPr>
          <p:spPr bwMode="auto">
            <a:xfrm>
              <a:off x="5853584" y="5351156"/>
              <a:ext cx="381000" cy="381000"/>
            </a:xfrm>
            <a:prstGeom prst="ellipse">
              <a:avLst/>
            </a:prstGeom>
            <a:solidFill>
              <a:srgbClr val="FFFFCC"/>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a:ln>
                    <a:noFill/>
                  </a:ln>
                  <a:solidFill>
                    <a:prstClr val="black"/>
                  </a:solidFill>
                  <a:effectLst/>
                  <a:uLnTx/>
                  <a:uFillTx/>
                  <a:latin typeface="Arial" panose="020B0604020202020204" pitchFamily="34" charset="0"/>
                  <a:ea typeface="+mn-ea"/>
                  <a:cs typeface="+mn-cs"/>
                </a:rPr>
                <a:t>b</a:t>
              </a:r>
            </a:p>
          </p:txBody>
        </p:sp>
        <p:sp>
          <p:nvSpPr>
            <p:cNvPr id="32" name="Line 11">
              <a:extLst>
                <a:ext uri="{FF2B5EF4-FFF2-40B4-BE49-F238E27FC236}">
                  <a16:creationId xmlns:a16="http://schemas.microsoft.com/office/drawing/2014/main" id="{2ABC2F6D-058E-43B6-8BE9-75C92C727FC8}"/>
                </a:ext>
              </a:extLst>
            </p:cNvPr>
            <p:cNvSpPr>
              <a:spLocks noChangeShapeType="1"/>
            </p:cNvSpPr>
            <p:nvPr/>
          </p:nvSpPr>
          <p:spPr bwMode="auto">
            <a:xfrm flipV="1">
              <a:off x="6234584" y="5122556"/>
              <a:ext cx="1066800" cy="352425"/>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Line 12">
              <a:extLst>
                <a:ext uri="{FF2B5EF4-FFF2-40B4-BE49-F238E27FC236}">
                  <a16:creationId xmlns:a16="http://schemas.microsoft.com/office/drawing/2014/main" id="{D7F7ABF6-BA82-4144-8492-BE7E7266D3A6}"/>
                </a:ext>
              </a:extLst>
            </p:cNvPr>
            <p:cNvSpPr>
              <a:spLocks noChangeShapeType="1"/>
            </p:cNvSpPr>
            <p:nvPr/>
          </p:nvSpPr>
          <p:spPr bwMode="auto">
            <a:xfrm>
              <a:off x="6234584" y="4712981"/>
              <a:ext cx="1066800" cy="257175"/>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 name="Line 13">
              <a:extLst>
                <a:ext uri="{FF2B5EF4-FFF2-40B4-BE49-F238E27FC236}">
                  <a16:creationId xmlns:a16="http://schemas.microsoft.com/office/drawing/2014/main" id="{AF089311-13B7-433D-9958-7F2CA0D88C48}"/>
                </a:ext>
              </a:extLst>
            </p:cNvPr>
            <p:cNvSpPr>
              <a:spLocks noChangeShapeType="1"/>
            </p:cNvSpPr>
            <p:nvPr/>
          </p:nvSpPr>
          <p:spPr bwMode="auto">
            <a:xfrm>
              <a:off x="4786784" y="5198756"/>
              <a:ext cx="1066800" cy="257175"/>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Box 14">
              <a:extLst>
                <a:ext uri="{FF2B5EF4-FFF2-40B4-BE49-F238E27FC236}">
                  <a16:creationId xmlns:a16="http://schemas.microsoft.com/office/drawing/2014/main" id="{DA5949BF-04D3-42DC-97A5-6D3805B68A5C}"/>
                </a:ext>
              </a:extLst>
            </p:cNvPr>
            <p:cNvSpPr txBox="1">
              <a:spLocks noChangeArrowheads="1"/>
            </p:cNvSpPr>
            <p:nvPr/>
          </p:nvSpPr>
          <p:spPr bwMode="auto">
            <a:xfrm>
              <a:off x="6467000" y="4601649"/>
              <a:ext cx="540533" cy="400110"/>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mn-cs"/>
                </a:rPr>
                <a:t>c-1</a:t>
              </a:r>
            </a:p>
          </p:txBody>
        </p:sp>
        <p:sp>
          <p:nvSpPr>
            <p:cNvPr id="36" name="Text Box 15">
              <a:extLst>
                <a:ext uri="{FF2B5EF4-FFF2-40B4-BE49-F238E27FC236}">
                  <a16:creationId xmlns:a16="http://schemas.microsoft.com/office/drawing/2014/main" id="{9F3C8408-8F57-43DD-85D9-9E638C1F4D04}"/>
                </a:ext>
              </a:extLst>
            </p:cNvPr>
            <p:cNvSpPr txBox="1">
              <a:spLocks noChangeArrowheads="1"/>
            </p:cNvSpPr>
            <p:nvPr/>
          </p:nvSpPr>
          <p:spPr bwMode="auto">
            <a:xfrm>
              <a:off x="6581691" y="5137902"/>
              <a:ext cx="311150" cy="396875"/>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mn-cs"/>
                </a:rPr>
                <a:t>c</a:t>
              </a:r>
            </a:p>
          </p:txBody>
        </p:sp>
        <p:sp>
          <p:nvSpPr>
            <p:cNvPr id="37" name="Text Box 16">
              <a:extLst>
                <a:ext uri="{FF2B5EF4-FFF2-40B4-BE49-F238E27FC236}">
                  <a16:creationId xmlns:a16="http://schemas.microsoft.com/office/drawing/2014/main" id="{6E6C7A0E-8877-47E0-8B67-8E845BBC71A1}"/>
                </a:ext>
              </a:extLst>
            </p:cNvPr>
            <p:cNvSpPr txBox="1">
              <a:spLocks noChangeArrowheads="1"/>
            </p:cNvSpPr>
            <p:nvPr/>
          </p:nvSpPr>
          <p:spPr bwMode="auto">
            <a:xfrm>
              <a:off x="6082184" y="4893956"/>
              <a:ext cx="325438"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mn-cs"/>
                </a:rPr>
                <a:t>1</a:t>
              </a:r>
            </a:p>
          </p:txBody>
        </p:sp>
        <p:sp>
          <p:nvSpPr>
            <p:cNvPr id="38" name="Text Box 17">
              <a:extLst>
                <a:ext uri="{FF2B5EF4-FFF2-40B4-BE49-F238E27FC236}">
                  <a16:creationId xmlns:a16="http://schemas.microsoft.com/office/drawing/2014/main" id="{97936551-B6D2-4057-88FA-0645F14AB5F2}"/>
                </a:ext>
              </a:extLst>
            </p:cNvPr>
            <p:cNvSpPr txBox="1">
              <a:spLocks noChangeArrowheads="1"/>
            </p:cNvSpPr>
            <p:nvPr/>
          </p:nvSpPr>
          <p:spPr bwMode="auto">
            <a:xfrm>
              <a:off x="5073997" y="5152718"/>
              <a:ext cx="540533" cy="400110"/>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mn-cs"/>
                </a:rPr>
                <a:t>c-1</a:t>
              </a:r>
            </a:p>
          </p:txBody>
        </p:sp>
        <p:sp>
          <p:nvSpPr>
            <p:cNvPr id="39" name="Line 18">
              <a:extLst>
                <a:ext uri="{FF2B5EF4-FFF2-40B4-BE49-F238E27FC236}">
                  <a16:creationId xmlns:a16="http://schemas.microsoft.com/office/drawing/2014/main" id="{B60817A9-D695-43D2-84E0-309ED4C5D3EC}"/>
                </a:ext>
              </a:extLst>
            </p:cNvPr>
            <p:cNvSpPr>
              <a:spLocks noChangeShapeType="1"/>
            </p:cNvSpPr>
            <p:nvPr/>
          </p:nvSpPr>
          <p:spPr bwMode="auto">
            <a:xfrm flipV="1">
              <a:off x="6005984" y="4893956"/>
              <a:ext cx="0" cy="457200"/>
            </a:xfrm>
            <a:prstGeom prst="line">
              <a:avLst/>
            </a:prstGeom>
            <a:noFill/>
            <a:ln w="12700">
              <a:solidFill>
                <a:schemeClr val="tx1"/>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Freeform: Shape 8">
              <a:extLst>
                <a:ext uri="{FF2B5EF4-FFF2-40B4-BE49-F238E27FC236}">
                  <a16:creationId xmlns:a16="http://schemas.microsoft.com/office/drawing/2014/main" id="{71833B63-6872-4584-B9B4-060EF702D9E0}"/>
                </a:ext>
              </a:extLst>
            </p:cNvPr>
            <p:cNvSpPr/>
            <p:nvPr/>
          </p:nvSpPr>
          <p:spPr bwMode="auto">
            <a:xfrm rot="10800000">
              <a:off x="4709654" y="5297578"/>
              <a:ext cx="1137684" cy="349669"/>
            </a:xfrm>
            <a:custGeom>
              <a:avLst/>
              <a:gdLst>
                <a:gd name="connsiteX0" fmla="*/ 1137684 w 1137684"/>
                <a:gd name="connsiteY0" fmla="*/ 349669 h 349669"/>
                <a:gd name="connsiteX1" fmla="*/ 701749 w 1137684"/>
                <a:gd name="connsiteY1" fmla="*/ 30693 h 349669"/>
                <a:gd name="connsiteX2" fmla="*/ 0 w 1137684"/>
                <a:gd name="connsiteY2" fmla="*/ 30693 h 349669"/>
              </a:gdLst>
              <a:ahLst/>
              <a:cxnLst>
                <a:cxn ang="0">
                  <a:pos x="connsiteX0" y="connsiteY0"/>
                </a:cxn>
                <a:cxn ang="0">
                  <a:pos x="connsiteX1" y="connsiteY1"/>
                </a:cxn>
                <a:cxn ang="0">
                  <a:pos x="connsiteX2" y="connsiteY2"/>
                </a:cxn>
              </a:cxnLst>
              <a:rect l="l" t="t" r="r" b="b"/>
              <a:pathLst>
                <a:path w="1137684" h="349669">
                  <a:moveTo>
                    <a:pt x="1137684" y="349669"/>
                  </a:moveTo>
                  <a:cubicBezTo>
                    <a:pt x="1014523" y="216762"/>
                    <a:pt x="891363" y="83856"/>
                    <a:pt x="701749" y="30693"/>
                  </a:cubicBezTo>
                  <a:cubicBezTo>
                    <a:pt x="512135" y="-22470"/>
                    <a:pt x="256067" y="4111"/>
                    <a:pt x="0" y="30693"/>
                  </a:cubicBezTo>
                </a:path>
              </a:pathLst>
            </a:custGeom>
            <a:noFill/>
            <a:ln w="12700" cap="flat" cmpd="sng">
              <a:solidFill>
                <a:srgbClr val="695082"/>
              </a:solidFill>
              <a:prstDash val="solid"/>
              <a:round/>
              <a:headEnd type="triangl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 name="Text Box 7">
              <a:extLst>
                <a:ext uri="{FF2B5EF4-FFF2-40B4-BE49-F238E27FC236}">
                  <a16:creationId xmlns:a16="http://schemas.microsoft.com/office/drawing/2014/main" id="{1E08D2E4-46B3-44FD-B3EB-1FA3F8A59F62}"/>
                </a:ext>
              </a:extLst>
            </p:cNvPr>
            <p:cNvSpPr txBox="1">
              <a:spLocks noChangeArrowheads="1"/>
            </p:cNvSpPr>
            <p:nvPr/>
          </p:nvSpPr>
          <p:spPr bwMode="auto">
            <a:xfrm>
              <a:off x="6963554" y="4444501"/>
              <a:ext cx="327334" cy="400110"/>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mn-cs"/>
                </a:rPr>
                <a:t>1</a:t>
              </a:r>
            </a:p>
          </p:txBody>
        </p:sp>
        <p:sp>
          <p:nvSpPr>
            <p:cNvPr id="50" name="Text Box 7">
              <a:extLst>
                <a:ext uri="{FF2B5EF4-FFF2-40B4-BE49-F238E27FC236}">
                  <a16:creationId xmlns:a16="http://schemas.microsoft.com/office/drawing/2014/main" id="{80851B7E-64FE-4D87-BF9D-DC5D5B75EFEC}"/>
                </a:ext>
              </a:extLst>
            </p:cNvPr>
            <p:cNvSpPr txBox="1">
              <a:spLocks noChangeArrowheads="1"/>
            </p:cNvSpPr>
            <p:nvPr/>
          </p:nvSpPr>
          <p:spPr bwMode="auto">
            <a:xfrm>
              <a:off x="5179143" y="5509632"/>
              <a:ext cx="327334" cy="400110"/>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mn-cs"/>
                </a:rPr>
                <a:t>1</a:t>
              </a:r>
            </a:p>
          </p:txBody>
        </p:sp>
      </p:grpSp>
      <p:sp>
        <p:nvSpPr>
          <p:cNvPr id="36885" name="Freeform 19"/>
          <p:cNvSpPr>
            <a:spLocks/>
          </p:cNvSpPr>
          <p:nvPr/>
        </p:nvSpPr>
        <p:spPr bwMode="auto">
          <a:xfrm>
            <a:off x="1304622" y="4755620"/>
            <a:ext cx="2568575" cy="631825"/>
          </a:xfrm>
          <a:custGeom>
            <a:avLst/>
            <a:gdLst>
              <a:gd name="T0" fmla="*/ 0 w 1618"/>
              <a:gd name="T1" fmla="*/ 276 h 398"/>
              <a:gd name="T2" fmla="*/ 627 w 1618"/>
              <a:gd name="T3" fmla="*/ 358 h 398"/>
              <a:gd name="T4" fmla="*/ 963 w 1618"/>
              <a:gd name="T5" fmla="*/ 38 h 398"/>
              <a:gd name="T6" fmla="*/ 1495 w 1618"/>
              <a:gd name="T7" fmla="*/ 128 h 398"/>
              <a:gd name="T8" fmla="*/ 1618 w 1618"/>
              <a:gd name="T9" fmla="*/ 156 h 3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618" h="398">
                <a:moveTo>
                  <a:pt x="0" y="276"/>
                </a:moveTo>
                <a:cubicBezTo>
                  <a:pt x="104" y="290"/>
                  <a:pt x="467" y="398"/>
                  <a:pt x="627" y="358"/>
                </a:cubicBezTo>
                <a:cubicBezTo>
                  <a:pt x="787" y="318"/>
                  <a:pt x="818" y="76"/>
                  <a:pt x="963" y="38"/>
                </a:cubicBezTo>
                <a:cubicBezTo>
                  <a:pt x="1108" y="0"/>
                  <a:pt x="1386" y="108"/>
                  <a:pt x="1495" y="128"/>
                </a:cubicBezTo>
                <a:cubicBezTo>
                  <a:pt x="1604" y="148"/>
                  <a:pt x="1593" y="150"/>
                  <a:pt x="1618" y="156"/>
                </a:cubicBezTo>
              </a:path>
            </a:pathLst>
          </a:custGeom>
          <a:noFill/>
          <a:ln w="57150" cap="flat" cmpd="sng">
            <a:solidFill>
              <a:srgbClr val="00B0F0"/>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866" name="Slide Number Placeholder 5"/>
          <p:cNvSpPr>
            <a:spLocks noGrp="1"/>
          </p:cNvSpPr>
          <p:nvPr>
            <p:ph type="sldNum" sz="quarter" idx="12"/>
          </p:nvPr>
        </p:nvSpPr>
        <p:spPr>
          <a:noFill/>
        </p:spPr>
        <p:txBody>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DA36FEDF-D23C-4D69-A913-2F16A63C039C}" type="slidenum">
              <a:rPr kumimoji="0" lang="en-US" altLang="en-US" sz="1600" b="0" i="0" u="none" strike="noStrike" kern="1200" cap="none" spc="0" normalizeH="0" baseline="0" noProof="0">
                <a:ln>
                  <a:noFill/>
                </a:ln>
                <a:solidFill>
                  <a:prstClr val="white"/>
                </a:solidFill>
                <a:effectLst/>
                <a:uLnTx/>
                <a:uFillTx/>
                <a:latin typeface="Calibri" panose="020F0502020204030204" pitchFamily="34"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altLang="en-US" sz="1600" b="0" i="0" u="none" strike="noStrike" kern="1200" cap="none" spc="0" normalizeH="0" baseline="0" noProof="0" dirty="0">
              <a:ln>
                <a:noFill/>
              </a:ln>
              <a:solidFill>
                <a:prstClr val="white"/>
              </a:solidFill>
              <a:effectLst/>
              <a:uLnTx/>
              <a:uFillTx/>
              <a:latin typeface="Calibri" panose="020F0502020204030204" pitchFamily="34" charset="0"/>
              <a:ea typeface="+mn-ea"/>
              <a:cs typeface="+mn-cs"/>
            </a:endParaRPr>
          </a:p>
        </p:txBody>
      </p:sp>
      <p:sp>
        <p:nvSpPr>
          <p:cNvPr id="36867" name="Rectangle 2"/>
          <p:cNvSpPr>
            <a:spLocks noGrp="1" noChangeArrowheads="1"/>
          </p:cNvSpPr>
          <p:nvPr>
            <p:ph type="title"/>
          </p:nvPr>
        </p:nvSpPr>
        <p:spPr/>
        <p:txBody>
          <a:bodyPr/>
          <a:lstStyle/>
          <a:p>
            <a:pPr eaLnBrk="1" hangingPunct="1"/>
            <a:r>
              <a:rPr lang="en-US" altLang="en-US" dirty="0"/>
              <a:t>Ford-Fulkerson Running Time</a:t>
            </a:r>
          </a:p>
        </p:txBody>
      </p:sp>
      <p:grpSp>
        <p:nvGrpSpPr>
          <p:cNvPr id="5" name="Group 4">
            <a:extLst>
              <a:ext uri="{FF2B5EF4-FFF2-40B4-BE49-F238E27FC236}">
                <a16:creationId xmlns:a16="http://schemas.microsoft.com/office/drawing/2014/main" id="{6CBB66AB-615D-4CFF-8536-0E5B578733C9}"/>
              </a:ext>
            </a:extLst>
          </p:cNvPr>
          <p:cNvGrpSpPr/>
          <p:nvPr/>
        </p:nvGrpSpPr>
        <p:grpSpPr>
          <a:xfrm>
            <a:off x="936386" y="4516191"/>
            <a:ext cx="3276600" cy="1219200"/>
            <a:chOff x="936386" y="4516191"/>
            <a:chExt cx="3276600" cy="1219200"/>
          </a:xfrm>
        </p:grpSpPr>
        <p:sp>
          <p:nvSpPr>
            <p:cNvPr id="36871" name="Oval 5"/>
            <p:cNvSpPr>
              <a:spLocks noChangeArrowheads="1"/>
            </p:cNvSpPr>
            <p:nvPr/>
          </p:nvSpPr>
          <p:spPr bwMode="auto">
            <a:xfrm>
              <a:off x="936386" y="4897191"/>
              <a:ext cx="381000" cy="381000"/>
            </a:xfrm>
            <a:prstGeom prst="ellipse">
              <a:avLst/>
            </a:prstGeom>
            <a:solidFill>
              <a:srgbClr val="FFFFCC"/>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a:ln>
                    <a:noFill/>
                  </a:ln>
                  <a:solidFill>
                    <a:prstClr val="black"/>
                  </a:solidFill>
                  <a:effectLst/>
                  <a:uLnTx/>
                  <a:uFillTx/>
                  <a:latin typeface="Arial" panose="020B0604020202020204" pitchFamily="34" charset="0"/>
                  <a:ea typeface="+mn-ea"/>
                  <a:cs typeface="+mn-cs"/>
                </a:rPr>
                <a:t>s</a:t>
              </a:r>
            </a:p>
          </p:txBody>
        </p:sp>
        <p:sp>
          <p:nvSpPr>
            <p:cNvPr id="36872" name="Line 6"/>
            <p:cNvSpPr>
              <a:spLocks noChangeShapeType="1"/>
            </p:cNvSpPr>
            <p:nvPr/>
          </p:nvSpPr>
          <p:spPr bwMode="auto">
            <a:xfrm flipV="1">
              <a:off x="1317386" y="4744791"/>
              <a:ext cx="1066800" cy="352425"/>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873" name="Text Box 7"/>
            <p:cNvSpPr txBox="1">
              <a:spLocks noChangeArrowheads="1"/>
            </p:cNvSpPr>
            <p:nvPr/>
          </p:nvSpPr>
          <p:spPr bwMode="auto">
            <a:xfrm>
              <a:off x="1659875" y="4698589"/>
              <a:ext cx="311150" cy="396875"/>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mn-cs"/>
                </a:rPr>
                <a:t>c</a:t>
              </a:r>
            </a:p>
          </p:txBody>
        </p:sp>
        <p:sp>
          <p:nvSpPr>
            <p:cNvPr id="36874" name="Oval 8"/>
            <p:cNvSpPr>
              <a:spLocks noChangeArrowheads="1"/>
            </p:cNvSpPr>
            <p:nvPr/>
          </p:nvSpPr>
          <p:spPr bwMode="auto">
            <a:xfrm>
              <a:off x="2384186" y="4516191"/>
              <a:ext cx="381000" cy="381000"/>
            </a:xfrm>
            <a:prstGeom prst="ellipse">
              <a:avLst/>
            </a:prstGeom>
            <a:solidFill>
              <a:srgbClr val="FFFFCC"/>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a:ln>
                    <a:noFill/>
                  </a:ln>
                  <a:solidFill>
                    <a:prstClr val="black"/>
                  </a:solidFill>
                  <a:effectLst/>
                  <a:uLnTx/>
                  <a:uFillTx/>
                  <a:latin typeface="Arial" panose="020B0604020202020204" pitchFamily="34" charset="0"/>
                  <a:ea typeface="+mn-ea"/>
                  <a:cs typeface="+mn-cs"/>
                </a:rPr>
                <a:t>a</a:t>
              </a:r>
            </a:p>
          </p:txBody>
        </p:sp>
        <p:sp>
          <p:nvSpPr>
            <p:cNvPr id="36875" name="Oval 9"/>
            <p:cNvSpPr>
              <a:spLocks noChangeArrowheads="1"/>
            </p:cNvSpPr>
            <p:nvPr/>
          </p:nvSpPr>
          <p:spPr bwMode="auto">
            <a:xfrm>
              <a:off x="3831986" y="4897191"/>
              <a:ext cx="381000" cy="381000"/>
            </a:xfrm>
            <a:prstGeom prst="ellipse">
              <a:avLst/>
            </a:prstGeom>
            <a:solidFill>
              <a:srgbClr val="FFFFCC"/>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a:ln>
                    <a:noFill/>
                  </a:ln>
                  <a:solidFill>
                    <a:prstClr val="black"/>
                  </a:solidFill>
                  <a:effectLst/>
                  <a:uLnTx/>
                  <a:uFillTx/>
                  <a:latin typeface="Arial" panose="020B0604020202020204" pitchFamily="34" charset="0"/>
                  <a:ea typeface="+mn-ea"/>
                  <a:cs typeface="+mn-cs"/>
                </a:rPr>
                <a:t>t</a:t>
              </a:r>
            </a:p>
          </p:txBody>
        </p:sp>
        <p:sp>
          <p:nvSpPr>
            <p:cNvPr id="36876" name="Oval 10"/>
            <p:cNvSpPr>
              <a:spLocks noChangeArrowheads="1"/>
            </p:cNvSpPr>
            <p:nvPr/>
          </p:nvSpPr>
          <p:spPr bwMode="auto">
            <a:xfrm>
              <a:off x="2384186" y="5354391"/>
              <a:ext cx="381000" cy="381000"/>
            </a:xfrm>
            <a:prstGeom prst="ellipse">
              <a:avLst/>
            </a:prstGeom>
            <a:solidFill>
              <a:srgbClr val="FFFFCC"/>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a:ln>
                    <a:noFill/>
                  </a:ln>
                  <a:solidFill>
                    <a:prstClr val="black"/>
                  </a:solidFill>
                  <a:effectLst/>
                  <a:uLnTx/>
                  <a:uFillTx/>
                  <a:latin typeface="Arial" panose="020B0604020202020204" pitchFamily="34" charset="0"/>
                  <a:ea typeface="+mn-ea"/>
                  <a:cs typeface="+mn-cs"/>
                </a:rPr>
                <a:t>b</a:t>
              </a:r>
            </a:p>
          </p:txBody>
        </p:sp>
        <p:sp>
          <p:nvSpPr>
            <p:cNvPr id="36877" name="Line 11"/>
            <p:cNvSpPr>
              <a:spLocks noChangeShapeType="1"/>
            </p:cNvSpPr>
            <p:nvPr/>
          </p:nvSpPr>
          <p:spPr bwMode="auto">
            <a:xfrm flipV="1">
              <a:off x="2765186" y="5125791"/>
              <a:ext cx="1066800" cy="352425"/>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878" name="Line 12"/>
            <p:cNvSpPr>
              <a:spLocks noChangeShapeType="1"/>
            </p:cNvSpPr>
            <p:nvPr/>
          </p:nvSpPr>
          <p:spPr bwMode="auto">
            <a:xfrm>
              <a:off x="2765186" y="4716216"/>
              <a:ext cx="1066800" cy="257175"/>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879" name="Line 13"/>
            <p:cNvSpPr>
              <a:spLocks noChangeShapeType="1"/>
            </p:cNvSpPr>
            <p:nvPr/>
          </p:nvSpPr>
          <p:spPr bwMode="auto">
            <a:xfrm>
              <a:off x="1317386" y="5201991"/>
              <a:ext cx="1066800" cy="257175"/>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880" name="Text Box 14"/>
            <p:cNvSpPr txBox="1">
              <a:spLocks noChangeArrowheads="1"/>
            </p:cNvSpPr>
            <p:nvPr/>
          </p:nvSpPr>
          <p:spPr bwMode="auto">
            <a:xfrm>
              <a:off x="3156640" y="4626736"/>
              <a:ext cx="311150" cy="396875"/>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mn-cs"/>
                </a:rPr>
                <a:t>c</a:t>
              </a:r>
            </a:p>
          </p:txBody>
        </p:sp>
        <p:sp>
          <p:nvSpPr>
            <p:cNvPr id="36881" name="Text Box 15"/>
            <p:cNvSpPr txBox="1">
              <a:spLocks noChangeArrowheads="1"/>
            </p:cNvSpPr>
            <p:nvPr/>
          </p:nvSpPr>
          <p:spPr bwMode="auto">
            <a:xfrm>
              <a:off x="3156640" y="5113091"/>
              <a:ext cx="311150" cy="396875"/>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mn-cs"/>
                </a:rPr>
                <a:t>c</a:t>
              </a:r>
            </a:p>
          </p:txBody>
        </p:sp>
        <p:sp>
          <p:nvSpPr>
            <p:cNvPr id="36882" name="Text Box 16"/>
            <p:cNvSpPr txBox="1">
              <a:spLocks noChangeArrowheads="1"/>
            </p:cNvSpPr>
            <p:nvPr/>
          </p:nvSpPr>
          <p:spPr bwMode="auto">
            <a:xfrm>
              <a:off x="2612786" y="4897191"/>
              <a:ext cx="325438"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a:ln>
                    <a:noFill/>
                  </a:ln>
                  <a:solidFill>
                    <a:prstClr val="black"/>
                  </a:solidFill>
                  <a:effectLst/>
                  <a:uLnTx/>
                  <a:uFillTx/>
                  <a:latin typeface="Arial" panose="020B0604020202020204" pitchFamily="34" charset="0"/>
                  <a:ea typeface="+mn-ea"/>
                  <a:cs typeface="+mn-cs"/>
                </a:rPr>
                <a:t>1</a:t>
              </a:r>
            </a:p>
          </p:txBody>
        </p:sp>
        <p:sp>
          <p:nvSpPr>
            <p:cNvPr id="36883" name="Text Box 17"/>
            <p:cNvSpPr txBox="1">
              <a:spLocks noChangeArrowheads="1"/>
            </p:cNvSpPr>
            <p:nvPr/>
          </p:nvSpPr>
          <p:spPr bwMode="auto">
            <a:xfrm>
              <a:off x="1659875" y="5132141"/>
              <a:ext cx="311150" cy="396875"/>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mn-cs"/>
                </a:rPr>
                <a:t>c</a:t>
              </a:r>
            </a:p>
          </p:txBody>
        </p:sp>
        <p:sp>
          <p:nvSpPr>
            <p:cNvPr id="36884" name="Line 18"/>
            <p:cNvSpPr>
              <a:spLocks noChangeShapeType="1"/>
            </p:cNvSpPr>
            <p:nvPr/>
          </p:nvSpPr>
          <p:spPr bwMode="auto">
            <a:xfrm flipV="1">
              <a:off x="2536586" y="4897191"/>
              <a:ext cx="0" cy="45720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mc:AlternateContent xmlns:mc="http://schemas.openxmlformats.org/markup-compatibility/2006" xmlns:a14="http://schemas.microsoft.com/office/drawing/2010/main">
        <mc:Choice Requires="a14">
          <p:sp>
            <p:nvSpPr>
              <p:cNvPr id="36870" name="Rectangle 21"/>
              <p:cNvSpPr>
                <a:spLocks noChangeArrowheads="1"/>
              </p:cNvSpPr>
              <p:nvPr/>
            </p:nvSpPr>
            <p:spPr bwMode="auto">
              <a:xfrm>
                <a:off x="980801" y="4044391"/>
                <a:ext cx="1598323" cy="400110"/>
              </a:xfrm>
              <a:prstGeom prst="rect">
                <a:avLst/>
              </a:prstGeom>
              <a:noFill/>
              <a:ln>
                <a:noFill/>
              </a:ln>
              <a:effectLst/>
              <a:extLst>
                <a:ext uri="{909E8E84-426E-40DD-AFC4-6F175D3DCCD1}">
                  <a14:hiddenFill>
                    <a:solidFill>
                      <a:schemeClr val="accent1"/>
                    </a:solidFill>
                  </a14:hiddenFill>
                </a:ext>
                <a:ext uri="{91240B29-F687-4F45-9708-019B960494DF}">
                  <a14:hiddenLine w="12700">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m:rPr>
                        <m:nor/>
                      </m:rP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mn-cs"/>
                      </a:rPr>
                      <m:t>c</m:t>
                    </m:r>
                    <m:r>
                      <a:rPr kumimoji="0" lang="en-US" altLang="en-US" sz="2000" b="0" i="1" u="none" strike="noStrike" kern="1200" cap="none" spc="0" normalizeH="0" baseline="0" noProof="0" dirty="0">
                        <a:ln>
                          <a:noFill/>
                        </a:ln>
                        <a:solidFill>
                          <a:srgbClr val="0066CC"/>
                        </a:solidFill>
                        <a:effectLst/>
                        <a:uLnTx/>
                        <a:uFillTx/>
                        <a:latin typeface="Cambria Math" panose="02040503050406030204" pitchFamily="18" charset="0"/>
                        <a:ea typeface="+mn-ea"/>
                        <a:cs typeface="+mn-cs"/>
                      </a:rPr>
                      <m:t>=</m:t>
                    </m:r>
                    <m:r>
                      <a:rPr kumimoji="0" lang="en-US" altLang="en-US" sz="2000" b="1" i="1" u="none" strike="noStrike" kern="1200" cap="none" spc="0" normalizeH="0" baseline="0" noProof="0" dirty="0">
                        <a:ln>
                          <a:noFill/>
                        </a:ln>
                        <a:solidFill>
                          <a:srgbClr val="0066CC"/>
                        </a:solidFill>
                        <a:effectLst/>
                        <a:uLnTx/>
                        <a:uFillTx/>
                        <a:latin typeface="Cambria Math" panose="02040503050406030204" pitchFamily="18" charset="0"/>
                        <a:ea typeface="+mn-ea"/>
                        <a:cs typeface="+mn-cs"/>
                      </a:rPr>
                      <m:t>𝟏𝟎</m:t>
                    </m:r>
                    <m:r>
                      <a:rPr kumimoji="0" lang="en-US" altLang="en-US" sz="2000" b="1" i="1" u="none" strike="noStrike" kern="1200" cap="none" spc="0" normalizeH="0" baseline="30000" noProof="0" dirty="0">
                        <a:ln>
                          <a:noFill/>
                        </a:ln>
                        <a:solidFill>
                          <a:srgbClr val="0066CC"/>
                        </a:solidFill>
                        <a:effectLst/>
                        <a:uLnTx/>
                        <a:uFillTx/>
                        <a:latin typeface="Cambria Math" panose="02040503050406030204" pitchFamily="18" charset="0"/>
                        <a:ea typeface="+mn-ea"/>
                        <a:cs typeface="+mn-cs"/>
                      </a:rPr>
                      <m:t>𝟗</m:t>
                    </m:r>
                  </m:oMath>
                </a14:m>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mn-cs"/>
                  </a:rPr>
                  <a:t>, say</a:t>
                </a:r>
              </a:p>
            </p:txBody>
          </p:sp>
        </mc:Choice>
        <mc:Fallback xmlns="">
          <p:sp>
            <p:nvSpPr>
              <p:cNvPr id="36870" name="Rectangle 21"/>
              <p:cNvSpPr>
                <a:spLocks noRot="1" noChangeAspect="1" noMove="1" noResize="1" noEditPoints="1" noAdjustHandles="1" noChangeArrowheads="1" noChangeShapeType="1" noTextEdit="1"/>
              </p:cNvSpPr>
              <p:nvPr/>
            </p:nvSpPr>
            <p:spPr bwMode="auto">
              <a:xfrm>
                <a:off x="980801" y="4044391"/>
                <a:ext cx="1598323" cy="400110"/>
              </a:xfrm>
              <a:prstGeom prst="rect">
                <a:avLst/>
              </a:prstGeom>
              <a:blipFill>
                <a:blip r:embed="rId4"/>
                <a:stretch>
                  <a:fillRect t="-6061" r="-2672" b="-27273"/>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464745EF-57F0-4CAF-B004-74BC3B4E054E}"/>
                  </a:ext>
                </a:extLst>
              </p:cNvPr>
              <p:cNvSpPr txBox="1"/>
              <p:nvPr/>
            </p:nvSpPr>
            <p:spPr>
              <a:xfrm>
                <a:off x="499962" y="5529016"/>
                <a:ext cx="950838" cy="39555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kumimoji="0" lang="en-US" sz="1800" b="1" i="1" u="none" strike="noStrike" kern="1200" cap="none" spc="0" normalizeH="0" baseline="0" noProof="0" dirty="0" smtClean="0">
                              <a:ln>
                                <a:noFill/>
                              </a:ln>
                              <a:solidFill>
                                <a:srgbClr val="0066CC"/>
                              </a:solidFill>
                              <a:effectLst/>
                              <a:uLnTx/>
                              <a:uFillTx/>
                              <a:latin typeface="Cambria Math" panose="02040503050406030204" pitchFamily="18" charset="0"/>
                              <a:ea typeface="+mn-ea"/>
                              <a:cs typeface="+mn-cs"/>
                            </a:rPr>
                          </m:ctrlPr>
                        </m:sSubPr>
                        <m:e>
                          <m:r>
                            <a:rPr kumimoji="0" lang="en-US" sz="1800" b="1" i="1" u="none" strike="noStrike" kern="1200" cap="none" spc="0" normalizeH="0" baseline="0" noProof="0" dirty="0" smtClean="0">
                              <a:ln>
                                <a:noFill/>
                              </a:ln>
                              <a:solidFill>
                                <a:srgbClr val="0066CC"/>
                              </a:solidFill>
                              <a:effectLst/>
                              <a:uLnTx/>
                              <a:uFillTx/>
                              <a:latin typeface="Cambria Math" panose="02040503050406030204" pitchFamily="18" charset="0"/>
                              <a:ea typeface="+mn-ea"/>
                              <a:cs typeface="+mn-cs"/>
                            </a:rPr>
                            <m:t>𝑮</m:t>
                          </m:r>
                        </m:e>
                        <m:sub>
                          <m:r>
                            <a:rPr kumimoji="0" lang="en-US" sz="1800" b="1" i="1" u="none" strike="noStrike" kern="1200" cap="none" spc="0" normalizeH="0" baseline="0" noProof="0" dirty="0" smtClean="0">
                              <a:ln>
                                <a:noFill/>
                              </a:ln>
                              <a:solidFill>
                                <a:srgbClr val="0066CC"/>
                              </a:solidFill>
                              <a:effectLst/>
                              <a:uLnTx/>
                              <a:uFillTx/>
                              <a:latin typeface="Cambria Math" panose="02040503050406030204" pitchFamily="18" charset="0"/>
                              <a:ea typeface="+mn-ea"/>
                              <a:cs typeface="+mn-cs"/>
                            </a:rPr>
                            <m:t>𝒇</m:t>
                          </m:r>
                        </m:sub>
                      </m:sSub>
                      <m:r>
                        <a:rPr kumimoji="0" lang="en-US" sz="1800" b="1" i="0" u="none" strike="noStrike" kern="1200" cap="none" spc="0" normalizeH="0" baseline="0" noProof="0" dirty="0" smtClean="0">
                          <a:ln>
                            <a:noFill/>
                          </a:ln>
                          <a:solidFill>
                            <a:srgbClr val="0066CC"/>
                          </a:solidFill>
                          <a:effectLst/>
                          <a:uLnTx/>
                          <a:uFillTx/>
                          <a:latin typeface="Cambria Math" panose="02040503050406030204" pitchFamily="18" charset="0"/>
                          <a:ea typeface="+mn-ea"/>
                          <a:cs typeface="+mn-cs"/>
                        </a:rPr>
                        <m:t>=</m:t>
                      </m:r>
                      <m:r>
                        <a:rPr kumimoji="0" lang="en-US" sz="1800" b="1" i="1" u="none" strike="noStrike" kern="1200" cap="none" spc="0" normalizeH="0" baseline="0" noProof="0" dirty="0" smtClean="0">
                          <a:ln>
                            <a:noFill/>
                          </a:ln>
                          <a:solidFill>
                            <a:srgbClr val="0066CC"/>
                          </a:solidFill>
                          <a:effectLst/>
                          <a:uLnTx/>
                          <a:uFillTx/>
                          <a:latin typeface="Cambria Math" panose="02040503050406030204" pitchFamily="18" charset="0"/>
                          <a:ea typeface="+mn-ea"/>
                          <a:cs typeface="+mn-cs"/>
                        </a:rPr>
                        <m:t>𝑮</m:t>
                      </m:r>
                    </m:oMath>
                  </m:oMathPara>
                </a14:m>
                <a:endParaRPr kumimoji="0" lang="en-US" sz="1800" b="1" i="1" u="none" strike="noStrike" kern="1200" cap="none" spc="0" normalizeH="0" baseline="0" noProof="0" dirty="0">
                  <a:ln>
                    <a:noFill/>
                  </a:ln>
                  <a:solidFill>
                    <a:srgbClr val="0066CC"/>
                  </a:solidFill>
                  <a:effectLst/>
                  <a:uLnTx/>
                  <a:uFillTx/>
                  <a:latin typeface="Calibri" panose="020F0502020204030204"/>
                  <a:ea typeface="+mn-ea"/>
                  <a:cs typeface="+mn-cs"/>
                </a:endParaRPr>
              </a:p>
            </p:txBody>
          </p:sp>
        </mc:Choice>
        <mc:Fallback xmlns="">
          <p:sp>
            <p:nvSpPr>
              <p:cNvPr id="6" name="TextBox 5">
                <a:extLst>
                  <a:ext uri="{FF2B5EF4-FFF2-40B4-BE49-F238E27FC236}">
                    <a16:creationId xmlns:a16="http://schemas.microsoft.com/office/drawing/2014/main" id="{464745EF-57F0-4CAF-B004-74BC3B4E054E}"/>
                  </a:ext>
                </a:extLst>
              </p:cNvPr>
              <p:cNvSpPr txBox="1">
                <a:spLocks noRot="1" noChangeAspect="1" noMove="1" noResize="1" noEditPoints="1" noAdjustHandles="1" noChangeArrowheads="1" noChangeShapeType="1" noTextEdit="1"/>
              </p:cNvSpPr>
              <p:nvPr/>
            </p:nvSpPr>
            <p:spPr>
              <a:xfrm>
                <a:off x="499962" y="5529016"/>
                <a:ext cx="950838" cy="395558"/>
              </a:xfrm>
              <a:prstGeom prst="rect">
                <a:avLst/>
              </a:prstGeom>
              <a:blipFill>
                <a:blip r:embed="rId5"/>
                <a:stretch>
                  <a:fillRect b="-9231"/>
                </a:stretch>
              </a:blipFill>
            </p:spPr>
            <p:txBody>
              <a:bodyPr/>
              <a:lstStyle/>
              <a:p>
                <a:r>
                  <a:rPr lang="en-US">
                    <a:noFill/>
                  </a:rPr>
                  <a:t> </a:t>
                </a:r>
              </a:p>
            </p:txBody>
          </p:sp>
        </mc:Fallback>
      </mc:AlternateContent>
      <p:sp>
        <p:nvSpPr>
          <p:cNvPr id="112" name="Freeform 19">
            <a:extLst>
              <a:ext uri="{FF2B5EF4-FFF2-40B4-BE49-F238E27FC236}">
                <a16:creationId xmlns:a16="http://schemas.microsoft.com/office/drawing/2014/main" id="{60610F54-C11C-4DCB-A3D4-8C660A4A99DC}"/>
              </a:ext>
            </a:extLst>
          </p:cNvPr>
          <p:cNvSpPr>
            <a:spLocks/>
          </p:cNvSpPr>
          <p:nvPr/>
        </p:nvSpPr>
        <p:spPr bwMode="auto">
          <a:xfrm>
            <a:off x="8106845" y="4774823"/>
            <a:ext cx="2568575" cy="631825"/>
          </a:xfrm>
          <a:custGeom>
            <a:avLst/>
            <a:gdLst>
              <a:gd name="T0" fmla="*/ 0 w 1618"/>
              <a:gd name="T1" fmla="*/ 276 h 398"/>
              <a:gd name="T2" fmla="*/ 627 w 1618"/>
              <a:gd name="T3" fmla="*/ 358 h 398"/>
              <a:gd name="T4" fmla="*/ 963 w 1618"/>
              <a:gd name="T5" fmla="*/ 38 h 398"/>
              <a:gd name="T6" fmla="*/ 1495 w 1618"/>
              <a:gd name="T7" fmla="*/ 128 h 398"/>
              <a:gd name="T8" fmla="*/ 1618 w 1618"/>
              <a:gd name="T9" fmla="*/ 156 h 3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618" h="398">
                <a:moveTo>
                  <a:pt x="0" y="276"/>
                </a:moveTo>
                <a:cubicBezTo>
                  <a:pt x="104" y="290"/>
                  <a:pt x="467" y="398"/>
                  <a:pt x="627" y="358"/>
                </a:cubicBezTo>
                <a:cubicBezTo>
                  <a:pt x="787" y="318"/>
                  <a:pt x="818" y="76"/>
                  <a:pt x="963" y="38"/>
                </a:cubicBezTo>
                <a:cubicBezTo>
                  <a:pt x="1108" y="0"/>
                  <a:pt x="1386" y="108"/>
                  <a:pt x="1495" y="128"/>
                </a:cubicBezTo>
                <a:cubicBezTo>
                  <a:pt x="1604" y="148"/>
                  <a:pt x="1593" y="150"/>
                  <a:pt x="1618" y="156"/>
                </a:cubicBezTo>
              </a:path>
            </a:pathLst>
          </a:custGeom>
          <a:noFill/>
          <a:ln w="57150" cap="flat" cmpd="sng">
            <a:solidFill>
              <a:srgbClr val="00B0F0"/>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nvGrpSpPr>
          <p:cNvPr id="13" name="Group 12">
            <a:extLst>
              <a:ext uri="{FF2B5EF4-FFF2-40B4-BE49-F238E27FC236}">
                <a16:creationId xmlns:a16="http://schemas.microsoft.com/office/drawing/2014/main" id="{C2C12E16-99AB-4517-96CB-7B49382D7C5F}"/>
              </a:ext>
            </a:extLst>
          </p:cNvPr>
          <p:cNvGrpSpPr/>
          <p:nvPr/>
        </p:nvGrpSpPr>
        <p:grpSpPr>
          <a:xfrm>
            <a:off x="7853827" y="4327672"/>
            <a:ext cx="3276600" cy="1582070"/>
            <a:chOff x="7853827" y="4327672"/>
            <a:chExt cx="3276600" cy="1582070"/>
          </a:xfrm>
        </p:grpSpPr>
        <p:sp>
          <p:nvSpPr>
            <p:cNvPr id="92" name="Freeform: Shape 91">
              <a:extLst>
                <a:ext uri="{FF2B5EF4-FFF2-40B4-BE49-F238E27FC236}">
                  <a16:creationId xmlns:a16="http://schemas.microsoft.com/office/drawing/2014/main" id="{19D753F5-2CBC-499E-B7C5-964D71B20414}"/>
                </a:ext>
              </a:extLst>
            </p:cNvPr>
            <p:cNvSpPr/>
            <p:nvPr/>
          </p:nvSpPr>
          <p:spPr bwMode="auto">
            <a:xfrm>
              <a:off x="9692946" y="4554588"/>
              <a:ext cx="1137684" cy="349669"/>
            </a:xfrm>
            <a:custGeom>
              <a:avLst/>
              <a:gdLst>
                <a:gd name="connsiteX0" fmla="*/ 1137684 w 1137684"/>
                <a:gd name="connsiteY0" fmla="*/ 349669 h 349669"/>
                <a:gd name="connsiteX1" fmla="*/ 701749 w 1137684"/>
                <a:gd name="connsiteY1" fmla="*/ 30693 h 349669"/>
                <a:gd name="connsiteX2" fmla="*/ 0 w 1137684"/>
                <a:gd name="connsiteY2" fmla="*/ 30693 h 349669"/>
              </a:gdLst>
              <a:ahLst/>
              <a:cxnLst>
                <a:cxn ang="0">
                  <a:pos x="connsiteX0" y="connsiteY0"/>
                </a:cxn>
                <a:cxn ang="0">
                  <a:pos x="connsiteX1" y="connsiteY1"/>
                </a:cxn>
                <a:cxn ang="0">
                  <a:pos x="connsiteX2" y="connsiteY2"/>
                </a:cxn>
              </a:cxnLst>
              <a:rect l="l" t="t" r="r" b="b"/>
              <a:pathLst>
                <a:path w="1137684" h="349669">
                  <a:moveTo>
                    <a:pt x="1137684" y="349669"/>
                  </a:moveTo>
                  <a:cubicBezTo>
                    <a:pt x="1014523" y="216762"/>
                    <a:pt x="891363" y="83856"/>
                    <a:pt x="701749" y="30693"/>
                  </a:cubicBezTo>
                  <a:cubicBezTo>
                    <a:pt x="512135" y="-22470"/>
                    <a:pt x="256067" y="4111"/>
                    <a:pt x="0" y="30693"/>
                  </a:cubicBezTo>
                </a:path>
              </a:pathLst>
            </a:custGeom>
            <a:noFill/>
            <a:ln w="12700" cap="flat" cmpd="sng">
              <a:solidFill>
                <a:srgbClr val="695082"/>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3" name="Oval 5">
              <a:extLst>
                <a:ext uri="{FF2B5EF4-FFF2-40B4-BE49-F238E27FC236}">
                  <a16:creationId xmlns:a16="http://schemas.microsoft.com/office/drawing/2014/main" id="{4C80F6B4-3BB8-491E-AF16-0DCCDC4FE9F3}"/>
                </a:ext>
              </a:extLst>
            </p:cNvPr>
            <p:cNvSpPr>
              <a:spLocks noChangeArrowheads="1"/>
            </p:cNvSpPr>
            <p:nvPr/>
          </p:nvSpPr>
          <p:spPr bwMode="auto">
            <a:xfrm>
              <a:off x="7853827" y="4893956"/>
              <a:ext cx="381000" cy="381000"/>
            </a:xfrm>
            <a:prstGeom prst="ellipse">
              <a:avLst/>
            </a:prstGeom>
            <a:solidFill>
              <a:srgbClr val="FFFFCC"/>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a:ln>
                    <a:noFill/>
                  </a:ln>
                  <a:solidFill>
                    <a:prstClr val="black"/>
                  </a:solidFill>
                  <a:effectLst/>
                  <a:uLnTx/>
                  <a:uFillTx/>
                  <a:latin typeface="Arial" panose="020B0604020202020204" pitchFamily="34" charset="0"/>
                  <a:ea typeface="+mn-ea"/>
                  <a:cs typeface="+mn-cs"/>
                </a:rPr>
                <a:t>s</a:t>
              </a:r>
            </a:p>
          </p:txBody>
        </p:sp>
        <p:sp>
          <p:nvSpPr>
            <p:cNvPr id="94" name="Line 6">
              <a:extLst>
                <a:ext uri="{FF2B5EF4-FFF2-40B4-BE49-F238E27FC236}">
                  <a16:creationId xmlns:a16="http://schemas.microsoft.com/office/drawing/2014/main" id="{25948130-733F-40E5-9D69-501BCC64B3E1}"/>
                </a:ext>
              </a:extLst>
            </p:cNvPr>
            <p:cNvSpPr>
              <a:spLocks noChangeShapeType="1"/>
            </p:cNvSpPr>
            <p:nvPr/>
          </p:nvSpPr>
          <p:spPr bwMode="auto">
            <a:xfrm flipV="1">
              <a:off x="8234827" y="4741556"/>
              <a:ext cx="1066800" cy="352425"/>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5" name="Text Box 7">
              <a:extLst>
                <a:ext uri="{FF2B5EF4-FFF2-40B4-BE49-F238E27FC236}">
                  <a16:creationId xmlns:a16="http://schemas.microsoft.com/office/drawing/2014/main" id="{EDA5D0A4-048F-4264-98FE-01C7EC6E314F}"/>
                </a:ext>
              </a:extLst>
            </p:cNvPr>
            <p:cNvSpPr txBox="1">
              <a:spLocks noChangeArrowheads="1"/>
            </p:cNvSpPr>
            <p:nvPr/>
          </p:nvSpPr>
          <p:spPr bwMode="auto">
            <a:xfrm>
              <a:off x="8520586" y="4695518"/>
              <a:ext cx="540533" cy="400110"/>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mn-cs"/>
                </a:rPr>
                <a:t>c-1</a:t>
              </a:r>
            </a:p>
          </p:txBody>
        </p:sp>
        <p:sp>
          <p:nvSpPr>
            <p:cNvPr id="96" name="Oval 8">
              <a:extLst>
                <a:ext uri="{FF2B5EF4-FFF2-40B4-BE49-F238E27FC236}">
                  <a16:creationId xmlns:a16="http://schemas.microsoft.com/office/drawing/2014/main" id="{8568F7C7-16CA-4A4E-9F6B-8098BC478C8A}"/>
                </a:ext>
              </a:extLst>
            </p:cNvPr>
            <p:cNvSpPr>
              <a:spLocks noChangeArrowheads="1"/>
            </p:cNvSpPr>
            <p:nvPr/>
          </p:nvSpPr>
          <p:spPr bwMode="auto">
            <a:xfrm>
              <a:off x="9301627" y="4512956"/>
              <a:ext cx="381000" cy="381000"/>
            </a:xfrm>
            <a:prstGeom prst="ellipse">
              <a:avLst/>
            </a:prstGeom>
            <a:solidFill>
              <a:srgbClr val="FFFFCC"/>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a:ln>
                    <a:noFill/>
                  </a:ln>
                  <a:solidFill>
                    <a:prstClr val="black"/>
                  </a:solidFill>
                  <a:effectLst/>
                  <a:uLnTx/>
                  <a:uFillTx/>
                  <a:latin typeface="Arial" panose="020B0604020202020204" pitchFamily="34" charset="0"/>
                  <a:ea typeface="+mn-ea"/>
                  <a:cs typeface="+mn-cs"/>
                </a:rPr>
                <a:t>a</a:t>
              </a:r>
            </a:p>
          </p:txBody>
        </p:sp>
        <p:sp>
          <p:nvSpPr>
            <p:cNvPr id="97" name="Oval 9">
              <a:extLst>
                <a:ext uri="{FF2B5EF4-FFF2-40B4-BE49-F238E27FC236}">
                  <a16:creationId xmlns:a16="http://schemas.microsoft.com/office/drawing/2014/main" id="{E847DEDE-BC9B-42C1-926D-2D286FABE317}"/>
                </a:ext>
              </a:extLst>
            </p:cNvPr>
            <p:cNvSpPr>
              <a:spLocks noChangeArrowheads="1"/>
            </p:cNvSpPr>
            <p:nvPr/>
          </p:nvSpPr>
          <p:spPr bwMode="auto">
            <a:xfrm>
              <a:off x="10749427" y="4893956"/>
              <a:ext cx="381000" cy="381000"/>
            </a:xfrm>
            <a:prstGeom prst="ellipse">
              <a:avLst/>
            </a:prstGeom>
            <a:solidFill>
              <a:srgbClr val="FFFFCC"/>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a:ln>
                    <a:noFill/>
                  </a:ln>
                  <a:solidFill>
                    <a:prstClr val="black"/>
                  </a:solidFill>
                  <a:effectLst/>
                  <a:uLnTx/>
                  <a:uFillTx/>
                  <a:latin typeface="Arial" panose="020B0604020202020204" pitchFamily="34" charset="0"/>
                  <a:ea typeface="+mn-ea"/>
                  <a:cs typeface="+mn-cs"/>
                </a:rPr>
                <a:t>t</a:t>
              </a:r>
            </a:p>
          </p:txBody>
        </p:sp>
        <p:sp>
          <p:nvSpPr>
            <p:cNvPr id="98" name="Oval 10">
              <a:extLst>
                <a:ext uri="{FF2B5EF4-FFF2-40B4-BE49-F238E27FC236}">
                  <a16:creationId xmlns:a16="http://schemas.microsoft.com/office/drawing/2014/main" id="{6FA068D2-64FA-42BF-941F-A643FD72F5E5}"/>
                </a:ext>
              </a:extLst>
            </p:cNvPr>
            <p:cNvSpPr>
              <a:spLocks noChangeArrowheads="1"/>
            </p:cNvSpPr>
            <p:nvPr/>
          </p:nvSpPr>
          <p:spPr bwMode="auto">
            <a:xfrm>
              <a:off x="9301627" y="5351156"/>
              <a:ext cx="381000" cy="381000"/>
            </a:xfrm>
            <a:prstGeom prst="ellipse">
              <a:avLst/>
            </a:prstGeom>
            <a:solidFill>
              <a:srgbClr val="FFFFCC"/>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a:ln>
                    <a:noFill/>
                  </a:ln>
                  <a:solidFill>
                    <a:prstClr val="black"/>
                  </a:solidFill>
                  <a:effectLst/>
                  <a:uLnTx/>
                  <a:uFillTx/>
                  <a:latin typeface="Arial" panose="020B0604020202020204" pitchFamily="34" charset="0"/>
                  <a:ea typeface="+mn-ea"/>
                  <a:cs typeface="+mn-cs"/>
                </a:rPr>
                <a:t>b</a:t>
              </a:r>
            </a:p>
          </p:txBody>
        </p:sp>
        <p:sp>
          <p:nvSpPr>
            <p:cNvPr id="99" name="Line 11">
              <a:extLst>
                <a:ext uri="{FF2B5EF4-FFF2-40B4-BE49-F238E27FC236}">
                  <a16:creationId xmlns:a16="http://schemas.microsoft.com/office/drawing/2014/main" id="{0011F5E6-AC42-4D19-8FAE-61CE59E02F50}"/>
                </a:ext>
              </a:extLst>
            </p:cNvPr>
            <p:cNvSpPr>
              <a:spLocks noChangeShapeType="1"/>
            </p:cNvSpPr>
            <p:nvPr/>
          </p:nvSpPr>
          <p:spPr bwMode="auto">
            <a:xfrm flipV="1">
              <a:off x="9682627" y="5122556"/>
              <a:ext cx="1066800" cy="352425"/>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0" name="Line 12">
              <a:extLst>
                <a:ext uri="{FF2B5EF4-FFF2-40B4-BE49-F238E27FC236}">
                  <a16:creationId xmlns:a16="http://schemas.microsoft.com/office/drawing/2014/main" id="{6D23B43C-1125-4BA2-B496-62A2412D553E}"/>
                </a:ext>
              </a:extLst>
            </p:cNvPr>
            <p:cNvSpPr>
              <a:spLocks noChangeShapeType="1"/>
            </p:cNvSpPr>
            <p:nvPr/>
          </p:nvSpPr>
          <p:spPr bwMode="auto">
            <a:xfrm>
              <a:off x="9682627" y="4712981"/>
              <a:ext cx="1066800" cy="257175"/>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1" name="Line 13">
              <a:extLst>
                <a:ext uri="{FF2B5EF4-FFF2-40B4-BE49-F238E27FC236}">
                  <a16:creationId xmlns:a16="http://schemas.microsoft.com/office/drawing/2014/main" id="{00684F1E-0706-4BEB-B14C-9FFD69FCED40}"/>
                </a:ext>
              </a:extLst>
            </p:cNvPr>
            <p:cNvSpPr>
              <a:spLocks noChangeShapeType="1"/>
            </p:cNvSpPr>
            <p:nvPr/>
          </p:nvSpPr>
          <p:spPr bwMode="auto">
            <a:xfrm>
              <a:off x="8234827" y="5198756"/>
              <a:ext cx="1066800" cy="257175"/>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2" name="Text Box 14">
              <a:extLst>
                <a:ext uri="{FF2B5EF4-FFF2-40B4-BE49-F238E27FC236}">
                  <a16:creationId xmlns:a16="http://schemas.microsoft.com/office/drawing/2014/main" id="{349E63CB-7660-4082-836E-52F5C2BD654E}"/>
                </a:ext>
              </a:extLst>
            </p:cNvPr>
            <p:cNvSpPr txBox="1">
              <a:spLocks noChangeArrowheads="1"/>
            </p:cNvSpPr>
            <p:nvPr/>
          </p:nvSpPr>
          <p:spPr bwMode="auto">
            <a:xfrm>
              <a:off x="9915043" y="4601649"/>
              <a:ext cx="540533" cy="400110"/>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mn-cs"/>
                </a:rPr>
                <a:t>c-1</a:t>
              </a:r>
            </a:p>
          </p:txBody>
        </p:sp>
        <p:sp>
          <p:nvSpPr>
            <p:cNvPr id="103" name="Text Box 15">
              <a:extLst>
                <a:ext uri="{FF2B5EF4-FFF2-40B4-BE49-F238E27FC236}">
                  <a16:creationId xmlns:a16="http://schemas.microsoft.com/office/drawing/2014/main" id="{0E33D7CC-C28A-40B4-87C9-A1D986ADDDF0}"/>
                </a:ext>
              </a:extLst>
            </p:cNvPr>
            <p:cNvSpPr txBox="1">
              <a:spLocks noChangeArrowheads="1"/>
            </p:cNvSpPr>
            <p:nvPr/>
          </p:nvSpPr>
          <p:spPr bwMode="auto">
            <a:xfrm>
              <a:off x="9960430" y="5119976"/>
              <a:ext cx="540533" cy="400110"/>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mn-cs"/>
                </a:rPr>
                <a:t>c-1</a:t>
              </a:r>
            </a:p>
          </p:txBody>
        </p:sp>
        <p:sp>
          <p:nvSpPr>
            <p:cNvPr id="104" name="Text Box 16">
              <a:extLst>
                <a:ext uri="{FF2B5EF4-FFF2-40B4-BE49-F238E27FC236}">
                  <a16:creationId xmlns:a16="http://schemas.microsoft.com/office/drawing/2014/main" id="{519B5924-9020-45A4-BA15-F4E8691090B9}"/>
                </a:ext>
              </a:extLst>
            </p:cNvPr>
            <p:cNvSpPr txBox="1">
              <a:spLocks noChangeArrowheads="1"/>
            </p:cNvSpPr>
            <p:nvPr/>
          </p:nvSpPr>
          <p:spPr bwMode="auto">
            <a:xfrm>
              <a:off x="9530227" y="4893956"/>
              <a:ext cx="325438"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a:ln>
                    <a:noFill/>
                  </a:ln>
                  <a:solidFill>
                    <a:prstClr val="black"/>
                  </a:solidFill>
                  <a:effectLst/>
                  <a:uLnTx/>
                  <a:uFillTx/>
                  <a:latin typeface="Arial" panose="020B0604020202020204" pitchFamily="34" charset="0"/>
                  <a:ea typeface="+mn-ea"/>
                  <a:cs typeface="+mn-cs"/>
                </a:rPr>
                <a:t>1</a:t>
              </a:r>
            </a:p>
          </p:txBody>
        </p:sp>
        <p:sp>
          <p:nvSpPr>
            <p:cNvPr id="105" name="Text Box 17">
              <a:extLst>
                <a:ext uri="{FF2B5EF4-FFF2-40B4-BE49-F238E27FC236}">
                  <a16:creationId xmlns:a16="http://schemas.microsoft.com/office/drawing/2014/main" id="{539BBED5-4144-4DBB-B34A-C781BF6C01FD}"/>
                </a:ext>
              </a:extLst>
            </p:cNvPr>
            <p:cNvSpPr txBox="1">
              <a:spLocks noChangeArrowheads="1"/>
            </p:cNvSpPr>
            <p:nvPr/>
          </p:nvSpPr>
          <p:spPr bwMode="auto">
            <a:xfrm>
              <a:off x="8522040" y="5152718"/>
              <a:ext cx="540533" cy="400110"/>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mn-cs"/>
                </a:rPr>
                <a:t>c-1</a:t>
              </a:r>
            </a:p>
          </p:txBody>
        </p:sp>
        <p:sp>
          <p:nvSpPr>
            <p:cNvPr id="106" name="Line 18">
              <a:extLst>
                <a:ext uri="{FF2B5EF4-FFF2-40B4-BE49-F238E27FC236}">
                  <a16:creationId xmlns:a16="http://schemas.microsoft.com/office/drawing/2014/main" id="{02E01ABE-DACC-4E6E-89D6-7EB533F7EDBA}"/>
                </a:ext>
              </a:extLst>
            </p:cNvPr>
            <p:cNvSpPr>
              <a:spLocks noChangeShapeType="1"/>
            </p:cNvSpPr>
            <p:nvPr/>
          </p:nvSpPr>
          <p:spPr bwMode="auto">
            <a:xfrm flipV="1">
              <a:off x="9454027" y="4893956"/>
              <a:ext cx="0" cy="457200"/>
            </a:xfrm>
            <a:prstGeom prst="line">
              <a:avLst/>
            </a:prstGeom>
            <a:noFill/>
            <a:ln w="1270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7" name="Freeform: Shape 106">
              <a:extLst>
                <a:ext uri="{FF2B5EF4-FFF2-40B4-BE49-F238E27FC236}">
                  <a16:creationId xmlns:a16="http://schemas.microsoft.com/office/drawing/2014/main" id="{C73BB082-BF7D-4565-BB79-8E23D830A806}"/>
                </a:ext>
              </a:extLst>
            </p:cNvPr>
            <p:cNvSpPr/>
            <p:nvPr/>
          </p:nvSpPr>
          <p:spPr bwMode="auto">
            <a:xfrm rot="10800000">
              <a:off x="8157697" y="5297578"/>
              <a:ext cx="1137684" cy="349669"/>
            </a:xfrm>
            <a:custGeom>
              <a:avLst/>
              <a:gdLst>
                <a:gd name="connsiteX0" fmla="*/ 1137684 w 1137684"/>
                <a:gd name="connsiteY0" fmla="*/ 349669 h 349669"/>
                <a:gd name="connsiteX1" fmla="*/ 701749 w 1137684"/>
                <a:gd name="connsiteY1" fmla="*/ 30693 h 349669"/>
                <a:gd name="connsiteX2" fmla="*/ 0 w 1137684"/>
                <a:gd name="connsiteY2" fmla="*/ 30693 h 349669"/>
              </a:gdLst>
              <a:ahLst/>
              <a:cxnLst>
                <a:cxn ang="0">
                  <a:pos x="connsiteX0" y="connsiteY0"/>
                </a:cxn>
                <a:cxn ang="0">
                  <a:pos x="connsiteX1" y="connsiteY1"/>
                </a:cxn>
                <a:cxn ang="0">
                  <a:pos x="connsiteX2" y="connsiteY2"/>
                </a:cxn>
              </a:cxnLst>
              <a:rect l="l" t="t" r="r" b="b"/>
              <a:pathLst>
                <a:path w="1137684" h="349669">
                  <a:moveTo>
                    <a:pt x="1137684" y="349669"/>
                  </a:moveTo>
                  <a:cubicBezTo>
                    <a:pt x="1014523" y="216762"/>
                    <a:pt x="891363" y="83856"/>
                    <a:pt x="701749" y="30693"/>
                  </a:cubicBezTo>
                  <a:cubicBezTo>
                    <a:pt x="512135" y="-22470"/>
                    <a:pt x="256067" y="4111"/>
                    <a:pt x="0" y="30693"/>
                  </a:cubicBezTo>
                </a:path>
              </a:pathLst>
            </a:custGeom>
            <a:noFill/>
            <a:ln w="12700" cap="flat" cmpd="sng">
              <a:solidFill>
                <a:srgbClr val="695082"/>
              </a:solidFill>
              <a:prstDash val="solid"/>
              <a:round/>
              <a:headEnd type="triangl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8" name="Text Box 7">
              <a:extLst>
                <a:ext uri="{FF2B5EF4-FFF2-40B4-BE49-F238E27FC236}">
                  <a16:creationId xmlns:a16="http://schemas.microsoft.com/office/drawing/2014/main" id="{0F122E98-228B-4A19-872E-509A8E9036D1}"/>
                </a:ext>
              </a:extLst>
            </p:cNvPr>
            <p:cNvSpPr txBox="1">
              <a:spLocks noChangeArrowheads="1"/>
            </p:cNvSpPr>
            <p:nvPr/>
          </p:nvSpPr>
          <p:spPr bwMode="auto">
            <a:xfrm>
              <a:off x="10411597" y="4444501"/>
              <a:ext cx="327334" cy="400110"/>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mn-cs"/>
                </a:rPr>
                <a:t>1</a:t>
              </a:r>
            </a:p>
          </p:txBody>
        </p:sp>
        <p:sp>
          <p:nvSpPr>
            <p:cNvPr id="109" name="Text Box 7">
              <a:extLst>
                <a:ext uri="{FF2B5EF4-FFF2-40B4-BE49-F238E27FC236}">
                  <a16:creationId xmlns:a16="http://schemas.microsoft.com/office/drawing/2014/main" id="{CF45C879-124B-4A4F-91F0-317831402942}"/>
                </a:ext>
              </a:extLst>
            </p:cNvPr>
            <p:cNvSpPr txBox="1">
              <a:spLocks noChangeArrowheads="1"/>
            </p:cNvSpPr>
            <p:nvPr/>
          </p:nvSpPr>
          <p:spPr bwMode="auto">
            <a:xfrm>
              <a:off x="8627186" y="5509632"/>
              <a:ext cx="327334" cy="400110"/>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mn-cs"/>
                </a:rPr>
                <a:t>1</a:t>
              </a:r>
            </a:p>
          </p:txBody>
        </p:sp>
        <p:sp>
          <p:nvSpPr>
            <p:cNvPr id="113" name="Freeform: Shape 112">
              <a:extLst>
                <a:ext uri="{FF2B5EF4-FFF2-40B4-BE49-F238E27FC236}">
                  <a16:creationId xmlns:a16="http://schemas.microsoft.com/office/drawing/2014/main" id="{4DCF8A7B-4111-48AC-B495-C5CD12BF1A41}"/>
                </a:ext>
              </a:extLst>
            </p:cNvPr>
            <p:cNvSpPr/>
            <p:nvPr/>
          </p:nvSpPr>
          <p:spPr bwMode="auto">
            <a:xfrm flipV="1">
              <a:off x="9685750" y="5274467"/>
              <a:ext cx="1137684" cy="349669"/>
            </a:xfrm>
            <a:custGeom>
              <a:avLst/>
              <a:gdLst>
                <a:gd name="connsiteX0" fmla="*/ 1137684 w 1137684"/>
                <a:gd name="connsiteY0" fmla="*/ 349669 h 349669"/>
                <a:gd name="connsiteX1" fmla="*/ 701749 w 1137684"/>
                <a:gd name="connsiteY1" fmla="*/ 30693 h 349669"/>
                <a:gd name="connsiteX2" fmla="*/ 0 w 1137684"/>
                <a:gd name="connsiteY2" fmla="*/ 30693 h 349669"/>
              </a:gdLst>
              <a:ahLst/>
              <a:cxnLst>
                <a:cxn ang="0">
                  <a:pos x="connsiteX0" y="connsiteY0"/>
                </a:cxn>
                <a:cxn ang="0">
                  <a:pos x="connsiteX1" y="connsiteY1"/>
                </a:cxn>
                <a:cxn ang="0">
                  <a:pos x="connsiteX2" y="connsiteY2"/>
                </a:cxn>
              </a:cxnLst>
              <a:rect l="l" t="t" r="r" b="b"/>
              <a:pathLst>
                <a:path w="1137684" h="349669">
                  <a:moveTo>
                    <a:pt x="1137684" y="349669"/>
                  </a:moveTo>
                  <a:cubicBezTo>
                    <a:pt x="1014523" y="216762"/>
                    <a:pt x="891363" y="83856"/>
                    <a:pt x="701749" y="30693"/>
                  </a:cubicBezTo>
                  <a:cubicBezTo>
                    <a:pt x="512135" y="-22470"/>
                    <a:pt x="256067" y="4111"/>
                    <a:pt x="0" y="30693"/>
                  </a:cubicBezTo>
                </a:path>
              </a:pathLst>
            </a:custGeom>
            <a:noFill/>
            <a:ln w="12700" cap="flat" cmpd="sng">
              <a:solidFill>
                <a:srgbClr val="695082"/>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4" name="Text Box 7">
              <a:extLst>
                <a:ext uri="{FF2B5EF4-FFF2-40B4-BE49-F238E27FC236}">
                  <a16:creationId xmlns:a16="http://schemas.microsoft.com/office/drawing/2014/main" id="{102F71A9-05FE-4A4C-80CF-D1DFF874588A}"/>
                </a:ext>
              </a:extLst>
            </p:cNvPr>
            <p:cNvSpPr txBox="1">
              <a:spLocks noChangeArrowheads="1"/>
            </p:cNvSpPr>
            <p:nvPr/>
          </p:nvSpPr>
          <p:spPr bwMode="auto">
            <a:xfrm>
              <a:off x="10468181" y="5346441"/>
              <a:ext cx="327334" cy="400110"/>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mn-cs"/>
                </a:rPr>
                <a:t>1</a:t>
              </a:r>
            </a:p>
          </p:txBody>
        </p:sp>
        <p:sp>
          <p:nvSpPr>
            <p:cNvPr id="115" name="Freeform: Shape 114">
              <a:extLst>
                <a:ext uri="{FF2B5EF4-FFF2-40B4-BE49-F238E27FC236}">
                  <a16:creationId xmlns:a16="http://schemas.microsoft.com/office/drawing/2014/main" id="{E72E0D4D-B592-41EC-910E-8769263E99F4}"/>
                </a:ext>
              </a:extLst>
            </p:cNvPr>
            <p:cNvSpPr/>
            <p:nvPr/>
          </p:nvSpPr>
          <p:spPr bwMode="auto">
            <a:xfrm rot="10800000" flipV="1">
              <a:off x="8167061" y="4564124"/>
              <a:ext cx="1137684" cy="349669"/>
            </a:xfrm>
            <a:custGeom>
              <a:avLst/>
              <a:gdLst>
                <a:gd name="connsiteX0" fmla="*/ 1137684 w 1137684"/>
                <a:gd name="connsiteY0" fmla="*/ 349669 h 349669"/>
                <a:gd name="connsiteX1" fmla="*/ 701749 w 1137684"/>
                <a:gd name="connsiteY1" fmla="*/ 30693 h 349669"/>
                <a:gd name="connsiteX2" fmla="*/ 0 w 1137684"/>
                <a:gd name="connsiteY2" fmla="*/ 30693 h 349669"/>
              </a:gdLst>
              <a:ahLst/>
              <a:cxnLst>
                <a:cxn ang="0">
                  <a:pos x="connsiteX0" y="connsiteY0"/>
                </a:cxn>
                <a:cxn ang="0">
                  <a:pos x="connsiteX1" y="connsiteY1"/>
                </a:cxn>
                <a:cxn ang="0">
                  <a:pos x="connsiteX2" y="connsiteY2"/>
                </a:cxn>
              </a:cxnLst>
              <a:rect l="l" t="t" r="r" b="b"/>
              <a:pathLst>
                <a:path w="1137684" h="349669">
                  <a:moveTo>
                    <a:pt x="1137684" y="349669"/>
                  </a:moveTo>
                  <a:cubicBezTo>
                    <a:pt x="1014523" y="216762"/>
                    <a:pt x="891363" y="83856"/>
                    <a:pt x="701749" y="30693"/>
                  </a:cubicBezTo>
                  <a:cubicBezTo>
                    <a:pt x="512135" y="-22470"/>
                    <a:pt x="256067" y="4111"/>
                    <a:pt x="0" y="30693"/>
                  </a:cubicBezTo>
                </a:path>
              </a:pathLst>
            </a:custGeom>
            <a:noFill/>
            <a:ln w="12700" cap="flat" cmpd="sng">
              <a:solidFill>
                <a:srgbClr val="695082"/>
              </a:solidFill>
              <a:prstDash val="solid"/>
              <a:round/>
              <a:headEnd type="triangl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6" name="Text Box 7">
              <a:extLst>
                <a:ext uri="{FF2B5EF4-FFF2-40B4-BE49-F238E27FC236}">
                  <a16:creationId xmlns:a16="http://schemas.microsoft.com/office/drawing/2014/main" id="{B74DFD9B-F0FA-4DF1-8009-EE60CBA01AED}"/>
                </a:ext>
              </a:extLst>
            </p:cNvPr>
            <p:cNvSpPr txBox="1">
              <a:spLocks noChangeArrowheads="1"/>
            </p:cNvSpPr>
            <p:nvPr/>
          </p:nvSpPr>
          <p:spPr bwMode="auto">
            <a:xfrm>
              <a:off x="8521730" y="4327672"/>
              <a:ext cx="327334" cy="400110"/>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mn-cs"/>
                </a:rPr>
                <a:t>1</a:t>
              </a:r>
            </a:p>
          </p:txBody>
        </p:sp>
      </p:grpSp>
      <p:sp>
        <p:nvSpPr>
          <p:cNvPr id="14" name="TextBox 13">
            <a:extLst>
              <a:ext uri="{FF2B5EF4-FFF2-40B4-BE49-F238E27FC236}">
                <a16:creationId xmlns:a16="http://schemas.microsoft.com/office/drawing/2014/main" id="{2AA8E0A4-E691-4282-B6F4-EEF03E3A1384}"/>
              </a:ext>
            </a:extLst>
          </p:cNvPr>
          <p:cNvSpPr txBox="1"/>
          <p:nvPr/>
        </p:nvSpPr>
        <p:spPr>
          <a:xfrm>
            <a:off x="11312674" y="4829166"/>
            <a:ext cx="642484"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etc.</a:t>
            </a:r>
          </a:p>
        </p:txBody>
      </p:sp>
    </p:spTree>
    <p:extLst>
      <p:ext uri="{BB962C8B-B14F-4D97-AF65-F5344CB8AC3E}">
        <p14:creationId xmlns:p14="http://schemas.microsoft.com/office/powerpoint/2010/main" val="3446264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88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P spid="36885" grpId="0" animBg="1"/>
      <p:bldP spid="112" grpId="0" animBg="1"/>
      <p:bldP spid="1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66D149-F968-573F-C3E5-9A3D087F5067}"/>
              </a:ext>
            </a:extLst>
          </p:cNvPr>
          <p:cNvSpPr>
            <a:spLocks noGrp="1"/>
          </p:cNvSpPr>
          <p:nvPr>
            <p:ph type="title"/>
          </p:nvPr>
        </p:nvSpPr>
        <p:spPr/>
        <p:txBody>
          <a:bodyPr/>
          <a:lstStyle/>
          <a:p>
            <a:r>
              <a:rPr lang="en-US" dirty="0"/>
              <a:t>Applications of Max Flow</a:t>
            </a:r>
          </a:p>
        </p:txBody>
      </p:sp>
      <p:sp>
        <p:nvSpPr>
          <p:cNvPr id="3" name="Content Placeholder 2">
            <a:extLst>
              <a:ext uri="{FF2B5EF4-FFF2-40B4-BE49-F238E27FC236}">
                <a16:creationId xmlns:a16="http://schemas.microsoft.com/office/drawing/2014/main" id="{42D149EC-89D1-FA51-636F-7C80DCB159A4}"/>
              </a:ext>
            </a:extLst>
          </p:cNvPr>
          <p:cNvSpPr>
            <a:spLocks noGrp="1"/>
          </p:cNvSpPr>
          <p:nvPr>
            <p:ph idx="1"/>
          </p:nvPr>
        </p:nvSpPr>
        <p:spPr>
          <a:xfrm>
            <a:off x="838200" y="1825624"/>
            <a:ext cx="10515600" cy="4867783"/>
          </a:xfrm>
        </p:spPr>
        <p:txBody>
          <a:bodyPr>
            <a:normAutofit fontScale="92500" lnSpcReduction="20000"/>
          </a:bodyPr>
          <a:lstStyle/>
          <a:p>
            <a:r>
              <a:rPr lang="en-US" dirty="0"/>
              <a:t>Max flow is most useful when paired with reductions</a:t>
            </a:r>
          </a:p>
          <a:p>
            <a:r>
              <a:rPr lang="en-US" dirty="0"/>
              <a:t>Reduction idea:</a:t>
            </a:r>
          </a:p>
          <a:p>
            <a:pPr lvl="1"/>
            <a:r>
              <a:rPr lang="en-US" dirty="0"/>
              <a:t>Create an algorithm for a new problem by transforming it into a different problem that can be solved by a preexisting algorithm</a:t>
            </a:r>
          </a:p>
          <a:p>
            <a:r>
              <a:rPr lang="en-US" dirty="0"/>
              <a:t>Reduction Definition - A pair of procedures:</a:t>
            </a:r>
          </a:p>
          <a:p>
            <a:pPr lvl="1"/>
            <a:r>
              <a:rPr lang="en-US" dirty="0">
                <a:solidFill>
                  <a:srgbClr val="0070C0"/>
                </a:solidFill>
              </a:rPr>
              <a:t>One that takes inputs for the new problem and transforms them into inputs for the old problem</a:t>
            </a:r>
          </a:p>
          <a:p>
            <a:pPr lvl="1"/>
            <a:r>
              <a:rPr lang="en-US" dirty="0">
                <a:solidFill>
                  <a:srgbClr val="FF0000"/>
                </a:solidFill>
              </a:rPr>
              <a:t>One that takes solutions from the old problem and converts those into solutions for the new problem</a:t>
            </a:r>
          </a:p>
          <a:p>
            <a:pPr lvl="2"/>
            <a:r>
              <a:rPr lang="en-US" dirty="0"/>
              <a:t>Note: this second procedure only needs to apply to solutions to inputs that could possible come from the reduction (i.e. it does not have to work for every possible solution)</a:t>
            </a:r>
          </a:p>
          <a:p>
            <a:r>
              <a:rPr lang="en-US" dirty="0"/>
              <a:t>The way we’ll use max flow:</a:t>
            </a:r>
          </a:p>
          <a:p>
            <a:pPr lvl="1"/>
            <a:r>
              <a:rPr lang="en-US" dirty="0"/>
              <a:t>Start with a non max flow problem</a:t>
            </a:r>
          </a:p>
          <a:p>
            <a:pPr lvl="1"/>
            <a:r>
              <a:rPr lang="en-US" b="1" dirty="0">
                <a:solidFill>
                  <a:srgbClr val="0070C0"/>
                </a:solidFill>
              </a:rPr>
              <a:t>Write a procedure to convert its input to a flow network</a:t>
            </a:r>
          </a:p>
          <a:p>
            <a:pPr lvl="1"/>
            <a:r>
              <a:rPr lang="en-US" dirty="0"/>
              <a:t>Use Ford-Fulkerson to find the max flow through the network</a:t>
            </a:r>
          </a:p>
          <a:p>
            <a:pPr lvl="1"/>
            <a:r>
              <a:rPr lang="en-US" b="1" dirty="0">
                <a:solidFill>
                  <a:srgbClr val="FF0000"/>
                </a:solidFill>
              </a:rPr>
              <a:t>Use that max flow to find the solution to our non max flow problem.</a:t>
            </a:r>
          </a:p>
          <a:p>
            <a:pPr lvl="2"/>
            <a:endParaRPr lang="en-US" dirty="0"/>
          </a:p>
        </p:txBody>
      </p:sp>
    </p:spTree>
    <p:extLst>
      <p:ext uri="{BB962C8B-B14F-4D97-AF65-F5344CB8AC3E}">
        <p14:creationId xmlns:p14="http://schemas.microsoft.com/office/powerpoint/2010/main" val="356859598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33"/>
          <p:cNvSpPr/>
          <p:nvPr/>
        </p:nvSpPr>
        <p:spPr>
          <a:xfrm>
            <a:off x="4488720" y="1773199"/>
            <a:ext cx="3215508" cy="4843619"/>
          </a:xfrm>
          <a:prstGeom prst="rect">
            <a:avLst/>
          </a:prstGeom>
          <a:solidFill>
            <a:srgbClr val="FFA7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353085" y="-171592"/>
            <a:ext cx="10515600" cy="1325563"/>
          </a:xfrm>
        </p:spPr>
        <p:txBody>
          <a:bodyPr/>
          <a:lstStyle/>
          <a:p>
            <a:r>
              <a:rPr lang="en-US" dirty="0"/>
              <a:t>Reductions</a:t>
            </a: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BADE50-950A-4D58-BFB2-FA2C6A8B385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mc:AlternateContent xmlns:mc="http://schemas.openxmlformats.org/markup-compatibility/2006" xmlns:a14="http://schemas.microsoft.com/office/drawing/2010/main">
        <mc:Choice Requires="a14">
          <p:sp>
            <p:nvSpPr>
              <p:cNvPr id="12" name="TextBox 11"/>
              <p:cNvSpPr txBox="1"/>
              <p:nvPr/>
            </p:nvSpPr>
            <p:spPr>
              <a:xfrm>
                <a:off x="1615701" y="1403866"/>
                <a:ext cx="1177053"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Problem </a:t>
                </a:r>
                <a14:m>
                  <m:oMath xmlns:m="http://schemas.openxmlformats.org/officeDocument/2006/math">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𝐴</m:t>
                    </m:r>
                  </m:oMath>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1615701" y="1403866"/>
                <a:ext cx="1177053" cy="369332"/>
              </a:xfrm>
              <a:prstGeom prst="rect">
                <a:avLst/>
              </a:prstGeom>
              <a:blipFill>
                <a:blip r:embed="rId2"/>
                <a:stretch>
                  <a:fillRect l="-4145" t="-8197" b="-245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p:cNvSpPr txBox="1"/>
              <p:nvPr/>
            </p:nvSpPr>
            <p:spPr>
              <a:xfrm>
                <a:off x="7696200" y="1371600"/>
                <a:ext cx="118744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Problem </a:t>
                </a:r>
                <a14:m>
                  <m:oMath xmlns:m="http://schemas.openxmlformats.org/officeDocument/2006/math">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𝐵</m:t>
                    </m:r>
                  </m:oMath>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16" name="TextBox 15"/>
              <p:cNvSpPr txBox="1">
                <a:spLocks noRot="1" noChangeAspect="1" noMove="1" noResize="1" noEditPoints="1" noAdjustHandles="1" noChangeArrowheads="1" noChangeShapeType="1" noTextEdit="1"/>
              </p:cNvSpPr>
              <p:nvPr/>
            </p:nvSpPr>
            <p:spPr>
              <a:xfrm>
                <a:off x="7696200" y="1371600"/>
                <a:ext cx="1187441" cy="369332"/>
              </a:xfrm>
              <a:prstGeom prst="rect">
                <a:avLst/>
              </a:prstGeom>
              <a:blipFill>
                <a:blip r:embed="rId3"/>
                <a:stretch>
                  <a:fillRect l="-4639" t="-8197" b="-2459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1" name="TextBox 20"/>
              <p:cNvSpPr txBox="1"/>
              <p:nvPr/>
            </p:nvSpPr>
            <p:spPr>
              <a:xfrm>
                <a:off x="7982952" y="4830490"/>
                <a:ext cx="3015505"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Solution for chosen</a:t>
                </a:r>
                <a:r>
                  <a:rPr kumimoji="0" lang="en-US" sz="1800" b="0" i="0" u="none" strike="noStrike" kern="1200" cap="none" spc="0" normalizeH="0" noProof="0" dirty="0">
                    <a:ln>
                      <a:noFill/>
                    </a:ln>
                    <a:solidFill>
                      <a:prstClr val="black"/>
                    </a:solidFill>
                    <a:effectLst/>
                    <a:uLnTx/>
                    <a:uFillTx/>
                    <a:latin typeface="Calibri" panose="020F0502020204030204"/>
                    <a:ea typeface="+mn-ea"/>
                    <a:cs typeface="+mn-cs"/>
                  </a:rPr>
                  <a:t> input of</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a:t>
                </a:r>
                <a14:m>
                  <m:oMath xmlns:m="http://schemas.openxmlformats.org/officeDocument/2006/math">
                    <m:r>
                      <a:rPr kumimoji="0" lang="en-US" sz="1800" b="1" i="1" u="none" strike="noStrike" kern="1200" cap="none" spc="0" normalizeH="0" baseline="0" noProof="0" dirty="0">
                        <a:ln>
                          <a:noFill/>
                        </a:ln>
                        <a:solidFill>
                          <a:prstClr val="black"/>
                        </a:solidFill>
                        <a:effectLst/>
                        <a:uLnTx/>
                        <a:uFillTx/>
                        <a:latin typeface="Cambria Math"/>
                        <a:ea typeface="+mn-ea"/>
                        <a:cs typeface="+mn-cs"/>
                      </a:rPr>
                      <m:t>𝑩</m:t>
                    </m:r>
                  </m:oMath>
                </a14:m>
                <a:endPar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p:sp>
            <p:nvSpPr>
              <p:cNvPr id="21" name="TextBox 20"/>
              <p:cNvSpPr txBox="1">
                <a:spLocks noRot="1" noChangeAspect="1" noMove="1" noResize="1" noEditPoints="1" noAdjustHandles="1" noChangeArrowheads="1" noChangeShapeType="1" noTextEdit="1"/>
              </p:cNvSpPr>
              <p:nvPr/>
            </p:nvSpPr>
            <p:spPr>
              <a:xfrm>
                <a:off x="7982952" y="4830490"/>
                <a:ext cx="3015505" cy="369332"/>
              </a:xfrm>
              <a:prstGeom prst="rect">
                <a:avLst/>
              </a:prstGeom>
              <a:blipFill>
                <a:blip r:embed="rId4"/>
                <a:stretch>
                  <a:fillRect l="-1822" t="-8197" b="-245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Flowchart: Magnetic Disk 21"/>
              <p:cNvSpPr/>
              <p:nvPr/>
            </p:nvSpPr>
            <p:spPr>
              <a:xfrm>
                <a:off x="2741659" y="1806836"/>
                <a:ext cx="625924" cy="1184190"/>
              </a:xfrm>
              <a:prstGeom prst="flowChartMagneticDisk">
                <a:avLst/>
              </a:prstGeom>
              <a:solidFill>
                <a:srgbClr val="FF505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4000" b="0" i="1" u="none" strike="noStrike" kern="1200" cap="none" spc="0" normalizeH="0" baseline="0" noProof="0">
                          <a:ln>
                            <a:noFill/>
                          </a:ln>
                          <a:solidFill>
                            <a:prstClr val="black"/>
                          </a:solidFill>
                          <a:effectLst/>
                          <a:uLnTx/>
                          <a:uFillTx/>
                          <a:latin typeface="Cambria Math"/>
                          <a:ea typeface="+mn-ea"/>
                          <a:cs typeface="+mn-cs"/>
                        </a:rPr>
                        <m:t>𝐴</m:t>
                      </m:r>
                    </m:oMath>
                  </m:oMathPara>
                </a14:m>
                <a:endParaRPr kumimoji="0" lang="en-US" sz="4000" b="0" i="1"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22" name="Flowchart: Magnetic Disk 21"/>
              <p:cNvSpPr>
                <a:spLocks noRot="1" noChangeAspect="1" noMove="1" noResize="1" noEditPoints="1" noAdjustHandles="1" noChangeArrowheads="1" noChangeShapeType="1" noTextEdit="1"/>
              </p:cNvSpPr>
              <p:nvPr/>
            </p:nvSpPr>
            <p:spPr>
              <a:xfrm>
                <a:off x="2741659" y="1806836"/>
                <a:ext cx="625924" cy="1184190"/>
              </a:xfrm>
              <a:prstGeom prst="flowChartMagneticDisk">
                <a:avLst/>
              </a:prstGeom>
              <a:blipFill>
                <a:blip r:embed="rId5"/>
                <a:stretch>
                  <a:fillRect l="-9615"/>
                </a:stretch>
              </a:blipFill>
              <a:ln>
                <a:solidFill>
                  <a:schemeClr val="tx1">
                    <a:lumMod val="95000"/>
                    <a:lumOff val="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Rectangle 22"/>
              <p:cNvSpPr/>
              <p:nvPr/>
            </p:nvSpPr>
            <p:spPr>
              <a:xfrm>
                <a:off x="8913392" y="1892573"/>
                <a:ext cx="625924" cy="1004887"/>
              </a:xfrm>
              <a:prstGeom prst="rect">
                <a:avLst/>
              </a:prstGeom>
              <a:solidFill>
                <a:srgbClr val="FFFF0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4000" b="0" i="1" u="none" strike="noStrike" kern="1200" cap="none" spc="0" normalizeH="0" baseline="0" noProof="0">
                          <a:ln>
                            <a:noFill/>
                          </a:ln>
                          <a:solidFill>
                            <a:prstClr val="black"/>
                          </a:solidFill>
                          <a:effectLst/>
                          <a:uLnTx/>
                          <a:uFillTx/>
                          <a:latin typeface="Cambria Math"/>
                          <a:ea typeface="+mn-ea"/>
                          <a:cs typeface="+mn-cs"/>
                        </a:rPr>
                        <m:t>𝐵</m:t>
                      </m:r>
                    </m:oMath>
                  </m:oMathPara>
                </a14:m>
                <a:endPar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23" name="Rectangle 22"/>
              <p:cNvSpPr>
                <a:spLocks noRot="1" noChangeAspect="1" noMove="1" noResize="1" noEditPoints="1" noAdjustHandles="1" noChangeArrowheads="1" noChangeShapeType="1" noTextEdit="1"/>
              </p:cNvSpPr>
              <p:nvPr/>
            </p:nvSpPr>
            <p:spPr>
              <a:xfrm>
                <a:off x="8913392" y="1892573"/>
                <a:ext cx="625924" cy="1004887"/>
              </a:xfrm>
              <a:prstGeom prst="rect">
                <a:avLst/>
              </a:prstGeom>
              <a:blipFill>
                <a:blip r:embed="rId6"/>
                <a:stretch>
                  <a:fillRect l="-11538"/>
                </a:stretch>
              </a:blipFill>
              <a:ln>
                <a:solidFill>
                  <a:schemeClr val="tx1">
                    <a:lumMod val="95000"/>
                    <a:lumOff val="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p:cNvSpPr txBox="1"/>
              <p:nvPr/>
            </p:nvSpPr>
            <p:spPr>
              <a:xfrm>
                <a:off x="2378525" y="4727933"/>
                <a:ext cx="148624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Solution for </a:t>
                </a:r>
                <a14:m>
                  <m:oMath xmlns:m="http://schemas.openxmlformats.org/officeDocument/2006/math">
                    <m:r>
                      <a:rPr kumimoji="0" lang="en-US" sz="1800" b="1" i="1" u="none" strike="noStrike" kern="1200" cap="none" spc="0" normalizeH="0" baseline="0" noProof="0">
                        <a:ln>
                          <a:noFill/>
                        </a:ln>
                        <a:solidFill>
                          <a:prstClr val="black"/>
                        </a:solidFill>
                        <a:effectLst/>
                        <a:uLnTx/>
                        <a:uFillTx/>
                        <a:latin typeface="Cambria Math"/>
                        <a:ea typeface="+mn-ea"/>
                        <a:cs typeface="+mn-cs"/>
                      </a:rPr>
                      <m:t>𝑨</m:t>
                    </m:r>
                  </m:oMath>
                </a14:m>
                <a:endPar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28" name="TextBox 27"/>
              <p:cNvSpPr txBox="1">
                <a:spLocks noRot="1" noChangeAspect="1" noMove="1" noResize="1" noEditPoints="1" noAdjustHandles="1" noChangeArrowheads="1" noChangeShapeType="1" noTextEdit="1"/>
              </p:cNvSpPr>
              <p:nvPr/>
            </p:nvSpPr>
            <p:spPr>
              <a:xfrm>
                <a:off x="2378525" y="4727933"/>
                <a:ext cx="1486241" cy="369332"/>
              </a:xfrm>
              <a:prstGeom prst="rect">
                <a:avLst/>
              </a:prstGeom>
              <a:blipFill>
                <a:blip r:embed="rId7"/>
                <a:stretch>
                  <a:fillRect l="-2542" t="-6897" b="-24138"/>
                </a:stretch>
              </a:blipFill>
            </p:spPr>
            <p:txBody>
              <a:bodyPr/>
              <a:lstStyle/>
              <a:p>
                <a:r>
                  <a:rPr lang="en-US">
                    <a:noFill/>
                  </a:rPr>
                  <a:t> </a:t>
                </a:r>
              </a:p>
            </p:txBody>
          </p:sp>
        </mc:Fallback>
      </mc:AlternateContent>
      <p:sp>
        <p:nvSpPr>
          <p:cNvPr id="30" name="AutoShape 5"/>
          <p:cNvSpPr>
            <a:spLocks noChangeArrowheads="1"/>
          </p:cNvSpPr>
          <p:nvPr/>
        </p:nvSpPr>
        <p:spPr bwMode="auto">
          <a:xfrm>
            <a:off x="4627562" y="1861068"/>
            <a:ext cx="2840038" cy="759976"/>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AutoShape 5"/>
          <p:cNvSpPr>
            <a:spLocks noChangeArrowheads="1"/>
          </p:cNvSpPr>
          <p:nvPr/>
        </p:nvSpPr>
        <p:spPr bwMode="auto">
          <a:xfrm rot="5400000">
            <a:off x="8725391" y="3466305"/>
            <a:ext cx="1086255" cy="701516"/>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AutoShape 5"/>
          <p:cNvSpPr>
            <a:spLocks noChangeArrowheads="1"/>
          </p:cNvSpPr>
          <p:nvPr/>
        </p:nvSpPr>
        <p:spPr bwMode="auto">
          <a:xfrm rot="10800000">
            <a:off x="4641736" y="4839965"/>
            <a:ext cx="2840038" cy="993815"/>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Box 34"/>
          <p:cNvSpPr txBox="1"/>
          <p:nvPr/>
        </p:nvSpPr>
        <p:spPr>
          <a:xfrm>
            <a:off x="5479573" y="6215041"/>
            <a:ext cx="113601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Reduction</a:t>
            </a:r>
          </a:p>
        </p:txBody>
      </p:sp>
      <mc:AlternateContent xmlns:mc="http://schemas.openxmlformats.org/markup-compatibility/2006" xmlns:a14="http://schemas.microsoft.com/office/drawing/2010/main">
        <mc:Choice Requires="a14">
          <p:sp>
            <p:nvSpPr>
              <p:cNvPr id="279" name="Rectangle 278"/>
              <p:cNvSpPr/>
              <p:nvPr/>
            </p:nvSpPr>
            <p:spPr>
              <a:xfrm>
                <a:off x="8937741" y="5242707"/>
                <a:ext cx="625924" cy="1004887"/>
              </a:xfrm>
              <a:prstGeom prst="rect">
                <a:avLst/>
              </a:prstGeom>
              <a:solidFill>
                <a:srgbClr val="FFFF0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4000" b="0" i="1" u="none" strike="noStrike" kern="1200" cap="none" spc="0" normalizeH="0" baseline="0" noProof="0">
                          <a:ln>
                            <a:noFill/>
                          </a:ln>
                          <a:solidFill>
                            <a:prstClr val="black"/>
                          </a:solidFill>
                          <a:effectLst/>
                          <a:uLnTx/>
                          <a:uFillTx/>
                          <a:latin typeface="Cambria Math"/>
                          <a:ea typeface="+mn-ea"/>
                          <a:cs typeface="+mn-cs"/>
                        </a:rPr>
                        <m:t>𝑌</m:t>
                      </m:r>
                    </m:oMath>
                  </m:oMathPara>
                </a14:m>
                <a:endPar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279" name="Rectangle 278"/>
              <p:cNvSpPr>
                <a:spLocks noRot="1" noChangeAspect="1" noMove="1" noResize="1" noEditPoints="1" noAdjustHandles="1" noChangeArrowheads="1" noChangeShapeType="1" noTextEdit="1"/>
              </p:cNvSpPr>
              <p:nvPr/>
            </p:nvSpPr>
            <p:spPr>
              <a:xfrm>
                <a:off x="8937741" y="5242707"/>
                <a:ext cx="625924" cy="1004887"/>
              </a:xfrm>
              <a:prstGeom prst="rect">
                <a:avLst/>
              </a:prstGeom>
              <a:blipFill>
                <a:blip r:embed="rId8"/>
                <a:stretch>
                  <a:fillRect l="-9615"/>
                </a:stretch>
              </a:blipFill>
              <a:ln>
                <a:solidFill>
                  <a:schemeClr val="tx1">
                    <a:lumMod val="95000"/>
                    <a:lumOff val="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0" name="Flowchart: Magnetic Disk 279"/>
              <p:cNvSpPr/>
              <p:nvPr/>
            </p:nvSpPr>
            <p:spPr>
              <a:xfrm>
                <a:off x="2822171" y="5140410"/>
                <a:ext cx="625924" cy="1184190"/>
              </a:xfrm>
              <a:prstGeom prst="flowChartMagneticDisk">
                <a:avLst/>
              </a:prstGeom>
              <a:solidFill>
                <a:srgbClr val="FF505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4000" b="0" i="1" u="none" strike="noStrike" kern="1200" cap="none" spc="0" normalizeH="0" baseline="0" noProof="0">
                          <a:ln>
                            <a:noFill/>
                          </a:ln>
                          <a:solidFill>
                            <a:prstClr val="black"/>
                          </a:solidFill>
                          <a:effectLst/>
                          <a:uLnTx/>
                          <a:uFillTx/>
                          <a:latin typeface="Cambria Math"/>
                          <a:ea typeface="+mn-ea"/>
                          <a:cs typeface="+mn-cs"/>
                        </a:rPr>
                        <m:t>𝑋</m:t>
                      </m:r>
                    </m:oMath>
                  </m:oMathPara>
                </a14:m>
                <a:endParaRPr kumimoji="0" lang="en-US" sz="4000" b="0" i="1"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280" name="Flowchart: Magnetic Disk 279"/>
              <p:cNvSpPr>
                <a:spLocks noRot="1" noChangeAspect="1" noMove="1" noResize="1" noEditPoints="1" noAdjustHandles="1" noChangeArrowheads="1" noChangeShapeType="1" noTextEdit="1"/>
              </p:cNvSpPr>
              <p:nvPr/>
            </p:nvSpPr>
            <p:spPr>
              <a:xfrm>
                <a:off x="2822171" y="5140410"/>
                <a:ext cx="625924" cy="1184190"/>
              </a:xfrm>
              <a:prstGeom prst="flowChartMagneticDisk">
                <a:avLst/>
              </a:prstGeom>
              <a:blipFill>
                <a:blip r:embed="rId9"/>
                <a:stretch>
                  <a:fillRect l="-9434"/>
                </a:stretch>
              </a:blipFill>
              <a:ln>
                <a:solidFill>
                  <a:schemeClr val="tx1">
                    <a:lumMod val="95000"/>
                    <a:lumOff val="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747B33F-CDB7-F48C-FCBE-4CA526D5DC7D}"/>
                  </a:ext>
                </a:extLst>
              </p:cNvPr>
              <p:cNvSpPr txBox="1"/>
              <p:nvPr/>
            </p:nvSpPr>
            <p:spPr>
              <a:xfrm>
                <a:off x="4474144" y="2476596"/>
                <a:ext cx="3285854"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Procedure for converting instances of </a:t>
                </a:r>
                <a14:m>
                  <m:oMath xmlns:m="http://schemas.openxmlformats.org/officeDocument/2006/math">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𝐴</m:t>
                    </m:r>
                  </m:oMath>
                </a14:m>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into instances of </a:t>
                </a:r>
                <a14:m>
                  <m:oMath xmlns:m="http://schemas.openxmlformats.org/officeDocument/2006/math">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𝐵</m:t>
                    </m:r>
                  </m:oMath>
                </a14:m>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a:t>
                </a:r>
              </a:p>
            </p:txBody>
          </p:sp>
        </mc:Choice>
        <mc:Fallback xmlns="">
          <p:sp>
            <p:nvSpPr>
              <p:cNvPr id="3" name="TextBox 2">
                <a:extLst>
                  <a:ext uri="{FF2B5EF4-FFF2-40B4-BE49-F238E27FC236}">
                    <a16:creationId xmlns:a16="http://schemas.microsoft.com/office/drawing/2014/main" id="{9747B33F-CDB7-F48C-FCBE-4CA526D5DC7D}"/>
                  </a:ext>
                </a:extLst>
              </p:cNvPr>
              <p:cNvSpPr txBox="1">
                <a:spLocks noRot="1" noChangeAspect="1" noMove="1" noResize="1" noEditPoints="1" noAdjustHandles="1" noChangeArrowheads="1" noChangeShapeType="1" noTextEdit="1"/>
              </p:cNvSpPr>
              <p:nvPr/>
            </p:nvSpPr>
            <p:spPr>
              <a:xfrm>
                <a:off x="4474144" y="2476596"/>
                <a:ext cx="3285854" cy="646331"/>
              </a:xfrm>
              <a:prstGeom prst="rect">
                <a:avLst/>
              </a:prstGeom>
              <a:blipFill>
                <a:blip r:embed="rId11"/>
                <a:stretch>
                  <a:fillRect l="-1670" t="-4717" b="-1415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229F30B-FAB9-B6A8-6599-9ED4700CB05A}"/>
                  </a:ext>
                </a:extLst>
              </p:cNvPr>
              <p:cNvSpPr txBox="1"/>
              <p:nvPr/>
            </p:nvSpPr>
            <p:spPr>
              <a:xfrm>
                <a:off x="9563665" y="3447731"/>
                <a:ext cx="2743200"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Algorithm for solving </a:t>
                </a:r>
                <a14:m>
                  <m:oMath xmlns:m="http://schemas.openxmlformats.org/officeDocument/2006/math">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𝐵</m:t>
                    </m:r>
                  </m:oMath>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5" name="TextBox 4">
                <a:extLst>
                  <a:ext uri="{FF2B5EF4-FFF2-40B4-BE49-F238E27FC236}">
                    <a16:creationId xmlns:a16="http://schemas.microsoft.com/office/drawing/2014/main" id="{E229F30B-FAB9-B6A8-6599-9ED4700CB05A}"/>
                  </a:ext>
                </a:extLst>
              </p:cNvPr>
              <p:cNvSpPr txBox="1">
                <a:spLocks noRot="1" noChangeAspect="1" noMove="1" noResize="1" noEditPoints="1" noAdjustHandles="1" noChangeArrowheads="1" noChangeShapeType="1" noTextEdit="1"/>
              </p:cNvSpPr>
              <p:nvPr/>
            </p:nvSpPr>
            <p:spPr>
              <a:xfrm>
                <a:off x="9563665" y="3447731"/>
                <a:ext cx="2743200" cy="369332"/>
              </a:xfrm>
              <a:prstGeom prst="rect">
                <a:avLst/>
              </a:prstGeom>
              <a:blipFill>
                <a:blip r:embed="rId12"/>
                <a:stretch>
                  <a:fillRect l="-2000" t="-10000" b="-2666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C90869AD-3F44-2451-E4B2-2D158BC25557}"/>
                  </a:ext>
                </a:extLst>
              </p:cNvPr>
              <p:cNvSpPr txBox="1"/>
              <p:nvPr/>
            </p:nvSpPr>
            <p:spPr>
              <a:xfrm>
                <a:off x="5239751" y="4234212"/>
                <a:ext cx="2617491" cy="92333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Procedure for converting possible solutions of </a:t>
                </a:r>
                <a14:m>
                  <m:oMath xmlns:m="http://schemas.openxmlformats.org/officeDocument/2006/math">
                    <m:r>
                      <m:rPr>
                        <m:sty m:val="p"/>
                      </m:rPr>
                      <a:rPr kumimoji="0" lang="en-US" sz="1800" b="0" i="0"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m:t>B</m:t>
                    </m:r>
                  </m:oMath>
                </a14:m>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into solutions of </a:t>
                </a:r>
                <a14:m>
                  <m:oMath xmlns:m="http://schemas.openxmlformats.org/officeDocument/2006/math">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𝐴</m:t>
                    </m:r>
                  </m:oMath>
                </a14:m>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a:t>
                </a:r>
              </a:p>
            </p:txBody>
          </p:sp>
        </mc:Choice>
        <mc:Fallback>
          <p:sp>
            <p:nvSpPr>
              <p:cNvPr id="6" name="TextBox 5">
                <a:extLst>
                  <a:ext uri="{FF2B5EF4-FFF2-40B4-BE49-F238E27FC236}">
                    <a16:creationId xmlns:a16="http://schemas.microsoft.com/office/drawing/2014/main" id="{C90869AD-3F44-2451-E4B2-2D158BC25557}"/>
                  </a:ext>
                </a:extLst>
              </p:cNvPr>
              <p:cNvSpPr txBox="1">
                <a:spLocks noRot="1" noChangeAspect="1" noMove="1" noResize="1" noEditPoints="1" noAdjustHandles="1" noChangeArrowheads="1" noChangeShapeType="1" noTextEdit="1"/>
              </p:cNvSpPr>
              <p:nvPr/>
            </p:nvSpPr>
            <p:spPr>
              <a:xfrm>
                <a:off x="5239751" y="4234212"/>
                <a:ext cx="2617491" cy="923330"/>
              </a:xfrm>
              <a:prstGeom prst="rect">
                <a:avLst/>
              </a:prstGeom>
              <a:blipFill>
                <a:blip r:embed="rId13"/>
                <a:stretch>
                  <a:fillRect l="-2098" t="-3974" b="-9934"/>
                </a:stretch>
              </a:blipFill>
            </p:spPr>
            <p:txBody>
              <a:bodyPr/>
              <a:lstStyle/>
              <a:p>
                <a:r>
                  <a:rPr lang="en-US">
                    <a:noFill/>
                  </a:rPr>
                  <a:t> </a:t>
                </a:r>
              </a:p>
            </p:txBody>
          </p:sp>
        </mc:Fallback>
      </mc:AlternateContent>
    </p:spTree>
    <p:extLst>
      <p:ext uri="{BB962C8B-B14F-4D97-AF65-F5344CB8AC3E}">
        <p14:creationId xmlns:p14="http://schemas.microsoft.com/office/powerpoint/2010/main" val="1750133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E0C632-9D5D-B629-19B0-12C0C87502E6}"/>
            </a:ext>
          </a:extLst>
        </p:cNvPr>
        <p:cNvGrpSpPr/>
        <p:nvPr/>
      </p:nvGrpSpPr>
      <p:grpSpPr>
        <a:xfrm>
          <a:off x="0" y="0"/>
          <a:ext cx="0" cy="0"/>
          <a:chOff x="0" y="0"/>
          <a:chExt cx="0" cy="0"/>
        </a:xfrm>
      </p:grpSpPr>
      <p:sp>
        <p:nvSpPr>
          <p:cNvPr id="34" name="Rectangle 33">
            <a:extLst>
              <a:ext uri="{FF2B5EF4-FFF2-40B4-BE49-F238E27FC236}">
                <a16:creationId xmlns:a16="http://schemas.microsoft.com/office/drawing/2014/main" id="{FF354D8F-478A-DB76-BDA6-E591E674910B}"/>
              </a:ext>
            </a:extLst>
          </p:cNvPr>
          <p:cNvSpPr/>
          <p:nvPr/>
        </p:nvSpPr>
        <p:spPr>
          <a:xfrm>
            <a:off x="4488720" y="1773199"/>
            <a:ext cx="3215508" cy="4843619"/>
          </a:xfrm>
          <a:prstGeom prst="rect">
            <a:avLst/>
          </a:prstGeom>
          <a:solidFill>
            <a:srgbClr val="FFA7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79C519B7-F183-EFFE-9D9C-9D6F0B6BB03F}"/>
              </a:ext>
            </a:extLst>
          </p:cNvPr>
          <p:cNvSpPr>
            <a:spLocks noGrp="1"/>
          </p:cNvSpPr>
          <p:nvPr>
            <p:ph type="title"/>
          </p:nvPr>
        </p:nvSpPr>
        <p:spPr>
          <a:xfrm>
            <a:off x="353085" y="-171592"/>
            <a:ext cx="10515600" cy="1325563"/>
          </a:xfrm>
        </p:spPr>
        <p:txBody>
          <a:bodyPr/>
          <a:lstStyle/>
          <a:p>
            <a:r>
              <a:rPr lang="en-US" dirty="0"/>
              <a:t>Max Flow Reductions</a:t>
            </a:r>
          </a:p>
        </p:txBody>
      </p:sp>
      <p:sp>
        <p:nvSpPr>
          <p:cNvPr id="4" name="Slide Number Placeholder 3">
            <a:extLst>
              <a:ext uri="{FF2B5EF4-FFF2-40B4-BE49-F238E27FC236}">
                <a16:creationId xmlns:a16="http://schemas.microsoft.com/office/drawing/2014/main" id="{68AB6151-1E15-80E3-386B-D56596B7A97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BADE50-950A-4D58-BFB2-FA2C6A8B385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02CE9DF0-229A-1451-E2EB-A94D4FC1E8A4}"/>
                  </a:ext>
                </a:extLst>
              </p:cNvPr>
              <p:cNvSpPr txBox="1"/>
              <p:nvPr/>
            </p:nvSpPr>
            <p:spPr>
              <a:xfrm>
                <a:off x="1615701" y="1403866"/>
                <a:ext cx="1177053"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Problem </a:t>
                </a:r>
                <a14:m>
                  <m:oMath xmlns:m="http://schemas.openxmlformats.org/officeDocument/2006/math">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𝐴</m:t>
                    </m:r>
                  </m:oMath>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1615701" y="1403866"/>
                <a:ext cx="1177053" cy="369332"/>
              </a:xfrm>
              <a:prstGeom prst="rect">
                <a:avLst/>
              </a:prstGeom>
              <a:blipFill>
                <a:blip r:embed="rId2"/>
                <a:stretch>
                  <a:fillRect l="-4145" t="-8197" b="-24590"/>
                </a:stretch>
              </a:blipFill>
            </p:spPr>
            <p:txBody>
              <a:bodyPr/>
              <a:lstStyle/>
              <a:p>
                <a:r>
                  <a:rPr lang="en-US">
                    <a:noFill/>
                  </a:rPr>
                  <a:t> </a:t>
                </a:r>
              </a:p>
            </p:txBody>
          </p:sp>
        </mc:Fallback>
      </mc:AlternateContent>
      <p:sp>
        <p:nvSpPr>
          <p:cNvPr id="16" name="TextBox 15">
            <a:extLst>
              <a:ext uri="{FF2B5EF4-FFF2-40B4-BE49-F238E27FC236}">
                <a16:creationId xmlns:a16="http://schemas.microsoft.com/office/drawing/2014/main" id="{62D1318D-255A-CA99-7584-DDC0BEDCECE4}"/>
              </a:ext>
            </a:extLst>
          </p:cNvPr>
          <p:cNvSpPr txBox="1"/>
          <p:nvPr/>
        </p:nvSpPr>
        <p:spPr>
          <a:xfrm>
            <a:off x="7696200" y="1371600"/>
            <a:ext cx="193161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Max Flow Problem</a:t>
            </a:r>
          </a:p>
        </p:txBody>
      </p:sp>
      <p:sp>
        <p:nvSpPr>
          <p:cNvPr id="21" name="TextBox 20">
            <a:extLst>
              <a:ext uri="{FF2B5EF4-FFF2-40B4-BE49-F238E27FC236}">
                <a16:creationId xmlns:a16="http://schemas.microsoft.com/office/drawing/2014/main" id="{19E101E3-AE85-B48F-62A7-B580C9E133FA}"/>
              </a:ext>
            </a:extLst>
          </p:cNvPr>
          <p:cNvSpPr txBox="1"/>
          <p:nvPr/>
        </p:nvSpPr>
        <p:spPr>
          <a:xfrm>
            <a:off x="7808995" y="4298946"/>
            <a:ext cx="3810210"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A maximal flow graph for that network</a:t>
            </a:r>
            <a:endPar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AlternateContent xmlns:mc="http://schemas.openxmlformats.org/markup-compatibility/2006" xmlns:a14="http://schemas.microsoft.com/office/drawing/2010/main">
        <mc:Choice Requires="a14">
          <p:sp>
            <p:nvSpPr>
              <p:cNvPr id="22" name="Flowchart: Magnetic Disk 21">
                <a:extLst>
                  <a:ext uri="{FF2B5EF4-FFF2-40B4-BE49-F238E27FC236}">
                    <a16:creationId xmlns:a16="http://schemas.microsoft.com/office/drawing/2014/main" id="{86E0C0FD-40A7-C2E9-4589-A6DA77CC6C93}"/>
                  </a:ext>
                </a:extLst>
              </p:cNvPr>
              <p:cNvSpPr/>
              <p:nvPr/>
            </p:nvSpPr>
            <p:spPr>
              <a:xfrm>
                <a:off x="2741659" y="1806836"/>
                <a:ext cx="625924" cy="1184190"/>
              </a:xfrm>
              <a:prstGeom prst="flowChartMagneticDisk">
                <a:avLst/>
              </a:prstGeom>
              <a:solidFill>
                <a:srgbClr val="FF505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4000" b="0" i="1" u="none" strike="noStrike" kern="1200" cap="none" spc="0" normalizeH="0" baseline="0" noProof="0">
                          <a:ln>
                            <a:noFill/>
                          </a:ln>
                          <a:solidFill>
                            <a:prstClr val="black"/>
                          </a:solidFill>
                          <a:effectLst/>
                          <a:uLnTx/>
                          <a:uFillTx/>
                          <a:latin typeface="Cambria Math"/>
                          <a:ea typeface="+mn-ea"/>
                          <a:cs typeface="+mn-cs"/>
                        </a:rPr>
                        <m:t>𝐴</m:t>
                      </m:r>
                    </m:oMath>
                  </m:oMathPara>
                </a14:m>
                <a:endParaRPr kumimoji="0" lang="en-US" sz="4000" b="0" i="1"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22" name="Flowchart: Magnetic Disk 21"/>
              <p:cNvSpPr>
                <a:spLocks noRot="1" noChangeAspect="1" noMove="1" noResize="1" noEditPoints="1" noAdjustHandles="1" noChangeArrowheads="1" noChangeShapeType="1" noTextEdit="1"/>
              </p:cNvSpPr>
              <p:nvPr/>
            </p:nvSpPr>
            <p:spPr>
              <a:xfrm>
                <a:off x="2741659" y="1806836"/>
                <a:ext cx="625924" cy="1184190"/>
              </a:xfrm>
              <a:prstGeom prst="flowChartMagneticDisk">
                <a:avLst/>
              </a:prstGeom>
              <a:blipFill>
                <a:blip r:embed="rId5"/>
                <a:stretch>
                  <a:fillRect l="-9615"/>
                </a:stretch>
              </a:blipFill>
              <a:ln>
                <a:solidFill>
                  <a:schemeClr val="tx1">
                    <a:lumMod val="95000"/>
                    <a:lumOff val="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E96656CE-579D-1B25-3717-1BCEA96374CB}"/>
                  </a:ext>
                </a:extLst>
              </p:cNvPr>
              <p:cNvSpPr txBox="1"/>
              <p:nvPr/>
            </p:nvSpPr>
            <p:spPr>
              <a:xfrm>
                <a:off x="2378525" y="4727933"/>
                <a:ext cx="148624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Solution for </a:t>
                </a:r>
                <a14:m>
                  <m:oMath xmlns:m="http://schemas.openxmlformats.org/officeDocument/2006/math">
                    <m:r>
                      <a:rPr kumimoji="0" lang="en-US" sz="1800" b="1" i="1" u="none" strike="noStrike" kern="1200" cap="none" spc="0" normalizeH="0" baseline="0" noProof="0">
                        <a:ln>
                          <a:noFill/>
                        </a:ln>
                        <a:solidFill>
                          <a:prstClr val="black"/>
                        </a:solidFill>
                        <a:effectLst/>
                        <a:uLnTx/>
                        <a:uFillTx/>
                        <a:latin typeface="Cambria Math"/>
                        <a:ea typeface="+mn-ea"/>
                        <a:cs typeface="+mn-cs"/>
                      </a:rPr>
                      <m:t>𝑨</m:t>
                    </m:r>
                  </m:oMath>
                </a14:m>
                <a:endPar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28" name="TextBox 27"/>
              <p:cNvSpPr txBox="1">
                <a:spLocks noRot="1" noChangeAspect="1" noMove="1" noResize="1" noEditPoints="1" noAdjustHandles="1" noChangeArrowheads="1" noChangeShapeType="1" noTextEdit="1"/>
              </p:cNvSpPr>
              <p:nvPr/>
            </p:nvSpPr>
            <p:spPr>
              <a:xfrm>
                <a:off x="2378525" y="4727933"/>
                <a:ext cx="1486241" cy="369332"/>
              </a:xfrm>
              <a:prstGeom prst="rect">
                <a:avLst/>
              </a:prstGeom>
              <a:blipFill>
                <a:blip r:embed="rId7"/>
                <a:stretch>
                  <a:fillRect l="-2542" t="-6897" b="-24138"/>
                </a:stretch>
              </a:blipFill>
            </p:spPr>
            <p:txBody>
              <a:bodyPr/>
              <a:lstStyle/>
              <a:p>
                <a:r>
                  <a:rPr lang="en-US">
                    <a:noFill/>
                  </a:rPr>
                  <a:t> </a:t>
                </a:r>
              </a:p>
            </p:txBody>
          </p:sp>
        </mc:Fallback>
      </mc:AlternateContent>
      <p:sp>
        <p:nvSpPr>
          <p:cNvPr id="30" name="AutoShape 5">
            <a:extLst>
              <a:ext uri="{FF2B5EF4-FFF2-40B4-BE49-F238E27FC236}">
                <a16:creationId xmlns:a16="http://schemas.microsoft.com/office/drawing/2014/main" id="{603C70C7-3027-0E33-2EFE-A889BED09359}"/>
              </a:ext>
            </a:extLst>
          </p:cNvPr>
          <p:cNvSpPr>
            <a:spLocks noChangeArrowheads="1"/>
          </p:cNvSpPr>
          <p:nvPr/>
        </p:nvSpPr>
        <p:spPr bwMode="auto">
          <a:xfrm>
            <a:off x="4627562" y="1861068"/>
            <a:ext cx="2840038" cy="759976"/>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AutoShape 5">
            <a:extLst>
              <a:ext uri="{FF2B5EF4-FFF2-40B4-BE49-F238E27FC236}">
                <a16:creationId xmlns:a16="http://schemas.microsoft.com/office/drawing/2014/main" id="{F9E3B243-DEA6-2BB9-5F46-C067D6C103C8}"/>
              </a:ext>
            </a:extLst>
          </p:cNvPr>
          <p:cNvSpPr>
            <a:spLocks noChangeArrowheads="1"/>
          </p:cNvSpPr>
          <p:nvPr/>
        </p:nvSpPr>
        <p:spPr bwMode="auto">
          <a:xfrm rot="5400000">
            <a:off x="8725391" y="3466305"/>
            <a:ext cx="1086255" cy="701516"/>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AutoShape 5">
            <a:extLst>
              <a:ext uri="{FF2B5EF4-FFF2-40B4-BE49-F238E27FC236}">
                <a16:creationId xmlns:a16="http://schemas.microsoft.com/office/drawing/2014/main" id="{E3153189-4F30-0DEE-432B-FC6349B6380E}"/>
              </a:ext>
            </a:extLst>
          </p:cNvPr>
          <p:cNvSpPr>
            <a:spLocks noChangeArrowheads="1"/>
          </p:cNvSpPr>
          <p:nvPr/>
        </p:nvSpPr>
        <p:spPr bwMode="auto">
          <a:xfrm rot="10800000">
            <a:off x="4641736" y="4839965"/>
            <a:ext cx="2840038" cy="993815"/>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Box 34">
            <a:extLst>
              <a:ext uri="{FF2B5EF4-FFF2-40B4-BE49-F238E27FC236}">
                <a16:creationId xmlns:a16="http://schemas.microsoft.com/office/drawing/2014/main" id="{014F52FE-C0A5-CE28-029D-8877737DF718}"/>
              </a:ext>
            </a:extLst>
          </p:cNvPr>
          <p:cNvSpPr txBox="1"/>
          <p:nvPr/>
        </p:nvSpPr>
        <p:spPr>
          <a:xfrm>
            <a:off x="5479573" y="6215041"/>
            <a:ext cx="113601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Reduction</a:t>
            </a:r>
          </a:p>
        </p:txBody>
      </p:sp>
      <mc:AlternateContent xmlns:mc="http://schemas.openxmlformats.org/markup-compatibility/2006" xmlns:a14="http://schemas.microsoft.com/office/drawing/2010/main">
        <mc:Choice Requires="a14">
          <p:sp>
            <p:nvSpPr>
              <p:cNvPr id="280" name="Flowchart: Magnetic Disk 279">
                <a:extLst>
                  <a:ext uri="{FF2B5EF4-FFF2-40B4-BE49-F238E27FC236}">
                    <a16:creationId xmlns:a16="http://schemas.microsoft.com/office/drawing/2014/main" id="{D597ECB3-3D30-5F3F-D424-0C4B37E75451}"/>
                  </a:ext>
                </a:extLst>
              </p:cNvPr>
              <p:cNvSpPr/>
              <p:nvPr/>
            </p:nvSpPr>
            <p:spPr>
              <a:xfrm>
                <a:off x="2822171" y="5140410"/>
                <a:ext cx="625924" cy="1184190"/>
              </a:xfrm>
              <a:prstGeom prst="flowChartMagneticDisk">
                <a:avLst/>
              </a:prstGeom>
              <a:solidFill>
                <a:srgbClr val="FF505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4000" b="0" i="1" u="none" strike="noStrike" kern="1200" cap="none" spc="0" normalizeH="0" baseline="0" noProof="0">
                          <a:ln>
                            <a:noFill/>
                          </a:ln>
                          <a:solidFill>
                            <a:prstClr val="black"/>
                          </a:solidFill>
                          <a:effectLst/>
                          <a:uLnTx/>
                          <a:uFillTx/>
                          <a:latin typeface="Cambria Math"/>
                          <a:ea typeface="+mn-ea"/>
                          <a:cs typeface="+mn-cs"/>
                        </a:rPr>
                        <m:t>𝑋</m:t>
                      </m:r>
                    </m:oMath>
                  </m:oMathPara>
                </a14:m>
                <a:endParaRPr kumimoji="0" lang="en-US" sz="4000" b="0" i="1"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280" name="Flowchart: Magnetic Disk 279"/>
              <p:cNvSpPr>
                <a:spLocks noRot="1" noChangeAspect="1" noMove="1" noResize="1" noEditPoints="1" noAdjustHandles="1" noChangeArrowheads="1" noChangeShapeType="1" noTextEdit="1"/>
              </p:cNvSpPr>
              <p:nvPr/>
            </p:nvSpPr>
            <p:spPr>
              <a:xfrm>
                <a:off x="2822171" y="5140410"/>
                <a:ext cx="625924" cy="1184190"/>
              </a:xfrm>
              <a:prstGeom prst="flowChartMagneticDisk">
                <a:avLst/>
              </a:prstGeom>
              <a:blipFill>
                <a:blip r:embed="rId9"/>
                <a:stretch>
                  <a:fillRect l="-9434"/>
                </a:stretch>
              </a:blipFill>
              <a:ln>
                <a:solidFill>
                  <a:schemeClr val="tx1">
                    <a:lumMod val="95000"/>
                    <a:lumOff val="5000"/>
                  </a:schemeClr>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3B2F9C11-99F0-4F6F-C3FD-896204B9173D}"/>
                  </a:ext>
                </a:extLst>
              </p:cNvPr>
              <p:cNvSpPr txBox="1"/>
              <p:nvPr/>
            </p:nvSpPr>
            <p:spPr>
              <a:xfrm>
                <a:off x="4474144" y="2476596"/>
                <a:ext cx="3285854"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Procedure for converting instances of </a:t>
                </a:r>
                <a14:m>
                  <m:oMath xmlns:m="http://schemas.openxmlformats.org/officeDocument/2006/math">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𝐴</m:t>
                    </m:r>
                  </m:oMath>
                </a14:m>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into </a:t>
                </a:r>
                <a:r>
                  <a:rPr lang="en-US" dirty="0">
                    <a:solidFill>
                      <a:prstClr val="black"/>
                    </a:solidFill>
                    <a:latin typeface="Calibri" panose="020F0502020204030204"/>
                  </a:rPr>
                  <a:t>flow networks</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a:t>
                </a:r>
              </a:p>
            </p:txBody>
          </p:sp>
        </mc:Choice>
        <mc:Fallback>
          <p:sp>
            <p:nvSpPr>
              <p:cNvPr id="3" name="TextBox 2">
                <a:extLst>
                  <a:ext uri="{FF2B5EF4-FFF2-40B4-BE49-F238E27FC236}">
                    <a16:creationId xmlns:a16="http://schemas.microsoft.com/office/drawing/2014/main" id="{3B2F9C11-99F0-4F6F-C3FD-896204B9173D}"/>
                  </a:ext>
                </a:extLst>
              </p:cNvPr>
              <p:cNvSpPr txBox="1">
                <a:spLocks noRot="1" noChangeAspect="1" noMove="1" noResize="1" noEditPoints="1" noAdjustHandles="1" noChangeArrowheads="1" noChangeShapeType="1" noTextEdit="1"/>
              </p:cNvSpPr>
              <p:nvPr/>
            </p:nvSpPr>
            <p:spPr>
              <a:xfrm>
                <a:off x="4474144" y="2476596"/>
                <a:ext cx="3285854" cy="646331"/>
              </a:xfrm>
              <a:prstGeom prst="rect">
                <a:avLst/>
              </a:prstGeom>
              <a:blipFill>
                <a:blip r:embed="rId10"/>
                <a:stretch>
                  <a:fillRect l="-1670" t="-4717" r="-1484" b="-14151"/>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51AD6D81-2DE3-0508-212F-CE985D99F0EC}"/>
              </a:ext>
            </a:extLst>
          </p:cNvPr>
          <p:cNvSpPr txBox="1"/>
          <p:nvPr/>
        </p:nvSpPr>
        <p:spPr>
          <a:xfrm>
            <a:off x="9563665" y="3447731"/>
            <a:ext cx="2743200"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Ford-Fulkerson</a:t>
            </a: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ADFCB2A4-A46E-228D-A430-CDAA29A6E1B8}"/>
                  </a:ext>
                </a:extLst>
              </p:cNvPr>
              <p:cNvSpPr txBox="1"/>
              <p:nvPr/>
            </p:nvSpPr>
            <p:spPr>
              <a:xfrm>
                <a:off x="5212320" y="4234212"/>
                <a:ext cx="2743200" cy="92333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Procedure for converting possible flow graphs into solutions of </a:t>
                </a:r>
                <a14:m>
                  <m:oMath xmlns:m="http://schemas.openxmlformats.org/officeDocument/2006/math">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𝐴</m:t>
                    </m:r>
                  </m:oMath>
                </a14:m>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a:t>
                </a:r>
              </a:p>
            </p:txBody>
          </p:sp>
        </mc:Choice>
        <mc:Fallback>
          <p:sp>
            <p:nvSpPr>
              <p:cNvPr id="6" name="TextBox 5">
                <a:extLst>
                  <a:ext uri="{FF2B5EF4-FFF2-40B4-BE49-F238E27FC236}">
                    <a16:creationId xmlns:a16="http://schemas.microsoft.com/office/drawing/2014/main" id="{ADFCB2A4-A46E-228D-A430-CDAA29A6E1B8}"/>
                  </a:ext>
                </a:extLst>
              </p:cNvPr>
              <p:cNvSpPr txBox="1">
                <a:spLocks noRot="1" noChangeAspect="1" noMove="1" noResize="1" noEditPoints="1" noAdjustHandles="1" noChangeArrowheads="1" noChangeShapeType="1" noTextEdit="1"/>
              </p:cNvSpPr>
              <p:nvPr/>
            </p:nvSpPr>
            <p:spPr>
              <a:xfrm>
                <a:off x="5212320" y="4234212"/>
                <a:ext cx="2743200" cy="923330"/>
              </a:xfrm>
              <a:prstGeom prst="rect">
                <a:avLst/>
              </a:prstGeom>
              <a:blipFill>
                <a:blip r:embed="rId11"/>
                <a:stretch>
                  <a:fillRect l="-1778" t="-3974" b="-9934"/>
                </a:stretch>
              </a:blipFill>
            </p:spPr>
            <p:txBody>
              <a:bodyPr/>
              <a:lstStyle/>
              <a:p>
                <a:r>
                  <a:rPr lang="en-US">
                    <a:noFill/>
                  </a:rPr>
                  <a:t> </a:t>
                </a:r>
              </a:p>
            </p:txBody>
          </p:sp>
        </mc:Fallback>
      </mc:AlternateContent>
      <p:grpSp>
        <p:nvGrpSpPr>
          <p:cNvPr id="7" name="Group 6">
            <a:extLst>
              <a:ext uri="{FF2B5EF4-FFF2-40B4-BE49-F238E27FC236}">
                <a16:creationId xmlns:a16="http://schemas.microsoft.com/office/drawing/2014/main" id="{AEC8F208-E1EA-971C-EFC3-F3F5A7821DED}"/>
              </a:ext>
            </a:extLst>
          </p:cNvPr>
          <p:cNvGrpSpPr/>
          <p:nvPr/>
        </p:nvGrpSpPr>
        <p:grpSpPr>
          <a:xfrm>
            <a:off x="8189633" y="1798145"/>
            <a:ext cx="2876371" cy="1367399"/>
            <a:chOff x="4395659" y="2923138"/>
            <a:chExt cx="6599476" cy="3137327"/>
          </a:xfrm>
        </p:grpSpPr>
        <p:cxnSp>
          <p:nvCxnSpPr>
            <p:cNvPr id="8" name="AutoShape 68">
              <a:extLst>
                <a:ext uri="{FF2B5EF4-FFF2-40B4-BE49-F238E27FC236}">
                  <a16:creationId xmlns:a16="http://schemas.microsoft.com/office/drawing/2014/main" id="{2CE0B73E-4EB1-87E0-339A-384BC38224E7}"/>
                </a:ext>
              </a:extLst>
            </p:cNvPr>
            <p:cNvCxnSpPr>
              <a:cxnSpLocks noChangeShapeType="1"/>
              <a:stCxn id="29" idx="1"/>
              <a:endCxn id="11" idx="5"/>
            </p:cNvCxnSpPr>
            <p:nvPr/>
          </p:nvCxnSpPr>
          <p:spPr bwMode="auto">
            <a:xfrm flipH="1" flipV="1">
              <a:off x="6575184" y="4634480"/>
              <a:ext cx="2273571" cy="112970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9" name="Oval 50">
              <a:extLst>
                <a:ext uri="{FF2B5EF4-FFF2-40B4-BE49-F238E27FC236}">
                  <a16:creationId xmlns:a16="http://schemas.microsoft.com/office/drawing/2014/main" id="{AF8B4B88-87C3-F12C-1EFA-EF87F99F5FA8}"/>
                </a:ext>
              </a:extLst>
            </p:cNvPr>
            <p:cNvSpPr>
              <a:spLocks noChangeAspect="1" noChangeArrowheads="1"/>
            </p:cNvSpPr>
            <p:nvPr/>
          </p:nvSpPr>
          <p:spPr bwMode="auto">
            <a:xfrm>
              <a:off x="4395659"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1400" b="1" dirty="0">
                  <a:solidFill>
                    <a:srgbClr val="C00000"/>
                  </a:solidFill>
                </a:rPr>
                <a:t>s</a:t>
              </a:r>
            </a:p>
          </p:txBody>
        </p:sp>
        <p:sp>
          <p:nvSpPr>
            <p:cNvPr id="10" name="Oval 51">
              <a:extLst>
                <a:ext uri="{FF2B5EF4-FFF2-40B4-BE49-F238E27FC236}">
                  <a16:creationId xmlns:a16="http://schemas.microsoft.com/office/drawing/2014/main" id="{07D8BBD5-6FF9-9B23-94AD-8304E27DAE1A}"/>
                </a:ext>
              </a:extLst>
            </p:cNvPr>
            <p:cNvSpPr>
              <a:spLocks noChangeAspect="1" noChangeArrowheads="1"/>
            </p:cNvSpPr>
            <p:nvPr/>
          </p:nvSpPr>
          <p:spPr bwMode="auto">
            <a:xfrm>
              <a:off x="6278899" y="2923138"/>
              <a:ext cx="347119" cy="35151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1400" b="1" dirty="0"/>
                <a:t>a</a:t>
              </a:r>
            </a:p>
          </p:txBody>
        </p:sp>
        <p:sp>
          <p:nvSpPr>
            <p:cNvPr id="11" name="Oval 52">
              <a:extLst>
                <a:ext uri="{FF2B5EF4-FFF2-40B4-BE49-F238E27FC236}">
                  <a16:creationId xmlns:a16="http://schemas.microsoft.com/office/drawing/2014/main" id="{D857987E-27ED-5441-7C9D-37BFB6077F19}"/>
                </a:ext>
              </a:extLst>
            </p:cNvPr>
            <p:cNvSpPr>
              <a:spLocks noChangeAspect="1" noChangeArrowheads="1"/>
            </p:cNvSpPr>
            <p:nvPr/>
          </p:nvSpPr>
          <p:spPr bwMode="auto">
            <a:xfrm>
              <a:off x="6278899"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1400" b="1" dirty="0"/>
                <a:t>b</a:t>
              </a:r>
            </a:p>
          </p:txBody>
        </p:sp>
        <p:sp>
          <p:nvSpPr>
            <p:cNvPr id="13" name="Oval 53">
              <a:extLst>
                <a:ext uri="{FF2B5EF4-FFF2-40B4-BE49-F238E27FC236}">
                  <a16:creationId xmlns:a16="http://schemas.microsoft.com/office/drawing/2014/main" id="{E5E34F0E-7CAF-9A01-2BD5-CF99C8340454}"/>
                </a:ext>
              </a:extLst>
            </p:cNvPr>
            <p:cNvSpPr>
              <a:spLocks noChangeAspect="1" noChangeArrowheads="1"/>
            </p:cNvSpPr>
            <p:nvPr/>
          </p:nvSpPr>
          <p:spPr bwMode="auto">
            <a:xfrm>
              <a:off x="6278899" y="5713346"/>
              <a:ext cx="347119" cy="347119"/>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1400" b="1" dirty="0"/>
                <a:t>c</a:t>
              </a:r>
            </a:p>
          </p:txBody>
        </p:sp>
        <p:cxnSp>
          <p:nvCxnSpPr>
            <p:cNvPr id="14" name="AutoShape 54">
              <a:extLst>
                <a:ext uri="{FF2B5EF4-FFF2-40B4-BE49-F238E27FC236}">
                  <a16:creationId xmlns:a16="http://schemas.microsoft.com/office/drawing/2014/main" id="{4DF10584-081B-B7B9-6833-FE2DF264D7F6}"/>
                </a:ext>
              </a:extLst>
            </p:cNvPr>
            <p:cNvCxnSpPr>
              <a:cxnSpLocks noChangeShapeType="1"/>
              <a:stCxn id="9" idx="7"/>
              <a:endCxn id="10" idx="3"/>
            </p:cNvCxnSpPr>
            <p:nvPr/>
          </p:nvCxnSpPr>
          <p:spPr bwMode="auto">
            <a:xfrm flipV="1">
              <a:off x="4691944" y="3223173"/>
              <a:ext cx="1637789" cy="1164304"/>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15" name="AutoShape 55">
              <a:extLst>
                <a:ext uri="{FF2B5EF4-FFF2-40B4-BE49-F238E27FC236}">
                  <a16:creationId xmlns:a16="http://schemas.microsoft.com/office/drawing/2014/main" id="{2585A039-CFA5-1FFD-90EF-510A0328E25A}"/>
                </a:ext>
              </a:extLst>
            </p:cNvPr>
            <p:cNvCxnSpPr>
              <a:cxnSpLocks noChangeShapeType="1"/>
              <a:stCxn id="9" idx="6"/>
              <a:endCxn id="11" idx="2"/>
            </p:cNvCxnSpPr>
            <p:nvPr/>
          </p:nvCxnSpPr>
          <p:spPr bwMode="auto">
            <a:xfrm>
              <a:off x="4742778" y="4510979"/>
              <a:ext cx="1536121" cy="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17" name="AutoShape 56">
              <a:extLst>
                <a:ext uri="{FF2B5EF4-FFF2-40B4-BE49-F238E27FC236}">
                  <a16:creationId xmlns:a16="http://schemas.microsoft.com/office/drawing/2014/main" id="{0EFF4FE9-4C30-BB91-4B32-3DA847EFCD0D}"/>
                </a:ext>
              </a:extLst>
            </p:cNvPr>
            <p:cNvCxnSpPr>
              <a:cxnSpLocks noChangeShapeType="1"/>
              <a:stCxn id="9" idx="5"/>
              <a:endCxn id="13" idx="1"/>
            </p:cNvCxnSpPr>
            <p:nvPr/>
          </p:nvCxnSpPr>
          <p:spPr bwMode="auto">
            <a:xfrm>
              <a:off x="4691944" y="4634480"/>
              <a:ext cx="1637789" cy="112970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18" name="AutoShape 57">
              <a:extLst>
                <a:ext uri="{FF2B5EF4-FFF2-40B4-BE49-F238E27FC236}">
                  <a16:creationId xmlns:a16="http://schemas.microsoft.com/office/drawing/2014/main" id="{F9758A64-7AE4-B3B7-DA35-DA88121BC606}"/>
                </a:ext>
              </a:extLst>
            </p:cNvPr>
            <p:cNvCxnSpPr>
              <a:cxnSpLocks noChangeShapeType="1"/>
              <a:stCxn id="11" idx="6"/>
              <a:endCxn id="27" idx="2"/>
            </p:cNvCxnSpPr>
            <p:nvPr/>
          </p:nvCxnSpPr>
          <p:spPr bwMode="auto">
            <a:xfrm>
              <a:off x="6626018" y="4510979"/>
              <a:ext cx="2171903" cy="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19" name="AutoShape 59">
              <a:extLst>
                <a:ext uri="{FF2B5EF4-FFF2-40B4-BE49-F238E27FC236}">
                  <a16:creationId xmlns:a16="http://schemas.microsoft.com/office/drawing/2014/main" id="{BD802FCA-B1AE-07BD-7CCF-B5C036D5AA17}"/>
                </a:ext>
              </a:extLst>
            </p:cNvPr>
            <p:cNvCxnSpPr>
              <a:cxnSpLocks noChangeShapeType="1"/>
              <a:stCxn id="11" idx="4"/>
              <a:endCxn id="13" idx="0"/>
            </p:cNvCxnSpPr>
            <p:nvPr/>
          </p:nvCxnSpPr>
          <p:spPr bwMode="auto">
            <a:xfrm>
              <a:off x="6452459" y="4685636"/>
              <a:ext cx="0" cy="102771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20" name="AutoShape 60">
              <a:extLst>
                <a:ext uri="{FF2B5EF4-FFF2-40B4-BE49-F238E27FC236}">
                  <a16:creationId xmlns:a16="http://schemas.microsoft.com/office/drawing/2014/main" id="{526505D6-FD15-0C6B-7D36-FF775BBD5D78}"/>
                </a:ext>
              </a:extLst>
            </p:cNvPr>
            <p:cNvCxnSpPr>
              <a:cxnSpLocks noChangeShapeType="1"/>
              <a:stCxn id="10" idx="6"/>
              <a:endCxn id="26" idx="2"/>
            </p:cNvCxnSpPr>
            <p:nvPr/>
          </p:nvCxnSpPr>
          <p:spPr bwMode="auto">
            <a:xfrm>
              <a:off x="6626018" y="3098894"/>
              <a:ext cx="2171903" cy="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24" name="AutoShape 61">
              <a:extLst>
                <a:ext uri="{FF2B5EF4-FFF2-40B4-BE49-F238E27FC236}">
                  <a16:creationId xmlns:a16="http://schemas.microsoft.com/office/drawing/2014/main" id="{F27A9389-D719-25FB-5235-A21F206E95A7}"/>
                </a:ext>
              </a:extLst>
            </p:cNvPr>
            <p:cNvCxnSpPr>
              <a:cxnSpLocks noChangeShapeType="1"/>
              <a:stCxn id="13" idx="6"/>
              <a:endCxn id="29" idx="2"/>
            </p:cNvCxnSpPr>
            <p:nvPr/>
          </p:nvCxnSpPr>
          <p:spPr bwMode="auto">
            <a:xfrm>
              <a:off x="6626018" y="5886906"/>
              <a:ext cx="2171903" cy="0"/>
            </a:xfrm>
            <a:prstGeom prst="straightConnector1">
              <a:avLst/>
            </a:prstGeom>
            <a:noFill/>
            <a:ln w="127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25" name="AutoShape 62">
              <a:extLst>
                <a:ext uri="{FF2B5EF4-FFF2-40B4-BE49-F238E27FC236}">
                  <a16:creationId xmlns:a16="http://schemas.microsoft.com/office/drawing/2014/main" id="{5932F267-F79B-75C3-EEC1-8845EA1DE8D0}"/>
                </a:ext>
              </a:extLst>
            </p:cNvPr>
            <p:cNvCxnSpPr>
              <a:cxnSpLocks noChangeShapeType="1"/>
              <a:stCxn id="10" idx="4"/>
              <a:endCxn id="11" idx="0"/>
            </p:cNvCxnSpPr>
            <p:nvPr/>
          </p:nvCxnSpPr>
          <p:spPr bwMode="auto">
            <a:xfrm>
              <a:off x="6452459" y="3274651"/>
              <a:ext cx="0" cy="106167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26" name="Oval 63">
              <a:extLst>
                <a:ext uri="{FF2B5EF4-FFF2-40B4-BE49-F238E27FC236}">
                  <a16:creationId xmlns:a16="http://schemas.microsoft.com/office/drawing/2014/main" id="{0D6CB290-71F4-5131-9620-2F6B5B24E78A}"/>
                </a:ext>
              </a:extLst>
            </p:cNvPr>
            <p:cNvSpPr>
              <a:spLocks noChangeAspect="1" noChangeArrowheads="1"/>
            </p:cNvSpPr>
            <p:nvPr/>
          </p:nvSpPr>
          <p:spPr bwMode="auto">
            <a:xfrm>
              <a:off x="8797921" y="2923138"/>
              <a:ext cx="347119" cy="35151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1400" b="1" dirty="0"/>
                <a:t>d</a:t>
              </a:r>
            </a:p>
          </p:txBody>
        </p:sp>
        <p:sp>
          <p:nvSpPr>
            <p:cNvPr id="27" name="Oval 64">
              <a:extLst>
                <a:ext uri="{FF2B5EF4-FFF2-40B4-BE49-F238E27FC236}">
                  <a16:creationId xmlns:a16="http://schemas.microsoft.com/office/drawing/2014/main" id="{809FF9D9-82F2-D622-8D6F-596C56A08ADC}"/>
                </a:ext>
              </a:extLst>
            </p:cNvPr>
            <p:cNvSpPr>
              <a:spLocks noChangeAspect="1" noChangeArrowheads="1"/>
            </p:cNvSpPr>
            <p:nvPr/>
          </p:nvSpPr>
          <p:spPr bwMode="auto">
            <a:xfrm>
              <a:off x="8797921"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1400" b="1" dirty="0"/>
                <a:t>e</a:t>
              </a:r>
            </a:p>
          </p:txBody>
        </p:sp>
        <p:sp>
          <p:nvSpPr>
            <p:cNvPr id="29" name="Oval 65">
              <a:extLst>
                <a:ext uri="{FF2B5EF4-FFF2-40B4-BE49-F238E27FC236}">
                  <a16:creationId xmlns:a16="http://schemas.microsoft.com/office/drawing/2014/main" id="{61C16A71-522E-33A1-4A44-83FF2E870D18}"/>
                </a:ext>
              </a:extLst>
            </p:cNvPr>
            <p:cNvSpPr>
              <a:spLocks noChangeAspect="1" noChangeArrowheads="1"/>
            </p:cNvSpPr>
            <p:nvPr/>
          </p:nvSpPr>
          <p:spPr bwMode="auto">
            <a:xfrm>
              <a:off x="8797921" y="5713346"/>
              <a:ext cx="347119" cy="347119"/>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1400" b="1" dirty="0"/>
                <a:t>f</a:t>
              </a:r>
            </a:p>
          </p:txBody>
        </p:sp>
        <p:cxnSp>
          <p:nvCxnSpPr>
            <p:cNvPr id="33" name="AutoShape 66">
              <a:extLst>
                <a:ext uri="{FF2B5EF4-FFF2-40B4-BE49-F238E27FC236}">
                  <a16:creationId xmlns:a16="http://schemas.microsoft.com/office/drawing/2014/main" id="{CE9D59B1-8CB5-7315-D0EA-1F0170A1C98A}"/>
                </a:ext>
              </a:extLst>
            </p:cNvPr>
            <p:cNvCxnSpPr>
              <a:cxnSpLocks noChangeShapeType="1"/>
              <a:stCxn id="27" idx="4"/>
              <a:endCxn id="29" idx="0"/>
            </p:cNvCxnSpPr>
            <p:nvPr/>
          </p:nvCxnSpPr>
          <p:spPr bwMode="auto">
            <a:xfrm>
              <a:off x="8971480" y="4685636"/>
              <a:ext cx="0" cy="102771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36" name="AutoShape 67">
              <a:extLst>
                <a:ext uri="{FF2B5EF4-FFF2-40B4-BE49-F238E27FC236}">
                  <a16:creationId xmlns:a16="http://schemas.microsoft.com/office/drawing/2014/main" id="{5733B21C-82F7-D0E3-54BC-99EADBFE4315}"/>
                </a:ext>
              </a:extLst>
            </p:cNvPr>
            <p:cNvCxnSpPr>
              <a:cxnSpLocks noChangeShapeType="1"/>
              <a:stCxn id="26" idx="4"/>
              <a:endCxn id="27" idx="0"/>
            </p:cNvCxnSpPr>
            <p:nvPr/>
          </p:nvCxnSpPr>
          <p:spPr bwMode="auto">
            <a:xfrm>
              <a:off x="8971480" y="3274651"/>
              <a:ext cx="0" cy="106167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37" name="AutoShape 68">
              <a:extLst>
                <a:ext uri="{FF2B5EF4-FFF2-40B4-BE49-F238E27FC236}">
                  <a16:creationId xmlns:a16="http://schemas.microsoft.com/office/drawing/2014/main" id="{2944E8CF-D89D-C079-11B6-F914E8616979}"/>
                </a:ext>
              </a:extLst>
            </p:cNvPr>
            <p:cNvCxnSpPr>
              <a:cxnSpLocks noChangeShapeType="1"/>
              <a:stCxn id="10" idx="5"/>
              <a:endCxn id="27" idx="1"/>
            </p:cNvCxnSpPr>
            <p:nvPr/>
          </p:nvCxnSpPr>
          <p:spPr bwMode="auto">
            <a:xfrm>
              <a:off x="6575184" y="3223173"/>
              <a:ext cx="2273571" cy="1164304"/>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38" name="Oval 69">
              <a:extLst>
                <a:ext uri="{FF2B5EF4-FFF2-40B4-BE49-F238E27FC236}">
                  <a16:creationId xmlns:a16="http://schemas.microsoft.com/office/drawing/2014/main" id="{D1060C5D-233C-59A1-D55E-17D0D299D774}"/>
                </a:ext>
              </a:extLst>
            </p:cNvPr>
            <p:cNvSpPr>
              <a:spLocks noChangeAspect="1" noChangeArrowheads="1"/>
            </p:cNvSpPr>
            <p:nvPr/>
          </p:nvSpPr>
          <p:spPr bwMode="auto">
            <a:xfrm>
              <a:off x="10648016"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1400" b="1" dirty="0">
                  <a:solidFill>
                    <a:srgbClr val="C00000"/>
                  </a:solidFill>
                </a:rPr>
                <a:t>t</a:t>
              </a:r>
            </a:p>
          </p:txBody>
        </p:sp>
        <p:cxnSp>
          <p:nvCxnSpPr>
            <p:cNvPr id="39" name="AutoShape 70">
              <a:extLst>
                <a:ext uri="{FF2B5EF4-FFF2-40B4-BE49-F238E27FC236}">
                  <a16:creationId xmlns:a16="http://schemas.microsoft.com/office/drawing/2014/main" id="{A53B90AF-279B-CBAC-7DE3-115709264AC8}"/>
                </a:ext>
              </a:extLst>
            </p:cNvPr>
            <p:cNvCxnSpPr>
              <a:cxnSpLocks noChangeShapeType="1"/>
              <a:stCxn id="26" idx="6"/>
              <a:endCxn id="38" idx="1"/>
            </p:cNvCxnSpPr>
            <p:nvPr/>
          </p:nvCxnSpPr>
          <p:spPr bwMode="auto">
            <a:xfrm>
              <a:off x="9145040" y="3098894"/>
              <a:ext cx="1553810" cy="1288583"/>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0" name="AutoShape 71">
              <a:extLst>
                <a:ext uri="{FF2B5EF4-FFF2-40B4-BE49-F238E27FC236}">
                  <a16:creationId xmlns:a16="http://schemas.microsoft.com/office/drawing/2014/main" id="{3FCA9055-784A-14FB-69D1-9C691830D22B}"/>
                </a:ext>
              </a:extLst>
            </p:cNvPr>
            <p:cNvCxnSpPr>
              <a:cxnSpLocks noChangeShapeType="1"/>
              <a:stCxn id="27" idx="6"/>
              <a:endCxn id="38" idx="2"/>
            </p:cNvCxnSpPr>
            <p:nvPr/>
          </p:nvCxnSpPr>
          <p:spPr bwMode="auto">
            <a:xfrm>
              <a:off x="9145040" y="4510979"/>
              <a:ext cx="1502976" cy="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1" name="AutoShape 72">
              <a:extLst>
                <a:ext uri="{FF2B5EF4-FFF2-40B4-BE49-F238E27FC236}">
                  <a16:creationId xmlns:a16="http://schemas.microsoft.com/office/drawing/2014/main" id="{E3555C4E-2A11-72FA-7286-E6279640CC8C}"/>
                </a:ext>
              </a:extLst>
            </p:cNvPr>
            <p:cNvCxnSpPr>
              <a:cxnSpLocks noChangeShapeType="1"/>
              <a:stCxn id="29" idx="7"/>
              <a:endCxn id="38" idx="4"/>
            </p:cNvCxnSpPr>
            <p:nvPr/>
          </p:nvCxnSpPr>
          <p:spPr bwMode="auto">
            <a:xfrm flipV="1">
              <a:off x="9094206" y="4685636"/>
              <a:ext cx="1727370" cy="1078544"/>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2" name="Text Box 73">
              <a:extLst>
                <a:ext uri="{FF2B5EF4-FFF2-40B4-BE49-F238E27FC236}">
                  <a16:creationId xmlns:a16="http://schemas.microsoft.com/office/drawing/2014/main" id="{9B7C03F8-608F-A8AE-566D-73EE059D752D}"/>
                </a:ext>
              </a:extLst>
            </p:cNvPr>
            <p:cNvSpPr txBox="1">
              <a:spLocks noChangeArrowheads="1"/>
            </p:cNvSpPr>
            <p:nvPr/>
          </p:nvSpPr>
          <p:spPr bwMode="auto">
            <a:xfrm>
              <a:off x="5420920" y="5112122"/>
              <a:ext cx="612528" cy="21544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400" dirty="0">
                  <a:latin typeface="Arial" panose="020B0604020202020204" pitchFamily="34" charset="0"/>
                  <a:cs typeface="Arial" panose="020B0604020202020204" pitchFamily="34" charset="0"/>
                </a:rPr>
                <a:t> 15</a:t>
              </a:r>
            </a:p>
          </p:txBody>
        </p:sp>
        <p:sp>
          <p:nvSpPr>
            <p:cNvPr id="43" name="Text Box 74">
              <a:extLst>
                <a:ext uri="{FF2B5EF4-FFF2-40B4-BE49-F238E27FC236}">
                  <a16:creationId xmlns:a16="http://schemas.microsoft.com/office/drawing/2014/main" id="{837F1B22-7E6C-778B-214A-5E064977BA3B}"/>
                </a:ext>
              </a:extLst>
            </p:cNvPr>
            <p:cNvSpPr txBox="1">
              <a:spLocks noChangeArrowheads="1"/>
            </p:cNvSpPr>
            <p:nvPr/>
          </p:nvSpPr>
          <p:spPr bwMode="auto">
            <a:xfrm>
              <a:off x="5458549" y="4352895"/>
              <a:ext cx="453335" cy="21544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100" dirty="0">
                  <a:latin typeface="Arial" panose="020B0604020202020204" pitchFamily="34" charset="0"/>
                  <a:cs typeface="Arial" panose="020B0604020202020204" pitchFamily="34" charset="0"/>
                </a:rPr>
                <a:t> </a:t>
              </a:r>
              <a:r>
                <a:rPr lang="en-US" altLang="en-US" sz="1400" dirty="0">
                  <a:latin typeface="Arial" panose="020B0604020202020204" pitchFamily="34" charset="0"/>
                  <a:cs typeface="Arial" panose="020B0604020202020204" pitchFamily="34" charset="0"/>
                </a:rPr>
                <a:t>5</a:t>
              </a:r>
              <a:endParaRPr lang="en-US" altLang="en-US" sz="1100" dirty="0">
                <a:latin typeface="Arial" panose="020B0604020202020204" pitchFamily="34" charset="0"/>
                <a:cs typeface="Arial" panose="020B0604020202020204" pitchFamily="34" charset="0"/>
              </a:endParaRPr>
            </a:p>
          </p:txBody>
        </p:sp>
        <p:sp>
          <p:nvSpPr>
            <p:cNvPr id="44" name="Text Box 75">
              <a:extLst>
                <a:ext uri="{FF2B5EF4-FFF2-40B4-BE49-F238E27FC236}">
                  <a16:creationId xmlns:a16="http://schemas.microsoft.com/office/drawing/2014/main" id="{9EAAE041-A7F4-03C9-0A37-A5E3AD894155}"/>
                </a:ext>
              </a:extLst>
            </p:cNvPr>
            <p:cNvSpPr txBox="1">
              <a:spLocks noChangeArrowheads="1"/>
            </p:cNvSpPr>
            <p:nvPr/>
          </p:nvSpPr>
          <p:spPr bwMode="auto">
            <a:xfrm>
              <a:off x="7331165" y="5713346"/>
              <a:ext cx="624271" cy="215444"/>
            </a:xfrm>
            <a:prstGeom prst="rect">
              <a:avLst/>
            </a:prstGeom>
            <a:solidFill>
              <a:schemeClr val="bg1"/>
            </a:solidFill>
            <a:ln w="12700">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400" dirty="0">
                  <a:latin typeface="Arial" panose="020B0604020202020204" pitchFamily="34" charset="0"/>
                  <a:cs typeface="Arial" panose="020B0604020202020204" pitchFamily="34" charset="0"/>
                </a:rPr>
                <a:t> 30</a:t>
              </a:r>
            </a:p>
          </p:txBody>
        </p:sp>
        <p:sp>
          <p:nvSpPr>
            <p:cNvPr id="45" name="Text Box 76">
              <a:extLst>
                <a:ext uri="{FF2B5EF4-FFF2-40B4-BE49-F238E27FC236}">
                  <a16:creationId xmlns:a16="http://schemas.microsoft.com/office/drawing/2014/main" id="{5A9ACDC9-1ADF-EDB1-EB91-5B34318C2FFB}"/>
                </a:ext>
              </a:extLst>
            </p:cNvPr>
            <p:cNvSpPr txBox="1">
              <a:spLocks noChangeArrowheads="1"/>
            </p:cNvSpPr>
            <p:nvPr/>
          </p:nvSpPr>
          <p:spPr bwMode="auto">
            <a:xfrm>
              <a:off x="8736366" y="4983795"/>
              <a:ext cx="600782" cy="21544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400" dirty="0">
                  <a:latin typeface="Arial" panose="020B0604020202020204" pitchFamily="34" charset="0"/>
                  <a:cs typeface="Arial" panose="020B0604020202020204" pitchFamily="34" charset="0"/>
                </a:rPr>
                <a:t> 15</a:t>
              </a:r>
            </a:p>
          </p:txBody>
        </p:sp>
        <p:sp>
          <p:nvSpPr>
            <p:cNvPr id="46" name="Text Box 77">
              <a:extLst>
                <a:ext uri="{FF2B5EF4-FFF2-40B4-BE49-F238E27FC236}">
                  <a16:creationId xmlns:a16="http://schemas.microsoft.com/office/drawing/2014/main" id="{65BAF4D0-95FF-620F-2CCC-CE82432C1EA5}"/>
                </a:ext>
              </a:extLst>
            </p:cNvPr>
            <p:cNvSpPr txBox="1">
              <a:spLocks noChangeArrowheads="1"/>
            </p:cNvSpPr>
            <p:nvPr/>
          </p:nvSpPr>
          <p:spPr bwMode="auto">
            <a:xfrm>
              <a:off x="5300960" y="3595078"/>
              <a:ext cx="685677" cy="21544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400" dirty="0">
                  <a:latin typeface="Arial" panose="020B0604020202020204" pitchFamily="34" charset="0"/>
                  <a:cs typeface="Arial" panose="020B0604020202020204" pitchFamily="34" charset="0"/>
                </a:rPr>
                <a:t>10</a:t>
              </a:r>
            </a:p>
          </p:txBody>
        </p:sp>
        <p:sp>
          <p:nvSpPr>
            <p:cNvPr id="47" name="Text Box 78">
              <a:extLst>
                <a:ext uri="{FF2B5EF4-FFF2-40B4-BE49-F238E27FC236}">
                  <a16:creationId xmlns:a16="http://schemas.microsoft.com/office/drawing/2014/main" id="{00E7ADF5-D8DC-185A-F1B2-6313953F8507}"/>
                </a:ext>
              </a:extLst>
            </p:cNvPr>
            <p:cNvSpPr txBox="1">
              <a:spLocks noChangeArrowheads="1"/>
            </p:cNvSpPr>
            <p:nvPr/>
          </p:nvSpPr>
          <p:spPr bwMode="auto">
            <a:xfrm>
              <a:off x="7486213" y="4352895"/>
              <a:ext cx="469223" cy="21544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400" b="1" dirty="0">
                  <a:solidFill>
                    <a:srgbClr val="C00000"/>
                  </a:solidFill>
                  <a:latin typeface="Arial" panose="020B0604020202020204" pitchFamily="34" charset="0"/>
                  <a:cs typeface="Arial" panose="020B0604020202020204" pitchFamily="34" charset="0"/>
                </a:rPr>
                <a:t> </a:t>
              </a:r>
              <a:r>
                <a:rPr lang="en-US" altLang="en-US" sz="1400" dirty="0">
                  <a:latin typeface="Arial" panose="020B0604020202020204" pitchFamily="34" charset="0"/>
                  <a:cs typeface="Arial" panose="020B0604020202020204" pitchFamily="34" charset="0"/>
                </a:rPr>
                <a:t>8</a:t>
              </a:r>
            </a:p>
          </p:txBody>
        </p:sp>
        <p:sp>
          <p:nvSpPr>
            <p:cNvPr id="48" name="Text Box 79">
              <a:extLst>
                <a:ext uri="{FF2B5EF4-FFF2-40B4-BE49-F238E27FC236}">
                  <a16:creationId xmlns:a16="http://schemas.microsoft.com/office/drawing/2014/main" id="{EBD836B8-630D-FDB6-5A42-06B79BAC8EC4}"/>
                </a:ext>
              </a:extLst>
            </p:cNvPr>
            <p:cNvSpPr txBox="1">
              <a:spLocks noChangeArrowheads="1"/>
            </p:cNvSpPr>
            <p:nvPr/>
          </p:nvSpPr>
          <p:spPr bwMode="auto">
            <a:xfrm>
              <a:off x="7425727" y="3622107"/>
              <a:ext cx="624271" cy="21544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400" dirty="0">
                  <a:latin typeface="Arial" panose="020B0604020202020204" pitchFamily="34" charset="0"/>
                  <a:cs typeface="Arial" panose="020B0604020202020204" pitchFamily="34" charset="0"/>
                </a:rPr>
                <a:t>15</a:t>
              </a:r>
            </a:p>
          </p:txBody>
        </p:sp>
        <p:sp>
          <p:nvSpPr>
            <p:cNvPr id="49" name="Text Box 80">
              <a:extLst>
                <a:ext uri="{FF2B5EF4-FFF2-40B4-BE49-F238E27FC236}">
                  <a16:creationId xmlns:a16="http://schemas.microsoft.com/office/drawing/2014/main" id="{959AB415-4B68-0500-97E1-0D4A749C4C96}"/>
                </a:ext>
              </a:extLst>
            </p:cNvPr>
            <p:cNvSpPr txBox="1">
              <a:spLocks noChangeArrowheads="1"/>
            </p:cNvSpPr>
            <p:nvPr/>
          </p:nvSpPr>
          <p:spPr bwMode="auto">
            <a:xfrm>
              <a:off x="7444248" y="2939710"/>
              <a:ext cx="403767" cy="21544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1050" b="1" dirty="0">
                  <a:solidFill>
                    <a:srgbClr val="C00000"/>
                  </a:solidFill>
                  <a:latin typeface="Arial" panose="020B0604020202020204" pitchFamily="34" charset="0"/>
                  <a:cs typeface="Arial" panose="020B0604020202020204" pitchFamily="34" charset="0"/>
                </a:rPr>
                <a:t> </a:t>
              </a:r>
              <a:r>
                <a:rPr lang="en-US" altLang="en-US" sz="1400" dirty="0">
                  <a:latin typeface="Arial" panose="020B0604020202020204" pitchFamily="34" charset="0"/>
                  <a:cs typeface="Arial" panose="020B0604020202020204" pitchFamily="34" charset="0"/>
                </a:rPr>
                <a:t>9</a:t>
              </a:r>
            </a:p>
          </p:txBody>
        </p:sp>
        <p:sp>
          <p:nvSpPr>
            <p:cNvPr id="50" name="Text Box 81">
              <a:extLst>
                <a:ext uri="{FF2B5EF4-FFF2-40B4-BE49-F238E27FC236}">
                  <a16:creationId xmlns:a16="http://schemas.microsoft.com/office/drawing/2014/main" id="{0AFA0F2C-58EB-1A8F-3118-CDB08D64ECD4}"/>
                </a:ext>
              </a:extLst>
            </p:cNvPr>
            <p:cNvSpPr txBox="1">
              <a:spLocks noChangeArrowheads="1"/>
            </p:cNvSpPr>
            <p:nvPr/>
          </p:nvSpPr>
          <p:spPr bwMode="auto">
            <a:xfrm>
              <a:off x="7444248" y="5043023"/>
              <a:ext cx="403767" cy="21544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1400" dirty="0">
                  <a:latin typeface="Arial" panose="020B0604020202020204" pitchFamily="34" charset="0"/>
                  <a:cs typeface="Arial" panose="020B0604020202020204" pitchFamily="34" charset="0"/>
                </a:rPr>
                <a:t>6</a:t>
              </a:r>
            </a:p>
          </p:txBody>
        </p:sp>
        <p:sp>
          <p:nvSpPr>
            <p:cNvPr id="51" name="Text Box 82">
              <a:extLst>
                <a:ext uri="{FF2B5EF4-FFF2-40B4-BE49-F238E27FC236}">
                  <a16:creationId xmlns:a16="http://schemas.microsoft.com/office/drawing/2014/main" id="{50CCBE9E-9E6C-213C-3F2B-72AACD6E9145}"/>
                </a:ext>
              </a:extLst>
            </p:cNvPr>
            <p:cNvSpPr txBox="1">
              <a:spLocks noChangeArrowheads="1"/>
            </p:cNvSpPr>
            <p:nvPr/>
          </p:nvSpPr>
          <p:spPr bwMode="auto">
            <a:xfrm>
              <a:off x="9678052" y="5087101"/>
              <a:ext cx="622845" cy="21544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400" dirty="0">
                  <a:latin typeface="Arial" panose="020B0604020202020204" pitchFamily="34" charset="0"/>
                  <a:cs typeface="Arial" panose="020B0604020202020204" pitchFamily="34" charset="0"/>
                </a:rPr>
                <a:t>10</a:t>
              </a:r>
            </a:p>
          </p:txBody>
        </p:sp>
        <p:sp>
          <p:nvSpPr>
            <p:cNvPr id="52" name="Text Box 83">
              <a:extLst>
                <a:ext uri="{FF2B5EF4-FFF2-40B4-BE49-F238E27FC236}">
                  <a16:creationId xmlns:a16="http://schemas.microsoft.com/office/drawing/2014/main" id="{B288D67F-0944-30A0-300E-716B82B1472A}"/>
                </a:ext>
              </a:extLst>
            </p:cNvPr>
            <p:cNvSpPr txBox="1">
              <a:spLocks noChangeArrowheads="1"/>
            </p:cNvSpPr>
            <p:nvPr/>
          </p:nvSpPr>
          <p:spPr bwMode="auto">
            <a:xfrm>
              <a:off x="9704822" y="4352895"/>
              <a:ext cx="596075" cy="21544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400" b="1" dirty="0">
                  <a:solidFill>
                    <a:srgbClr val="C00000"/>
                  </a:solidFill>
                  <a:latin typeface="Arial" panose="020B0604020202020204" pitchFamily="34" charset="0"/>
                  <a:cs typeface="Arial" panose="020B0604020202020204" pitchFamily="34" charset="0"/>
                </a:rPr>
                <a:t> </a:t>
              </a:r>
              <a:r>
                <a:rPr lang="en-US" altLang="en-US" sz="1400" dirty="0">
                  <a:latin typeface="Arial" panose="020B0604020202020204" pitchFamily="34" charset="0"/>
                  <a:cs typeface="Arial" panose="020B0604020202020204" pitchFamily="34" charset="0"/>
                </a:rPr>
                <a:t>10</a:t>
              </a:r>
              <a:endParaRPr lang="en-US" altLang="en-US" sz="1100" dirty="0">
                <a:latin typeface="Arial" panose="020B0604020202020204" pitchFamily="34" charset="0"/>
                <a:cs typeface="Arial" panose="020B0604020202020204" pitchFamily="34" charset="0"/>
              </a:endParaRPr>
            </a:p>
          </p:txBody>
        </p:sp>
        <p:sp>
          <p:nvSpPr>
            <p:cNvPr id="53" name="Text Box 84">
              <a:extLst>
                <a:ext uri="{FF2B5EF4-FFF2-40B4-BE49-F238E27FC236}">
                  <a16:creationId xmlns:a16="http://schemas.microsoft.com/office/drawing/2014/main" id="{0DAC96FF-1C66-6D38-73E9-8D29407CE6B3}"/>
                </a:ext>
              </a:extLst>
            </p:cNvPr>
            <p:cNvSpPr txBox="1">
              <a:spLocks noChangeArrowheads="1"/>
            </p:cNvSpPr>
            <p:nvPr/>
          </p:nvSpPr>
          <p:spPr bwMode="auto">
            <a:xfrm>
              <a:off x="9703383" y="3588301"/>
              <a:ext cx="689644" cy="21544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400" dirty="0">
                  <a:latin typeface="Arial" panose="020B0604020202020204" pitchFamily="34" charset="0"/>
                  <a:cs typeface="Arial" panose="020B0604020202020204" pitchFamily="34" charset="0"/>
                </a:rPr>
                <a:t>10</a:t>
              </a:r>
            </a:p>
          </p:txBody>
        </p:sp>
        <p:sp>
          <p:nvSpPr>
            <p:cNvPr id="54" name="Text Box 85">
              <a:extLst>
                <a:ext uri="{FF2B5EF4-FFF2-40B4-BE49-F238E27FC236}">
                  <a16:creationId xmlns:a16="http://schemas.microsoft.com/office/drawing/2014/main" id="{AF7AA4BA-829B-64E5-A76F-EA1B50C140B3}"/>
                </a:ext>
              </a:extLst>
            </p:cNvPr>
            <p:cNvSpPr txBox="1">
              <a:spLocks noChangeArrowheads="1"/>
            </p:cNvSpPr>
            <p:nvPr/>
          </p:nvSpPr>
          <p:spPr bwMode="auto">
            <a:xfrm>
              <a:off x="8791308" y="3595078"/>
              <a:ext cx="545059" cy="21544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400" dirty="0">
                  <a:latin typeface="Arial" panose="020B0604020202020204" pitchFamily="34" charset="0"/>
                  <a:cs typeface="Arial" panose="020B0604020202020204" pitchFamily="34" charset="0"/>
                </a:rPr>
                <a:t>15</a:t>
              </a:r>
            </a:p>
          </p:txBody>
        </p:sp>
        <p:sp>
          <p:nvSpPr>
            <p:cNvPr id="55" name="Text Box 86">
              <a:extLst>
                <a:ext uri="{FF2B5EF4-FFF2-40B4-BE49-F238E27FC236}">
                  <a16:creationId xmlns:a16="http://schemas.microsoft.com/office/drawing/2014/main" id="{3A581087-F72B-0BFB-02D3-94BD983A0E2E}"/>
                </a:ext>
              </a:extLst>
            </p:cNvPr>
            <p:cNvSpPr txBox="1">
              <a:spLocks noChangeArrowheads="1"/>
            </p:cNvSpPr>
            <p:nvPr/>
          </p:nvSpPr>
          <p:spPr bwMode="auto">
            <a:xfrm>
              <a:off x="6276229" y="3653451"/>
              <a:ext cx="403767" cy="21544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1400" dirty="0">
                  <a:latin typeface="Arial" panose="020B0604020202020204" pitchFamily="34" charset="0"/>
                  <a:cs typeface="Arial" panose="020B0604020202020204" pitchFamily="34" charset="0"/>
                </a:rPr>
                <a:t>4</a:t>
              </a:r>
            </a:p>
          </p:txBody>
        </p:sp>
        <p:sp>
          <p:nvSpPr>
            <p:cNvPr id="56" name="Text Box 87">
              <a:extLst>
                <a:ext uri="{FF2B5EF4-FFF2-40B4-BE49-F238E27FC236}">
                  <a16:creationId xmlns:a16="http://schemas.microsoft.com/office/drawing/2014/main" id="{503174D8-CDEB-F479-DC34-CACDE1146B3C}"/>
                </a:ext>
              </a:extLst>
            </p:cNvPr>
            <p:cNvSpPr txBox="1">
              <a:spLocks noChangeArrowheads="1"/>
            </p:cNvSpPr>
            <p:nvPr/>
          </p:nvSpPr>
          <p:spPr bwMode="auto">
            <a:xfrm>
              <a:off x="6268652" y="5012007"/>
              <a:ext cx="403767" cy="21544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1400" dirty="0">
                  <a:latin typeface="Arial" panose="020B0604020202020204" pitchFamily="34" charset="0"/>
                  <a:cs typeface="Arial" panose="020B0604020202020204" pitchFamily="34" charset="0"/>
                </a:rPr>
                <a:t>4</a:t>
              </a:r>
            </a:p>
          </p:txBody>
        </p:sp>
      </p:grpSp>
      <p:grpSp>
        <p:nvGrpSpPr>
          <p:cNvPr id="57" name="Group 56">
            <a:extLst>
              <a:ext uri="{FF2B5EF4-FFF2-40B4-BE49-F238E27FC236}">
                <a16:creationId xmlns:a16="http://schemas.microsoft.com/office/drawing/2014/main" id="{C40E19A3-283E-A378-9CF4-C97C7AE1FCE6}"/>
              </a:ext>
            </a:extLst>
          </p:cNvPr>
          <p:cNvGrpSpPr/>
          <p:nvPr/>
        </p:nvGrpSpPr>
        <p:grpSpPr>
          <a:xfrm>
            <a:off x="7971882" y="4616896"/>
            <a:ext cx="4065224" cy="1932568"/>
            <a:chOff x="4395659" y="2923138"/>
            <a:chExt cx="6599476" cy="3137327"/>
          </a:xfrm>
        </p:grpSpPr>
        <p:cxnSp>
          <p:nvCxnSpPr>
            <p:cNvPr id="58" name="AutoShape 68">
              <a:extLst>
                <a:ext uri="{FF2B5EF4-FFF2-40B4-BE49-F238E27FC236}">
                  <a16:creationId xmlns:a16="http://schemas.microsoft.com/office/drawing/2014/main" id="{2F333D2B-8541-0759-D949-0AE0FAC1C4A9}"/>
                </a:ext>
              </a:extLst>
            </p:cNvPr>
            <p:cNvCxnSpPr>
              <a:cxnSpLocks noChangeShapeType="1"/>
              <a:stCxn id="265" idx="1"/>
              <a:endCxn id="61" idx="5"/>
            </p:cNvCxnSpPr>
            <p:nvPr/>
          </p:nvCxnSpPr>
          <p:spPr bwMode="auto">
            <a:xfrm flipH="1" flipV="1">
              <a:off x="6575184" y="4634480"/>
              <a:ext cx="2273571" cy="112970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59" name="Oval 50">
              <a:extLst>
                <a:ext uri="{FF2B5EF4-FFF2-40B4-BE49-F238E27FC236}">
                  <a16:creationId xmlns:a16="http://schemas.microsoft.com/office/drawing/2014/main" id="{A86684E9-8284-DE5D-E1CE-D51EFA1F74E2}"/>
                </a:ext>
              </a:extLst>
            </p:cNvPr>
            <p:cNvSpPr>
              <a:spLocks noChangeAspect="1" noChangeArrowheads="1"/>
            </p:cNvSpPr>
            <p:nvPr/>
          </p:nvSpPr>
          <p:spPr bwMode="auto">
            <a:xfrm>
              <a:off x="4395659"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1100" b="1" dirty="0">
                  <a:solidFill>
                    <a:srgbClr val="C00000"/>
                  </a:solidFill>
                </a:rPr>
                <a:t>s</a:t>
              </a:r>
            </a:p>
          </p:txBody>
        </p:sp>
        <p:sp>
          <p:nvSpPr>
            <p:cNvPr id="60" name="Oval 51">
              <a:extLst>
                <a:ext uri="{FF2B5EF4-FFF2-40B4-BE49-F238E27FC236}">
                  <a16:creationId xmlns:a16="http://schemas.microsoft.com/office/drawing/2014/main" id="{F5BEC3BD-727E-F76E-FA1A-977397CF58D3}"/>
                </a:ext>
              </a:extLst>
            </p:cNvPr>
            <p:cNvSpPr>
              <a:spLocks noChangeAspect="1" noChangeArrowheads="1"/>
            </p:cNvSpPr>
            <p:nvPr/>
          </p:nvSpPr>
          <p:spPr bwMode="auto">
            <a:xfrm>
              <a:off x="6278899" y="2923138"/>
              <a:ext cx="347119" cy="35151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1100" b="1" dirty="0"/>
                <a:t>a</a:t>
              </a:r>
            </a:p>
          </p:txBody>
        </p:sp>
        <p:sp>
          <p:nvSpPr>
            <p:cNvPr id="61" name="Oval 52">
              <a:extLst>
                <a:ext uri="{FF2B5EF4-FFF2-40B4-BE49-F238E27FC236}">
                  <a16:creationId xmlns:a16="http://schemas.microsoft.com/office/drawing/2014/main" id="{67C5312B-1A72-73D5-7EEF-D5C1F379289A}"/>
                </a:ext>
              </a:extLst>
            </p:cNvPr>
            <p:cNvSpPr>
              <a:spLocks noChangeAspect="1" noChangeArrowheads="1"/>
            </p:cNvSpPr>
            <p:nvPr/>
          </p:nvSpPr>
          <p:spPr bwMode="auto">
            <a:xfrm>
              <a:off x="6278899"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1100" b="1" dirty="0"/>
                <a:t>b</a:t>
              </a:r>
            </a:p>
          </p:txBody>
        </p:sp>
        <p:sp>
          <p:nvSpPr>
            <p:cNvPr id="62" name="Oval 53">
              <a:extLst>
                <a:ext uri="{FF2B5EF4-FFF2-40B4-BE49-F238E27FC236}">
                  <a16:creationId xmlns:a16="http://schemas.microsoft.com/office/drawing/2014/main" id="{5050E889-407A-9B28-3A8A-866CE00E0078}"/>
                </a:ext>
              </a:extLst>
            </p:cNvPr>
            <p:cNvSpPr>
              <a:spLocks noChangeAspect="1" noChangeArrowheads="1"/>
            </p:cNvSpPr>
            <p:nvPr/>
          </p:nvSpPr>
          <p:spPr bwMode="auto">
            <a:xfrm>
              <a:off x="6278899" y="5713346"/>
              <a:ext cx="347119" cy="347119"/>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1100" b="1" dirty="0"/>
                <a:t>c</a:t>
              </a:r>
            </a:p>
          </p:txBody>
        </p:sp>
        <p:cxnSp>
          <p:nvCxnSpPr>
            <p:cNvPr id="63" name="AutoShape 54">
              <a:extLst>
                <a:ext uri="{FF2B5EF4-FFF2-40B4-BE49-F238E27FC236}">
                  <a16:creationId xmlns:a16="http://schemas.microsoft.com/office/drawing/2014/main" id="{F4A10FEA-35A9-768E-0AC0-5EEE604431E5}"/>
                </a:ext>
              </a:extLst>
            </p:cNvPr>
            <p:cNvCxnSpPr>
              <a:cxnSpLocks noChangeShapeType="1"/>
              <a:stCxn id="59" idx="7"/>
              <a:endCxn id="60" idx="3"/>
            </p:cNvCxnSpPr>
            <p:nvPr/>
          </p:nvCxnSpPr>
          <p:spPr bwMode="auto">
            <a:xfrm flipV="1">
              <a:off x="4691944" y="3223173"/>
              <a:ext cx="1637789" cy="1164304"/>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256" name="AutoShape 55">
              <a:extLst>
                <a:ext uri="{FF2B5EF4-FFF2-40B4-BE49-F238E27FC236}">
                  <a16:creationId xmlns:a16="http://schemas.microsoft.com/office/drawing/2014/main" id="{3ABA5B42-4842-8873-6E15-CEA4D5ACB991}"/>
                </a:ext>
              </a:extLst>
            </p:cNvPr>
            <p:cNvCxnSpPr>
              <a:cxnSpLocks noChangeShapeType="1"/>
              <a:stCxn id="59" idx="6"/>
              <a:endCxn id="61" idx="2"/>
            </p:cNvCxnSpPr>
            <p:nvPr/>
          </p:nvCxnSpPr>
          <p:spPr bwMode="auto">
            <a:xfrm>
              <a:off x="4742778" y="4510979"/>
              <a:ext cx="1536121" cy="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257" name="AutoShape 56">
              <a:extLst>
                <a:ext uri="{FF2B5EF4-FFF2-40B4-BE49-F238E27FC236}">
                  <a16:creationId xmlns:a16="http://schemas.microsoft.com/office/drawing/2014/main" id="{8D4818EE-407D-18E9-610A-CFFA25D913B1}"/>
                </a:ext>
              </a:extLst>
            </p:cNvPr>
            <p:cNvCxnSpPr>
              <a:cxnSpLocks noChangeShapeType="1"/>
              <a:stCxn id="59" idx="5"/>
              <a:endCxn id="62" idx="1"/>
            </p:cNvCxnSpPr>
            <p:nvPr/>
          </p:nvCxnSpPr>
          <p:spPr bwMode="auto">
            <a:xfrm>
              <a:off x="4691944" y="4634480"/>
              <a:ext cx="1637789" cy="112970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258" name="AutoShape 57">
              <a:extLst>
                <a:ext uri="{FF2B5EF4-FFF2-40B4-BE49-F238E27FC236}">
                  <a16:creationId xmlns:a16="http://schemas.microsoft.com/office/drawing/2014/main" id="{537F9A10-DB18-FF3E-B15F-4B796C4DF93C}"/>
                </a:ext>
              </a:extLst>
            </p:cNvPr>
            <p:cNvCxnSpPr>
              <a:cxnSpLocks noChangeShapeType="1"/>
              <a:stCxn id="61" idx="6"/>
              <a:endCxn id="264" idx="2"/>
            </p:cNvCxnSpPr>
            <p:nvPr/>
          </p:nvCxnSpPr>
          <p:spPr bwMode="auto">
            <a:xfrm>
              <a:off x="6626018" y="4510979"/>
              <a:ext cx="2171903" cy="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259" name="AutoShape 59">
              <a:extLst>
                <a:ext uri="{FF2B5EF4-FFF2-40B4-BE49-F238E27FC236}">
                  <a16:creationId xmlns:a16="http://schemas.microsoft.com/office/drawing/2014/main" id="{C4FEEFC7-32D3-C5A3-DAD9-4AEB202D0A20}"/>
                </a:ext>
              </a:extLst>
            </p:cNvPr>
            <p:cNvCxnSpPr>
              <a:cxnSpLocks noChangeShapeType="1"/>
              <a:stCxn id="61" idx="4"/>
              <a:endCxn id="62" idx="0"/>
            </p:cNvCxnSpPr>
            <p:nvPr/>
          </p:nvCxnSpPr>
          <p:spPr bwMode="auto">
            <a:xfrm>
              <a:off x="6452459" y="4685636"/>
              <a:ext cx="0" cy="102771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260" name="AutoShape 60">
              <a:extLst>
                <a:ext uri="{FF2B5EF4-FFF2-40B4-BE49-F238E27FC236}">
                  <a16:creationId xmlns:a16="http://schemas.microsoft.com/office/drawing/2014/main" id="{68ED44E5-9FE2-5934-0B27-74B2F982D047}"/>
                </a:ext>
              </a:extLst>
            </p:cNvPr>
            <p:cNvCxnSpPr>
              <a:cxnSpLocks noChangeShapeType="1"/>
              <a:stCxn id="60" idx="6"/>
              <a:endCxn id="263" idx="2"/>
            </p:cNvCxnSpPr>
            <p:nvPr/>
          </p:nvCxnSpPr>
          <p:spPr bwMode="auto">
            <a:xfrm>
              <a:off x="6626018" y="3098894"/>
              <a:ext cx="2171903" cy="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261" name="AutoShape 61">
              <a:extLst>
                <a:ext uri="{FF2B5EF4-FFF2-40B4-BE49-F238E27FC236}">
                  <a16:creationId xmlns:a16="http://schemas.microsoft.com/office/drawing/2014/main" id="{91C38850-5E13-2937-C1CD-217275932779}"/>
                </a:ext>
              </a:extLst>
            </p:cNvPr>
            <p:cNvCxnSpPr>
              <a:cxnSpLocks noChangeShapeType="1"/>
              <a:stCxn id="62" idx="6"/>
              <a:endCxn id="265" idx="2"/>
            </p:cNvCxnSpPr>
            <p:nvPr/>
          </p:nvCxnSpPr>
          <p:spPr bwMode="auto">
            <a:xfrm>
              <a:off x="6626018" y="5886906"/>
              <a:ext cx="2171903" cy="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262" name="AutoShape 62">
              <a:extLst>
                <a:ext uri="{FF2B5EF4-FFF2-40B4-BE49-F238E27FC236}">
                  <a16:creationId xmlns:a16="http://schemas.microsoft.com/office/drawing/2014/main" id="{F6BE6E46-A5FF-D6E2-5DAF-0086822F81B3}"/>
                </a:ext>
              </a:extLst>
            </p:cNvPr>
            <p:cNvCxnSpPr>
              <a:cxnSpLocks noChangeShapeType="1"/>
              <a:stCxn id="60" idx="4"/>
              <a:endCxn id="61" idx="0"/>
            </p:cNvCxnSpPr>
            <p:nvPr/>
          </p:nvCxnSpPr>
          <p:spPr bwMode="auto">
            <a:xfrm>
              <a:off x="6452459" y="3274651"/>
              <a:ext cx="0" cy="106167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263" name="Oval 63">
              <a:extLst>
                <a:ext uri="{FF2B5EF4-FFF2-40B4-BE49-F238E27FC236}">
                  <a16:creationId xmlns:a16="http://schemas.microsoft.com/office/drawing/2014/main" id="{26B72D60-49B2-1842-3F02-E436476ED6E4}"/>
                </a:ext>
              </a:extLst>
            </p:cNvPr>
            <p:cNvSpPr>
              <a:spLocks noChangeAspect="1" noChangeArrowheads="1"/>
            </p:cNvSpPr>
            <p:nvPr/>
          </p:nvSpPr>
          <p:spPr bwMode="auto">
            <a:xfrm>
              <a:off x="8797921" y="2923138"/>
              <a:ext cx="347119" cy="35151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1100" b="1" dirty="0"/>
                <a:t>d</a:t>
              </a:r>
            </a:p>
          </p:txBody>
        </p:sp>
        <p:sp>
          <p:nvSpPr>
            <p:cNvPr id="264" name="Oval 64">
              <a:extLst>
                <a:ext uri="{FF2B5EF4-FFF2-40B4-BE49-F238E27FC236}">
                  <a16:creationId xmlns:a16="http://schemas.microsoft.com/office/drawing/2014/main" id="{65AB4942-2044-5B4A-92DA-0FDB52D8B9F2}"/>
                </a:ext>
              </a:extLst>
            </p:cNvPr>
            <p:cNvSpPr>
              <a:spLocks noChangeAspect="1" noChangeArrowheads="1"/>
            </p:cNvSpPr>
            <p:nvPr/>
          </p:nvSpPr>
          <p:spPr bwMode="auto">
            <a:xfrm>
              <a:off x="8797921"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1100" b="1" dirty="0"/>
                <a:t>e</a:t>
              </a:r>
            </a:p>
          </p:txBody>
        </p:sp>
        <p:sp>
          <p:nvSpPr>
            <p:cNvPr id="265" name="Oval 65">
              <a:extLst>
                <a:ext uri="{FF2B5EF4-FFF2-40B4-BE49-F238E27FC236}">
                  <a16:creationId xmlns:a16="http://schemas.microsoft.com/office/drawing/2014/main" id="{0175DB6C-0E78-17C2-111C-411FAB447F00}"/>
                </a:ext>
              </a:extLst>
            </p:cNvPr>
            <p:cNvSpPr>
              <a:spLocks noChangeAspect="1" noChangeArrowheads="1"/>
            </p:cNvSpPr>
            <p:nvPr/>
          </p:nvSpPr>
          <p:spPr bwMode="auto">
            <a:xfrm>
              <a:off x="8797921" y="5713346"/>
              <a:ext cx="347119" cy="347119"/>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1100" b="1" dirty="0"/>
                <a:t>f</a:t>
              </a:r>
            </a:p>
          </p:txBody>
        </p:sp>
        <p:cxnSp>
          <p:nvCxnSpPr>
            <p:cNvPr id="266" name="AutoShape 66">
              <a:extLst>
                <a:ext uri="{FF2B5EF4-FFF2-40B4-BE49-F238E27FC236}">
                  <a16:creationId xmlns:a16="http://schemas.microsoft.com/office/drawing/2014/main" id="{329810FB-8745-D04A-0673-5CDC126CE174}"/>
                </a:ext>
              </a:extLst>
            </p:cNvPr>
            <p:cNvCxnSpPr>
              <a:cxnSpLocks noChangeShapeType="1"/>
              <a:stCxn id="264" idx="4"/>
              <a:endCxn id="265" idx="0"/>
            </p:cNvCxnSpPr>
            <p:nvPr/>
          </p:nvCxnSpPr>
          <p:spPr bwMode="auto">
            <a:xfrm>
              <a:off x="8971480" y="4685636"/>
              <a:ext cx="0" cy="102771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267" name="AutoShape 67">
              <a:extLst>
                <a:ext uri="{FF2B5EF4-FFF2-40B4-BE49-F238E27FC236}">
                  <a16:creationId xmlns:a16="http://schemas.microsoft.com/office/drawing/2014/main" id="{D9EEE132-D0B8-22F8-2F58-4878398382CA}"/>
                </a:ext>
              </a:extLst>
            </p:cNvPr>
            <p:cNvCxnSpPr>
              <a:cxnSpLocks noChangeShapeType="1"/>
              <a:stCxn id="263" idx="4"/>
              <a:endCxn id="264" idx="0"/>
            </p:cNvCxnSpPr>
            <p:nvPr/>
          </p:nvCxnSpPr>
          <p:spPr bwMode="auto">
            <a:xfrm>
              <a:off x="8971480" y="3274651"/>
              <a:ext cx="0" cy="106167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268" name="AutoShape 68">
              <a:extLst>
                <a:ext uri="{FF2B5EF4-FFF2-40B4-BE49-F238E27FC236}">
                  <a16:creationId xmlns:a16="http://schemas.microsoft.com/office/drawing/2014/main" id="{001F841A-91B8-15FC-F6E5-B83B61340750}"/>
                </a:ext>
              </a:extLst>
            </p:cNvPr>
            <p:cNvCxnSpPr>
              <a:cxnSpLocks noChangeShapeType="1"/>
              <a:stCxn id="60" idx="5"/>
              <a:endCxn id="264" idx="1"/>
            </p:cNvCxnSpPr>
            <p:nvPr/>
          </p:nvCxnSpPr>
          <p:spPr bwMode="auto">
            <a:xfrm>
              <a:off x="6575184" y="3223173"/>
              <a:ext cx="2273571" cy="1164304"/>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269" name="Oval 69">
              <a:extLst>
                <a:ext uri="{FF2B5EF4-FFF2-40B4-BE49-F238E27FC236}">
                  <a16:creationId xmlns:a16="http://schemas.microsoft.com/office/drawing/2014/main" id="{33C889CF-2239-A99D-88C1-348C63A214C7}"/>
                </a:ext>
              </a:extLst>
            </p:cNvPr>
            <p:cNvSpPr>
              <a:spLocks noChangeAspect="1" noChangeArrowheads="1"/>
            </p:cNvSpPr>
            <p:nvPr/>
          </p:nvSpPr>
          <p:spPr bwMode="auto">
            <a:xfrm>
              <a:off x="10648016"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1100" b="1" dirty="0">
                  <a:solidFill>
                    <a:srgbClr val="C00000"/>
                  </a:solidFill>
                </a:rPr>
                <a:t>t</a:t>
              </a:r>
            </a:p>
          </p:txBody>
        </p:sp>
        <p:cxnSp>
          <p:nvCxnSpPr>
            <p:cNvPr id="270" name="AutoShape 70">
              <a:extLst>
                <a:ext uri="{FF2B5EF4-FFF2-40B4-BE49-F238E27FC236}">
                  <a16:creationId xmlns:a16="http://schemas.microsoft.com/office/drawing/2014/main" id="{2D640E07-32EA-E9A1-C9E6-44A13842F35B}"/>
                </a:ext>
              </a:extLst>
            </p:cNvPr>
            <p:cNvCxnSpPr>
              <a:cxnSpLocks noChangeShapeType="1"/>
              <a:stCxn id="263" idx="6"/>
              <a:endCxn id="269" idx="1"/>
            </p:cNvCxnSpPr>
            <p:nvPr/>
          </p:nvCxnSpPr>
          <p:spPr bwMode="auto">
            <a:xfrm>
              <a:off x="9145040" y="3098894"/>
              <a:ext cx="1553810" cy="1288583"/>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271" name="AutoShape 71">
              <a:extLst>
                <a:ext uri="{FF2B5EF4-FFF2-40B4-BE49-F238E27FC236}">
                  <a16:creationId xmlns:a16="http://schemas.microsoft.com/office/drawing/2014/main" id="{077AD6BF-694C-C41C-3361-75001F8C844D}"/>
                </a:ext>
              </a:extLst>
            </p:cNvPr>
            <p:cNvCxnSpPr>
              <a:cxnSpLocks noChangeShapeType="1"/>
              <a:stCxn id="264" idx="6"/>
              <a:endCxn id="269" idx="2"/>
            </p:cNvCxnSpPr>
            <p:nvPr/>
          </p:nvCxnSpPr>
          <p:spPr bwMode="auto">
            <a:xfrm>
              <a:off x="9145040" y="4510979"/>
              <a:ext cx="1502976" cy="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272" name="AutoShape 72">
              <a:extLst>
                <a:ext uri="{FF2B5EF4-FFF2-40B4-BE49-F238E27FC236}">
                  <a16:creationId xmlns:a16="http://schemas.microsoft.com/office/drawing/2014/main" id="{87868079-F997-0533-B3E5-51DF135E753E}"/>
                </a:ext>
              </a:extLst>
            </p:cNvPr>
            <p:cNvCxnSpPr>
              <a:cxnSpLocks noChangeShapeType="1"/>
              <a:stCxn id="265" idx="7"/>
              <a:endCxn id="269" idx="4"/>
            </p:cNvCxnSpPr>
            <p:nvPr/>
          </p:nvCxnSpPr>
          <p:spPr bwMode="auto">
            <a:xfrm flipV="1">
              <a:off x="9094206" y="4685636"/>
              <a:ext cx="1727370" cy="1078544"/>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273" name="Text Box 73">
              <a:extLst>
                <a:ext uri="{FF2B5EF4-FFF2-40B4-BE49-F238E27FC236}">
                  <a16:creationId xmlns:a16="http://schemas.microsoft.com/office/drawing/2014/main" id="{E2514962-0E30-5E60-DB51-415ADA1A2EAA}"/>
                </a:ext>
              </a:extLst>
            </p:cNvPr>
            <p:cNvSpPr txBox="1">
              <a:spLocks noChangeArrowheads="1"/>
            </p:cNvSpPr>
            <p:nvPr/>
          </p:nvSpPr>
          <p:spPr bwMode="auto">
            <a:xfrm>
              <a:off x="5140633" y="5112122"/>
              <a:ext cx="892815" cy="1692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100" dirty="0">
                  <a:latin typeface="Arial" panose="020B0604020202020204" pitchFamily="34" charset="0"/>
                  <a:cs typeface="Arial" panose="020B0604020202020204" pitchFamily="34" charset="0"/>
                </a:rPr>
                <a:t> </a:t>
              </a:r>
              <a:r>
                <a:rPr lang="en-US" altLang="en-US" sz="1100" b="1" dirty="0">
                  <a:solidFill>
                    <a:srgbClr val="C00000"/>
                  </a:solidFill>
                  <a:latin typeface="Arial" panose="020B0604020202020204" pitchFamily="34" charset="0"/>
                  <a:cs typeface="Arial" panose="020B0604020202020204" pitchFamily="34" charset="0"/>
                </a:rPr>
                <a:t>11/</a:t>
              </a:r>
              <a:r>
                <a:rPr lang="en-US" altLang="en-US" sz="1100" dirty="0">
                  <a:latin typeface="Arial" panose="020B0604020202020204" pitchFamily="34" charset="0"/>
                  <a:cs typeface="Arial" panose="020B0604020202020204" pitchFamily="34" charset="0"/>
                </a:rPr>
                <a:t>15</a:t>
              </a:r>
            </a:p>
          </p:txBody>
        </p:sp>
        <p:sp>
          <p:nvSpPr>
            <p:cNvPr id="274" name="Text Box 74">
              <a:extLst>
                <a:ext uri="{FF2B5EF4-FFF2-40B4-BE49-F238E27FC236}">
                  <a16:creationId xmlns:a16="http://schemas.microsoft.com/office/drawing/2014/main" id="{596D9FBA-3372-BCF2-488D-2C6E1ED85D46}"/>
                </a:ext>
              </a:extLst>
            </p:cNvPr>
            <p:cNvSpPr txBox="1">
              <a:spLocks noChangeArrowheads="1"/>
            </p:cNvSpPr>
            <p:nvPr/>
          </p:nvSpPr>
          <p:spPr bwMode="auto">
            <a:xfrm>
              <a:off x="5458549" y="4352895"/>
              <a:ext cx="453335" cy="1692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000" dirty="0">
                  <a:latin typeface="Arial" panose="020B0604020202020204" pitchFamily="34" charset="0"/>
                  <a:cs typeface="Arial" panose="020B0604020202020204" pitchFamily="34" charset="0"/>
                </a:rPr>
                <a:t> </a:t>
              </a:r>
              <a:r>
                <a:rPr lang="en-US" altLang="en-US" sz="1100" b="1" dirty="0">
                  <a:solidFill>
                    <a:srgbClr val="C00000"/>
                  </a:solidFill>
                  <a:latin typeface="Arial" panose="020B0604020202020204" pitchFamily="34" charset="0"/>
                  <a:cs typeface="Arial" panose="020B0604020202020204" pitchFamily="34" charset="0"/>
                </a:rPr>
                <a:t>3</a:t>
              </a:r>
              <a:r>
                <a:rPr lang="en-US" altLang="en-US" sz="1000" b="1" dirty="0">
                  <a:solidFill>
                    <a:srgbClr val="C00000"/>
                  </a:solidFill>
                  <a:latin typeface="Arial" panose="020B0604020202020204" pitchFamily="34" charset="0"/>
                  <a:cs typeface="Arial" panose="020B0604020202020204" pitchFamily="34" charset="0"/>
                </a:rPr>
                <a:t>/</a:t>
              </a:r>
              <a:r>
                <a:rPr lang="en-US" altLang="en-US" sz="1100" dirty="0">
                  <a:latin typeface="Arial" panose="020B0604020202020204" pitchFamily="34" charset="0"/>
                  <a:cs typeface="Arial" panose="020B0604020202020204" pitchFamily="34" charset="0"/>
                </a:rPr>
                <a:t>5</a:t>
              </a:r>
              <a:endParaRPr lang="en-US" altLang="en-US" sz="1000" dirty="0">
                <a:latin typeface="Arial" panose="020B0604020202020204" pitchFamily="34" charset="0"/>
                <a:cs typeface="Arial" panose="020B0604020202020204" pitchFamily="34" charset="0"/>
              </a:endParaRPr>
            </a:p>
          </p:txBody>
        </p:sp>
        <p:sp>
          <p:nvSpPr>
            <p:cNvPr id="275" name="Text Box 75">
              <a:extLst>
                <a:ext uri="{FF2B5EF4-FFF2-40B4-BE49-F238E27FC236}">
                  <a16:creationId xmlns:a16="http://schemas.microsoft.com/office/drawing/2014/main" id="{3E10F97A-43DB-81FB-793B-B02D128FE131}"/>
                </a:ext>
              </a:extLst>
            </p:cNvPr>
            <p:cNvSpPr txBox="1">
              <a:spLocks noChangeArrowheads="1"/>
            </p:cNvSpPr>
            <p:nvPr/>
          </p:nvSpPr>
          <p:spPr bwMode="auto">
            <a:xfrm>
              <a:off x="7331165" y="5713346"/>
              <a:ext cx="718833" cy="169277"/>
            </a:xfrm>
            <a:prstGeom prst="rect">
              <a:avLst/>
            </a:prstGeom>
            <a:solidFill>
              <a:schemeClr val="bg1"/>
            </a:solidFill>
            <a:ln w="12700">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100" dirty="0">
                  <a:latin typeface="Arial" panose="020B0604020202020204" pitchFamily="34" charset="0"/>
                  <a:cs typeface="Arial" panose="020B0604020202020204" pitchFamily="34" charset="0"/>
                </a:rPr>
                <a:t> </a:t>
              </a:r>
              <a:r>
                <a:rPr lang="en-US" altLang="en-US" sz="1100" b="1" dirty="0">
                  <a:solidFill>
                    <a:srgbClr val="C00000"/>
                  </a:solidFill>
                  <a:latin typeface="Arial" panose="020B0604020202020204" pitchFamily="34" charset="0"/>
                  <a:cs typeface="Arial" panose="020B0604020202020204" pitchFamily="34" charset="0"/>
                </a:rPr>
                <a:t>11/</a:t>
              </a:r>
              <a:r>
                <a:rPr lang="en-US" altLang="en-US" sz="1100" dirty="0">
                  <a:latin typeface="Arial" panose="020B0604020202020204" pitchFamily="34" charset="0"/>
                  <a:cs typeface="Arial" panose="020B0604020202020204" pitchFamily="34" charset="0"/>
                </a:rPr>
                <a:t>30</a:t>
              </a:r>
            </a:p>
          </p:txBody>
        </p:sp>
        <p:sp>
          <p:nvSpPr>
            <p:cNvPr id="276" name="Text Box 76">
              <a:extLst>
                <a:ext uri="{FF2B5EF4-FFF2-40B4-BE49-F238E27FC236}">
                  <a16:creationId xmlns:a16="http://schemas.microsoft.com/office/drawing/2014/main" id="{8110A07E-7881-A7D9-7DF8-D92A1F63614D}"/>
                </a:ext>
              </a:extLst>
            </p:cNvPr>
            <p:cNvSpPr txBox="1">
              <a:spLocks noChangeArrowheads="1"/>
            </p:cNvSpPr>
            <p:nvPr/>
          </p:nvSpPr>
          <p:spPr bwMode="auto">
            <a:xfrm>
              <a:off x="8736366" y="4983795"/>
              <a:ext cx="600782" cy="1692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100" dirty="0">
                  <a:latin typeface="Arial" panose="020B0604020202020204" pitchFamily="34" charset="0"/>
                  <a:cs typeface="Arial" panose="020B0604020202020204" pitchFamily="34" charset="0"/>
                </a:rPr>
                <a:t> 15</a:t>
              </a:r>
            </a:p>
          </p:txBody>
        </p:sp>
        <p:sp>
          <p:nvSpPr>
            <p:cNvPr id="277" name="Text Box 77">
              <a:extLst>
                <a:ext uri="{FF2B5EF4-FFF2-40B4-BE49-F238E27FC236}">
                  <a16:creationId xmlns:a16="http://schemas.microsoft.com/office/drawing/2014/main" id="{3548974D-B89B-A84D-6F48-82371C2C0BA1}"/>
                </a:ext>
              </a:extLst>
            </p:cNvPr>
            <p:cNvSpPr txBox="1">
              <a:spLocks noChangeArrowheads="1"/>
            </p:cNvSpPr>
            <p:nvPr/>
          </p:nvSpPr>
          <p:spPr bwMode="auto">
            <a:xfrm>
              <a:off x="5300960" y="3595078"/>
              <a:ext cx="685677" cy="1692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100" b="1" dirty="0">
                  <a:solidFill>
                    <a:srgbClr val="C00000"/>
                  </a:solidFill>
                  <a:latin typeface="Arial" panose="020B0604020202020204" pitchFamily="34" charset="0"/>
                  <a:cs typeface="Arial" panose="020B0604020202020204" pitchFamily="34" charset="0"/>
                </a:rPr>
                <a:t>10/</a:t>
              </a:r>
              <a:r>
                <a:rPr lang="en-US" altLang="en-US" sz="1100" dirty="0">
                  <a:latin typeface="Arial" panose="020B0604020202020204" pitchFamily="34" charset="0"/>
                  <a:cs typeface="Arial" panose="020B0604020202020204" pitchFamily="34" charset="0"/>
                </a:rPr>
                <a:t>10</a:t>
              </a:r>
            </a:p>
          </p:txBody>
        </p:sp>
        <p:sp>
          <p:nvSpPr>
            <p:cNvPr id="278" name="Text Box 78">
              <a:extLst>
                <a:ext uri="{FF2B5EF4-FFF2-40B4-BE49-F238E27FC236}">
                  <a16:creationId xmlns:a16="http://schemas.microsoft.com/office/drawing/2014/main" id="{2F363529-5D7A-D620-F2C6-BC1F996F5932}"/>
                </a:ext>
              </a:extLst>
            </p:cNvPr>
            <p:cNvSpPr txBox="1">
              <a:spLocks noChangeArrowheads="1"/>
            </p:cNvSpPr>
            <p:nvPr/>
          </p:nvSpPr>
          <p:spPr bwMode="auto">
            <a:xfrm>
              <a:off x="7486213" y="4352895"/>
              <a:ext cx="469223" cy="1692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100" b="1" dirty="0">
                  <a:solidFill>
                    <a:srgbClr val="C00000"/>
                  </a:solidFill>
                  <a:latin typeface="Arial" panose="020B0604020202020204" pitchFamily="34" charset="0"/>
                  <a:cs typeface="Arial" panose="020B0604020202020204" pitchFamily="34" charset="0"/>
                </a:rPr>
                <a:t> 8</a:t>
              </a:r>
              <a:r>
                <a:rPr lang="en-US" altLang="en-US" sz="1100" dirty="0">
                  <a:latin typeface="Arial" panose="020B0604020202020204" pitchFamily="34" charset="0"/>
                  <a:cs typeface="Arial" panose="020B0604020202020204" pitchFamily="34" charset="0"/>
                </a:rPr>
                <a:t>/8</a:t>
              </a:r>
            </a:p>
          </p:txBody>
        </p:sp>
        <p:sp>
          <p:nvSpPr>
            <p:cNvPr id="281" name="Text Box 79">
              <a:extLst>
                <a:ext uri="{FF2B5EF4-FFF2-40B4-BE49-F238E27FC236}">
                  <a16:creationId xmlns:a16="http://schemas.microsoft.com/office/drawing/2014/main" id="{991118D6-2EAC-FD72-B6DA-C330BD835B3B}"/>
                </a:ext>
              </a:extLst>
            </p:cNvPr>
            <p:cNvSpPr txBox="1">
              <a:spLocks noChangeArrowheads="1"/>
            </p:cNvSpPr>
            <p:nvPr/>
          </p:nvSpPr>
          <p:spPr bwMode="auto">
            <a:xfrm>
              <a:off x="7425727" y="3622107"/>
              <a:ext cx="624271" cy="1692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100" dirty="0">
                  <a:latin typeface="Arial" panose="020B0604020202020204" pitchFamily="34" charset="0"/>
                  <a:cs typeface="Arial" panose="020B0604020202020204" pitchFamily="34" charset="0"/>
                </a:rPr>
                <a:t>15</a:t>
              </a:r>
            </a:p>
          </p:txBody>
        </p:sp>
        <p:sp>
          <p:nvSpPr>
            <p:cNvPr id="282" name="Text Box 80">
              <a:extLst>
                <a:ext uri="{FF2B5EF4-FFF2-40B4-BE49-F238E27FC236}">
                  <a16:creationId xmlns:a16="http://schemas.microsoft.com/office/drawing/2014/main" id="{82B56BE5-13FD-E00A-477F-9A5816EBF111}"/>
                </a:ext>
              </a:extLst>
            </p:cNvPr>
            <p:cNvSpPr txBox="1">
              <a:spLocks noChangeArrowheads="1"/>
            </p:cNvSpPr>
            <p:nvPr/>
          </p:nvSpPr>
          <p:spPr bwMode="auto">
            <a:xfrm>
              <a:off x="7444248" y="2939710"/>
              <a:ext cx="403767" cy="1692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900" b="1" dirty="0">
                  <a:solidFill>
                    <a:srgbClr val="C00000"/>
                  </a:solidFill>
                  <a:latin typeface="Arial" panose="020B0604020202020204" pitchFamily="34" charset="0"/>
                  <a:cs typeface="Arial" panose="020B0604020202020204" pitchFamily="34" charset="0"/>
                </a:rPr>
                <a:t> </a:t>
              </a:r>
              <a:r>
                <a:rPr lang="en-US" altLang="en-US" sz="1100" b="1" dirty="0">
                  <a:solidFill>
                    <a:srgbClr val="C00000"/>
                  </a:solidFill>
                  <a:latin typeface="Arial" panose="020B0604020202020204" pitchFamily="34" charset="0"/>
                  <a:cs typeface="Arial" panose="020B0604020202020204" pitchFamily="34" charset="0"/>
                </a:rPr>
                <a:t>6/</a:t>
              </a:r>
              <a:r>
                <a:rPr lang="en-US" altLang="en-US" sz="1100" dirty="0">
                  <a:latin typeface="Arial" panose="020B0604020202020204" pitchFamily="34" charset="0"/>
                  <a:cs typeface="Arial" panose="020B0604020202020204" pitchFamily="34" charset="0"/>
                </a:rPr>
                <a:t>9</a:t>
              </a:r>
            </a:p>
          </p:txBody>
        </p:sp>
        <p:sp>
          <p:nvSpPr>
            <p:cNvPr id="283" name="Text Box 81">
              <a:extLst>
                <a:ext uri="{FF2B5EF4-FFF2-40B4-BE49-F238E27FC236}">
                  <a16:creationId xmlns:a16="http://schemas.microsoft.com/office/drawing/2014/main" id="{B5FFECB7-6469-B6A5-0D06-B919486BFE49}"/>
                </a:ext>
              </a:extLst>
            </p:cNvPr>
            <p:cNvSpPr txBox="1">
              <a:spLocks noChangeArrowheads="1"/>
            </p:cNvSpPr>
            <p:nvPr/>
          </p:nvSpPr>
          <p:spPr bwMode="auto">
            <a:xfrm>
              <a:off x="7444248" y="5043023"/>
              <a:ext cx="403767" cy="1692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1100" b="1" dirty="0">
                  <a:solidFill>
                    <a:srgbClr val="C00000"/>
                  </a:solidFill>
                  <a:latin typeface="Arial" panose="020B0604020202020204" pitchFamily="34" charset="0"/>
                  <a:cs typeface="Arial" panose="020B0604020202020204" pitchFamily="34" charset="0"/>
                </a:rPr>
                <a:t>1/</a:t>
              </a:r>
              <a:r>
                <a:rPr lang="en-US" altLang="en-US" sz="1100" dirty="0">
                  <a:latin typeface="Arial" panose="020B0604020202020204" pitchFamily="34" charset="0"/>
                  <a:cs typeface="Arial" panose="020B0604020202020204" pitchFamily="34" charset="0"/>
                </a:rPr>
                <a:t>6</a:t>
              </a:r>
            </a:p>
          </p:txBody>
        </p:sp>
        <p:sp>
          <p:nvSpPr>
            <p:cNvPr id="284" name="Text Box 82">
              <a:extLst>
                <a:ext uri="{FF2B5EF4-FFF2-40B4-BE49-F238E27FC236}">
                  <a16:creationId xmlns:a16="http://schemas.microsoft.com/office/drawing/2014/main" id="{02A2B04B-3361-77EB-E797-D45604673E92}"/>
                </a:ext>
              </a:extLst>
            </p:cNvPr>
            <p:cNvSpPr txBox="1">
              <a:spLocks noChangeArrowheads="1"/>
            </p:cNvSpPr>
            <p:nvPr/>
          </p:nvSpPr>
          <p:spPr bwMode="auto">
            <a:xfrm>
              <a:off x="9600403" y="5160001"/>
              <a:ext cx="714975" cy="1692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100" b="1" dirty="0">
                  <a:solidFill>
                    <a:srgbClr val="C00000"/>
                  </a:solidFill>
                  <a:latin typeface="Arial" panose="020B0604020202020204" pitchFamily="34" charset="0"/>
                  <a:cs typeface="Arial" panose="020B0604020202020204" pitchFamily="34" charset="0"/>
                </a:rPr>
                <a:t>10/</a:t>
              </a:r>
              <a:r>
                <a:rPr lang="en-US" altLang="en-US" sz="1100" dirty="0">
                  <a:latin typeface="Arial" panose="020B0604020202020204" pitchFamily="34" charset="0"/>
                  <a:cs typeface="Arial" panose="020B0604020202020204" pitchFamily="34" charset="0"/>
                </a:rPr>
                <a:t>10</a:t>
              </a:r>
            </a:p>
          </p:txBody>
        </p:sp>
        <p:sp>
          <p:nvSpPr>
            <p:cNvPr id="285" name="Text Box 83">
              <a:extLst>
                <a:ext uri="{FF2B5EF4-FFF2-40B4-BE49-F238E27FC236}">
                  <a16:creationId xmlns:a16="http://schemas.microsoft.com/office/drawing/2014/main" id="{89126B8F-F5F3-6DCF-6036-4D2F2AF04E65}"/>
                </a:ext>
              </a:extLst>
            </p:cNvPr>
            <p:cNvSpPr txBox="1">
              <a:spLocks noChangeArrowheads="1"/>
            </p:cNvSpPr>
            <p:nvPr/>
          </p:nvSpPr>
          <p:spPr bwMode="auto">
            <a:xfrm>
              <a:off x="9704822" y="4352895"/>
              <a:ext cx="596075" cy="1692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100" b="1" dirty="0">
                  <a:solidFill>
                    <a:srgbClr val="C00000"/>
                  </a:solidFill>
                  <a:latin typeface="Arial" panose="020B0604020202020204" pitchFamily="34" charset="0"/>
                  <a:cs typeface="Arial" panose="020B0604020202020204" pitchFamily="34" charset="0"/>
                </a:rPr>
                <a:t> 8/</a:t>
              </a:r>
              <a:r>
                <a:rPr lang="en-US" altLang="en-US" sz="1100" dirty="0">
                  <a:latin typeface="Arial" panose="020B0604020202020204" pitchFamily="34" charset="0"/>
                  <a:cs typeface="Arial" panose="020B0604020202020204" pitchFamily="34" charset="0"/>
                </a:rPr>
                <a:t>10</a:t>
              </a:r>
              <a:endParaRPr lang="en-US" altLang="en-US" sz="1000" dirty="0">
                <a:latin typeface="Arial" panose="020B0604020202020204" pitchFamily="34" charset="0"/>
                <a:cs typeface="Arial" panose="020B0604020202020204" pitchFamily="34" charset="0"/>
              </a:endParaRPr>
            </a:p>
          </p:txBody>
        </p:sp>
        <p:sp>
          <p:nvSpPr>
            <p:cNvPr id="286" name="Text Box 84">
              <a:extLst>
                <a:ext uri="{FF2B5EF4-FFF2-40B4-BE49-F238E27FC236}">
                  <a16:creationId xmlns:a16="http://schemas.microsoft.com/office/drawing/2014/main" id="{30148CEF-8211-D424-7090-8DE7C79EB05E}"/>
                </a:ext>
              </a:extLst>
            </p:cNvPr>
            <p:cNvSpPr txBox="1">
              <a:spLocks noChangeArrowheads="1"/>
            </p:cNvSpPr>
            <p:nvPr/>
          </p:nvSpPr>
          <p:spPr bwMode="auto">
            <a:xfrm>
              <a:off x="9703383" y="3588301"/>
              <a:ext cx="689644" cy="1692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100" b="1" dirty="0">
                  <a:solidFill>
                    <a:srgbClr val="C00000"/>
                  </a:solidFill>
                  <a:latin typeface="Arial" panose="020B0604020202020204" pitchFamily="34" charset="0"/>
                  <a:cs typeface="Arial" panose="020B0604020202020204" pitchFamily="34" charset="0"/>
                </a:rPr>
                <a:t>6/</a:t>
              </a:r>
              <a:r>
                <a:rPr lang="en-US" altLang="en-US" sz="1100" dirty="0">
                  <a:latin typeface="Arial" panose="020B0604020202020204" pitchFamily="34" charset="0"/>
                  <a:cs typeface="Arial" panose="020B0604020202020204" pitchFamily="34" charset="0"/>
                </a:rPr>
                <a:t>10</a:t>
              </a:r>
            </a:p>
          </p:txBody>
        </p:sp>
        <p:sp>
          <p:nvSpPr>
            <p:cNvPr id="287" name="Text Box 85">
              <a:extLst>
                <a:ext uri="{FF2B5EF4-FFF2-40B4-BE49-F238E27FC236}">
                  <a16:creationId xmlns:a16="http://schemas.microsoft.com/office/drawing/2014/main" id="{172A0A72-A7AB-43E6-A64D-21D1DE6F4E3C}"/>
                </a:ext>
              </a:extLst>
            </p:cNvPr>
            <p:cNvSpPr txBox="1">
              <a:spLocks noChangeArrowheads="1"/>
            </p:cNvSpPr>
            <p:nvPr/>
          </p:nvSpPr>
          <p:spPr bwMode="auto">
            <a:xfrm>
              <a:off x="8791308" y="3595078"/>
              <a:ext cx="545059" cy="1692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100" dirty="0">
                  <a:latin typeface="Arial" panose="020B0604020202020204" pitchFamily="34" charset="0"/>
                  <a:cs typeface="Arial" panose="020B0604020202020204" pitchFamily="34" charset="0"/>
                </a:rPr>
                <a:t>15</a:t>
              </a:r>
            </a:p>
          </p:txBody>
        </p:sp>
        <p:sp>
          <p:nvSpPr>
            <p:cNvPr id="288" name="Text Box 86">
              <a:extLst>
                <a:ext uri="{FF2B5EF4-FFF2-40B4-BE49-F238E27FC236}">
                  <a16:creationId xmlns:a16="http://schemas.microsoft.com/office/drawing/2014/main" id="{883FD5F6-8F92-2862-5105-8E1E2FB39BB1}"/>
                </a:ext>
              </a:extLst>
            </p:cNvPr>
            <p:cNvSpPr txBox="1">
              <a:spLocks noChangeArrowheads="1"/>
            </p:cNvSpPr>
            <p:nvPr/>
          </p:nvSpPr>
          <p:spPr bwMode="auto">
            <a:xfrm>
              <a:off x="6276229" y="3653451"/>
              <a:ext cx="403767" cy="1692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1100" b="1" dirty="0">
                  <a:solidFill>
                    <a:srgbClr val="C00000"/>
                  </a:solidFill>
                  <a:latin typeface="Arial" panose="020B0604020202020204" pitchFamily="34" charset="0"/>
                  <a:cs typeface="Arial" panose="020B0604020202020204" pitchFamily="34" charset="0"/>
                </a:rPr>
                <a:t>4/</a:t>
              </a:r>
              <a:r>
                <a:rPr lang="en-US" altLang="en-US" sz="1100" dirty="0">
                  <a:latin typeface="Arial" panose="020B0604020202020204" pitchFamily="34" charset="0"/>
                  <a:cs typeface="Arial" panose="020B0604020202020204" pitchFamily="34" charset="0"/>
                </a:rPr>
                <a:t>4</a:t>
              </a:r>
            </a:p>
          </p:txBody>
        </p:sp>
        <p:sp>
          <p:nvSpPr>
            <p:cNvPr id="289" name="Text Box 87">
              <a:extLst>
                <a:ext uri="{FF2B5EF4-FFF2-40B4-BE49-F238E27FC236}">
                  <a16:creationId xmlns:a16="http://schemas.microsoft.com/office/drawing/2014/main" id="{4134AD1C-898F-806F-7EC9-D545D8E888DB}"/>
                </a:ext>
              </a:extLst>
            </p:cNvPr>
            <p:cNvSpPr txBox="1">
              <a:spLocks noChangeArrowheads="1"/>
            </p:cNvSpPr>
            <p:nvPr/>
          </p:nvSpPr>
          <p:spPr bwMode="auto">
            <a:xfrm>
              <a:off x="6268652" y="5012007"/>
              <a:ext cx="403767" cy="1692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1100" dirty="0">
                  <a:latin typeface="Arial" panose="020B0604020202020204" pitchFamily="34" charset="0"/>
                  <a:cs typeface="Arial" panose="020B0604020202020204" pitchFamily="34" charset="0"/>
                </a:rPr>
                <a:t>4</a:t>
              </a:r>
            </a:p>
          </p:txBody>
        </p:sp>
      </p:grpSp>
    </p:spTree>
    <p:extLst>
      <p:ext uri="{BB962C8B-B14F-4D97-AF65-F5344CB8AC3E}">
        <p14:creationId xmlns:p14="http://schemas.microsoft.com/office/powerpoint/2010/main" val="332269538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A9801F-ABCA-B936-812F-A723ACEDC99D}"/>
              </a:ext>
            </a:extLst>
          </p:cNvPr>
          <p:cNvSpPr>
            <a:spLocks noGrp="1"/>
          </p:cNvSpPr>
          <p:nvPr>
            <p:ph type="title"/>
          </p:nvPr>
        </p:nvSpPr>
        <p:spPr/>
        <p:txBody>
          <a:bodyPr/>
          <a:lstStyle/>
          <a:p>
            <a:r>
              <a:rPr lang="en-US" dirty="0"/>
              <a:t>Shift Scheduling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AE987FC-B613-7009-B5AD-70849A6AD3FE}"/>
                  </a:ext>
                </a:extLst>
              </p:cNvPr>
              <p:cNvSpPr>
                <a:spLocks noGrp="1"/>
              </p:cNvSpPr>
              <p:nvPr>
                <p:ph idx="1"/>
              </p:nvPr>
            </p:nvSpPr>
            <p:spPr/>
            <p:txBody>
              <a:bodyPr/>
              <a:lstStyle/>
              <a:p>
                <a:r>
                  <a:rPr lang="en-US" dirty="0"/>
                  <a:t>The manager at a bagel shop needs to staff all shifts during the day.</a:t>
                </a:r>
              </a:p>
              <a:p>
                <a:r>
                  <a:rPr lang="en-US" dirty="0"/>
                  <a:t>We have the following constraints:</a:t>
                </a:r>
              </a:p>
              <a:p>
                <a:pPr lvl="1"/>
                <a:r>
                  <a:rPr lang="en-US" dirty="0"/>
                  <a:t>Shift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𝑖</m:t>
                        </m:r>
                      </m:sub>
                    </m:sSub>
                  </m:oMath>
                </a14:m>
                <a:r>
                  <a:rPr lang="en-US" dirty="0"/>
                  <a:t> must have at least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𝑖</m:t>
                        </m:r>
                      </m:sub>
                    </m:sSub>
                  </m:oMath>
                </a14:m>
                <a:r>
                  <a:rPr lang="en-US" dirty="0"/>
                  <a:t> people assigned to it</a:t>
                </a:r>
              </a:p>
              <a:p>
                <a:pPr lvl="1"/>
                <a:r>
                  <a:rPr lang="en-US" dirty="0"/>
                  <a:t>Each employee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𝑒</m:t>
                        </m:r>
                      </m:e>
                      <m:sub>
                        <m:r>
                          <a:rPr lang="en-US" b="0" i="1" smtClean="0">
                            <a:latin typeface="Cambria Math" panose="02040503050406030204" pitchFamily="18" charset="0"/>
                          </a:rPr>
                          <m:t>𝑖</m:t>
                        </m:r>
                      </m:sub>
                    </m:sSub>
                  </m:oMath>
                </a14:m>
                <a:r>
                  <a:rPr lang="en-US" dirty="0"/>
                  <a:t> has a list of shifts that they are able to work</a:t>
                </a:r>
              </a:p>
              <a:p>
                <a:pPr lvl="1"/>
                <a:r>
                  <a:rPr lang="en-US" dirty="0"/>
                  <a:t>No employee is able to work more than </a:t>
                </a:r>
                <a14:m>
                  <m:oMath xmlns:m="http://schemas.openxmlformats.org/officeDocument/2006/math">
                    <m:r>
                      <a:rPr lang="en-US" b="0" i="1" smtClean="0">
                        <a:latin typeface="Cambria Math" panose="02040503050406030204" pitchFamily="18" charset="0"/>
                      </a:rPr>
                      <m:t>𝑥</m:t>
                    </m:r>
                  </m:oMath>
                </a14:m>
                <a:r>
                  <a:rPr lang="en-US" dirty="0"/>
                  <a:t> shifts</a:t>
                </a:r>
              </a:p>
              <a:p>
                <a:pPr lvl="1"/>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9AE987FC-B613-7009-B5AD-70849A6AD3FE}"/>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815C74E1-6FCB-A5A0-A314-1B26559B5CA9}"/>
              </a:ext>
            </a:extLst>
          </p:cNvPr>
          <p:cNvSpPr txBox="1"/>
          <p:nvPr/>
        </p:nvSpPr>
        <p:spPr>
          <a:xfrm>
            <a:off x="574156" y="4680684"/>
            <a:ext cx="1796903" cy="1631216"/>
          </a:xfrm>
          <a:prstGeom prst="rect">
            <a:avLst/>
          </a:prstGeom>
          <a:noFill/>
        </p:spPr>
        <p:txBody>
          <a:bodyPr wrap="square" rtlCol="0">
            <a:spAutoFit/>
          </a:bodyPr>
          <a:lstStyle/>
          <a:p>
            <a:r>
              <a:rPr lang="en-US" sz="2000" dirty="0"/>
              <a:t>Shifts:</a:t>
            </a:r>
          </a:p>
          <a:p>
            <a:pPr marL="457200" indent="-457200">
              <a:buFont typeface="+mj-lt"/>
              <a:buAutoNum type="arabicPeriod"/>
            </a:pPr>
            <a:r>
              <a:rPr lang="en-US" sz="2000" dirty="0"/>
              <a:t>6am, 2</a:t>
            </a:r>
          </a:p>
          <a:p>
            <a:pPr marL="457200" indent="-457200">
              <a:buFont typeface="+mj-lt"/>
              <a:buAutoNum type="arabicPeriod"/>
            </a:pPr>
            <a:r>
              <a:rPr lang="en-US" sz="2000" dirty="0"/>
              <a:t>9am, 2</a:t>
            </a:r>
          </a:p>
          <a:p>
            <a:pPr marL="457200" indent="-457200">
              <a:buFont typeface="+mj-lt"/>
              <a:buAutoNum type="arabicPeriod"/>
            </a:pPr>
            <a:r>
              <a:rPr lang="en-US" sz="2000" dirty="0"/>
              <a:t>12pm, 1</a:t>
            </a:r>
          </a:p>
          <a:p>
            <a:pPr marL="457200" indent="-457200">
              <a:buFont typeface="+mj-lt"/>
              <a:buAutoNum type="arabicPeriod"/>
            </a:pPr>
            <a:r>
              <a:rPr lang="en-US" sz="2000" dirty="0"/>
              <a:t>3pm, 1</a:t>
            </a:r>
          </a:p>
        </p:txBody>
      </p:sp>
      <p:sp>
        <p:nvSpPr>
          <p:cNvPr id="11" name="TextBox 10">
            <a:extLst>
              <a:ext uri="{FF2B5EF4-FFF2-40B4-BE49-F238E27FC236}">
                <a16:creationId xmlns:a16="http://schemas.microsoft.com/office/drawing/2014/main" id="{582BC97A-945B-0C85-8866-514330B51E16}"/>
              </a:ext>
            </a:extLst>
          </p:cNvPr>
          <p:cNvSpPr txBox="1"/>
          <p:nvPr/>
        </p:nvSpPr>
        <p:spPr>
          <a:xfrm>
            <a:off x="2573080" y="4680684"/>
            <a:ext cx="2711302" cy="1323439"/>
          </a:xfrm>
          <a:prstGeom prst="rect">
            <a:avLst/>
          </a:prstGeom>
          <a:noFill/>
        </p:spPr>
        <p:txBody>
          <a:bodyPr wrap="square" rtlCol="0">
            <a:spAutoFit/>
          </a:bodyPr>
          <a:lstStyle/>
          <a:p>
            <a:r>
              <a:rPr lang="en-US" sz="2000" dirty="0"/>
              <a:t>Employees:</a:t>
            </a:r>
          </a:p>
          <a:p>
            <a:pPr marL="342900" indent="-342900">
              <a:buFont typeface="+mj-lt"/>
              <a:buAutoNum type="arabicPeriod"/>
            </a:pPr>
            <a:r>
              <a:rPr lang="en-US" sz="2000" dirty="0"/>
              <a:t>6am, 9am, 3pm</a:t>
            </a:r>
          </a:p>
          <a:p>
            <a:pPr marL="342900" indent="-342900">
              <a:buFont typeface="+mj-lt"/>
              <a:buAutoNum type="arabicPeriod"/>
            </a:pPr>
            <a:r>
              <a:rPr lang="en-US" sz="2000" dirty="0"/>
              <a:t>6am, 9am, 12pm</a:t>
            </a:r>
          </a:p>
          <a:p>
            <a:pPr marL="342900" indent="-342900">
              <a:buFont typeface="+mj-lt"/>
              <a:buAutoNum type="arabicPeriod"/>
            </a:pPr>
            <a:r>
              <a:rPr lang="en-US" sz="2000" dirty="0"/>
              <a:t>6am, 3pm</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FDD67C40-8721-D210-D288-0FF16764EB5F}"/>
                  </a:ext>
                </a:extLst>
              </p:cNvPr>
              <p:cNvSpPr txBox="1"/>
              <p:nvPr/>
            </p:nvSpPr>
            <p:spPr>
              <a:xfrm>
                <a:off x="4986671" y="5050016"/>
                <a:ext cx="946298"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𝑥</m:t>
                      </m:r>
                      <m:r>
                        <a:rPr lang="en-US" sz="2000" b="0" i="1" smtClean="0">
                          <a:latin typeface="Cambria Math" panose="02040503050406030204" pitchFamily="18" charset="0"/>
                        </a:rPr>
                        <m:t>=2</m:t>
                      </m:r>
                    </m:oMath>
                  </m:oMathPara>
                </a14:m>
                <a:endParaRPr lang="en-US" sz="2000" dirty="0"/>
              </a:p>
            </p:txBody>
          </p:sp>
        </mc:Choice>
        <mc:Fallback xmlns="">
          <p:sp>
            <p:nvSpPr>
              <p:cNvPr id="12" name="TextBox 11">
                <a:extLst>
                  <a:ext uri="{FF2B5EF4-FFF2-40B4-BE49-F238E27FC236}">
                    <a16:creationId xmlns:a16="http://schemas.microsoft.com/office/drawing/2014/main" id="{FDD67C40-8721-D210-D288-0FF16764EB5F}"/>
                  </a:ext>
                </a:extLst>
              </p:cNvPr>
              <p:cNvSpPr txBox="1">
                <a:spLocks noRot="1" noChangeAspect="1" noMove="1" noResize="1" noEditPoints="1" noAdjustHandles="1" noChangeArrowheads="1" noChangeShapeType="1" noTextEdit="1"/>
              </p:cNvSpPr>
              <p:nvPr/>
            </p:nvSpPr>
            <p:spPr>
              <a:xfrm>
                <a:off x="4986671" y="5050016"/>
                <a:ext cx="946298" cy="400110"/>
              </a:xfrm>
              <a:prstGeom prst="rect">
                <a:avLst/>
              </a:prstGeom>
              <a:blipFill>
                <a:blip r:embed="rId3"/>
                <a:stretch>
                  <a:fillRect/>
                </a:stretch>
              </a:blipFill>
            </p:spPr>
            <p:txBody>
              <a:bodyPr/>
              <a:lstStyle/>
              <a:p>
                <a:r>
                  <a:rPr lang="en-US">
                    <a:noFill/>
                  </a:rPr>
                  <a:t> </a:t>
                </a:r>
              </a:p>
            </p:txBody>
          </p:sp>
        </mc:Fallback>
      </mc:AlternateContent>
      <p:sp>
        <p:nvSpPr>
          <p:cNvPr id="13" name="TextBox 12">
            <a:extLst>
              <a:ext uri="{FF2B5EF4-FFF2-40B4-BE49-F238E27FC236}">
                <a16:creationId xmlns:a16="http://schemas.microsoft.com/office/drawing/2014/main" id="{56F14216-29EB-8DA9-95A9-6C8727C1222D}"/>
              </a:ext>
            </a:extLst>
          </p:cNvPr>
          <p:cNvSpPr txBox="1"/>
          <p:nvPr/>
        </p:nvSpPr>
        <p:spPr>
          <a:xfrm>
            <a:off x="7368363" y="4912242"/>
            <a:ext cx="3796360" cy="1200329"/>
          </a:xfrm>
          <a:prstGeom prst="rect">
            <a:avLst/>
          </a:prstGeom>
          <a:noFill/>
        </p:spPr>
        <p:txBody>
          <a:bodyPr wrap="none" rtlCol="0">
            <a:spAutoFit/>
          </a:bodyPr>
          <a:lstStyle/>
          <a:p>
            <a:r>
              <a:rPr lang="en-US" dirty="0"/>
              <a:t>Solution:</a:t>
            </a:r>
          </a:p>
          <a:p>
            <a:pPr marL="285750" indent="-285750">
              <a:buFont typeface="Arial" panose="020B0604020202020204" pitchFamily="34" charset="0"/>
              <a:buChar char="•"/>
            </a:pPr>
            <a:r>
              <a:rPr lang="en-US" dirty="0"/>
              <a:t>Employee 1 assigned to 6am, 9am</a:t>
            </a:r>
          </a:p>
          <a:p>
            <a:pPr marL="285750" indent="-285750">
              <a:buFont typeface="Arial" panose="020B0604020202020204" pitchFamily="34" charset="0"/>
              <a:buChar char="•"/>
            </a:pPr>
            <a:r>
              <a:rPr lang="en-US" dirty="0"/>
              <a:t>Employee 2 assigned to 9am, 12pm</a:t>
            </a:r>
          </a:p>
          <a:p>
            <a:pPr marL="285750" indent="-285750">
              <a:buFont typeface="Arial" panose="020B0604020202020204" pitchFamily="34" charset="0"/>
              <a:buChar char="•"/>
            </a:pPr>
            <a:r>
              <a:rPr lang="en-US" dirty="0"/>
              <a:t>Employee 3 assigned to 6am, 3pm</a:t>
            </a:r>
          </a:p>
        </p:txBody>
      </p:sp>
    </p:spTree>
    <p:extLst>
      <p:ext uri="{BB962C8B-B14F-4D97-AF65-F5344CB8AC3E}">
        <p14:creationId xmlns:p14="http://schemas.microsoft.com/office/powerpoint/2010/main" val="353768444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235363-1927-9FEA-56AA-1A522D7EF009}"/>
              </a:ext>
            </a:extLst>
          </p:cNvPr>
          <p:cNvSpPr>
            <a:spLocks noGrp="1"/>
          </p:cNvSpPr>
          <p:nvPr>
            <p:ph type="title"/>
          </p:nvPr>
        </p:nvSpPr>
        <p:spPr/>
        <p:txBody>
          <a:bodyPr/>
          <a:lstStyle/>
          <a:p>
            <a:r>
              <a:rPr lang="en-US" dirty="0"/>
              <a:t>Shift Scheduling problem</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A7BC0CA-256E-8E4C-C98A-A0EA9FA500E1}"/>
                  </a:ext>
                </a:extLst>
              </p:cNvPr>
              <p:cNvSpPr>
                <a:spLocks noGrp="1"/>
              </p:cNvSpPr>
              <p:nvPr>
                <p:ph idx="1"/>
              </p:nvPr>
            </p:nvSpPr>
            <p:spPr/>
            <p:txBody>
              <a:bodyPr/>
              <a:lstStyle/>
              <a:p>
                <a:pPr marL="0" indent="0">
                  <a:buNone/>
                </a:pPr>
                <a:r>
                  <a:rPr lang="en-US" altLang="en-US" sz="2800" b="1" dirty="0">
                    <a:solidFill>
                      <a:srgbClr val="0066CC"/>
                    </a:solidFill>
                  </a:rPr>
                  <a:t>Given:</a:t>
                </a:r>
                <a:r>
                  <a:rPr lang="en-US" altLang="en-US" sz="2800" dirty="0"/>
                  <a:t> </a:t>
                </a:r>
                <a:r>
                  <a:rPr lang="en-US" altLang="en-US" dirty="0"/>
                  <a:t>A list of </a:t>
                </a:r>
                <a14:m>
                  <m:oMath xmlns:m="http://schemas.openxmlformats.org/officeDocument/2006/math">
                    <m:r>
                      <a:rPr lang="en-US" altLang="en-US" b="0" i="1" smtClean="0">
                        <a:latin typeface="Cambria Math" panose="02040503050406030204" pitchFamily="18" charset="0"/>
                      </a:rPr>
                      <m:t>𝑛</m:t>
                    </m:r>
                  </m:oMath>
                </a14:m>
                <a:r>
                  <a:rPr lang="en-US" altLang="en-US" dirty="0"/>
                  <a:t> shifts </a:t>
                </a:r>
                <a14:m>
                  <m:oMath xmlns:m="http://schemas.openxmlformats.org/officeDocument/2006/math">
                    <m:sSub>
                      <m:sSubPr>
                        <m:ctrlPr>
                          <a:rPr lang="en-US" altLang="en-US" b="0" i="1" smtClean="0">
                            <a:latin typeface="Cambria Math" panose="02040503050406030204" pitchFamily="18" charset="0"/>
                          </a:rPr>
                        </m:ctrlPr>
                      </m:sSubPr>
                      <m:e>
                        <m:r>
                          <a:rPr lang="en-US" altLang="en-US" b="0" i="1" smtClean="0">
                            <a:latin typeface="Cambria Math" panose="02040503050406030204" pitchFamily="18" charset="0"/>
                          </a:rPr>
                          <m:t>𝑠</m:t>
                        </m:r>
                      </m:e>
                      <m:sub>
                        <m:r>
                          <a:rPr lang="en-US" altLang="en-US" b="0" i="1" smtClean="0">
                            <a:latin typeface="Cambria Math" panose="02040503050406030204" pitchFamily="18" charset="0"/>
                          </a:rPr>
                          <m:t>1</m:t>
                        </m:r>
                      </m:sub>
                    </m:sSub>
                    <m:r>
                      <a:rPr lang="en-US" altLang="en-US" b="0" i="1" smtClean="0">
                        <a:latin typeface="Cambria Math" panose="02040503050406030204" pitchFamily="18" charset="0"/>
                      </a:rPr>
                      <m:t>,…</m:t>
                    </m:r>
                    <m:sSub>
                      <m:sSubPr>
                        <m:ctrlPr>
                          <a:rPr lang="en-US" altLang="en-US" b="0" i="1" smtClean="0">
                            <a:latin typeface="Cambria Math" panose="02040503050406030204" pitchFamily="18" charset="0"/>
                          </a:rPr>
                        </m:ctrlPr>
                      </m:sSubPr>
                      <m:e>
                        <m:r>
                          <a:rPr lang="en-US" altLang="en-US" b="0" i="1" smtClean="0">
                            <a:latin typeface="Cambria Math" panose="02040503050406030204" pitchFamily="18" charset="0"/>
                          </a:rPr>
                          <m:t>𝑠</m:t>
                        </m:r>
                      </m:e>
                      <m:sub>
                        <m:r>
                          <a:rPr lang="en-US" altLang="en-US" b="0" i="1" smtClean="0">
                            <a:latin typeface="Cambria Math" panose="02040503050406030204" pitchFamily="18" charset="0"/>
                          </a:rPr>
                          <m:t>𝑛</m:t>
                        </m:r>
                      </m:sub>
                    </m:sSub>
                  </m:oMath>
                </a14:m>
                <a:r>
                  <a:rPr lang="en-US" altLang="en-US" sz="2800" dirty="0"/>
                  <a:t>, the number of employees needed for each shift </a:t>
                </a:r>
                <a14:m>
                  <m:oMath xmlns:m="http://schemas.openxmlformats.org/officeDocument/2006/math">
                    <m:sSub>
                      <m:sSubPr>
                        <m:ctrlPr>
                          <a:rPr lang="en-US" altLang="en-US" sz="2800" b="0" i="1" smtClean="0">
                            <a:latin typeface="Cambria Math" panose="02040503050406030204" pitchFamily="18" charset="0"/>
                          </a:rPr>
                        </m:ctrlPr>
                      </m:sSubPr>
                      <m:e>
                        <m:r>
                          <a:rPr lang="en-US" altLang="en-US" sz="2800" b="0" i="1" smtClean="0">
                            <a:latin typeface="Cambria Math" panose="02040503050406030204" pitchFamily="18" charset="0"/>
                          </a:rPr>
                          <m:t>𝑝</m:t>
                        </m:r>
                      </m:e>
                      <m:sub>
                        <m:r>
                          <a:rPr lang="en-US" altLang="en-US" sz="2800" b="0" i="1" smtClean="0">
                            <a:latin typeface="Cambria Math" panose="02040503050406030204" pitchFamily="18" charset="0"/>
                          </a:rPr>
                          <m:t>1</m:t>
                        </m:r>
                      </m:sub>
                    </m:sSub>
                    <m:r>
                      <a:rPr lang="en-US" altLang="en-US" sz="2800" b="0" i="1" smtClean="0">
                        <a:latin typeface="Cambria Math" panose="02040503050406030204" pitchFamily="18" charset="0"/>
                      </a:rPr>
                      <m:t>,…</m:t>
                    </m:r>
                    <m:sSub>
                      <m:sSubPr>
                        <m:ctrlPr>
                          <a:rPr lang="en-US" altLang="en-US" sz="2800" b="0" i="1" smtClean="0">
                            <a:latin typeface="Cambria Math" panose="02040503050406030204" pitchFamily="18" charset="0"/>
                          </a:rPr>
                        </m:ctrlPr>
                      </m:sSubPr>
                      <m:e>
                        <m:r>
                          <a:rPr lang="en-US" altLang="en-US" sz="2800" b="0" i="1" smtClean="0">
                            <a:latin typeface="Cambria Math" panose="02040503050406030204" pitchFamily="18" charset="0"/>
                          </a:rPr>
                          <m:t>𝑝</m:t>
                        </m:r>
                      </m:e>
                      <m:sub>
                        <m:r>
                          <a:rPr lang="en-US" altLang="en-US" sz="2800" b="0" i="1" smtClean="0">
                            <a:latin typeface="Cambria Math" panose="02040503050406030204" pitchFamily="18" charset="0"/>
                          </a:rPr>
                          <m:t>𝑛</m:t>
                        </m:r>
                      </m:sub>
                    </m:sSub>
                  </m:oMath>
                </a14:m>
                <a:r>
                  <a:rPr lang="en-US" altLang="en-US" sz="2800" dirty="0"/>
                  <a:t>, the availability of </a:t>
                </a:r>
                <a14:m>
                  <m:oMath xmlns:m="http://schemas.openxmlformats.org/officeDocument/2006/math">
                    <m:r>
                      <a:rPr lang="en-US" altLang="en-US" sz="2800" b="0" i="1" smtClean="0">
                        <a:latin typeface="Cambria Math" panose="02040503050406030204" pitchFamily="18" charset="0"/>
                      </a:rPr>
                      <m:t>𝑚</m:t>
                    </m:r>
                  </m:oMath>
                </a14:m>
                <a:r>
                  <a:rPr lang="en-US" altLang="en-US" sz="2800" dirty="0"/>
                  <a:t> employees </a:t>
                </a:r>
                <a14:m>
                  <m:oMath xmlns:m="http://schemas.openxmlformats.org/officeDocument/2006/math">
                    <m:sSub>
                      <m:sSubPr>
                        <m:ctrlPr>
                          <a:rPr lang="en-US" altLang="en-US" sz="2800" b="0" i="1" smtClean="0">
                            <a:latin typeface="Cambria Math" panose="02040503050406030204" pitchFamily="18" charset="0"/>
                          </a:rPr>
                        </m:ctrlPr>
                      </m:sSubPr>
                      <m:e>
                        <m:r>
                          <a:rPr lang="en-US" altLang="en-US" sz="2800" b="0" i="1" smtClean="0">
                            <a:latin typeface="Cambria Math" panose="02040503050406030204" pitchFamily="18" charset="0"/>
                          </a:rPr>
                          <m:t>𝑒</m:t>
                        </m:r>
                      </m:e>
                      <m:sub>
                        <m:r>
                          <a:rPr lang="en-US" altLang="en-US" sz="2800" b="0" i="1" smtClean="0">
                            <a:latin typeface="Cambria Math" panose="02040503050406030204" pitchFamily="18" charset="0"/>
                          </a:rPr>
                          <m:t>1</m:t>
                        </m:r>
                      </m:sub>
                    </m:sSub>
                    <m:r>
                      <a:rPr lang="en-US" altLang="en-US" sz="2800" b="0" i="1" smtClean="0">
                        <a:latin typeface="Cambria Math" panose="02040503050406030204" pitchFamily="18" charset="0"/>
                      </a:rPr>
                      <m:t>,…,</m:t>
                    </m:r>
                    <m:sSub>
                      <m:sSubPr>
                        <m:ctrlPr>
                          <a:rPr lang="en-US" altLang="en-US" sz="2800" b="0" i="1" smtClean="0">
                            <a:latin typeface="Cambria Math" panose="02040503050406030204" pitchFamily="18" charset="0"/>
                          </a:rPr>
                        </m:ctrlPr>
                      </m:sSubPr>
                      <m:e>
                        <m:r>
                          <a:rPr lang="en-US" altLang="en-US" sz="2800" b="0" i="1" smtClean="0">
                            <a:latin typeface="Cambria Math" panose="02040503050406030204" pitchFamily="18" charset="0"/>
                          </a:rPr>
                          <m:t>𝑒</m:t>
                        </m:r>
                      </m:e>
                      <m:sub>
                        <m:r>
                          <a:rPr lang="en-US" altLang="en-US" sz="2800" b="0" i="1" smtClean="0">
                            <a:latin typeface="Cambria Math" panose="02040503050406030204" pitchFamily="18" charset="0"/>
                          </a:rPr>
                          <m:t>𝑚</m:t>
                        </m:r>
                      </m:sub>
                    </m:sSub>
                  </m:oMath>
                </a14:m>
                <a:r>
                  <a:rPr lang="en-US" altLang="en-US" sz="2800" dirty="0"/>
                  <a:t>, and a number </a:t>
                </a:r>
                <a14:m>
                  <m:oMath xmlns:m="http://schemas.openxmlformats.org/officeDocument/2006/math">
                    <m:r>
                      <a:rPr lang="en-US" altLang="en-US" sz="2800" b="0" i="1" smtClean="0">
                        <a:latin typeface="Cambria Math" panose="02040503050406030204" pitchFamily="18" charset="0"/>
                      </a:rPr>
                      <m:t>𝑥</m:t>
                    </m:r>
                  </m:oMath>
                </a14:m>
                <a:endParaRPr lang="en-US" altLang="en-US" sz="2800" dirty="0"/>
              </a:p>
              <a:p>
                <a:pPr marL="0" indent="0">
                  <a:buNone/>
                </a:pPr>
                <a:r>
                  <a:rPr lang="en-US" altLang="en-US" sz="2800" b="1" dirty="0">
                    <a:solidFill>
                      <a:srgbClr val="006600"/>
                    </a:solidFill>
                  </a:rPr>
                  <a:t>Find:</a:t>
                </a:r>
                <a:r>
                  <a:rPr lang="en-US" altLang="en-US" sz="2800" dirty="0"/>
                  <a:t> whether it is possible to assign employees to their available shifts such that all shifts are full-staffed and no employee is assigned to more than </a:t>
                </a:r>
                <a14:m>
                  <m:oMath xmlns:m="http://schemas.openxmlformats.org/officeDocument/2006/math">
                    <m:r>
                      <a:rPr lang="en-US" altLang="en-US" sz="2800" b="0" i="1" smtClean="0">
                        <a:latin typeface="Cambria Math" panose="02040503050406030204" pitchFamily="18" charset="0"/>
                      </a:rPr>
                      <m:t>𝑥</m:t>
                    </m:r>
                  </m:oMath>
                </a14:m>
                <a:r>
                  <a:rPr lang="en-US" altLang="en-US" sz="2800" dirty="0">
                    <a:solidFill>
                      <a:schemeClr val="tx1"/>
                    </a:solidFill>
                  </a:rPr>
                  <a:t> shifts</a:t>
                </a:r>
              </a:p>
            </p:txBody>
          </p:sp>
        </mc:Choice>
        <mc:Fallback xmlns="">
          <p:sp>
            <p:nvSpPr>
              <p:cNvPr id="3" name="Content Placeholder 2">
                <a:extLst>
                  <a:ext uri="{FF2B5EF4-FFF2-40B4-BE49-F238E27FC236}">
                    <a16:creationId xmlns:a16="http://schemas.microsoft.com/office/drawing/2014/main" id="{AA7BC0CA-256E-8E4C-C98A-A0EA9FA500E1}"/>
                  </a:ext>
                </a:extLst>
              </p:cNvPr>
              <p:cNvSpPr>
                <a:spLocks noGrp="1" noRot="1" noChangeAspect="1" noMove="1" noResize="1" noEditPoints="1" noAdjustHandles="1" noChangeArrowheads="1" noChangeShapeType="1" noTextEdit="1"/>
              </p:cNvSpPr>
              <p:nvPr>
                <p:ph idx="1"/>
              </p:nvPr>
            </p:nvSpPr>
            <p:spPr>
              <a:blipFill>
                <a:blip r:embed="rId2"/>
                <a:stretch>
                  <a:fillRect l="-1217" t="-2241" r="-986"/>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615D9367-7E05-EA14-87B2-BE502924C6AD}"/>
              </a:ext>
            </a:extLst>
          </p:cNvPr>
          <p:cNvSpPr txBox="1"/>
          <p:nvPr/>
        </p:nvSpPr>
        <p:spPr>
          <a:xfrm>
            <a:off x="574156" y="4680684"/>
            <a:ext cx="1796903" cy="1631216"/>
          </a:xfrm>
          <a:prstGeom prst="rect">
            <a:avLst/>
          </a:prstGeom>
          <a:noFill/>
        </p:spPr>
        <p:txBody>
          <a:bodyPr wrap="square" rtlCol="0">
            <a:spAutoFit/>
          </a:bodyPr>
          <a:lstStyle/>
          <a:p>
            <a:r>
              <a:rPr lang="en-US" sz="2000" dirty="0"/>
              <a:t>Shifts:</a:t>
            </a:r>
          </a:p>
          <a:p>
            <a:pPr marL="457200" indent="-457200">
              <a:buFont typeface="+mj-lt"/>
              <a:buAutoNum type="arabicPeriod"/>
            </a:pPr>
            <a:r>
              <a:rPr lang="en-US" sz="2000" dirty="0"/>
              <a:t>6am, 2</a:t>
            </a:r>
          </a:p>
          <a:p>
            <a:pPr marL="457200" indent="-457200">
              <a:buFont typeface="+mj-lt"/>
              <a:buAutoNum type="arabicPeriod"/>
            </a:pPr>
            <a:r>
              <a:rPr lang="en-US" sz="2000" dirty="0"/>
              <a:t>9am, 2</a:t>
            </a:r>
          </a:p>
          <a:p>
            <a:pPr marL="457200" indent="-457200">
              <a:buFont typeface="+mj-lt"/>
              <a:buAutoNum type="arabicPeriod"/>
            </a:pPr>
            <a:r>
              <a:rPr lang="en-US" sz="2000" dirty="0"/>
              <a:t>12pm, 1</a:t>
            </a:r>
          </a:p>
          <a:p>
            <a:pPr marL="457200" indent="-457200">
              <a:buFont typeface="+mj-lt"/>
              <a:buAutoNum type="arabicPeriod"/>
            </a:pPr>
            <a:r>
              <a:rPr lang="en-US" sz="2000" dirty="0"/>
              <a:t>3pm, 1</a:t>
            </a:r>
          </a:p>
        </p:txBody>
      </p:sp>
      <p:sp>
        <p:nvSpPr>
          <p:cNvPr id="5" name="TextBox 4">
            <a:extLst>
              <a:ext uri="{FF2B5EF4-FFF2-40B4-BE49-F238E27FC236}">
                <a16:creationId xmlns:a16="http://schemas.microsoft.com/office/drawing/2014/main" id="{C1657280-86A5-0D16-6C72-A3107D58E8B0}"/>
              </a:ext>
            </a:extLst>
          </p:cNvPr>
          <p:cNvSpPr txBox="1"/>
          <p:nvPr/>
        </p:nvSpPr>
        <p:spPr>
          <a:xfrm>
            <a:off x="2573080" y="4680684"/>
            <a:ext cx="2711302" cy="1323439"/>
          </a:xfrm>
          <a:prstGeom prst="rect">
            <a:avLst/>
          </a:prstGeom>
          <a:noFill/>
        </p:spPr>
        <p:txBody>
          <a:bodyPr wrap="square" rtlCol="0">
            <a:spAutoFit/>
          </a:bodyPr>
          <a:lstStyle/>
          <a:p>
            <a:r>
              <a:rPr lang="en-US" sz="2000" dirty="0"/>
              <a:t>Employees:</a:t>
            </a:r>
          </a:p>
          <a:p>
            <a:pPr marL="342900" indent="-342900">
              <a:buFont typeface="+mj-lt"/>
              <a:buAutoNum type="arabicPeriod"/>
            </a:pPr>
            <a:r>
              <a:rPr lang="en-US" sz="2000" dirty="0"/>
              <a:t>6am, 9am, 3pm</a:t>
            </a:r>
          </a:p>
          <a:p>
            <a:pPr marL="342900" indent="-342900">
              <a:buFont typeface="+mj-lt"/>
              <a:buAutoNum type="arabicPeriod"/>
            </a:pPr>
            <a:r>
              <a:rPr lang="en-US" sz="2000" dirty="0"/>
              <a:t>6am, 9am, 12pm</a:t>
            </a:r>
          </a:p>
          <a:p>
            <a:pPr marL="342900" indent="-342900">
              <a:buFont typeface="+mj-lt"/>
              <a:buAutoNum type="arabicPeriod"/>
            </a:pPr>
            <a:r>
              <a:rPr lang="en-US" sz="2000" dirty="0"/>
              <a:t>6am, 3pm</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716C5F4C-54A9-41D4-17DF-530AFEE68A80}"/>
                  </a:ext>
                </a:extLst>
              </p:cNvPr>
              <p:cNvSpPr txBox="1"/>
              <p:nvPr/>
            </p:nvSpPr>
            <p:spPr>
              <a:xfrm>
                <a:off x="4986671" y="5050016"/>
                <a:ext cx="946298"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𝑥</m:t>
                      </m:r>
                      <m:r>
                        <a:rPr lang="en-US" sz="2000" b="0" i="1" smtClean="0">
                          <a:latin typeface="Cambria Math" panose="02040503050406030204" pitchFamily="18" charset="0"/>
                        </a:rPr>
                        <m:t>=2</m:t>
                      </m:r>
                    </m:oMath>
                  </m:oMathPara>
                </a14:m>
                <a:endParaRPr lang="en-US" sz="2000" dirty="0"/>
              </a:p>
            </p:txBody>
          </p:sp>
        </mc:Choice>
        <mc:Fallback xmlns="">
          <p:sp>
            <p:nvSpPr>
              <p:cNvPr id="6" name="TextBox 5">
                <a:extLst>
                  <a:ext uri="{FF2B5EF4-FFF2-40B4-BE49-F238E27FC236}">
                    <a16:creationId xmlns:a16="http://schemas.microsoft.com/office/drawing/2014/main" id="{716C5F4C-54A9-41D4-17DF-530AFEE68A80}"/>
                  </a:ext>
                </a:extLst>
              </p:cNvPr>
              <p:cNvSpPr txBox="1">
                <a:spLocks noRot="1" noChangeAspect="1" noMove="1" noResize="1" noEditPoints="1" noAdjustHandles="1" noChangeArrowheads="1" noChangeShapeType="1" noTextEdit="1"/>
              </p:cNvSpPr>
              <p:nvPr/>
            </p:nvSpPr>
            <p:spPr>
              <a:xfrm>
                <a:off x="4986671" y="5050016"/>
                <a:ext cx="946298" cy="400110"/>
              </a:xfrm>
              <a:prstGeom prst="rect">
                <a:avLst/>
              </a:prstGeom>
              <a:blipFill>
                <a:blip r:embed="rId3"/>
                <a:stretch>
                  <a:fillRect/>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D7459273-AC66-2555-1EF8-695D0F11F533}"/>
              </a:ext>
            </a:extLst>
          </p:cNvPr>
          <p:cNvSpPr txBox="1"/>
          <p:nvPr/>
        </p:nvSpPr>
        <p:spPr>
          <a:xfrm>
            <a:off x="7368363" y="4912242"/>
            <a:ext cx="3796360" cy="1200329"/>
          </a:xfrm>
          <a:prstGeom prst="rect">
            <a:avLst/>
          </a:prstGeom>
          <a:noFill/>
        </p:spPr>
        <p:txBody>
          <a:bodyPr wrap="none" rtlCol="0">
            <a:spAutoFit/>
          </a:bodyPr>
          <a:lstStyle/>
          <a:p>
            <a:r>
              <a:rPr lang="en-US" dirty="0"/>
              <a:t>Solution:</a:t>
            </a:r>
          </a:p>
          <a:p>
            <a:pPr marL="285750" indent="-285750">
              <a:buFont typeface="Arial" panose="020B0604020202020204" pitchFamily="34" charset="0"/>
              <a:buChar char="•"/>
            </a:pPr>
            <a:r>
              <a:rPr lang="en-US" dirty="0"/>
              <a:t>Employee 1 assigned to 6am, 9am</a:t>
            </a:r>
          </a:p>
          <a:p>
            <a:pPr marL="285750" indent="-285750">
              <a:buFont typeface="Arial" panose="020B0604020202020204" pitchFamily="34" charset="0"/>
              <a:buChar char="•"/>
            </a:pPr>
            <a:r>
              <a:rPr lang="en-US" dirty="0"/>
              <a:t>Employee 2 assigned to 9am, 12pm</a:t>
            </a:r>
          </a:p>
          <a:p>
            <a:pPr marL="285750" indent="-285750">
              <a:buFont typeface="Arial" panose="020B0604020202020204" pitchFamily="34" charset="0"/>
              <a:buChar char="•"/>
            </a:pPr>
            <a:r>
              <a:rPr lang="en-US" dirty="0"/>
              <a:t>Employee 3 assigned to 6am, 3pm</a:t>
            </a:r>
          </a:p>
        </p:txBody>
      </p:sp>
    </p:spTree>
    <p:extLst>
      <p:ext uri="{BB962C8B-B14F-4D97-AF65-F5344CB8AC3E}">
        <p14:creationId xmlns:p14="http://schemas.microsoft.com/office/powerpoint/2010/main" val="34527052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F703C1-29E6-D725-4785-2F8F12E62B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43ED37-CB68-DD98-D403-5EEFA537ED8B}"/>
              </a:ext>
            </a:extLst>
          </p:cNvPr>
          <p:cNvSpPr>
            <a:spLocks noGrp="1"/>
          </p:cNvSpPr>
          <p:nvPr>
            <p:ph type="title"/>
          </p:nvPr>
        </p:nvSpPr>
        <p:spPr/>
        <p:txBody>
          <a:bodyPr/>
          <a:lstStyle/>
          <a:p>
            <a:r>
              <a:rPr lang="en-US" dirty="0"/>
              <a:t>Reducing to Max Flow</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A17383C-DCFE-BADD-2145-08CF96F1D610}"/>
                  </a:ext>
                </a:extLst>
              </p:cNvPr>
              <p:cNvSpPr>
                <a:spLocks noGrp="1"/>
              </p:cNvSpPr>
              <p:nvPr>
                <p:ph idx="1"/>
              </p:nvPr>
            </p:nvSpPr>
            <p:spPr>
              <a:xfrm>
                <a:off x="113275" y="1829522"/>
                <a:ext cx="5573935" cy="4351338"/>
              </a:xfrm>
            </p:spPr>
            <p:txBody>
              <a:bodyPr/>
              <a:lstStyle/>
              <a:p>
                <a:r>
                  <a:rPr lang="en-US" dirty="0"/>
                  <a:t>We need to create a flow network</a:t>
                </a:r>
              </a:p>
              <a:p>
                <a:pPr lvl="1"/>
                <a:r>
                  <a:rPr lang="en-US" dirty="0"/>
                  <a:t>One node per shift</a:t>
                </a:r>
              </a:p>
              <a:p>
                <a:pPr lvl="1"/>
                <a:r>
                  <a:rPr lang="en-US" dirty="0"/>
                  <a:t>One node per employee</a:t>
                </a:r>
              </a:p>
              <a:p>
                <a:pPr lvl="1"/>
                <a:r>
                  <a:rPr lang="en-US" dirty="0"/>
                  <a:t>A source node and a sink node</a:t>
                </a:r>
              </a:p>
              <a:p>
                <a:pPr lvl="1"/>
                <a:r>
                  <a:rPr lang="en-US" dirty="0"/>
                  <a:t>An edge from the source to each employee node with capacity </a:t>
                </a:r>
                <a14:m>
                  <m:oMath xmlns:m="http://schemas.openxmlformats.org/officeDocument/2006/math">
                    <m:r>
                      <a:rPr lang="en-US" b="0" i="1" smtClean="0">
                        <a:latin typeface="Cambria Math" panose="02040503050406030204" pitchFamily="18" charset="0"/>
                      </a:rPr>
                      <m:t>𝑥</m:t>
                    </m:r>
                  </m:oMath>
                </a14:m>
                <a:endParaRPr lang="en-US" dirty="0"/>
              </a:p>
              <a:p>
                <a:pPr lvl="1"/>
                <a:r>
                  <a:rPr lang="en-US" dirty="0"/>
                  <a:t>An edge from each employee to each available shift with capacity 1</a:t>
                </a:r>
              </a:p>
              <a:p>
                <a:pPr lvl="1"/>
                <a:r>
                  <a:rPr lang="en-US" dirty="0"/>
                  <a:t>An edge from each shift node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𝑖</m:t>
                        </m:r>
                      </m:sub>
                    </m:sSub>
                  </m:oMath>
                </a14:m>
                <a:r>
                  <a:rPr lang="en-US" dirty="0"/>
                  <a:t> to the sink with capacity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𝑖</m:t>
                        </m:r>
                      </m:sub>
                    </m:sSub>
                  </m:oMath>
                </a14:m>
                <a:endParaRPr lang="en-US" dirty="0"/>
              </a:p>
              <a:p>
                <a:pPr lvl="1"/>
                <a:endParaRPr lang="en-US" dirty="0"/>
              </a:p>
            </p:txBody>
          </p:sp>
        </mc:Choice>
        <mc:Fallback xmlns="">
          <p:sp>
            <p:nvSpPr>
              <p:cNvPr id="3" name="Content Placeholder 2">
                <a:extLst>
                  <a:ext uri="{FF2B5EF4-FFF2-40B4-BE49-F238E27FC236}">
                    <a16:creationId xmlns:a16="http://schemas.microsoft.com/office/drawing/2014/main" id="{EA17383C-DCFE-BADD-2145-08CF96F1D610}"/>
                  </a:ext>
                </a:extLst>
              </p:cNvPr>
              <p:cNvSpPr>
                <a:spLocks noGrp="1" noRot="1" noChangeAspect="1" noMove="1" noResize="1" noEditPoints="1" noAdjustHandles="1" noChangeArrowheads="1" noChangeShapeType="1" noTextEdit="1"/>
              </p:cNvSpPr>
              <p:nvPr>
                <p:ph idx="1"/>
              </p:nvPr>
            </p:nvSpPr>
            <p:spPr>
              <a:xfrm>
                <a:off x="113275" y="1829522"/>
                <a:ext cx="5573935" cy="4351338"/>
              </a:xfrm>
              <a:blipFill>
                <a:blip r:embed="rId2"/>
                <a:stretch>
                  <a:fillRect l="-1969" t="-2241" r="-120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Oval 50">
                <a:extLst>
                  <a:ext uri="{FF2B5EF4-FFF2-40B4-BE49-F238E27FC236}">
                    <a16:creationId xmlns:a16="http://schemas.microsoft.com/office/drawing/2014/main" id="{C3307192-7A8B-03F3-03A4-552E5EABB303}"/>
                  </a:ext>
                </a:extLst>
              </p:cNvPr>
              <p:cNvSpPr>
                <a:spLocks noChangeAspect="1" noChangeArrowheads="1"/>
              </p:cNvSpPr>
              <p:nvPr/>
            </p:nvSpPr>
            <p:spPr bwMode="auto">
              <a:xfrm>
                <a:off x="5718433" y="4200001"/>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r>
                        <a:rPr lang="en-US" altLang="en-US" sz="2000" b="1" i="1" dirty="0" smtClean="0">
                          <a:solidFill>
                            <a:srgbClr val="C00000"/>
                          </a:solidFill>
                          <a:latin typeface="Cambria Math" panose="02040503050406030204" pitchFamily="18" charset="0"/>
                        </a:rPr>
                        <m:t>𝒔</m:t>
                      </m:r>
                    </m:oMath>
                  </m:oMathPara>
                </a14:m>
                <a:endParaRPr lang="en-US" altLang="en-US" sz="2000" b="1" dirty="0">
                  <a:solidFill>
                    <a:srgbClr val="C00000"/>
                  </a:solidFill>
                </a:endParaRPr>
              </a:p>
            </p:txBody>
          </p:sp>
        </mc:Choice>
        <mc:Fallback xmlns="">
          <p:sp>
            <p:nvSpPr>
              <p:cNvPr id="23" name="Oval 50">
                <a:extLst>
                  <a:ext uri="{FF2B5EF4-FFF2-40B4-BE49-F238E27FC236}">
                    <a16:creationId xmlns:a16="http://schemas.microsoft.com/office/drawing/2014/main" id="{C3307192-7A8B-03F3-03A4-552E5EABB303}"/>
                  </a:ext>
                </a:extLst>
              </p:cNvPr>
              <p:cNvSpPr>
                <a:spLocks noRot="1" noChangeAspect="1" noMove="1" noResize="1" noEditPoints="1" noAdjustHandles="1" noChangeArrowheads="1" noChangeShapeType="1" noTextEdit="1"/>
              </p:cNvSpPr>
              <p:nvPr/>
            </p:nvSpPr>
            <p:spPr bwMode="auto">
              <a:xfrm>
                <a:off x="5718433" y="4200001"/>
                <a:ext cx="435031" cy="437783"/>
              </a:xfrm>
              <a:prstGeom prst="ellipse">
                <a:avLst/>
              </a:prstGeom>
              <a:blipFill>
                <a:blip r:embed="rId3"/>
                <a:stretch>
                  <a:fillRect/>
                </a:stretch>
              </a:blipFill>
              <a:ln w="9525">
                <a:solidFill>
                  <a:schemeClr val="tx1"/>
                </a:solidFill>
                <a:round/>
                <a:headEnd/>
                <a:tailEnd/>
              </a:ln>
              <a:effec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Oval 50">
                <a:extLst>
                  <a:ext uri="{FF2B5EF4-FFF2-40B4-BE49-F238E27FC236}">
                    <a16:creationId xmlns:a16="http://schemas.microsoft.com/office/drawing/2014/main" id="{39E6BA66-76B2-9B56-10DA-D5DB42828197}"/>
                  </a:ext>
                </a:extLst>
              </p:cNvPr>
              <p:cNvSpPr>
                <a:spLocks noChangeAspect="1" noChangeArrowheads="1"/>
              </p:cNvSpPr>
              <p:nvPr/>
            </p:nvSpPr>
            <p:spPr bwMode="auto">
              <a:xfrm>
                <a:off x="11684112" y="4308372"/>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r>
                        <a:rPr lang="en-US" altLang="en-US" sz="2000" b="1" i="1" dirty="0" smtClean="0">
                          <a:solidFill>
                            <a:srgbClr val="C00000"/>
                          </a:solidFill>
                          <a:latin typeface="Cambria Math" panose="02040503050406030204" pitchFamily="18" charset="0"/>
                        </a:rPr>
                        <m:t>𝒕</m:t>
                      </m:r>
                    </m:oMath>
                  </m:oMathPara>
                </a14:m>
                <a:endParaRPr lang="en-US" altLang="en-US" sz="2000" b="1" dirty="0">
                  <a:solidFill>
                    <a:srgbClr val="C00000"/>
                  </a:solidFill>
                </a:endParaRPr>
              </a:p>
            </p:txBody>
          </p:sp>
        </mc:Choice>
        <mc:Fallback xmlns="">
          <p:sp>
            <p:nvSpPr>
              <p:cNvPr id="24" name="Oval 50">
                <a:extLst>
                  <a:ext uri="{FF2B5EF4-FFF2-40B4-BE49-F238E27FC236}">
                    <a16:creationId xmlns:a16="http://schemas.microsoft.com/office/drawing/2014/main" id="{39E6BA66-76B2-9B56-10DA-D5DB42828197}"/>
                  </a:ext>
                </a:extLst>
              </p:cNvPr>
              <p:cNvSpPr>
                <a:spLocks noRot="1" noChangeAspect="1" noMove="1" noResize="1" noEditPoints="1" noAdjustHandles="1" noChangeArrowheads="1" noChangeShapeType="1" noTextEdit="1"/>
              </p:cNvSpPr>
              <p:nvPr/>
            </p:nvSpPr>
            <p:spPr bwMode="auto">
              <a:xfrm>
                <a:off x="11684112" y="4308372"/>
                <a:ext cx="435031" cy="437783"/>
              </a:xfrm>
              <a:prstGeom prst="ellipse">
                <a:avLst/>
              </a:prstGeom>
              <a:blipFill>
                <a:blip r:embed="rId4"/>
                <a:stretch>
                  <a:fillRect/>
                </a:stretch>
              </a:blipFill>
              <a:ln w="9525">
                <a:solidFill>
                  <a:schemeClr val="tx1"/>
                </a:solidFill>
                <a:round/>
                <a:headEnd/>
                <a:tailEnd/>
              </a:ln>
              <a:effectLst/>
            </p:spPr>
            <p:txBody>
              <a:bodyPr/>
              <a:lstStyle/>
              <a:p>
                <a:r>
                  <a:rPr lang="en-US">
                    <a:noFill/>
                  </a:rPr>
                  <a:t> </a:t>
                </a:r>
              </a:p>
            </p:txBody>
          </p:sp>
        </mc:Fallback>
      </mc:AlternateContent>
      <p:cxnSp>
        <p:nvCxnSpPr>
          <p:cNvPr id="59" name="Straight Connector 58">
            <a:extLst>
              <a:ext uri="{FF2B5EF4-FFF2-40B4-BE49-F238E27FC236}">
                <a16:creationId xmlns:a16="http://schemas.microsoft.com/office/drawing/2014/main" id="{69EF4BBD-ECB7-1B10-8ACB-A6C35A856782}"/>
              </a:ext>
            </a:extLst>
          </p:cNvPr>
          <p:cNvCxnSpPr>
            <a:cxnSpLocks/>
            <a:stCxn id="23" idx="7"/>
          </p:cNvCxnSpPr>
          <p:nvPr/>
        </p:nvCxnSpPr>
        <p:spPr>
          <a:xfrm flipV="1">
            <a:off x="6089756" y="2847148"/>
            <a:ext cx="1209574" cy="1416965"/>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C707F680-C700-C348-66B3-9B522A3E4D5A}"/>
              </a:ext>
            </a:extLst>
          </p:cNvPr>
          <p:cNvCxnSpPr>
            <a:cxnSpLocks/>
            <a:stCxn id="23" idx="6"/>
          </p:cNvCxnSpPr>
          <p:nvPr/>
        </p:nvCxnSpPr>
        <p:spPr>
          <a:xfrm flipV="1">
            <a:off x="6153464" y="4005192"/>
            <a:ext cx="1257964" cy="413702"/>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A05BDEE6-967B-3E73-D97B-CA206662FEDE}"/>
              </a:ext>
            </a:extLst>
          </p:cNvPr>
          <p:cNvCxnSpPr>
            <a:cxnSpLocks/>
            <a:stCxn id="23" idx="5"/>
          </p:cNvCxnSpPr>
          <p:nvPr/>
        </p:nvCxnSpPr>
        <p:spPr>
          <a:xfrm>
            <a:off x="6089756" y="4573673"/>
            <a:ext cx="1095402" cy="566534"/>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2E212A4B-64F6-0A2D-7186-FD913F4A69FD}"/>
              </a:ext>
            </a:extLst>
          </p:cNvPr>
          <p:cNvCxnSpPr>
            <a:cxnSpLocks/>
            <a:stCxn id="23" idx="4"/>
          </p:cNvCxnSpPr>
          <p:nvPr/>
        </p:nvCxnSpPr>
        <p:spPr>
          <a:xfrm>
            <a:off x="5935949" y="4637785"/>
            <a:ext cx="1154742" cy="1587676"/>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BD877004-9FA9-4139-B379-5B9EDBE9764F}"/>
              </a:ext>
            </a:extLst>
          </p:cNvPr>
          <p:cNvCxnSpPr>
            <a:cxnSpLocks/>
            <a:endCxn id="24" idx="0"/>
          </p:cNvCxnSpPr>
          <p:nvPr/>
        </p:nvCxnSpPr>
        <p:spPr>
          <a:xfrm>
            <a:off x="10945253" y="2951108"/>
            <a:ext cx="956375" cy="1357265"/>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5" name="Straight Connector 74">
            <a:extLst>
              <a:ext uri="{FF2B5EF4-FFF2-40B4-BE49-F238E27FC236}">
                <a16:creationId xmlns:a16="http://schemas.microsoft.com/office/drawing/2014/main" id="{A787318D-C709-4E8F-1670-54217BB5F4AC}"/>
              </a:ext>
            </a:extLst>
          </p:cNvPr>
          <p:cNvCxnSpPr>
            <a:cxnSpLocks/>
            <a:endCxn id="24" idx="1"/>
          </p:cNvCxnSpPr>
          <p:nvPr/>
        </p:nvCxnSpPr>
        <p:spPr>
          <a:xfrm>
            <a:off x="10835155" y="4100807"/>
            <a:ext cx="912665" cy="271677"/>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8" name="Straight Connector 77">
            <a:extLst>
              <a:ext uri="{FF2B5EF4-FFF2-40B4-BE49-F238E27FC236}">
                <a16:creationId xmlns:a16="http://schemas.microsoft.com/office/drawing/2014/main" id="{31EF9FB7-EE24-18D2-9640-C7D52494AF6F}"/>
              </a:ext>
            </a:extLst>
          </p:cNvPr>
          <p:cNvCxnSpPr>
            <a:cxnSpLocks/>
            <a:endCxn id="24" idx="3"/>
          </p:cNvCxnSpPr>
          <p:nvPr/>
        </p:nvCxnSpPr>
        <p:spPr>
          <a:xfrm flipV="1">
            <a:off x="10920258" y="4682044"/>
            <a:ext cx="827562" cy="426688"/>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1C76843B-F37C-8C89-40B9-59D1078E36D4}"/>
              </a:ext>
            </a:extLst>
          </p:cNvPr>
          <p:cNvCxnSpPr>
            <a:cxnSpLocks/>
            <a:endCxn id="24" idx="4"/>
          </p:cNvCxnSpPr>
          <p:nvPr/>
        </p:nvCxnSpPr>
        <p:spPr>
          <a:xfrm flipV="1">
            <a:off x="10894672" y="4746156"/>
            <a:ext cx="1006956" cy="1397105"/>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A675983E-6DEC-E8A0-5FA6-6927CCC129AF}"/>
                  </a:ext>
                </a:extLst>
              </p:cNvPr>
              <p:cNvSpPr txBox="1"/>
              <p:nvPr/>
            </p:nvSpPr>
            <p:spPr>
              <a:xfrm>
                <a:off x="6544966" y="3445074"/>
                <a:ext cx="367986"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𝑥</m:t>
                      </m:r>
                    </m:oMath>
                  </m:oMathPara>
                </a14:m>
                <a:endParaRPr lang="en-US" dirty="0"/>
              </a:p>
            </p:txBody>
          </p:sp>
        </mc:Choice>
        <mc:Fallback xmlns="">
          <p:sp>
            <p:nvSpPr>
              <p:cNvPr id="33" name="TextBox 32">
                <a:extLst>
                  <a:ext uri="{FF2B5EF4-FFF2-40B4-BE49-F238E27FC236}">
                    <a16:creationId xmlns:a16="http://schemas.microsoft.com/office/drawing/2014/main" id="{A675983E-6DEC-E8A0-5FA6-6927CCC129AF}"/>
                  </a:ext>
                </a:extLst>
              </p:cNvPr>
              <p:cNvSpPr txBox="1">
                <a:spLocks noRot="1" noChangeAspect="1" noMove="1" noResize="1" noEditPoints="1" noAdjustHandles="1" noChangeArrowheads="1" noChangeShapeType="1" noTextEdit="1"/>
              </p:cNvSpPr>
              <p:nvPr/>
            </p:nvSpPr>
            <p:spPr>
              <a:xfrm>
                <a:off x="6544966" y="3445074"/>
                <a:ext cx="367986"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FE917B5B-8B1B-1165-9EEC-CDF73D307C4B}"/>
                  </a:ext>
                </a:extLst>
              </p:cNvPr>
              <p:cNvSpPr txBox="1"/>
              <p:nvPr/>
            </p:nvSpPr>
            <p:spPr>
              <a:xfrm>
                <a:off x="6742829" y="3934465"/>
                <a:ext cx="367986"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𝑥</m:t>
                      </m:r>
                    </m:oMath>
                  </m:oMathPara>
                </a14:m>
                <a:endParaRPr lang="en-US" dirty="0"/>
              </a:p>
            </p:txBody>
          </p:sp>
        </mc:Choice>
        <mc:Fallback xmlns="">
          <p:sp>
            <p:nvSpPr>
              <p:cNvPr id="60" name="TextBox 59">
                <a:extLst>
                  <a:ext uri="{FF2B5EF4-FFF2-40B4-BE49-F238E27FC236}">
                    <a16:creationId xmlns:a16="http://schemas.microsoft.com/office/drawing/2014/main" id="{FE917B5B-8B1B-1165-9EEC-CDF73D307C4B}"/>
                  </a:ext>
                </a:extLst>
              </p:cNvPr>
              <p:cNvSpPr txBox="1">
                <a:spLocks noRot="1" noChangeAspect="1" noMove="1" noResize="1" noEditPoints="1" noAdjustHandles="1" noChangeArrowheads="1" noChangeShapeType="1" noTextEdit="1"/>
              </p:cNvSpPr>
              <p:nvPr/>
            </p:nvSpPr>
            <p:spPr>
              <a:xfrm>
                <a:off x="6742829" y="3934465"/>
                <a:ext cx="367986"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29B88A91-DA85-5423-7611-54BB05C86019}"/>
                  </a:ext>
                </a:extLst>
              </p:cNvPr>
              <p:cNvSpPr txBox="1"/>
              <p:nvPr/>
            </p:nvSpPr>
            <p:spPr>
              <a:xfrm>
                <a:off x="6543030" y="4658723"/>
                <a:ext cx="367986"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𝑥</m:t>
                      </m:r>
                    </m:oMath>
                  </m:oMathPara>
                </a14:m>
                <a:endParaRPr lang="en-US" dirty="0"/>
              </a:p>
            </p:txBody>
          </p:sp>
        </mc:Choice>
        <mc:Fallback xmlns="">
          <p:sp>
            <p:nvSpPr>
              <p:cNvPr id="61" name="TextBox 60">
                <a:extLst>
                  <a:ext uri="{FF2B5EF4-FFF2-40B4-BE49-F238E27FC236}">
                    <a16:creationId xmlns:a16="http://schemas.microsoft.com/office/drawing/2014/main" id="{29B88A91-DA85-5423-7611-54BB05C86019}"/>
                  </a:ext>
                </a:extLst>
              </p:cNvPr>
              <p:cNvSpPr txBox="1">
                <a:spLocks noRot="1" noChangeAspect="1" noMove="1" noResize="1" noEditPoints="1" noAdjustHandles="1" noChangeArrowheads="1" noChangeShapeType="1" noTextEdit="1"/>
              </p:cNvSpPr>
              <p:nvPr/>
            </p:nvSpPr>
            <p:spPr>
              <a:xfrm>
                <a:off x="6543030" y="4658723"/>
                <a:ext cx="367986"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77BBD5A4-C4A9-ED9C-FEE0-B2C147335B64}"/>
                  </a:ext>
                </a:extLst>
              </p:cNvPr>
              <p:cNvSpPr txBox="1"/>
              <p:nvPr/>
            </p:nvSpPr>
            <p:spPr>
              <a:xfrm>
                <a:off x="6365716" y="5385641"/>
                <a:ext cx="367986"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𝑥</m:t>
                      </m:r>
                    </m:oMath>
                  </m:oMathPara>
                </a14:m>
                <a:endParaRPr lang="en-US" dirty="0"/>
              </a:p>
            </p:txBody>
          </p:sp>
        </mc:Choice>
        <mc:Fallback xmlns="">
          <p:sp>
            <p:nvSpPr>
              <p:cNvPr id="63" name="TextBox 62">
                <a:extLst>
                  <a:ext uri="{FF2B5EF4-FFF2-40B4-BE49-F238E27FC236}">
                    <a16:creationId xmlns:a16="http://schemas.microsoft.com/office/drawing/2014/main" id="{77BBD5A4-C4A9-ED9C-FEE0-B2C147335B64}"/>
                  </a:ext>
                </a:extLst>
              </p:cNvPr>
              <p:cNvSpPr txBox="1">
                <a:spLocks noRot="1" noChangeAspect="1" noMove="1" noResize="1" noEditPoints="1" noAdjustHandles="1" noChangeArrowheads="1" noChangeShapeType="1" noTextEdit="1"/>
              </p:cNvSpPr>
              <p:nvPr/>
            </p:nvSpPr>
            <p:spPr>
              <a:xfrm>
                <a:off x="6365716" y="5385641"/>
                <a:ext cx="367986"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6EA33EC4-0D6B-B762-4334-337890D1155A}"/>
                  </a:ext>
                </a:extLst>
              </p:cNvPr>
              <p:cNvSpPr txBox="1"/>
              <p:nvPr/>
            </p:nvSpPr>
            <p:spPr>
              <a:xfrm>
                <a:off x="11198818" y="3338951"/>
                <a:ext cx="460511"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1</m:t>
                          </m:r>
                        </m:sub>
                      </m:sSub>
                    </m:oMath>
                  </m:oMathPara>
                </a14:m>
                <a:endParaRPr lang="en-US" dirty="0"/>
              </a:p>
            </p:txBody>
          </p:sp>
        </mc:Choice>
        <mc:Fallback xmlns="">
          <p:sp>
            <p:nvSpPr>
              <p:cNvPr id="80" name="TextBox 79">
                <a:extLst>
                  <a:ext uri="{FF2B5EF4-FFF2-40B4-BE49-F238E27FC236}">
                    <a16:creationId xmlns:a16="http://schemas.microsoft.com/office/drawing/2014/main" id="{6EA33EC4-0D6B-B762-4334-337890D1155A}"/>
                  </a:ext>
                </a:extLst>
              </p:cNvPr>
              <p:cNvSpPr txBox="1">
                <a:spLocks noRot="1" noChangeAspect="1" noMove="1" noResize="1" noEditPoints="1" noAdjustHandles="1" noChangeArrowheads="1" noChangeShapeType="1" noTextEdit="1"/>
              </p:cNvSpPr>
              <p:nvPr/>
            </p:nvSpPr>
            <p:spPr>
              <a:xfrm>
                <a:off x="11198818" y="3338951"/>
                <a:ext cx="460511" cy="369332"/>
              </a:xfrm>
              <a:prstGeom prst="rect">
                <a:avLst/>
              </a:prstGeom>
              <a:blipFill>
                <a:blip r:embed="rId9"/>
                <a:stretch>
                  <a:fillRect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751B6F6D-5ADB-1469-64F2-D7FC2E5219C3}"/>
                  </a:ext>
                </a:extLst>
              </p:cNvPr>
              <p:cNvSpPr txBox="1"/>
              <p:nvPr/>
            </p:nvSpPr>
            <p:spPr>
              <a:xfrm>
                <a:off x="11099178" y="3989849"/>
                <a:ext cx="465832"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2</m:t>
                          </m:r>
                        </m:sub>
                      </m:sSub>
                    </m:oMath>
                  </m:oMathPara>
                </a14:m>
                <a:endParaRPr lang="en-US" dirty="0"/>
              </a:p>
            </p:txBody>
          </p:sp>
        </mc:Choice>
        <mc:Fallback xmlns="">
          <p:sp>
            <p:nvSpPr>
              <p:cNvPr id="82" name="TextBox 81">
                <a:extLst>
                  <a:ext uri="{FF2B5EF4-FFF2-40B4-BE49-F238E27FC236}">
                    <a16:creationId xmlns:a16="http://schemas.microsoft.com/office/drawing/2014/main" id="{751B6F6D-5ADB-1469-64F2-D7FC2E5219C3}"/>
                  </a:ext>
                </a:extLst>
              </p:cNvPr>
              <p:cNvSpPr txBox="1">
                <a:spLocks noRot="1" noChangeAspect="1" noMove="1" noResize="1" noEditPoints="1" noAdjustHandles="1" noChangeArrowheads="1" noChangeShapeType="1" noTextEdit="1"/>
              </p:cNvSpPr>
              <p:nvPr/>
            </p:nvSpPr>
            <p:spPr>
              <a:xfrm>
                <a:off x="11099178" y="3989849"/>
                <a:ext cx="465832" cy="369332"/>
              </a:xfrm>
              <a:prstGeom prst="rect">
                <a:avLst/>
              </a:prstGeom>
              <a:blipFill>
                <a:blip r:embed="rId10"/>
                <a:stretch>
                  <a:fillRect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TextBox 82">
                <a:extLst>
                  <a:ext uri="{FF2B5EF4-FFF2-40B4-BE49-F238E27FC236}">
                    <a16:creationId xmlns:a16="http://schemas.microsoft.com/office/drawing/2014/main" id="{62AE5FAD-207A-5EF4-E03F-5BC48E60855F}"/>
                  </a:ext>
                </a:extLst>
              </p:cNvPr>
              <p:cNvSpPr txBox="1"/>
              <p:nvPr/>
            </p:nvSpPr>
            <p:spPr>
              <a:xfrm>
                <a:off x="11146581" y="4700897"/>
                <a:ext cx="465832"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3</m:t>
                          </m:r>
                        </m:sub>
                      </m:sSub>
                    </m:oMath>
                  </m:oMathPara>
                </a14:m>
                <a:endParaRPr lang="en-US" dirty="0"/>
              </a:p>
            </p:txBody>
          </p:sp>
        </mc:Choice>
        <mc:Fallback xmlns="">
          <p:sp>
            <p:nvSpPr>
              <p:cNvPr id="83" name="TextBox 82">
                <a:extLst>
                  <a:ext uri="{FF2B5EF4-FFF2-40B4-BE49-F238E27FC236}">
                    <a16:creationId xmlns:a16="http://schemas.microsoft.com/office/drawing/2014/main" id="{62AE5FAD-207A-5EF4-E03F-5BC48E60855F}"/>
                  </a:ext>
                </a:extLst>
              </p:cNvPr>
              <p:cNvSpPr txBox="1">
                <a:spLocks noRot="1" noChangeAspect="1" noMove="1" noResize="1" noEditPoints="1" noAdjustHandles="1" noChangeArrowheads="1" noChangeShapeType="1" noTextEdit="1"/>
              </p:cNvSpPr>
              <p:nvPr/>
            </p:nvSpPr>
            <p:spPr>
              <a:xfrm>
                <a:off x="11146581" y="4700897"/>
                <a:ext cx="465832" cy="369332"/>
              </a:xfrm>
              <a:prstGeom prst="rect">
                <a:avLst/>
              </a:prstGeom>
              <a:blipFill>
                <a:blip r:embed="rId11"/>
                <a:stretch>
                  <a:fillRect b="-65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4" name="TextBox 83">
                <a:extLst>
                  <a:ext uri="{FF2B5EF4-FFF2-40B4-BE49-F238E27FC236}">
                    <a16:creationId xmlns:a16="http://schemas.microsoft.com/office/drawing/2014/main" id="{D208BA79-A957-CFAC-788A-DCFCA346D9EF}"/>
                  </a:ext>
                </a:extLst>
              </p:cNvPr>
              <p:cNvSpPr txBox="1"/>
              <p:nvPr/>
            </p:nvSpPr>
            <p:spPr>
              <a:xfrm>
                <a:off x="11291342" y="5199461"/>
                <a:ext cx="478208"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𝑛</m:t>
                          </m:r>
                        </m:sub>
                      </m:sSub>
                    </m:oMath>
                  </m:oMathPara>
                </a14:m>
                <a:endParaRPr lang="en-US" dirty="0"/>
              </a:p>
            </p:txBody>
          </p:sp>
        </mc:Choice>
        <mc:Fallback xmlns="">
          <p:sp>
            <p:nvSpPr>
              <p:cNvPr id="84" name="TextBox 83">
                <a:extLst>
                  <a:ext uri="{FF2B5EF4-FFF2-40B4-BE49-F238E27FC236}">
                    <a16:creationId xmlns:a16="http://schemas.microsoft.com/office/drawing/2014/main" id="{D208BA79-A957-CFAC-788A-DCFCA346D9EF}"/>
                  </a:ext>
                </a:extLst>
              </p:cNvPr>
              <p:cNvSpPr txBox="1">
                <a:spLocks noRot="1" noChangeAspect="1" noMove="1" noResize="1" noEditPoints="1" noAdjustHandles="1" noChangeArrowheads="1" noChangeShapeType="1" noTextEdit="1"/>
              </p:cNvSpPr>
              <p:nvPr/>
            </p:nvSpPr>
            <p:spPr>
              <a:xfrm>
                <a:off x="11291342" y="5199461"/>
                <a:ext cx="478208" cy="369332"/>
              </a:xfrm>
              <a:prstGeom prst="rect">
                <a:avLst/>
              </a:prstGeom>
              <a:blipFill>
                <a:blip r:embed="rId12"/>
                <a:stretch>
                  <a:fillRect b="-491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Oval 50">
                <a:extLst>
                  <a:ext uri="{FF2B5EF4-FFF2-40B4-BE49-F238E27FC236}">
                    <a16:creationId xmlns:a16="http://schemas.microsoft.com/office/drawing/2014/main" id="{195A30E2-DDCD-71F5-D90B-C53CD77A67E4}"/>
                  </a:ext>
                </a:extLst>
              </p:cNvPr>
              <p:cNvSpPr>
                <a:spLocks noChangeAspect="1" noChangeArrowheads="1"/>
              </p:cNvSpPr>
              <p:nvPr/>
            </p:nvSpPr>
            <p:spPr bwMode="auto">
              <a:xfrm>
                <a:off x="7299330" y="2537588"/>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sSub>
                        <m:sSubPr>
                          <m:ctrlPr>
                            <a:rPr lang="en-US" altLang="en-US" sz="2000" b="1" i="1" smtClean="0">
                              <a:solidFill>
                                <a:srgbClr val="C00000"/>
                              </a:solidFill>
                              <a:latin typeface="Cambria Math" panose="02040503050406030204" pitchFamily="18" charset="0"/>
                            </a:rPr>
                          </m:ctrlPr>
                        </m:sSubPr>
                        <m:e>
                          <m:r>
                            <a:rPr lang="en-US" altLang="en-US" sz="2000" b="1" i="1" smtClean="0">
                              <a:solidFill>
                                <a:srgbClr val="C00000"/>
                              </a:solidFill>
                              <a:latin typeface="Cambria Math" panose="02040503050406030204" pitchFamily="18" charset="0"/>
                            </a:rPr>
                            <m:t>𝒆</m:t>
                          </m:r>
                        </m:e>
                        <m:sub>
                          <m:r>
                            <a:rPr lang="en-US" altLang="en-US" sz="2000" b="1" i="1" smtClean="0">
                              <a:solidFill>
                                <a:srgbClr val="C00000"/>
                              </a:solidFill>
                              <a:latin typeface="Cambria Math" panose="02040503050406030204" pitchFamily="18" charset="0"/>
                            </a:rPr>
                            <m:t>𝟏</m:t>
                          </m:r>
                        </m:sub>
                      </m:sSub>
                    </m:oMath>
                  </m:oMathPara>
                </a14:m>
                <a:endParaRPr lang="en-US" altLang="en-US" sz="2000" b="1" dirty="0">
                  <a:solidFill>
                    <a:srgbClr val="C00000"/>
                  </a:solidFill>
                </a:endParaRPr>
              </a:p>
            </p:txBody>
          </p:sp>
        </mc:Choice>
        <mc:Fallback xmlns="">
          <p:sp>
            <p:nvSpPr>
              <p:cNvPr id="29" name="Oval 50">
                <a:extLst>
                  <a:ext uri="{FF2B5EF4-FFF2-40B4-BE49-F238E27FC236}">
                    <a16:creationId xmlns:a16="http://schemas.microsoft.com/office/drawing/2014/main" id="{195A30E2-DDCD-71F5-D90B-C53CD77A67E4}"/>
                  </a:ext>
                </a:extLst>
              </p:cNvPr>
              <p:cNvSpPr>
                <a:spLocks noRot="1" noChangeAspect="1" noMove="1" noResize="1" noEditPoints="1" noAdjustHandles="1" noChangeArrowheads="1" noChangeShapeType="1" noTextEdit="1"/>
              </p:cNvSpPr>
              <p:nvPr/>
            </p:nvSpPr>
            <p:spPr bwMode="auto">
              <a:xfrm>
                <a:off x="7299330" y="2537588"/>
                <a:ext cx="435031" cy="437783"/>
              </a:xfrm>
              <a:prstGeom prst="ellipse">
                <a:avLst/>
              </a:prstGeom>
              <a:blipFill>
                <a:blip r:embed="rId13"/>
                <a:stretch>
                  <a:fillRect/>
                </a:stretch>
              </a:blipFill>
              <a:ln w="9525">
                <a:solidFill>
                  <a:schemeClr val="tx1"/>
                </a:solidFill>
                <a:round/>
                <a:headEnd/>
                <a:tailEnd/>
              </a:ln>
              <a:effec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Oval 50">
                <a:extLst>
                  <a:ext uri="{FF2B5EF4-FFF2-40B4-BE49-F238E27FC236}">
                    <a16:creationId xmlns:a16="http://schemas.microsoft.com/office/drawing/2014/main" id="{1BF06A6F-A59D-C0AB-4588-AD47D9231392}"/>
                  </a:ext>
                </a:extLst>
              </p:cNvPr>
              <p:cNvSpPr>
                <a:spLocks noChangeAspect="1" noChangeArrowheads="1"/>
              </p:cNvSpPr>
              <p:nvPr/>
            </p:nvSpPr>
            <p:spPr bwMode="auto">
              <a:xfrm>
                <a:off x="7402699" y="3786299"/>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sSub>
                        <m:sSubPr>
                          <m:ctrlPr>
                            <a:rPr lang="en-US" altLang="en-US" sz="2000" b="1" i="1" smtClean="0">
                              <a:solidFill>
                                <a:srgbClr val="C00000"/>
                              </a:solidFill>
                              <a:latin typeface="Cambria Math" panose="02040503050406030204" pitchFamily="18" charset="0"/>
                            </a:rPr>
                          </m:ctrlPr>
                        </m:sSubPr>
                        <m:e>
                          <m:r>
                            <a:rPr lang="en-US" altLang="en-US" sz="2000" b="1" i="1" smtClean="0">
                              <a:solidFill>
                                <a:srgbClr val="C00000"/>
                              </a:solidFill>
                              <a:latin typeface="Cambria Math" panose="02040503050406030204" pitchFamily="18" charset="0"/>
                            </a:rPr>
                            <m:t>𝒆</m:t>
                          </m:r>
                        </m:e>
                        <m:sub>
                          <m:r>
                            <a:rPr lang="en-US" altLang="en-US" sz="2000" b="1" i="1" smtClean="0">
                              <a:solidFill>
                                <a:srgbClr val="C00000"/>
                              </a:solidFill>
                              <a:latin typeface="Cambria Math" panose="02040503050406030204" pitchFamily="18" charset="0"/>
                            </a:rPr>
                            <m:t>𝟐</m:t>
                          </m:r>
                        </m:sub>
                      </m:sSub>
                    </m:oMath>
                  </m:oMathPara>
                </a14:m>
                <a:endParaRPr lang="en-US" altLang="en-US" sz="2000" b="1" dirty="0">
                  <a:solidFill>
                    <a:srgbClr val="C00000"/>
                  </a:solidFill>
                </a:endParaRPr>
              </a:p>
            </p:txBody>
          </p:sp>
        </mc:Choice>
        <mc:Fallback xmlns="">
          <p:sp>
            <p:nvSpPr>
              <p:cNvPr id="34" name="Oval 50">
                <a:extLst>
                  <a:ext uri="{FF2B5EF4-FFF2-40B4-BE49-F238E27FC236}">
                    <a16:creationId xmlns:a16="http://schemas.microsoft.com/office/drawing/2014/main" id="{1BF06A6F-A59D-C0AB-4588-AD47D9231392}"/>
                  </a:ext>
                </a:extLst>
              </p:cNvPr>
              <p:cNvSpPr>
                <a:spLocks noRot="1" noChangeAspect="1" noMove="1" noResize="1" noEditPoints="1" noAdjustHandles="1" noChangeArrowheads="1" noChangeShapeType="1" noTextEdit="1"/>
              </p:cNvSpPr>
              <p:nvPr/>
            </p:nvSpPr>
            <p:spPr bwMode="auto">
              <a:xfrm>
                <a:off x="7402699" y="3786299"/>
                <a:ext cx="435031" cy="437783"/>
              </a:xfrm>
              <a:prstGeom prst="ellipse">
                <a:avLst/>
              </a:prstGeom>
              <a:blipFill>
                <a:blip r:embed="rId14"/>
                <a:stretch>
                  <a:fillRect/>
                </a:stretch>
              </a:blipFill>
              <a:ln w="9525">
                <a:solidFill>
                  <a:schemeClr val="tx1"/>
                </a:solidFill>
                <a:round/>
                <a:headEnd/>
                <a:tailEnd/>
              </a:ln>
              <a:effec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Oval 50">
                <a:extLst>
                  <a:ext uri="{FF2B5EF4-FFF2-40B4-BE49-F238E27FC236}">
                    <a16:creationId xmlns:a16="http://schemas.microsoft.com/office/drawing/2014/main" id="{D7749F30-9B67-A10D-AA05-EEC4F1B65276}"/>
                  </a:ext>
                </a:extLst>
              </p:cNvPr>
              <p:cNvSpPr>
                <a:spLocks noChangeAspect="1" noChangeArrowheads="1"/>
              </p:cNvSpPr>
              <p:nvPr/>
            </p:nvSpPr>
            <p:spPr bwMode="auto">
              <a:xfrm>
                <a:off x="7090691" y="6100801"/>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sSub>
                        <m:sSubPr>
                          <m:ctrlPr>
                            <a:rPr lang="en-US" altLang="en-US" sz="2000" b="1" i="1" smtClean="0">
                              <a:solidFill>
                                <a:srgbClr val="C00000"/>
                              </a:solidFill>
                              <a:latin typeface="Cambria Math" panose="02040503050406030204" pitchFamily="18" charset="0"/>
                            </a:rPr>
                          </m:ctrlPr>
                        </m:sSubPr>
                        <m:e>
                          <m:r>
                            <a:rPr lang="en-US" altLang="en-US" sz="2000" b="1" i="1" smtClean="0">
                              <a:solidFill>
                                <a:srgbClr val="C00000"/>
                              </a:solidFill>
                              <a:latin typeface="Cambria Math" panose="02040503050406030204" pitchFamily="18" charset="0"/>
                            </a:rPr>
                            <m:t>𝒆</m:t>
                          </m:r>
                        </m:e>
                        <m:sub>
                          <m:r>
                            <a:rPr lang="en-US" altLang="en-US" sz="2000" b="1" i="1" smtClean="0">
                              <a:solidFill>
                                <a:srgbClr val="C00000"/>
                              </a:solidFill>
                              <a:latin typeface="Cambria Math" panose="02040503050406030204" pitchFamily="18" charset="0"/>
                            </a:rPr>
                            <m:t>𝒎</m:t>
                          </m:r>
                        </m:sub>
                      </m:sSub>
                    </m:oMath>
                  </m:oMathPara>
                </a14:m>
                <a:endParaRPr lang="en-US" altLang="en-US" sz="2000" b="1" dirty="0">
                  <a:solidFill>
                    <a:srgbClr val="C00000"/>
                  </a:solidFill>
                </a:endParaRPr>
              </a:p>
            </p:txBody>
          </p:sp>
        </mc:Choice>
        <mc:Fallback xmlns="">
          <p:sp>
            <p:nvSpPr>
              <p:cNvPr id="35" name="Oval 50">
                <a:extLst>
                  <a:ext uri="{FF2B5EF4-FFF2-40B4-BE49-F238E27FC236}">
                    <a16:creationId xmlns:a16="http://schemas.microsoft.com/office/drawing/2014/main" id="{D7749F30-9B67-A10D-AA05-EEC4F1B65276}"/>
                  </a:ext>
                </a:extLst>
              </p:cNvPr>
              <p:cNvSpPr>
                <a:spLocks noRot="1" noChangeAspect="1" noMove="1" noResize="1" noEditPoints="1" noAdjustHandles="1" noChangeArrowheads="1" noChangeShapeType="1" noTextEdit="1"/>
              </p:cNvSpPr>
              <p:nvPr/>
            </p:nvSpPr>
            <p:spPr bwMode="auto">
              <a:xfrm>
                <a:off x="7090691" y="6100801"/>
                <a:ext cx="435031" cy="437783"/>
              </a:xfrm>
              <a:prstGeom prst="ellipse">
                <a:avLst/>
              </a:prstGeom>
              <a:blipFill>
                <a:blip r:embed="rId15"/>
                <a:stretch>
                  <a:fillRect l="-6757"/>
                </a:stretch>
              </a:blipFill>
              <a:ln w="9525">
                <a:solidFill>
                  <a:schemeClr val="tx1"/>
                </a:solidFill>
                <a:round/>
                <a:headEnd/>
                <a:tailEnd/>
              </a:ln>
              <a:effec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Oval 50">
                <a:extLst>
                  <a:ext uri="{FF2B5EF4-FFF2-40B4-BE49-F238E27FC236}">
                    <a16:creationId xmlns:a16="http://schemas.microsoft.com/office/drawing/2014/main" id="{2AE7F1C5-D8F4-592A-20F5-361D5F9E9A33}"/>
                  </a:ext>
                </a:extLst>
              </p:cNvPr>
              <p:cNvSpPr>
                <a:spLocks noChangeAspect="1" noChangeArrowheads="1"/>
              </p:cNvSpPr>
              <p:nvPr/>
            </p:nvSpPr>
            <p:spPr bwMode="auto">
              <a:xfrm>
                <a:off x="7185183" y="4976556"/>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sSub>
                        <m:sSubPr>
                          <m:ctrlPr>
                            <a:rPr lang="en-US" altLang="en-US" sz="2000" b="1" i="1" smtClean="0">
                              <a:solidFill>
                                <a:srgbClr val="C00000"/>
                              </a:solidFill>
                              <a:latin typeface="Cambria Math" panose="02040503050406030204" pitchFamily="18" charset="0"/>
                            </a:rPr>
                          </m:ctrlPr>
                        </m:sSubPr>
                        <m:e>
                          <m:r>
                            <a:rPr lang="en-US" altLang="en-US" sz="2000" b="1" i="1" smtClean="0">
                              <a:solidFill>
                                <a:srgbClr val="C00000"/>
                              </a:solidFill>
                              <a:latin typeface="Cambria Math" panose="02040503050406030204" pitchFamily="18" charset="0"/>
                            </a:rPr>
                            <m:t>𝒆</m:t>
                          </m:r>
                        </m:e>
                        <m:sub>
                          <m:r>
                            <a:rPr lang="en-US" altLang="en-US" sz="2000" b="1" i="1" smtClean="0">
                              <a:solidFill>
                                <a:srgbClr val="C00000"/>
                              </a:solidFill>
                              <a:latin typeface="Cambria Math" panose="02040503050406030204" pitchFamily="18" charset="0"/>
                            </a:rPr>
                            <m:t>𝟑</m:t>
                          </m:r>
                        </m:sub>
                      </m:sSub>
                    </m:oMath>
                  </m:oMathPara>
                </a14:m>
                <a:endParaRPr lang="en-US" altLang="en-US" sz="2000" b="1" dirty="0">
                  <a:solidFill>
                    <a:srgbClr val="C00000"/>
                  </a:solidFill>
                </a:endParaRPr>
              </a:p>
            </p:txBody>
          </p:sp>
        </mc:Choice>
        <mc:Fallback xmlns="">
          <p:sp>
            <p:nvSpPr>
              <p:cNvPr id="36" name="Oval 50">
                <a:extLst>
                  <a:ext uri="{FF2B5EF4-FFF2-40B4-BE49-F238E27FC236}">
                    <a16:creationId xmlns:a16="http://schemas.microsoft.com/office/drawing/2014/main" id="{2AE7F1C5-D8F4-592A-20F5-361D5F9E9A33}"/>
                  </a:ext>
                </a:extLst>
              </p:cNvPr>
              <p:cNvSpPr>
                <a:spLocks noRot="1" noChangeAspect="1" noMove="1" noResize="1" noEditPoints="1" noAdjustHandles="1" noChangeArrowheads="1" noChangeShapeType="1" noTextEdit="1"/>
              </p:cNvSpPr>
              <p:nvPr/>
            </p:nvSpPr>
            <p:spPr bwMode="auto">
              <a:xfrm>
                <a:off x="7185183" y="4976556"/>
                <a:ext cx="435031" cy="437783"/>
              </a:xfrm>
              <a:prstGeom prst="ellipse">
                <a:avLst/>
              </a:prstGeom>
              <a:blipFill>
                <a:blip r:embed="rId16"/>
                <a:stretch>
                  <a:fillRect l="-1370"/>
                </a:stretch>
              </a:blipFill>
              <a:ln w="9525">
                <a:solidFill>
                  <a:schemeClr val="tx1"/>
                </a:solidFill>
                <a:round/>
                <a:headEnd/>
                <a:tailEnd/>
              </a:ln>
              <a:effec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Oval 50">
                <a:extLst>
                  <a:ext uri="{FF2B5EF4-FFF2-40B4-BE49-F238E27FC236}">
                    <a16:creationId xmlns:a16="http://schemas.microsoft.com/office/drawing/2014/main" id="{8D471935-0346-E8B1-3F4F-902ADEAB15CA}"/>
                  </a:ext>
                </a:extLst>
              </p:cNvPr>
              <p:cNvSpPr>
                <a:spLocks noChangeAspect="1" noChangeArrowheads="1"/>
              </p:cNvSpPr>
              <p:nvPr/>
            </p:nvSpPr>
            <p:spPr bwMode="auto">
              <a:xfrm>
                <a:off x="10617639" y="2624312"/>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sSub>
                        <m:sSubPr>
                          <m:ctrlPr>
                            <a:rPr lang="en-US" altLang="en-US" sz="2000" b="1" i="1" smtClean="0">
                              <a:solidFill>
                                <a:srgbClr val="C00000"/>
                              </a:solidFill>
                              <a:latin typeface="Cambria Math" panose="02040503050406030204" pitchFamily="18" charset="0"/>
                            </a:rPr>
                          </m:ctrlPr>
                        </m:sSubPr>
                        <m:e>
                          <m:r>
                            <a:rPr lang="en-US" altLang="en-US" sz="2000" b="1" i="1" smtClean="0">
                              <a:solidFill>
                                <a:srgbClr val="C00000"/>
                              </a:solidFill>
                              <a:latin typeface="Cambria Math" panose="02040503050406030204" pitchFamily="18" charset="0"/>
                            </a:rPr>
                            <m:t>𝒔</m:t>
                          </m:r>
                        </m:e>
                        <m:sub>
                          <m:r>
                            <a:rPr lang="en-US" altLang="en-US" sz="2000" b="1" i="1" smtClean="0">
                              <a:solidFill>
                                <a:srgbClr val="C00000"/>
                              </a:solidFill>
                              <a:latin typeface="Cambria Math" panose="02040503050406030204" pitchFamily="18" charset="0"/>
                            </a:rPr>
                            <m:t>𝟏</m:t>
                          </m:r>
                        </m:sub>
                      </m:sSub>
                    </m:oMath>
                  </m:oMathPara>
                </a14:m>
                <a:endParaRPr lang="en-US" altLang="en-US" sz="2000" b="1" dirty="0">
                  <a:solidFill>
                    <a:srgbClr val="C00000"/>
                  </a:solidFill>
                </a:endParaRPr>
              </a:p>
            </p:txBody>
          </p:sp>
        </mc:Choice>
        <mc:Fallback xmlns="">
          <p:sp>
            <p:nvSpPr>
              <p:cNvPr id="37" name="Oval 50">
                <a:extLst>
                  <a:ext uri="{FF2B5EF4-FFF2-40B4-BE49-F238E27FC236}">
                    <a16:creationId xmlns:a16="http://schemas.microsoft.com/office/drawing/2014/main" id="{8D471935-0346-E8B1-3F4F-902ADEAB15CA}"/>
                  </a:ext>
                </a:extLst>
              </p:cNvPr>
              <p:cNvSpPr>
                <a:spLocks noRot="1" noChangeAspect="1" noMove="1" noResize="1" noEditPoints="1" noAdjustHandles="1" noChangeArrowheads="1" noChangeShapeType="1" noTextEdit="1"/>
              </p:cNvSpPr>
              <p:nvPr/>
            </p:nvSpPr>
            <p:spPr bwMode="auto">
              <a:xfrm>
                <a:off x="10617639" y="2624312"/>
                <a:ext cx="435031" cy="437783"/>
              </a:xfrm>
              <a:prstGeom prst="ellipse">
                <a:avLst/>
              </a:prstGeom>
              <a:blipFill>
                <a:blip r:embed="rId17"/>
                <a:stretch>
                  <a:fillRect/>
                </a:stretch>
              </a:blipFill>
              <a:ln w="9525">
                <a:solidFill>
                  <a:schemeClr val="tx1"/>
                </a:solidFill>
                <a:round/>
                <a:headEnd/>
                <a:tailEnd/>
              </a:ln>
              <a:effec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Oval 50">
                <a:extLst>
                  <a:ext uri="{FF2B5EF4-FFF2-40B4-BE49-F238E27FC236}">
                    <a16:creationId xmlns:a16="http://schemas.microsoft.com/office/drawing/2014/main" id="{9F138472-2289-F401-3C94-4E477D9B32D0}"/>
                  </a:ext>
                </a:extLst>
              </p:cNvPr>
              <p:cNvSpPr>
                <a:spLocks noChangeAspect="1" noChangeArrowheads="1"/>
              </p:cNvSpPr>
              <p:nvPr/>
            </p:nvSpPr>
            <p:spPr bwMode="auto">
              <a:xfrm>
                <a:off x="10400123" y="3866014"/>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sSub>
                        <m:sSubPr>
                          <m:ctrlPr>
                            <a:rPr lang="en-US" altLang="en-US" sz="2000" b="1" i="1" smtClean="0">
                              <a:solidFill>
                                <a:srgbClr val="C00000"/>
                              </a:solidFill>
                              <a:latin typeface="Cambria Math" panose="02040503050406030204" pitchFamily="18" charset="0"/>
                            </a:rPr>
                          </m:ctrlPr>
                        </m:sSubPr>
                        <m:e>
                          <m:r>
                            <a:rPr lang="en-US" altLang="en-US" sz="2000" b="1" i="1" smtClean="0">
                              <a:solidFill>
                                <a:srgbClr val="C00000"/>
                              </a:solidFill>
                              <a:latin typeface="Cambria Math" panose="02040503050406030204" pitchFamily="18" charset="0"/>
                            </a:rPr>
                            <m:t>𝒔</m:t>
                          </m:r>
                        </m:e>
                        <m:sub>
                          <m:r>
                            <a:rPr lang="en-US" altLang="en-US" sz="2000" b="1" i="1" smtClean="0">
                              <a:solidFill>
                                <a:srgbClr val="C00000"/>
                              </a:solidFill>
                              <a:latin typeface="Cambria Math" panose="02040503050406030204" pitchFamily="18" charset="0"/>
                            </a:rPr>
                            <m:t>𝟐</m:t>
                          </m:r>
                        </m:sub>
                      </m:sSub>
                    </m:oMath>
                  </m:oMathPara>
                </a14:m>
                <a:endParaRPr lang="en-US" altLang="en-US" sz="2000" b="1" dirty="0">
                  <a:solidFill>
                    <a:srgbClr val="C00000"/>
                  </a:solidFill>
                </a:endParaRPr>
              </a:p>
            </p:txBody>
          </p:sp>
        </mc:Choice>
        <mc:Fallback xmlns="">
          <p:sp>
            <p:nvSpPr>
              <p:cNvPr id="38" name="Oval 50">
                <a:extLst>
                  <a:ext uri="{FF2B5EF4-FFF2-40B4-BE49-F238E27FC236}">
                    <a16:creationId xmlns:a16="http://schemas.microsoft.com/office/drawing/2014/main" id="{9F138472-2289-F401-3C94-4E477D9B32D0}"/>
                  </a:ext>
                </a:extLst>
              </p:cNvPr>
              <p:cNvSpPr>
                <a:spLocks noRot="1" noChangeAspect="1" noMove="1" noResize="1" noEditPoints="1" noAdjustHandles="1" noChangeArrowheads="1" noChangeShapeType="1" noTextEdit="1"/>
              </p:cNvSpPr>
              <p:nvPr/>
            </p:nvSpPr>
            <p:spPr bwMode="auto">
              <a:xfrm>
                <a:off x="10400123" y="3866014"/>
                <a:ext cx="435031" cy="437783"/>
              </a:xfrm>
              <a:prstGeom prst="ellipse">
                <a:avLst/>
              </a:prstGeom>
              <a:blipFill>
                <a:blip r:embed="rId18"/>
                <a:stretch>
                  <a:fillRect/>
                </a:stretch>
              </a:blipFill>
              <a:ln w="9525">
                <a:solidFill>
                  <a:schemeClr val="tx1"/>
                </a:solidFill>
                <a:round/>
                <a:headEnd/>
                <a:tailEnd/>
              </a:ln>
              <a:effec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Oval 50">
                <a:extLst>
                  <a:ext uri="{FF2B5EF4-FFF2-40B4-BE49-F238E27FC236}">
                    <a16:creationId xmlns:a16="http://schemas.microsoft.com/office/drawing/2014/main" id="{17350761-4488-7758-1FED-EB851A31CE0D}"/>
                  </a:ext>
                </a:extLst>
              </p:cNvPr>
              <p:cNvSpPr>
                <a:spLocks noChangeAspect="1" noChangeArrowheads="1"/>
              </p:cNvSpPr>
              <p:nvPr/>
            </p:nvSpPr>
            <p:spPr bwMode="auto">
              <a:xfrm>
                <a:off x="10494035" y="4921315"/>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sSub>
                        <m:sSubPr>
                          <m:ctrlPr>
                            <a:rPr lang="en-US" altLang="en-US" sz="2000" b="1" i="1" smtClean="0">
                              <a:solidFill>
                                <a:srgbClr val="C00000"/>
                              </a:solidFill>
                              <a:latin typeface="Cambria Math" panose="02040503050406030204" pitchFamily="18" charset="0"/>
                            </a:rPr>
                          </m:ctrlPr>
                        </m:sSubPr>
                        <m:e>
                          <m:r>
                            <a:rPr lang="en-US" altLang="en-US" sz="2000" b="1" i="1" smtClean="0">
                              <a:solidFill>
                                <a:srgbClr val="C00000"/>
                              </a:solidFill>
                              <a:latin typeface="Cambria Math" panose="02040503050406030204" pitchFamily="18" charset="0"/>
                            </a:rPr>
                            <m:t>𝒔</m:t>
                          </m:r>
                        </m:e>
                        <m:sub>
                          <m:r>
                            <a:rPr lang="en-US" altLang="en-US" sz="2000" b="1" i="1" smtClean="0">
                              <a:solidFill>
                                <a:srgbClr val="C00000"/>
                              </a:solidFill>
                              <a:latin typeface="Cambria Math" panose="02040503050406030204" pitchFamily="18" charset="0"/>
                            </a:rPr>
                            <m:t>𝟑</m:t>
                          </m:r>
                        </m:sub>
                      </m:sSub>
                    </m:oMath>
                  </m:oMathPara>
                </a14:m>
                <a:endParaRPr lang="en-US" altLang="en-US" sz="2000" b="1" dirty="0">
                  <a:solidFill>
                    <a:srgbClr val="C00000"/>
                  </a:solidFill>
                </a:endParaRPr>
              </a:p>
            </p:txBody>
          </p:sp>
        </mc:Choice>
        <mc:Fallback xmlns="">
          <p:sp>
            <p:nvSpPr>
              <p:cNvPr id="39" name="Oval 50">
                <a:extLst>
                  <a:ext uri="{FF2B5EF4-FFF2-40B4-BE49-F238E27FC236}">
                    <a16:creationId xmlns:a16="http://schemas.microsoft.com/office/drawing/2014/main" id="{17350761-4488-7758-1FED-EB851A31CE0D}"/>
                  </a:ext>
                </a:extLst>
              </p:cNvPr>
              <p:cNvSpPr>
                <a:spLocks noRot="1" noChangeAspect="1" noMove="1" noResize="1" noEditPoints="1" noAdjustHandles="1" noChangeArrowheads="1" noChangeShapeType="1" noTextEdit="1"/>
              </p:cNvSpPr>
              <p:nvPr/>
            </p:nvSpPr>
            <p:spPr bwMode="auto">
              <a:xfrm>
                <a:off x="10494035" y="4921315"/>
                <a:ext cx="435031" cy="437783"/>
              </a:xfrm>
              <a:prstGeom prst="ellipse">
                <a:avLst/>
              </a:prstGeom>
              <a:blipFill>
                <a:blip r:embed="rId19"/>
                <a:stretch>
                  <a:fillRect/>
                </a:stretch>
              </a:blipFill>
              <a:ln w="9525">
                <a:solidFill>
                  <a:schemeClr val="tx1"/>
                </a:solidFill>
                <a:round/>
                <a:headEnd/>
                <a:tailEnd/>
              </a:ln>
              <a:effec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Oval 50">
                <a:extLst>
                  <a:ext uri="{FF2B5EF4-FFF2-40B4-BE49-F238E27FC236}">
                    <a16:creationId xmlns:a16="http://schemas.microsoft.com/office/drawing/2014/main" id="{036BBF1F-B6A7-8B14-2627-1179575542D8}"/>
                  </a:ext>
                </a:extLst>
              </p:cNvPr>
              <p:cNvSpPr>
                <a:spLocks noChangeAspect="1" noChangeArrowheads="1"/>
              </p:cNvSpPr>
              <p:nvPr/>
            </p:nvSpPr>
            <p:spPr bwMode="auto">
              <a:xfrm>
                <a:off x="10510222" y="6006569"/>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sSub>
                        <m:sSubPr>
                          <m:ctrlPr>
                            <a:rPr lang="en-US" altLang="en-US" sz="2000" b="1" i="1" smtClean="0">
                              <a:solidFill>
                                <a:srgbClr val="C00000"/>
                              </a:solidFill>
                              <a:latin typeface="Cambria Math" panose="02040503050406030204" pitchFamily="18" charset="0"/>
                            </a:rPr>
                          </m:ctrlPr>
                        </m:sSubPr>
                        <m:e>
                          <m:r>
                            <a:rPr lang="en-US" altLang="en-US" sz="2000" b="1" i="1" smtClean="0">
                              <a:solidFill>
                                <a:srgbClr val="C00000"/>
                              </a:solidFill>
                              <a:latin typeface="Cambria Math" panose="02040503050406030204" pitchFamily="18" charset="0"/>
                            </a:rPr>
                            <m:t>𝒔</m:t>
                          </m:r>
                        </m:e>
                        <m:sub>
                          <m:r>
                            <a:rPr lang="en-US" altLang="en-US" sz="2000" b="1" i="1" smtClean="0">
                              <a:solidFill>
                                <a:srgbClr val="C00000"/>
                              </a:solidFill>
                              <a:latin typeface="Cambria Math" panose="02040503050406030204" pitchFamily="18" charset="0"/>
                            </a:rPr>
                            <m:t>𝒏</m:t>
                          </m:r>
                        </m:sub>
                      </m:sSub>
                    </m:oMath>
                  </m:oMathPara>
                </a14:m>
                <a:endParaRPr lang="en-US" altLang="en-US" sz="2000" b="1" dirty="0">
                  <a:solidFill>
                    <a:srgbClr val="C00000"/>
                  </a:solidFill>
                </a:endParaRPr>
              </a:p>
            </p:txBody>
          </p:sp>
        </mc:Choice>
        <mc:Fallback xmlns="">
          <p:sp>
            <p:nvSpPr>
              <p:cNvPr id="40" name="Oval 50">
                <a:extLst>
                  <a:ext uri="{FF2B5EF4-FFF2-40B4-BE49-F238E27FC236}">
                    <a16:creationId xmlns:a16="http://schemas.microsoft.com/office/drawing/2014/main" id="{036BBF1F-B6A7-8B14-2627-1179575542D8}"/>
                  </a:ext>
                </a:extLst>
              </p:cNvPr>
              <p:cNvSpPr>
                <a:spLocks noRot="1" noChangeAspect="1" noMove="1" noResize="1" noEditPoints="1" noAdjustHandles="1" noChangeArrowheads="1" noChangeShapeType="1" noTextEdit="1"/>
              </p:cNvSpPr>
              <p:nvPr/>
            </p:nvSpPr>
            <p:spPr bwMode="auto">
              <a:xfrm>
                <a:off x="10510222" y="6006569"/>
                <a:ext cx="435031" cy="437783"/>
              </a:xfrm>
              <a:prstGeom prst="ellipse">
                <a:avLst/>
              </a:prstGeom>
              <a:blipFill>
                <a:blip r:embed="rId20"/>
                <a:stretch>
                  <a:fillRect/>
                </a:stretch>
              </a:blipFill>
              <a:ln w="9525">
                <a:solidFill>
                  <a:schemeClr val="tx1"/>
                </a:solidFill>
                <a:round/>
                <a:headEnd/>
                <a:tailEnd/>
              </a:ln>
              <a:effectLst/>
            </p:spPr>
            <p:txBody>
              <a:bodyPr/>
              <a:lstStyle/>
              <a:p>
                <a:r>
                  <a:rPr lang="en-US">
                    <a:noFill/>
                  </a:rPr>
                  <a:t> </a:t>
                </a:r>
              </a:p>
            </p:txBody>
          </p:sp>
        </mc:Fallback>
      </mc:AlternateContent>
      <p:cxnSp>
        <p:nvCxnSpPr>
          <p:cNvPr id="41" name="Straight Connector 40">
            <a:extLst>
              <a:ext uri="{FF2B5EF4-FFF2-40B4-BE49-F238E27FC236}">
                <a16:creationId xmlns:a16="http://schemas.microsoft.com/office/drawing/2014/main" id="{9C004C3C-A9F9-D20C-8AD2-A39F9C404C53}"/>
              </a:ext>
            </a:extLst>
          </p:cNvPr>
          <p:cNvCxnSpPr>
            <a:cxnSpLocks/>
            <a:stCxn id="29" idx="6"/>
            <a:endCxn id="37" idx="2"/>
          </p:cNvCxnSpPr>
          <p:nvPr/>
        </p:nvCxnSpPr>
        <p:spPr>
          <a:xfrm>
            <a:off x="7734361" y="2756480"/>
            <a:ext cx="2883278" cy="86724"/>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338890FF-3314-9220-A4B2-6389A0E3A279}"/>
              </a:ext>
            </a:extLst>
          </p:cNvPr>
          <p:cNvCxnSpPr>
            <a:cxnSpLocks/>
            <a:stCxn id="29" idx="5"/>
            <a:endCxn id="39" idx="1"/>
          </p:cNvCxnSpPr>
          <p:nvPr/>
        </p:nvCxnSpPr>
        <p:spPr>
          <a:xfrm>
            <a:off x="7670652" y="2911259"/>
            <a:ext cx="2887092" cy="2074168"/>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226B7563-6A59-D1D1-EEDC-C64DBCAA3892}"/>
              </a:ext>
            </a:extLst>
          </p:cNvPr>
          <p:cNvCxnSpPr>
            <a:cxnSpLocks/>
            <a:stCxn id="29" idx="4"/>
            <a:endCxn id="40" idx="2"/>
          </p:cNvCxnSpPr>
          <p:nvPr/>
        </p:nvCxnSpPr>
        <p:spPr>
          <a:xfrm>
            <a:off x="7516846" y="2975371"/>
            <a:ext cx="2993376" cy="3250090"/>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4D9A66A1-69C5-4960-ED39-7869F736A558}"/>
              </a:ext>
            </a:extLst>
          </p:cNvPr>
          <p:cNvCxnSpPr>
            <a:cxnSpLocks/>
            <a:stCxn id="34" idx="6"/>
            <a:endCxn id="37" idx="3"/>
          </p:cNvCxnSpPr>
          <p:nvPr/>
        </p:nvCxnSpPr>
        <p:spPr>
          <a:xfrm flipV="1">
            <a:off x="7837730" y="2997983"/>
            <a:ext cx="2843618" cy="1007208"/>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FF21027A-649F-89EB-1765-A24B5D4FF2EB}"/>
              </a:ext>
            </a:extLst>
          </p:cNvPr>
          <p:cNvCxnSpPr>
            <a:cxnSpLocks/>
            <a:stCxn id="36" idx="6"/>
            <a:endCxn id="39" idx="2"/>
          </p:cNvCxnSpPr>
          <p:nvPr/>
        </p:nvCxnSpPr>
        <p:spPr>
          <a:xfrm flipV="1">
            <a:off x="7620214" y="5140207"/>
            <a:ext cx="2873821" cy="55241"/>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E18FF923-9519-42B0-C19B-FB73FD2B318E}"/>
              </a:ext>
            </a:extLst>
          </p:cNvPr>
          <p:cNvCxnSpPr>
            <a:cxnSpLocks/>
            <a:stCxn id="36" idx="7"/>
            <a:endCxn id="38" idx="2"/>
          </p:cNvCxnSpPr>
          <p:nvPr/>
        </p:nvCxnSpPr>
        <p:spPr>
          <a:xfrm flipV="1">
            <a:off x="7556505" y="4084906"/>
            <a:ext cx="2843618" cy="955762"/>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6" name="Straight Connector 85">
            <a:extLst>
              <a:ext uri="{FF2B5EF4-FFF2-40B4-BE49-F238E27FC236}">
                <a16:creationId xmlns:a16="http://schemas.microsoft.com/office/drawing/2014/main" id="{3F98ACCE-D0EE-8948-16EB-FF8BA500DBAB}"/>
              </a:ext>
            </a:extLst>
          </p:cNvPr>
          <p:cNvCxnSpPr>
            <a:cxnSpLocks/>
            <a:stCxn id="36" idx="5"/>
          </p:cNvCxnSpPr>
          <p:nvPr/>
        </p:nvCxnSpPr>
        <p:spPr>
          <a:xfrm>
            <a:off x="7556505" y="5350227"/>
            <a:ext cx="2861301" cy="316926"/>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9" name="Straight Connector 88">
            <a:extLst>
              <a:ext uri="{FF2B5EF4-FFF2-40B4-BE49-F238E27FC236}">
                <a16:creationId xmlns:a16="http://schemas.microsoft.com/office/drawing/2014/main" id="{E812C9A9-5A13-12CD-4475-D6C435271348}"/>
              </a:ext>
            </a:extLst>
          </p:cNvPr>
          <p:cNvCxnSpPr>
            <a:cxnSpLocks/>
            <a:stCxn id="35" idx="6"/>
            <a:endCxn id="37" idx="4"/>
          </p:cNvCxnSpPr>
          <p:nvPr/>
        </p:nvCxnSpPr>
        <p:spPr>
          <a:xfrm flipV="1">
            <a:off x="7525722" y="3062095"/>
            <a:ext cx="3309433" cy="3257598"/>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2" name="Straight Connector 91">
            <a:extLst>
              <a:ext uri="{FF2B5EF4-FFF2-40B4-BE49-F238E27FC236}">
                <a16:creationId xmlns:a16="http://schemas.microsoft.com/office/drawing/2014/main" id="{053531C7-5E49-C3CF-2AC8-381D5DE52E6D}"/>
              </a:ext>
            </a:extLst>
          </p:cNvPr>
          <p:cNvCxnSpPr>
            <a:cxnSpLocks/>
            <a:stCxn id="35" idx="6"/>
            <a:endCxn id="40" idx="2"/>
          </p:cNvCxnSpPr>
          <p:nvPr/>
        </p:nvCxnSpPr>
        <p:spPr>
          <a:xfrm flipV="1">
            <a:off x="7525722" y="6225461"/>
            <a:ext cx="2984500" cy="94232"/>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3447BC8E-F384-628D-D4CB-D0AEBE1AA131}"/>
                  </a:ext>
                </a:extLst>
              </p:cNvPr>
              <p:cNvSpPr txBox="1"/>
              <p:nvPr/>
            </p:nvSpPr>
            <p:spPr>
              <a:xfrm>
                <a:off x="8799028" y="2624312"/>
                <a:ext cx="365805"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95" name="TextBox 94">
                <a:extLst>
                  <a:ext uri="{FF2B5EF4-FFF2-40B4-BE49-F238E27FC236}">
                    <a16:creationId xmlns:a16="http://schemas.microsoft.com/office/drawing/2014/main" id="{3447BC8E-F384-628D-D4CB-D0AEBE1AA131}"/>
                  </a:ext>
                </a:extLst>
              </p:cNvPr>
              <p:cNvSpPr txBox="1">
                <a:spLocks noRot="1" noChangeAspect="1" noMove="1" noResize="1" noEditPoints="1" noAdjustHandles="1" noChangeArrowheads="1" noChangeShapeType="1" noTextEdit="1"/>
              </p:cNvSpPr>
              <p:nvPr/>
            </p:nvSpPr>
            <p:spPr>
              <a:xfrm>
                <a:off x="8799028" y="2624312"/>
                <a:ext cx="365805"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B6E4B190-E598-284D-2833-9E129255530E}"/>
                  </a:ext>
                </a:extLst>
              </p:cNvPr>
              <p:cNvSpPr txBox="1"/>
              <p:nvPr/>
            </p:nvSpPr>
            <p:spPr>
              <a:xfrm>
                <a:off x="9451158" y="3096321"/>
                <a:ext cx="365805"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96" name="TextBox 95">
                <a:extLst>
                  <a:ext uri="{FF2B5EF4-FFF2-40B4-BE49-F238E27FC236}">
                    <a16:creationId xmlns:a16="http://schemas.microsoft.com/office/drawing/2014/main" id="{B6E4B190-E598-284D-2833-9E129255530E}"/>
                  </a:ext>
                </a:extLst>
              </p:cNvPr>
              <p:cNvSpPr txBox="1">
                <a:spLocks noRot="1" noChangeAspect="1" noMove="1" noResize="1" noEditPoints="1" noAdjustHandles="1" noChangeArrowheads="1" noChangeShapeType="1" noTextEdit="1"/>
              </p:cNvSpPr>
              <p:nvPr/>
            </p:nvSpPr>
            <p:spPr>
              <a:xfrm>
                <a:off x="9451158" y="3096321"/>
                <a:ext cx="365805" cy="369332"/>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11D6EBE6-DF23-C560-2A7B-E0BD2CF25D47}"/>
                  </a:ext>
                </a:extLst>
              </p:cNvPr>
              <p:cNvSpPr txBox="1"/>
              <p:nvPr/>
            </p:nvSpPr>
            <p:spPr>
              <a:xfrm>
                <a:off x="8981930" y="3733313"/>
                <a:ext cx="365805"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97" name="TextBox 96">
                <a:extLst>
                  <a:ext uri="{FF2B5EF4-FFF2-40B4-BE49-F238E27FC236}">
                    <a16:creationId xmlns:a16="http://schemas.microsoft.com/office/drawing/2014/main" id="{11D6EBE6-DF23-C560-2A7B-E0BD2CF25D47}"/>
                  </a:ext>
                </a:extLst>
              </p:cNvPr>
              <p:cNvSpPr txBox="1">
                <a:spLocks noRot="1" noChangeAspect="1" noMove="1" noResize="1" noEditPoints="1" noAdjustHandles="1" noChangeArrowheads="1" noChangeShapeType="1" noTextEdit="1"/>
              </p:cNvSpPr>
              <p:nvPr/>
            </p:nvSpPr>
            <p:spPr>
              <a:xfrm>
                <a:off x="8981930" y="3733313"/>
                <a:ext cx="365805" cy="369332"/>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8" name="TextBox 97">
                <a:extLst>
                  <a:ext uri="{FF2B5EF4-FFF2-40B4-BE49-F238E27FC236}">
                    <a16:creationId xmlns:a16="http://schemas.microsoft.com/office/drawing/2014/main" id="{CB29F108-AB15-671C-6FB5-A0A2BB4C07D0}"/>
                  </a:ext>
                </a:extLst>
              </p:cNvPr>
              <p:cNvSpPr txBox="1"/>
              <p:nvPr/>
            </p:nvSpPr>
            <p:spPr>
              <a:xfrm>
                <a:off x="8474094" y="4027377"/>
                <a:ext cx="365805"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98" name="TextBox 97">
                <a:extLst>
                  <a:ext uri="{FF2B5EF4-FFF2-40B4-BE49-F238E27FC236}">
                    <a16:creationId xmlns:a16="http://schemas.microsoft.com/office/drawing/2014/main" id="{CB29F108-AB15-671C-6FB5-A0A2BB4C07D0}"/>
                  </a:ext>
                </a:extLst>
              </p:cNvPr>
              <p:cNvSpPr txBox="1">
                <a:spLocks noRot="1" noChangeAspect="1" noMove="1" noResize="1" noEditPoints="1" noAdjustHandles="1" noChangeArrowheads="1" noChangeShapeType="1" noTextEdit="1"/>
              </p:cNvSpPr>
              <p:nvPr/>
            </p:nvSpPr>
            <p:spPr>
              <a:xfrm>
                <a:off x="8474094" y="4027377"/>
                <a:ext cx="365805" cy="369332"/>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D07336D9-40CD-A9F1-AEB0-B67DB947736D}"/>
                  </a:ext>
                </a:extLst>
              </p:cNvPr>
              <p:cNvSpPr txBox="1"/>
              <p:nvPr/>
            </p:nvSpPr>
            <p:spPr>
              <a:xfrm>
                <a:off x="8176968" y="4521104"/>
                <a:ext cx="365805"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99" name="TextBox 98">
                <a:extLst>
                  <a:ext uri="{FF2B5EF4-FFF2-40B4-BE49-F238E27FC236}">
                    <a16:creationId xmlns:a16="http://schemas.microsoft.com/office/drawing/2014/main" id="{D07336D9-40CD-A9F1-AEB0-B67DB947736D}"/>
                  </a:ext>
                </a:extLst>
              </p:cNvPr>
              <p:cNvSpPr txBox="1">
                <a:spLocks noRot="1" noChangeAspect="1" noMove="1" noResize="1" noEditPoints="1" noAdjustHandles="1" noChangeArrowheads="1" noChangeShapeType="1" noTextEdit="1"/>
              </p:cNvSpPr>
              <p:nvPr/>
            </p:nvSpPr>
            <p:spPr>
              <a:xfrm>
                <a:off x="8176968" y="4521104"/>
                <a:ext cx="365805"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E01684D5-A453-21FC-3E59-6052A1E0A450}"/>
                  </a:ext>
                </a:extLst>
              </p:cNvPr>
              <p:cNvSpPr txBox="1"/>
              <p:nvPr/>
            </p:nvSpPr>
            <p:spPr>
              <a:xfrm>
                <a:off x="8931295" y="5019653"/>
                <a:ext cx="365805"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100" name="TextBox 99">
                <a:extLst>
                  <a:ext uri="{FF2B5EF4-FFF2-40B4-BE49-F238E27FC236}">
                    <a16:creationId xmlns:a16="http://schemas.microsoft.com/office/drawing/2014/main" id="{E01684D5-A453-21FC-3E59-6052A1E0A450}"/>
                  </a:ext>
                </a:extLst>
              </p:cNvPr>
              <p:cNvSpPr txBox="1">
                <a:spLocks noRot="1" noChangeAspect="1" noMove="1" noResize="1" noEditPoints="1" noAdjustHandles="1" noChangeArrowheads="1" noChangeShapeType="1" noTextEdit="1"/>
              </p:cNvSpPr>
              <p:nvPr/>
            </p:nvSpPr>
            <p:spPr>
              <a:xfrm>
                <a:off x="8931295" y="5019653"/>
                <a:ext cx="365805"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1" name="TextBox 100">
                <a:extLst>
                  <a:ext uri="{FF2B5EF4-FFF2-40B4-BE49-F238E27FC236}">
                    <a16:creationId xmlns:a16="http://schemas.microsoft.com/office/drawing/2014/main" id="{344A6B22-9FC3-154B-8F6D-BE9EA9E5D48B}"/>
                  </a:ext>
                </a:extLst>
              </p:cNvPr>
              <p:cNvSpPr txBox="1"/>
              <p:nvPr/>
            </p:nvSpPr>
            <p:spPr>
              <a:xfrm>
                <a:off x="8871778" y="5360383"/>
                <a:ext cx="365805"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101" name="TextBox 100">
                <a:extLst>
                  <a:ext uri="{FF2B5EF4-FFF2-40B4-BE49-F238E27FC236}">
                    <a16:creationId xmlns:a16="http://schemas.microsoft.com/office/drawing/2014/main" id="{344A6B22-9FC3-154B-8F6D-BE9EA9E5D48B}"/>
                  </a:ext>
                </a:extLst>
              </p:cNvPr>
              <p:cNvSpPr txBox="1">
                <a:spLocks noRot="1" noChangeAspect="1" noMove="1" noResize="1" noEditPoints="1" noAdjustHandles="1" noChangeArrowheads="1" noChangeShapeType="1" noTextEdit="1"/>
              </p:cNvSpPr>
              <p:nvPr/>
            </p:nvSpPr>
            <p:spPr>
              <a:xfrm>
                <a:off x="8871778" y="5360383"/>
                <a:ext cx="365805" cy="369332"/>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352F1FF6-4D4B-2F61-5F47-8D34BFD711A3}"/>
                  </a:ext>
                </a:extLst>
              </p:cNvPr>
              <p:cNvSpPr txBox="1"/>
              <p:nvPr/>
            </p:nvSpPr>
            <p:spPr>
              <a:xfrm>
                <a:off x="8993097" y="6072076"/>
                <a:ext cx="365805"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102" name="TextBox 101">
                <a:extLst>
                  <a:ext uri="{FF2B5EF4-FFF2-40B4-BE49-F238E27FC236}">
                    <a16:creationId xmlns:a16="http://schemas.microsoft.com/office/drawing/2014/main" id="{352F1FF6-4D4B-2F61-5F47-8D34BFD711A3}"/>
                  </a:ext>
                </a:extLst>
              </p:cNvPr>
              <p:cNvSpPr txBox="1">
                <a:spLocks noRot="1" noChangeAspect="1" noMove="1" noResize="1" noEditPoints="1" noAdjustHandles="1" noChangeArrowheads="1" noChangeShapeType="1" noTextEdit="1"/>
              </p:cNvSpPr>
              <p:nvPr/>
            </p:nvSpPr>
            <p:spPr>
              <a:xfrm>
                <a:off x="8993097" y="6072076"/>
                <a:ext cx="365805" cy="369332"/>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3" name="TextBox 102">
                <a:extLst>
                  <a:ext uri="{FF2B5EF4-FFF2-40B4-BE49-F238E27FC236}">
                    <a16:creationId xmlns:a16="http://schemas.microsoft.com/office/drawing/2014/main" id="{A2D0D2FD-6408-F5F7-6426-82A571129066}"/>
                  </a:ext>
                </a:extLst>
              </p:cNvPr>
              <p:cNvSpPr txBox="1"/>
              <p:nvPr/>
            </p:nvSpPr>
            <p:spPr>
              <a:xfrm>
                <a:off x="7814142" y="5711321"/>
                <a:ext cx="365805"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103" name="TextBox 102">
                <a:extLst>
                  <a:ext uri="{FF2B5EF4-FFF2-40B4-BE49-F238E27FC236}">
                    <a16:creationId xmlns:a16="http://schemas.microsoft.com/office/drawing/2014/main" id="{A2D0D2FD-6408-F5F7-6426-82A571129066}"/>
                  </a:ext>
                </a:extLst>
              </p:cNvPr>
              <p:cNvSpPr txBox="1">
                <a:spLocks noRot="1" noChangeAspect="1" noMove="1" noResize="1" noEditPoints="1" noAdjustHandles="1" noChangeArrowheads="1" noChangeShapeType="1" noTextEdit="1"/>
              </p:cNvSpPr>
              <p:nvPr/>
            </p:nvSpPr>
            <p:spPr>
              <a:xfrm>
                <a:off x="7814142" y="5711321"/>
                <a:ext cx="365805" cy="369332"/>
              </a:xfrm>
              <a:prstGeom prst="rect">
                <a:avLst/>
              </a:prstGeom>
              <a:blipFill>
                <a:blip r:embed="rId29"/>
                <a:stretch>
                  <a:fillRect/>
                </a:stretch>
              </a:blipFill>
            </p:spPr>
            <p:txBody>
              <a:bodyPr/>
              <a:lstStyle/>
              <a:p>
                <a:r>
                  <a:rPr lang="en-US">
                    <a:noFill/>
                  </a:rPr>
                  <a:t> </a:t>
                </a:r>
              </a:p>
            </p:txBody>
          </p:sp>
        </mc:Fallback>
      </mc:AlternateContent>
      <p:sp>
        <p:nvSpPr>
          <p:cNvPr id="104" name="TextBox 103">
            <a:extLst>
              <a:ext uri="{FF2B5EF4-FFF2-40B4-BE49-F238E27FC236}">
                <a16:creationId xmlns:a16="http://schemas.microsoft.com/office/drawing/2014/main" id="{4B5630C0-7280-ACC7-1C5C-D19954622640}"/>
              </a:ext>
            </a:extLst>
          </p:cNvPr>
          <p:cNvSpPr txBox="1"/>
          <p:nvPr/>
        </p:nvSpPr>
        <p:spPr>
          <a:xfrm>
            <a:off x="7096880" y="5278946"/>
            <a:ext cx="468398" cy="584775"/>
          </a:xfrm>
          <a:prstGeom prst="rect">
            <a:avLst/>
          </a:prstGeom>
          <a:noFill/>
        </p:spPr>
        <p:txBody>
          <a:bodyPr wrap="none" rtlCol="0">
            <a:spAutoFit/>
          </a:bodyPr>
          <a:lstStyle/>
          <a:p>
            <a:r>
              <a:rPr lang="en-US" sz="3200" dirty="0">
                <a:solidFill>
                  <a:srgbClr val="C00000"/>
                </a:solidFill>
              </a:rPr>
              <a:t>…</a:t>
            </a:r>
          </a:p>
        </p:txBody>
      </p:sp>
      <p:sp>
        <p:nvSpPr>
          <p:cNvPr id="106" name="TextBox 105">
            <a:extLst>
              <a:ext uri="{FF2B5EF4-FFF2-40B4-BE49-F238E27FC236}">
                <a16:creationId xmlns:a16="http://schemas.microsoft.com/office/drawing/2014/main" id="{D8922704-D26A-F3C9-2E05-1C411837F45A}"/>
              </a:ext>
            </a:extLst>
          </p:cNvPr>
          <p:cNvSpPr txBox="1"/>
          <p:nvPr/>
        </p:nvSpPr>
        <p:spPr>
          <a:xfrm>
            <a:off x="10438494" y="5270321"/>
            <a:ext cx="468398" cy="584775"/>
          </a:xfrm>
          <a:prstGeom prst="rect">
            <a:avLst/>
          </a:prstGeom>
          <a:noFill/>
        </p:spPr>
        <p:txBody>
          <a:bodyPr wrap="none" rtlCol="0">
            <a:spAutoFit/>
          </a:bodyPr>
          <a:lstStyle/>
          <a:p>
            <a:r>
              <a:rPr lang="en-US" sz="3200" dirty="0">
                <a:solidFill>
                  <a:srgbClr val="C00000"/>
                </a:solidFill>
              </a:rPr>
              <a:t>…</a:t>
            </a:r>
          </a:p>
        </p:txBody>
      </p:sp>
    </p:spTree>
    <p:extLst>
      <p:ext uri="{BB962C8B-B14F-4D97-AF65-F5344CB8AC3E}">
        <p14:creationId xmlns:p14="http://schemas.microsoft.com/office/powerpoint/2010/main" val="132661578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5806C-A9F3-0EA3-2AC9-98EF40B59B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2CEBAE-1576-6F6E-6042-300D75C004DA}"/>
              </a:ext>
            </a:extLst>
          </p:cNvPr>
          <p:cNvSpPr>
            <a:spLocks noGrp="1"/>
          </p:cNvSpPr>
          <p:nvPr>
            <p:ph type="title"/>
          </p:nvPr>
        </p:nvSpPr>
        <p:spPr/>
        <p:txBody>
          <a:bodyPr/>
          <a:lstStyle/>
          <a:p>
            <a:r>
              <a:rPr lang="en-US" dirty="0"/>
              <a:t>Reducing to Max Flow</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D004180-9D6E-53DC-D134-909DC029A8BE}"/>
                  </a:ext>
                </a:extLst>
              </p:cNvPr>
              <p:cNvSpPr>
                <a:spLocks noGrp="1"/>
              </p:cNvSpPr>
              <p:nvPr>
                <p:ph idx="1"/>
              </p:nvPr>
            </p:nvSpPr>
            <p:spPr>
              <a:xfrm>
                <a:off x="113275" y="1829522"/>
                <a:ext cx="5573935" cy="4351338"/>
              </a:xfrm>
            </p:spPr>
            <p:txBody>
              <a:bodyPr/>
              <a:lstStyle/>
              <a:p>
                <a:r>
                  <a:rPr lang="en-US" dirty="0"/>
                  <a:t>We need to create a flow network</a:t>
                </a:r>
              </a:p>
              <a:p>
                <a:pPr lvl="1"/>
                <a:r>
                  <a:rPr lang="en-US" dirty="0"/>
                  <a:t>One node per shift</a:t>
                </a:r>
              </a:p>
              <a:p>
                <a:pPr lvl="1"/>
                <a:r>
                  <a:rPr lang="en-US" dirty="0"/>
                  <a:t>One node per employee</a:t>
                </a:r>
              </a:p>
              <a:p>
                <a:pPr lvl="1"/>
                <a:r>
                  <a:rPr lang="en-US" dirty="0"/>
                  <a:t>A source node and a sink node</a:t>
                </a:r>
              </a:p>
              <a:p>
                <a:pPr lvl="1"/>
                <a:r>
                  <a:rPr lang="en-US" dirty="0"/>
                  <a:t>An edge from the source to each employee node with capacity </a:t>
                </a:r>
                <a14:m>
                  <m:oMath xmlns:m="http://schemas.openxmlformats.org/officeDocument/2006/math">
                    <m:r>
                      <a:rPr lang="en-US" b="0" i="1" smtClean="0">
                        <a:latin typeface="Cambria Math" panose="02040503050406030204" pitchFamily="18" charset="0"/>
                      </a:rPr>
                      <m:t>𝑥</m:t>
                    </m:r>
                  </m:oMath>
                </a14:m>
                <a:endParaRPr lang="en-US" dirty="0"/>
              </a:p>
              <a:p>
                <a:pPr lvl="1"/>
                <a:r>
                  <a:rPr lang="en-US" dirty="0"/>
                  <a:t>An edge from each employee to each available shift with capacity 1</a:t>
                </a:r>
              </a:p>
              <a:p>
                <a:pPr lvl="1"/>
                <a:r>
                  <a:rPr lang="en-US" dirty="0"/>
                  <a:t>An edge from each shift node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𝑖</m:t>
                        </m:r>
                      </m:sub>
                    </m:sSub>
                  </m:oMath>
                </a14:m>
                <a:r>
                  <a:rPr lang="en-US" dirty="0"/>
                  <a:t> to the sink with capacity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𝑖</m:t>
                        </m:r>
                      </m:sub>
                    </m:sSub>
                  </m:oMath>
                </a14:m>
                <a:endParaRPr lang="en-US" dirty="0"/>
              </a:p>
              <a:p>
                <a:pPr lvl="1"/>
                <a:endParaRPr lang="en-US" dirty="0"/>
              </a:p>
            </p:txBody>
          </p:sp>
        </mc:Choice>
        <mc:Fallback xmlns="">
          <p:sp>
            <p:nvSpPr>
              <p:cNvPr id="3" name="Content Placeholder 2">
                <a:extLst>
                  <a:ext uri="{FF2B5EF4-FFF2-40B4-BE49-F238E27FC236}">
                    <a16:creationId xmlns:a16="http://schemas.microsoft.com/office/drawing/2014/main" id="{DD004180-9D6E-53DC-D134-909DC029A8BE}"/>
                  </a:ext>
                </a:extLst>
              </p:cNvPr>
              <p:cNvSpPr>
                <a:spLocks noGrp="1" noRot="1" noChangeAspect="1" noMove="1" noResize="1" noEditPoints="1" noAdjustHandles="1" noChangeArrowheads="1" noChangeShapeType="1" noTextEdit="1"/>
              </p:cNvSpPr>
              <p:nvPr>
                <p:ph idx="1"/>
              </p:nvPr>
            </p:nvSpPr>
            <p:spPr>
              <a:xfrm>
                <a:off x="113275" y="1829522"/>
                <a:ext cx="5573935" cy="4351338"/>
              </a:xfrm>
              <a:blipFill>
                <a:blip r:embed="rId2"/>
                <a:stretch>
                  <a:fillRect l="-1969" t="-2241" r="-1204"/>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C486CC98-F5C5-7A5E-E40F-0CEB78A8537A}"/>
              </a:ext>
            </a:extLst>
          </p:cNvPr>
          <p:cNvSpPr txBox="1"/>
          <p:nvPr/>
        </p:nvSpPr>
        <p:spPr>
          <a:xfrm>
            <a:off x="6410737" y="427421"/>
            <a:ext cx="1796903" cy="1631216"/>
          </a:xfrm>
          <a:prstGeom prst="rect">
            <a:avLst/>
          </a:prstGeom>
          <a:noFill/>
        </p:spPr>
        <p:txBody>
          <a:bodyPr wrap="square" rtlCol="0">
            <a:spAutoFit/>
          </a:bodyPr>
          <a:lstStyle/>
          <a:p>
            <a:r>
              <a:rPr lang="en-US" sz="2000" dirty="0"/>
              <a:t>Shifts:</a:t>
            </a:r>
          </a:p>
          <a:p>
            <a:pPr marL="457200" indent="-457200">
              <a:buFont typeface="+mj-lt"/>
              <a:buAutoNum type="arabicPeriod"/>
            </a:pPr>
            <a:r>
              <a:rPr lang="en-US" sz="2000" dirty="0"/>
              <a:t>6am, 2</a:t>
            </a:r>
          </a:p>
          <a:p>
            <a:pPr marL="457200" indent="-457200">
              <a:buFont typeface="+mj-lt"/>
              <a:buAutoNum type="arabicPeriod"/>
            </a:pPr>
            <a:r>
              <a:rPr lang="en-US" sz="2000" dirty="0"/>
              <a:t>9am, 2</a:t>
            </a:r>
          </a:p>
          <a:p>
            <a:pPr marL="457200" indent="-457200">
              <a:buFont typeface="+mj-lt"/>
              <a:buAutoNum type="arabicPeriod"/>
            </a:pPr>
            <a:r>
              <a:rPr lang="en-US" sz="2000" dirty="0"/>
              <a:t>12pm, 1</a:t>
            </a:r>
          </a:p>
          <a:p>
            <a:pPr marL="457200" indent="-457200">
              <a:buFont typeface="+mj-lt"/>
              <a:buAutoNum type="arabicPeriod"/>
            </a:pPr>
            <a:r>
              <a:rPr lang="en-US" sz="2000" dirty="0"/>
              <a:t>3pm, 1</a:t>
            </a:r>
          </a:p>
        </p:txBody>
      </p:sp>
      <p:sp>
        <p:nvSpPr>
          <p:cNvPr id="5" name="TextBox 4">
            <a:extLst>
              <a:ext uri="{FF2B5EF4-FFF2-40B4-BE49-F238E27FC236}">
                <a16:creationId xmlns:a16="http://schemas.microsoft.com/office/drawing/2014/main" id="{80F7C44B-042E-9EDA-B33E-B9DB7055EC2C}"/>
              </a:ext>
            </a:extLst>
          </p:cNvPr>
          <p:cNvSpPr txBox="1"/>
          <p:nvPr/>
        </p:nvSpPr>
        <p:spPr>
          <a:xfrm>
            <a:off x="8409661" y="427421"/>
            <a:ext cx="2711302" cy="1323439"/>
          </a:xfrm>
          <a:prstGeom prst="rect">
            <a:avLst/>
          </a:prstGeom>
          <a:noFill/>
        </p:spPr>
        <p:txBody>
          <a:bodyPr wrap="square" rtlCol="0">
            <a:spAutoFit/>
          </a:bodyPr>
          <a:lstStyle/>
          <a:p>
            <a:r>
              <a:rPr lang="en-US" sz="2000" dirty="0"/>
              <a:t>Employees:</a:t>
            </a:r>
          </a:p>
          <a:p>
            <a:pPr marL="342900" indent="-342900">
              <a:buFont typeface="+mj-lt"/>
              <a:buAutoNum type="arabicPeriod"/>
            </a:pPr>
            <a:r>
              <a:rPr lang="en-US" sz="2000" dirty="0"/>
              <a:t>6am, 9am, 3pm</a:t>
            </a:r>
          </a:p>
          <a:p>
            <a:pPr marL="342900" indent="-342900">
              <a:buFont typeface="+mj-lt"/>
              <a:buAutoNum type="arabicPeriod"/>
            </a:pPr>
            <a:r>
              <a:rPr lang="en-US" sz="2000" dirty="0"/>
              <a:t>6am, 9am, 12pm</a:t>
            </a:r>
          </a:p>
          <a:p>
            <a:pPr marL="342900" indent="-342900">
              <a:buFont typeface="+mj-lt"/>
              <a:buAutoNum type="arabicPeriod"/>
            </a:pPr>
            <a:r>
              <a:rPr lang="en-US" sz="2000" dirty="0"/>
              <a:t>6am, 3pm</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2FEEEE68-FD3B-3490-2C0C-5DF560855143}"/>
                  </a:ext>
                </a:extLst>
              </p:cNvPr>
              <p:cNvSpPr txBox="1"/>
              <p:nvPr/>
            </p:nvSpPr>
            <p:spPr>
              <a:xfrm>
                <a:off x="10823252" y="796753"/>
                <a:ext cx="946298"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𝑥</m:t>
                      </m:r>
                      <m:r>
                        <a:rPr lang="en-US" sz="2000" b="0" i="1" smtClean="0">
                          <a:latin typeface="Cambria Math" panose="02040503050406030204" pitchFamily="18" charset="0"/>
                        </a:rPr>
                        <m:t>=2</m:t>
                      </m:r>
                    </m:oMath>
                  </m:oMathPara>
                </a14:m>
                <a:endParaRPr lang="en-US" sz="2000" dirty="0"/>
              </a:p>
            </p:txBody>
          </p:sp>
        </mc:Choice>
        <mc:Fallback xmlns="">
          <p:sp>
            <p:nvSpPr>
              <p:cNvPr id="6" name="TextBox 5">
                <a:extLst>
                  <a:ext uri="{FF2B5EF4-FFF2-40B4-BE49-F238E27FC236}">
                    <a16:creationId xmlns:a16="http://schemas.microsoft.com/office/drawing/2014/main" id="{2FEEEE68-FD3B-3490-2C0C-5DF560855143}"/>
                  </a:ext>
                </a:extLst>
              </p:cNvPr>
              <p:cNvSpPr txBox="1">
                <a:spLocks noRot="1" noChangeAspect="1" noMove="1" noResize="1" noEditPoints="1" noAdjustHandles="1" noChangeArrowheads="1" noChangeShapeType="1" noTextEdit="1"/>
              </p:cNvSpPr>
              <p:nvPr/>
            </p:nvSpPr>
            <p:spPr>
              <a:xfrm>
                <a:off x="10823252" y="796753"/>
                <a:ext cx="946298" cy="400110"/>
              </a:xfrm>
              <a:prstGeom prst="rect">
                <a:avLst/>
              </a:prstGeom>
              <a:blipFill>
                <a:blip r:embed="rId20"/>
                <a:stretch>
                  <a:fillRect/>
                </a:stretch>
              </a:blipFill>
            </p:spPr>
            <p:txBody>
              <a:bodyPr/>
              <a:lstStyle/>
              <a:p>
                <a:r>
                  <a:rPr lang="en-US">
                    <a:noFill/>
                  </a:rPr>
                  <a:t> </a:t>
                </a:r>
              </a:p>
            </p:txBody>
          </p:sp>
        </mc:Fallback>
      </mc:AlternateContent>
      <p:grpSp>
        <p:nvGrpSpPr>
          <p:cNvPr id="7" name="Group 6">
            <a:extLst>
              <a:ext uri="{FF2B5EF4-FFF2-40B4-BE49-F238E27FC236}">
                <a16:creationId xmlns:a16="http://schemas.microsoft.com/office/drawing/2014/main" id="{AF9C9DE1-A9CC-7C13-B5C4-CADEBE346C29}"/>
              </a:ext>
            </a:extLst>
          </p:cNvPr>
          <p:cNvGrpSpPr/>
          <p:nvPr/>
        </p:nvGrpSpPr>
        <p:grpSpPr>
          <a:xfrm>
            <a:off x="5718433" y="2537588"/>
            <a:ext cx="6400710" cy="3503140"/>
            <a:chOff x="5718433" y="2537588"/>
            <a:chExt cx="6400710" cy="3503140"/>
          </a:xfrm>
        </p:grpSpPr>
        <mc:AlternateContent xmlns:mc="http://schemas.openxmlformats.org/markup-compatibility/2006">
          <mc:Choice xmlns:a14="http://schemas.microsoft.com/office/drawing/2010/main" Requires="a14">
            <p:sp>
              <p:nvSpPr>
                <p:cNvPr id="23" name="Oval 50">
                  <a:extLst>
                    <a:ext uri="{FF2B5EF4-FFF2-40B4-BE49-F238E27FC236}">
                      <a16:creationId xmlns:a16="http://schemas.microsoft.com/office/drawing/2014/main" id="{7FC9C3AD-C40B-76F4-C6CF-55B76AAD2B0C}"/>
                    </a:ext>
                  </a:extLst>
                </p:cNvPr>
                <p:cNvSpPr>
                  <a:spLocks noChangeAspect="1" noChangeArrowheads="1"/>
                </p:cNvSpPr>
                <p:nvPr/>
              </p:nvSpPr>
              <p:spPr bwMode="auto">
                <a:xfrm>
                  <a:off x="5718433" y="4200001"/>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r>
                          <a:rPr lang="en-US" altLang="en-US" sz="2000" b="1" i="1" dirty="0" smtClean="0">
                            <a:solidFill>
                              <a:srgbClr val="C00000"/>
                            </a:solidFill>
                            <a:latin typeface="Cambria Math" panose="02040503050406030204" pitchFamily="18" charset="0"/>
                          </a:rPr>
                          <m:t>𝒔</m:t>
                        </m:r>
                      </m:oMath>
                    </m:oMathPara>
                  </a14:m>
                  <a:endParaRPr lang="en-US" altLang="en-US" sz="2000" b="1" dirty="0">
                    <a:solidFill>
                      <a:srgbClr val="C00000"/>
                    </a:solidFill>
                  </a:endParaRPr>
                </a:p>
              </p:txBody>
            </p:sp>
          </mc:Choice>
          <mc:Fallback>
            <p:sp>
              <p:nvSpPr>
                <p:cNvPr id="23" name="Oval 50">
                  <a:extLst>
                    <a:ext uri="{FF2B5EF4-FFF2-40B4-BE49-F238E27FC236}">
                      <a16:creationId xmlns:a16="http://schemas.microsoft.com/office/drawing/2014/main" id="{7FC9C3AD-C40B-76F4-C6CF-55B76AAD2B0C}"/>
                    </a:ext>
                  </a:extLst>
                </p:cNvPr>
                <p:cNvSpPr>
                  <a:spLocks noRot="1" noChangeAspect="1" noMove="1" noResize="1" noEditPoints="1" noAdjustHandles="1" noChangeArrowheads="1" noChangeShapeType="1" noTextEdit="1"/>
                </p:cNvSpPr>
                <p:nvPr/>
              </p:nvSpPr>
              <p:spPr bwMode="auto">
                <a:xfrm>
                  <a:off x="5718433" y="4200001"/>
                  <a:ext cx="435031" cy="437783"/>
                </a:xfrm>
                <a:prstGeom prst="ellipse">
                  <a:avLst/>
                </a:prstGeom>
                <a:blipFill>
                  <a:blip r:embed="rId21"/>
                  <a:stretch>
                    <a:fillRect/>
                  </a:stretch>
                </a:blipFill>
                <a:ln w="9525">
                  <a:solidFill>
                    <a:schemeClr val="tx1"/>
                  </a:solidFill>
                  <a:round/>
                  <a:headEnd/>
                  <a:tailEnd/>
                </a:ln>
                <a:effec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4" name="Oval 50">
                  <a:extLst>
                    <a:ext uri="{FF2B5EF4-FFF2-40B4-BE49-F238E27FC236}">
                      <a16:creationId xmlns:a16="http://schemas.microsoft.com/office/drawing/2014/main" id="{AFEEBCB6-3EE1-06BC-7FCC-12689A4107DA}"/>
                    </a:ext>
                  </a:extLst>
                </p:cNvPr>
                <p:cNvSpPr>
                  <a:spLocks noChangeAspect="1" noChangeArrowheads="1"/>
                </p:cNvSpPr>
                <p:nvPr/>
              </p:nvSpPr>
              <p:spPr bwMode="auto">
                <a:xfrm>
                  <a:off x="11684112" y="4308372"/>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r>
                          <a:rPr lang="en-US" altLang="en-US" sz="2000" b="1" i="1" dirty="0" smtClean="0">
                            <a:solidFill>
                              <a:srgbClr val="C00000"/>
                            </a:solidFill>
                            <a:latin typeface="Cambria Math" panose="02040503050406030204" pitchFamily="18" charset="0"/>
                          </a:rPr>
                          <m:t>𝒕</m:t>
                        </m:r>
                      </m:oMath>
                    </m:oMathPara>
                  </a14:m>
                  <a:endParaRPr lang="en-US" altLang="en-US" sz="2000" b="1" dirty="0">
                    <a:solidFill>
                      <a:srgbClr val="C00000"/>
                    </a:solidFill>
                  </a:endParaRPr>
                </a:p>
              </p:txBody>
            </p:sp>
          </mc:Choice>
          <mc:Fallback>
            <p:sp>
              <p:nvSpPr>
                <p:cNvPr id="24" name="Oval 50">
                  <a:extLst>
                    <a:ext uri="{FF2B5EF4-FFF2-40B4-BE49-F238E27FC236}">
                      <a16:creationId xmlns:a16="http://schemas.microsoft.com/office/drawing/2014/main" id="{AFEEBCB6-3EE1-06BC-7FCC-12689A4107DA}"/>
                    </a:ext>
                  </a:extLst>
                </p:cNvPr>
                <p:cNvSpPr>
                  <a:spLocks noRot="1" noChangeAspect="1" noMove="1" noResize="1" noEditPoints="1" noAdjustHandles="1" noChangeArrowheads="1" noChangeShapeType="1" noTextEdit="1"/>
                </p:cNvSpPr>
                <p:nvPr/>
              </p:nvSpPr>
              <p:spPr bwMode="auto">
                <a:xfrm>
                  <a:off x="11684112" y="4308372"/>
                  <a:ext cx="435031" cy="437783"/>
                </a:xfrm>
                <a:prstGeom prst="ellipse">
                  <a:avLst/>
                </a:prstGeom>
                <a:blipFill>
                  <a:blip r:embed="rId22"/>
                  <a:stretch>
                    <a:fillRect/>
                  </a:stretch>
                </a:blipFill>
                <a:ln w="9525">
                  <a:solidFill>
                    <a:schemeClr val="tx1"/>
                  </a:solidFill>
                  <a:round/>
                  <a:headEnd/>
                  <a:tailEnd/>
                </a:ln>
                <a:effectLst/>
              </p:spPr>
              <p:txBody>
                <a:bodyPr/>
                <a:lstStyle/>
                <a:p>
                  <a:r>
                    <a:rPr lang="en-US">
                      <a:noFill/>
                    </a:rPr>
                    <a:t> </a:t>
                  </a:r>
                </a:p>
              </p:txBody>
            </p:sp>
          </mc:Fallback>
        </mc:AlternateContent>
        <p:cxnSp>
          <p:nvCxnSpPr>
            <p:cNvPr id="59" name="Straight Connector 58">
              <a:extLst>
                <a:ext uri="{FF2B5EF4-FFF2-40B4-BE49-F238E27FC236}">
                  <a16:creationId xmlns:a16="http://schemas.microsoft.com/office/drawing/2014/main" id="{73336211-84EA-A94E-0815-841BA0B113FE}"/>
                </a:ext>
              </a:extLst>
            </p:cNvPr>
            <p:cNvCxnSpPr>
              <a:cxnSpLocks/>
              <a:stCxn id="23" idx="7"/>
            </p:cNvCxnSpPr>
            <p:nvPr/>
          </p:nvCxnSpPr>
          <p:spPr>
            <a:xfrm flipV="1">
              <a:off x="6089756" y="2847148"/>
              <a:ext cx="1209574" cy="1416965"/>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7E214BA9-ED2E-BB25-249E-ED35FE0DDA1A}"/>
                </a:ext>
              </a:extLst>
            </p:cNvPr>
            <p:cNvCxnSpPr>
              <a:cxnSpLocks/>
              <a:stCxn id="23" idx="6"/>
            </p:cNvCxnSpPr>
            <p:nvPr/>
          </p:nvCxnSpPr>
          <p:spPr>
            <a:xfrm flipV="1">
              <a:off x="6153464" y="4005192"/>
              <a:ext cx="1257964" cy="413702"/>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4E23A6DD-C748-EE61-9E6B-289341BE96BB}"/>
                </a:ext>
              </a:extLst>
            </p:cNvPr>
            <p:cNvCxnSpPr>
              <a:cxnSpLocks/>
              <a:stCxn id="23" idx="5"/>
            </p:cNvCxnSpPr>
            <p:nvPr/>
          </p:nvCxnSpPr>
          <p:spPr>
            <a:xfrm>
              <a:off x="6089756" y="4573673"/>
              <a:ext cx="1095402" cy="566534"/>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A1969074-0EF1-4D0E-5063-FD4C23110756}"/>
                </a:ext>
              </a:extLst>
            </p:cNvPr>
            <p:cNvCxnSpPr>
              <a:cxnSpLocks/>
              <a:endCxn id="24" idx="0"/>
            </p:cNvCxnSpPr>
            <p:nvPr/>
          </p:nvCxnSpPr>
          <p:spPr>
            <a:xfrm>
              <a:off x="10945253" y="2951108"/>
              <a:ext cx="956375" cy="1357265"/>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5" name="Straight Connector 74">
              <a:extLst>
                <a:ext uri="{FF2B5EF4-FFF2-40B4-BE49-F238E27FC236}">
                  <a16:creationId xmlns:a16="http://schemas.microsoft.com/office/drawing/2014/main" id="{5D856598-E9F0-D877-6A17-F3FB122ACB38}"/>
                </a:ext>
              </a:extLst>
            </p:cNvPr>
            <p:cNvCxnSpPr>
              <a:cxnSpLocks/>
              <a:endCxn id="24" idx="1"/>
            </p:cNvCxnSpPr>
            <p:nvPr/>
          </p:nvCxnSpPr>
          <p:spPr>
            <a:xfrm>
              <a:off x="10835155" y="4100807"/>
              <a:ext cx="912665" cy="271677"/>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8" name="Straight Connector 77">
              <a:extLst>
                <a:ext uri="{FF2B5EF4-FFF2-40B4-BE49-F238E27FC236}">
                  <a16:creationId xmlns:a16="http://schemas.microsoft.com/office/drawing/2014/main" id="{32C8F13E-B601-7EBB-0FDC-3986680F27FA}"/>
                </a:ext>
              </a:extLst>
            </p:cNvPr>
            <p:cNvCxnSpPr>
              <a:cxnSpLocks/>
              <a:endCxn id="24" idx="3"/>
            </p:cNvCxnSpPr>
            <p:nvPr/>
          </p:nvCxnSpPr>
          <p:spPr>
            <a:xfrm flipV="1">
              <a:off x="10920258" y="4682044"/>
              <a:ext cx="827562" cy="426688"/>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B92184C1-8B50-8200-6755-2129339A1325}"/>
                </a:ext>
              </a:extLst>
            </p:cNvPr>
            <p:cNvCxnSpPr>
              <a:cxnSpLocks/>
              <a:stCxn id="40" idx="6"/>
              <a:endCxn id="24" idx="4"/>
            </p:cNvCxnSpPr>
            <p:nvPr/>
          </p:nvCxnSpPr>
          <p:spPr>
            <a:xfrm flipV="1">
              <a:off x="10892795" y="4746155"/>
              <a:ext cx="1008833" cy="1075682"/>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33" name="TextBox 32">
                  <a:extLst>
                    <a:ext uri="{FF2B5EF4-FFF2-40B4-BE49-F238E27FC236}">
                      <a16:creationId xmlns:a16="http://schemas.microsoft.com/office/drawing/2014/main" id="{659538C4-74CF-27BA-D0E7-D910D3D022BD}"/>
                    </a:ext>
                  </a:extLst>
                </p:cNvPr>
                <p:cNvSpPr txBox="1"/>
                <p:nvPr/>
              </p:nvSpPr>
              <p:spPr>
                <a:xfrm>
                  <a:off x="6544966" y="3445074"/>
                  <a:ext cx="365805"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2</m:t>
                        </m:r>
                      </m:oMath>
                    </m:oMathPara>
                  </a14:m>
                  <a:endParaRPr lang="en-US" dirty="0"/>
                </a:p>
              </p:txBody>
            </p:sp>
          </mc:Choice>
          <mc:Fallback>
            <p:sp>
              <p:nvSpPr>
                <p:cNvPr id="33" name="TextBox 32">
                  <a:extLst>
                    <a:ext uri="{FF2B5EF4-FFF2-40B4-BE49-F238E27FC236}">
                      <a16:creationId xmlns:a16="http://schemas.microsoft.com/office/drawing/2014/main" id="{659538C4-74CF-27BA-D0E7-D910D3D022BD}"/>
                    </a:ext>
                  </a:extLst>
                </p:cNvPr>
                <p:cNvSpPr txBox="1">
                  <a:spLocks noRot="1" noChangeAspect="1" noMove="1" noResize="1" noEditPoints="1" noAdjustHandles="1" noChangeArrowheads="1" noChangeShapeType="1" noTextEdit="1"/>
                </p:cNvSpPr>
                <p:nvPr/>
              </p:nvSpPr>
              <p:spPr>
                <a:xfrm>
                  <a:off x="6544966" y="3445074"/>
                  <a:ext cx="365805" cy="369332"/>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0" name="TextBox 59">
                  <a:extLst>
                    <a:ext uri="{FF2B5EF4-FFF2-40B4-BE49-F238E27FC236}">
                      <a16:creationId xmlns:a16="http://schemas.microsoft.com/office/drawing/2014/main" id="{A8039760-D275-047A-8A71-2E416EB8119C}"/>
                    </a:ext>
                  </a:extLst>
                </p:cNvPr>
                <p:cNvSpPr txBox="1"/>
                <p:nvPr/>
              </p:nvSpPr>
              <p:spPr>
                <a:xfrm>
                  <a:off x="6742829" y="3934465"/>
                  <a:ext cx="365805"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2</m:t>
                        </m:r>
                      </m:oMath>
                    </m:oMathPara>
                  </a14:m>
                  <a:endParaRPr lang="en-US" dirty="0"/>
                </a:p>
              </p:txBody>
            </p:sp>
          </mc:Choice>
          <mc:Fallback>
            <p:sp>
              <p:nvSpPr>
                <p:cNvPr id="60" name="TextBox 59">
                  <a:extLst>
                    <a:ext uri="{FF2B5EF4-FFF2-40B4-BE49-F238E27FC236}">
                      <a16:creationId xmlns:a16="http://schemas.microsoft.com/office/drawing/2014/main" id="{A8039760-D275-047A-8A71-2E416EB8119C}"/>
                    </a:ext>
                  </a:extLst>
                </p:cNvPr>
                <p:cNvSpPr txBox="1">
                  <a:spLocks noRot="1" noChangeAspect="1" noMove="1" noResize="1" noEditPoints="1" noAdjustHandles="1" noChangeArrowheads="1" noChangeShapeType="1" noTextEdit="1"/>
                </p:cNvSpPr>
                <p:nvPr/>
              </p:nvSpPr>
              <p:spPr>
                <a:xfrm>
                  <a:off x="6742829" y="3934465"/>
                  <a:ext cx="365805" cy="369332"/>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1" name="TextBox 60">
                  <a:extLst>
                    <a:ext uri="{FF2B5EF4-FFF2-40B4-BE49-F238E27FC236}">
                      <a16:creationId xmlns:a16="http://schemas.microsoft.com/office/drawing/2014/main" id="{10D24CBD-9357-4EFB-3B7B-4C5B6C04365D}"/>
                    </a:ext>
                  </a:extLst>
                </p:cNvPr>
                <p:cNvSpPr txBox="1"/>
                <p:nvPr/>
              </p:nvSpPr>
              <p:spPr>
                <a:xfrm>
                  <a:off x="6543030" y="4658723"/>
                  <a:ext cx="365805"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2</m:t>
                        </m:r>
                      </m:oMath>
                    </m:oMathPara>
                  </a14:m>
                  <a:endParaRPr lang="en-US" dirty="0"/>
                </a:p>
              </p:txBody>
            </p:sp>
          </mc:Choice>
          <mc:Fallback>
            <p:sp>
              <p:nvSpPr>
                <p:cNvPr id="61" name="TextBox 60">
                  <a:extLst>
                    <a:ext uri="{FF2B5EF4-FFF2-40B4-BE49-F238E27FC236}">
                      <a16:creationId xmlns:a16="http://schemas.microsoft.com/office/drawing/2014/main" id="{10D24CBD-9357-4EFB-3B7B-4C5B6C04365D}"/>
                    </a:ext>
                  </a:extLst>
                </p:cNvPr>
                <p:cNvSpPr txBox="1">
                  <a:spLocks noRot="1" noChangeAspect="1" noMove="1" noResize="1" noEditPoints="1" noAdjustHandles="1" noChangeArrowheads="1" noChangeShapeType="1" noTextEdit="1"/>
                </p:cNvSpPr>
                <p:nvPr/>
              </p:nvSpPr>
              <p:spPr>
                <a:xfrm>
                  <a:off x="6543030" y="4658723"/>
                  <a:ext cx="365805"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0" name="TextBox 79">
                  <a:extLst>
                    <a:ext uri="{FF2B5EF4-FFF2-40B4-BE49-F238E27FC236}">
                      <a16:creationId xmlns:a16="http://schemas.microsoft.com/office/drawing/2014/main" id="{AA80CC28-0CA2-A813-CCD0-24306D185E1C}"/>
                    </a:ext>
                  </a:extLst>
                </p:cNvPr>
                <p:cNvSpPr txBox="1"/>
                <p:nvPr/>
              </p:nvSpPr>
              <p:spPr>
                <a:xfrm>
                  <a:off x="11198818" y="3338951"/>
                  <a:ext cx="365805"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2</m:t>
                        </m:r>
                      </m:oMath>
                    </m:oMathPara>
                  </a14:m>
                  <a:endParaRPr lang="en-US" dirty="0"/>
                </a:p>
              </p:txBody>
            </p:sp>
          </mc:Choice>
          <mc:Fallback>
            <p:sp>
              <p:nvSpPr>
                <p:cNvPr id="80" name="TextBox 79">
                  <a:extLst>
                    <a:ext uri="{FF2B5EF4-FFF2-40B4-BE49-F238E27FC236}">
                      <a16:creationId xmlns:a16="http://schemas.microsoft.com/office/drawing/2014/main" id="{AA80CC28-0CA2-A813-CCD0-24306D185E1C}"/>
                    </a:ext>
                  </a:extLst>
                </p:cNvPr>
                <p:cNvSpPr txBox="1">
                  <a:spLocks noRot="1" noChangeAspect="1" noMove="1" noResize="1" noEditPoints="1" noAdjustHandles="1" noChangeArrowheads="1" noChangeShapeType="1" noTextEdit="1"/>
                </p:cNvSpPr>
                <p:nvPr/>
              </p:nvSpPr>
              <p:spPr>
                <a:xfrm>
                  <a:off x="11198818" y="3338951"/>
                  <a:ext cx="365805"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2" name="TextBox 81">
                  <a:extLst>
                    <a:ext uri="{FF2B5EF4-FFF2-40B4-BE49-F238E27FC236}">
                      <a16:creationId xmlns:a16="http://schemas.microsoft.com/office/drawing/2014/main" id="{26E9E003-5808-E474-00DE-96E4639D682F}"/>
                    </a:ext>
                  </a:extLst>
                </p:cNvPr>
                <p:cNvSpPr txBox="1"/>
                <p:nvPr/>
              </p:nvSpPr>
              <p:spPr>
                <a:xfrm>
                  <a:off x="11099178" y="3989849"/>
                  <a:ext cx="365805"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2</m:t>
                        </m:r>
                      </m:oMath>
                    </m:oMathPara>
                  </a14:m>
                  <a:endParaRPr lang="en-US" dirty="0"/>
                </a:p>
              </p:txBody>
            </p:sp>
          </mc:Choice>
          <mc:Fallback>
            <p:sp>
              <p:nvSpPr>
                <p:cNvPr id="82" name="TextBox 81">
                  <a:extLst>
                    <a:ext uri="{FF2B5EF4-FFF2-40B4-BE49-F238E27FC236}">
                      <a16:creationId xmlns:a16="http://schemas.microsoft.com/office/drawing/2014/main" id="{26E9E003-5808-E474-00DE-96E4639D682F}"/>
                    </a:ext>
                  </a:extLst>
                </p:cNvPr>
                <p:cNvSpPr txBox="1">
                  <a:spLocks noRot="1" noChangeAspect="1" noMove="1" noResize="1" noEditPoints="1" noAdjustHandles="1" noChangeArrowheads="1" noChangeShapeType="1" noTextEdit="1"/>
                </p:cNvSpPr>
                <p:nvPr/>
              </p:nvSpPr>
              <p:spPr>
                <a:xfrm>
                  <a:off x="11099178" y="3989849"/>
                  <a:ext cx="365805" cy="369332"/>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3" name="TextBox 82">
                  <a:extLst>
                    <a:ext uri="{FF2B5EF4-FFF2-40B4-BE49-F238E27FC236}">
                      <a16:creationId xmlns:a16="http://schemas.microsoft.com/office/drawing/2014/main" id="{1000EB28-30F3-E20B-CAA1-EFA51A6CE001}"/>
                    </a:ext>
                  </a:extLst>
                </p:cNvPr>
                <p:cNvSpPr txBox="1"/>
                <p:nvPr/>
              </p:nvSpPr>
              <p:spPr>
                <a:xfrm>
                  <a:off x="11146581" y="4700897"/>
                  <a:ext cx="365805"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p:sp>
              <p:nvSpPr>
                <p:cNvPr id="83" name="TextBox 82">
                  <a:extLst>
                    <a:ext uri="{FF2B5EF4-FFF2-40B4-BE49-F238E27FC236}">
                      <a16:creationId xmlns:a16="http://schemas.microsoft.com/office/drawing/2014/main" id="{1000EB28-30F3-E20B-CAA1-EFA51A6CE001}"/>
                    </a:ext>
                  </a:extLst>
                </p:cNvPr>
                <p:cNvSpPr txBox="1">
                  <a:spLocks noRot="1" noChangeAspect="1" noMove="1" noResize="1" noEditPoints="1" noAdjustHandles="1" noChangeArrowheads="1" noChangeShapeType="1" noTextEdit="1"/>
                </p:cNvSpPr>
                <p:nvPr/>
              </p:nvSpPr>
              <p:spPr>
                <a:xfrm>
                  <a:off x="11146581" y="4700897"/>
                  <a:ext cx="365805" cy="369332"/>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4" name="TextBox 83">
                  <a:extLst>
                    <a:ext uri="{FF2B5EF4-FFF2-40B4-BE49-F238E27FC236}">
                      <a16:creationId xmlns:a16="http://schemas.microsoft.com/office/drawing/2014/main" id="{89696C50-E458-B018-49BD-B9B3ABD65B9E}"/>
                    </a:ext>
                  </a:extLst>
                </p:cNvPr>
                <p:cNvSpPr txBox="1"/>
                <p:nvPr/>
              </p:nvSpPr>
              <p:spPr>
                <a:xfrm>
                  <a:off x="11120971" y="5233626"/>
                  <a:ext cx="365805"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p:sp>
              <p:nvSpPr>
                <p:cNvPr id="84" name="TextBox 83">
                  <a:extLst>
                    <a:ext uri="{FF2B5EF4-FFF2-40B4-BE49-F238E27FC236}">
                      <a16:creationId xmlns:a16="http://schemas.microsoft.com/office/drawing/2014/main" id="{89696C50-E458-B018-49BD-B9B3ABD65B9E}"/>
                    </a:ext>
                  </a:extLst>
                </p:cNvPr>
                <p:cNvSpPr txBox="1">
                  <a:spLocks noRot="1" noChangeAspect="1" noMove="1" noResize="1" noEditPoints="1" noAdjustHandles="1" noChangeArrowheads="1" noChangeShapeType="1" noTextEdit="1"/>
                </p:cNvSpPr>
                <p:nvPr/>
              </p:nvSpPr>
              <p:spPr>
                <a:xfrm>
                  <a:off x="11120971" y="5233626"/>
                  <a:ext cx="365805" cy="369332"/>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9" name="Oval 50">
                  <a:extLst>
                    <a:ext uri="{FF2B5EF4-FFF2-40B4-BE49-F238E27FC236}">
                      <a16:creationId xmlns:a16="http://schemas.microsoft.com/office/drawing/2014/main" id="{6A9F6C05-0F0E-A704-2440-98B2E7129E2D}"/>
                    </a:ext>
                  </a:extLst>
                </p:cNvPr>
                <p:cNvSpPr>
                  <a:spLocks noChangeAspect="1" noChangeArrowheads="1"/>
                </p:cNvSpPr>
                <p:nvPr/>
              </p:nvSpPr>
              <p:spPr bwMode="auto">
                <a:xfrm>
                  <a:off x="7299330" y="2537588"/>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sSub>
                          <m:sSubPr>
                            <m:ctrlPr>
                              <a:rPr lang="en-US" altLang="en-US" sz="2000" b="1" i="1" smtClean="0">
                                <a:solidFill>
                                  <a:srgbClr val="C00000"/>
                                </a:solidFill>
                                <a:latin typeface="Cambria Math" panose="02040503050406030204" pitchFamily="18" charset="0"/>
                              </a:rPr>
                            </m:ctrlPr>
                          </m:sSubPr>
                          <m:e>
                            <m:r>
                              <a:rPr lang="en-US" altLang="en-US" sz="2000" b="1" i="1" smtClean="0">
                                <a:solidFill>
                                  <a:srgbClr val="C00000"/>
                                </a:solidFill>
                                <a:latin typeface="Cambria Math" panose="02040503050406030204" pitchFamily="18" charset="0"/>
                              </a:rPr>
                              <m:t>𝒆</m:t>
                            </m:r>
                          </m:e>
                          <m:sub>
                            <m:r>
                              <a:rPr lang="en-US" altLang="en-US" sz="2000" b="1" i="1" smtClean="0">
                                <a:solidFill>
                                  <a:srgbClr val="C00000"/>
                                </a:solidFill>
                                <a:latin typeface="Cambria Math" panose="02040503050406030204" pitchFamily="18" charset="0"/>
                              </a:rPr>
                              <m:t>𝟏</m:t>
                            </m:r>
                          </m:sub>
                        </m:sSub>
                      </m:oMath>
                    </m:oMathPara>
                  </a14:m>
                  <a:endParaRPr lang="en-US" altLang="en-US" sz="2000" b="1" dirty="0">
                    <a:solidFill>
                      <a:srgbClr val="C00000"/>
                    </a:solidFill>
                  </a:endParaRPr>
                </a:p>
              </p:txBody>
            </p:sp>
          </mc:Choice>
          <mc:Fallback>
            <p:sp>
              <p:nvSpPr>
                <p:cNvPr id="29" name="Oval 50">
                  <a:extLst>
                    <a:ext uri="{FF2B5EF4-FFF2-40B4-BE49-F238E27FC236}">
                      <a16:creationId xmlns:a16="http://schemas.microsoft.com/office/drawing/2014/main" id="{6A9F6C05-0F0E-A704-2440-98B2E7129E2D}"/>
                    </a:ext>
                  </a:extLst>
                </p:cNvPr>
                <p:cNvSpPr>
                  <a:spLocks noRot="1" noChangeAspect="1" noMove="1" noResize="1" noEditPoints="1" noAdjustHandles="1" noChangeArrowheads="1" noChangeShapeType="1" noTextEdit="1"/>
                </p:cNvSpPr>
                <p:nvPr/>
              </p:nvSpPr>
              <p:spPr bwMode="auto">
                <a:xfrm>
                  <a:off x="7299330" y="2537588"/>
                  <a:ext cx="435031" cy="437783"/>
                </a:xfrm>
                <a:prstGeom prst="ellipse">
                  <a:avLst/>
                </a:prstGeom>
                <a:blipFill>
                  <a:blip r:embed="rId30"/>
                  <a:stretch>
                    <a:fillRect/>
                  </a:stretch>
                </a:blipFill>
                <a:ln w="9525">
                  <a:solidFill>
                    <a:schemeClr val="tx1"/>
                  </a:solidFill>
                  <a:round/>
                  <a:headEnd/>
                  <a:tailEnd/>
                </a:ln>
                <a:effec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4" name="Oval 50">
                  <a:extLst>
                    <a:ext uri="{FF2B5EF4-FFF2-40B4-BE49-F238E27FC236}">
                      <a16:creationId xmlns:a16="http://schemas.microsoft.com/office/drawing/2014/main" id="{544F23AB-9B9D-0034-BAE7-CC2C6330FDA5}"/>
                    </a:ext>
                  </a:extLst>
                </p:cNvPr>
                <p:cNvSpPr>
                  <a:spLocks noChangeAspect="1" noChangeArrowheads="1"/>
                </p:cNvSpPr>
                <p:nvPr/>
              </p:nvSpPr>
              <p:spPr bwMode="auto">
                <a:xfrm>
                  <a:off x="7402699" y="3786299"/>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sSub>
                          <m:sSubPr>
                            <m:ctrlPr>
                              <a:rPr lang="en-US" altLang="en-US" sz="2000" b="1" i="1" smtClean="0">
                                <a:solidFill>
                                  <a:srgbClr val="C00000"/>
                                </a:solidFill>
                                <a:latin typeface="Cambria Math" panose="02040503050406030204" pitchFamily="18" charset="0"/>
                              </a:rPr>
                            </m:ctrlPr>
                          </m:sSubPr>
                          <m:e>
                            <m:r>
                              <a:rPr lang="en-US" altLang="en-US" sz="2000" b="1" i="1" smtClean="0">
                                <a:solidFill>
                                  <a:srgbClr val="C00000"/>
                                </a:solidFill>
                                <a:latin typeface="Cambria Math" panose="02040503050406030204" pitchFamily="18" charset="0"/>
                              </a:rPr>
                              <m:t>𝒆</m:t>
                            </m:r>
                          </m:e>
                          <m:sub>
                            <m:r>
                              <a:rPr lang="en-US" altLang="en-US" sz="2000" b="1" i="1" smtClean="0">
                                <a:solidFill>
                                  <a:srgbClr val="C00000"/>
                                </a:solidFill>
                                <a:latin typeface="Cambria Math" panose="02040503050406030204" pitchFamily="18" charset="0"/>
                              </a:rPr>
                              <m:t>𝟐</m:t>
                            </m:r>
                          </m:sub>
                        </m:sSub>
                      </m:oMath>
                    </m:oMathPara>
                  </a14:m>
                  <a:endParaRPr lang="en-US" altLang="en-US" sz="2000" b="1" dirty="0">
                    <a:solidFill>
                      <a:srgbClr val="C00000"/>
                    </a:solidFill>
                  </a:endParaRPr>
                </a:p>
              </p:txBody>
            </p:sp>
          </mc:Choice>
          <mc:Fallback>
            <p:sp>
              <p:nvSpPr>
                <p:cNvPr id="34" name="Oval 50">
                  <a:extLst>
                    <a:ext uri="{FF2B5EF4-FFF2-40B4-BE49-F238E27FC236}">
                      <a16:creationId xmlns:a16="http://schemas.microsoft.com/office/drawing/2014/main" id="{544F23AB-9B9D-0034-BAE7-CC2C6330FDA5}"/>
                    </a:ext>
                  </a:extLst>
                </p:cNvPr>
                <p:cNvSpPr>
                  <a:spLocks noRot="1" noChangeAspect="1" noMove="1" noResize="1" noEditPoints="1" noAdjustHandles="1" noChangeArrowheads="1" noChangeShapeType="1" noTextEdit="1"/>
                </p:cNvSpPr>
                <p:nvPr/>
              </p:nvSpPr>
              <p:spPr bwMode="auto">
                <a:xfrm>
                  <a:off x="7402699" y="3786299"/>
                  <a:ext cx="435031" cy="437783"/>
                </a:xfrm>
                <a:prstGeom prst="ellipse">
                  <a:avLst/>
                </a:prstGeom>
                <a:blipFill>
                  <a:blip r:embed="rId31"/>
                  <a:stretch>
                    <a:fillRect/>
                  </a:stretch>
                </a:blipFill>
                <a:ln w="9525">
                  <a:solidFill>
                    <a:schemeClr val="tx1"/>
                  </a:solidFill>
                  <a:round/>
                  <a:headEnd/>
                  <a:tailEnd/>
                </a:ln>
                <a:effec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Oval 50">
                  <a:extLst>
                    <a:ext uri="{FF2B5EF4-FFF2-40B4-BE49-F238E27FC236}">
                      <a16:creationId xmlns:a16="http://schemas.microsoft.com/office/drawing/2014/main" id="{F4AD34BB-9483-D21E-4E05-53919674CAEB}"/>
                    </a:ext>
                  </a:extLst>
                </p:cNvPr>
                <p:cNvSpPr>
                  <a:spLocks noChangeAspect="1" noChangeArrowheads="1"/>
                </p:cNvSpPr>
                <p:nvPr/>
              </p:nvSpPr>
              <p:spPr bwMode="auto">
                <a:xfrm>
                  <a:off x="7185183" y="4976556"/>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sSub>
                          <m:sSubPr>
                            <m:ctrlPr>
                              <a:rPr lang="en-US" altLang="en-US" sz="2000" b="1" i="1" smtClean="0">
                                <a:solidFill>
                                  <a:srgbClr val="C00000"/>
                                </a:solidFill>
                                <a:latin typeface="Cambria Math" panose="02040503050406030204" pitchFamily="18" charset="0"/>
                              </a:rPr>
                            </m:ctrlPr>
                          </m:sSubPr>
                          <m:e>
                            <m:r>
                              <a:rPr lang="en-US" altLang="en-US" sz="2000" b="1" i="1" smtClean="0">
                                <a:solidFill>
                                  <a:srgbClr val="C00000"/>
                                </a:solidFill>
                                <a:latin typeface="Cambria Math" panose="02040503050406030204" pitchFamily="18" charset="0"/>
                              </a:rPr>
                              <m:t>𝒆</m:t>
                            </m:r>
                          </m:e>
                          <m:sub>
                            <m:r>
                              <a:rPr lang="en-US" altLang="en-US" sz="2000" b="1" i="1" smtClean="0">
                                <a:solidFill>
                                  <a:srgbClr val="C00000"/>
                                </a:solidFill>
                                <a:latin typeface="Cambria Math" panose="02040503050406030204" pitchFamily="18" charset="0"/>
                              </a:rPr>
                              <m:t>𝟑</m:t>
                            </m:r>
                          </m:sub>
                        </m:sSub>
                      </m:oMath>
                    </m:oMathPara>
                  </a14:m>
                  <a:endParaRPr lang="en-US" altLang="en-US" sz="2000" b="1" dirty="0">
                    <a:solidFill>
                      <a:srgbClr val="C00000"/>
                    </a:solidFill>
                  </a:endParaRPr>
                </a:p>
              </p:txBody>
            </p:sp>
          </mc:Choice>
          <mc:Fallback>
            <p:sp>
              <p:nvSpPr>
                <p:cNvPr id="36" name="Oval 50">
                  <a:extLst>
                    <a:ext uri="{FF2B5EF4-FFF2-40B4-BE49-F238E27FC236}">
                      <a16:creationId xmlns:a16="http://schemas.microsoft.com/office/drawing/2014/main" id="{F4AD34BB-9483-D21E-4E05-53919674CAEB}"/>
                    </a:ext>
                  </a:extLst>
                </p:cNvPr>
                <p:cNvSpPr>
                  <a:spLocks noRot="1" noChangeAspect="1" noMove="1" noResize="1" noEditPoints="1" noAdjustHandles="1" noChangeArrowheads="1" noChangeShapeType="1" noTextEdit="1"/>
                </p:cNvSpPr>
                <p:nvPr/>
              </p:nvSpPr>
              <p:spPr bwMode="auto">
                <a:xfrm>
                  <a:off x="7185183" y="4976556"/>
                  <a:ext cx="435031" cy="437783"/>
                </a:xfrm>
                <a:prstGeom prst="ellipse">
                  <a:avLst/>
                </a:prstGeom>
                <a:blipFill>
                  <a:blip r:embed="rId32"/>
                  <a:stretch>
                    <a:fillRect l="-1370"/>
                  </a:stretch>
                </a:blipFill>
                <a:ln w="9525">
                  <a:solidFill>
                    <a:schemeClr val="tx1"/>
                  </a:solidFill>
                  <a:round/>
                  <a:headEnd/>
                  <a:tailEnd/>
                </a:ln>
                <a:effec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Oval 50">
                  <a:extLst>
                    <a:ext uri="{FF2B5EF4-FFF2-40B4-BE49-F238E27FC236}">
                      <a16:creationId xmlns:a16="http://schemas.microsoft.com/office/drawing/2014/main" id="{585E3E83-805B-4287-CF78-DF5EFB9D1599}"/>
                    </a:ext>
                  </a:extLst>
                </p:cNvPr>
                <p:cNvSpPr>
                  <a:spLocks noChangeAspect="1" noChangeArrowheads="1"/>
                </p:cNvSpPr>
                <p:nvPr/>
              </p:nvSpPr>
              <p:spPr bwMode="auto">
                <a:xfrm>
                  <a:off x="10617639" y="2624312"/>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r>
                          <a:rPr lang="en-US" altLang="en-US" sz="2000" b="1" i="1" smtClean="0">
                            <a:solidFill>
                              <a:srgbClr val="C00000"/>
                            </a:solidFill>
                            <a:latin typeface="Cambria Math" panose="02040503050406030204" pitchFamily="18" charset="0"/>
                          </a:rPr>
                          <m:t>𝟔</m:t>
                        </m:r>
                      </m:oMath>
                    </m:oMathPara>
                  </a14:m>
                  <a:endParaRPr lang="en-US" altLang="en-US" sz="2000" b="1" dirty="0">
                    <a:solidFill>
                      <a:srgbClr val="C00000"/>
                    </a:solidFill>
                  </a:endParaRPr>
                </a:p>
              </p:txBody>
            </p:sp>
          </mc:Choice>
          <mc:Fallback>
            <p:sp>
              <p:nvSpPr>
                <p:cNvPr id="37" name="Oval 50">
                  <a:extLst>
                    <a:ext uri="{FF2B5EF4-FFF2-40B4-BE49-F238E27FC236}">
                      <a16:creationId xmlns:a16="http://schemas.microsoft.com/office/drawing/2014/main" id="{585E3E83-805B-4287-CF78-DF5EFB9D1599}"/>
                    </a:ext>
                  </a:extLst>
                </p:cNvPr>
                <p:cNvSpPr>
                  <a:spLocks noRot="1" noChangeAspect="1" noMove="1" noResize="1" noEditPoints="1" noAdjustHandles="1" noChangeArrowheads="1" noChangeShapeType="1" noTextEdit="1"/>
                </p:cNvSpPr>
                <p:nvPr/>
              </p:nvSpPr>
              <p:spPr bwMode="auto">
                <a:xfrm>
                  <a:off x="10617639" y="2624312"/>
                  <a:ext cx="435031" cy="437783"/>
                </a:xfrm>
                <a:prstGeom prst="ellipse">
                  <a:avLst/>
                </a:prstGeom>
                <a:blipFill>
                  <a:blip r:embed="rId33"/>
                  <a:stretch>
                    <a:fillRect/>
                  </a:stretch>
                </a:blipFill>
                <a:ln w="9525">
                  <a:solidFill>
                    <a:schemeClr val="tx1"/>
                  </a:solidFill>
                  <a:round/>
                  <a:headEnd/>
                  <a:tailEnd/>
                </a:ln>
                <a:effec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8" name="Oval 50">
                  <a:extLst>
                    <a:ext uri="{FF2B5EF4-FFF2-40B4-BE49-F238E27FC236}">
                      <a16:creationId xmlns:a16="http://schemas.microsoft.com/office/drawing/2014/main" id="{0889CAD8-0C20-5EDE-6381-A7C6531EBDD1}"/>
                    </a:ext>
                  </a:extLst>
                </p:cNvPr>
                <p:cNvSpPr>
                  <a:spLocks noChangeAspect="1" noChangeArrowheads="1"/>
                </p:cNvSpPr>
                <p:nvPr/>
              </p:nvSpPr>
              <p:spPr bwMode="auto">
                <a:xfrm>
                  <a:off x="10400123" y="3866014"/>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r>
                          <a:rPr lang="en-US" altLang="en-US" sz="2000" b="1" i="1" smtClean="0">
                            <a:solidFill>
                              <a:srgbClr val="C00000"/>
                            </a:solidFill>
                            <a:latin typeface="Cambria Math" panose="02040503050406030204" pitchFamily="18" charset="0"/>
                          </a:rPr>
                          <m:t>𝟗</m:t>
                        </m:r>
                      </m:oMath>
                    </m:oMathPara>
                  </a14:m>
                  <a:endParaRPr lang="en-US" altLang="en-US" sz="2000" b="1" dirty="0">
                    <a:solidFill>
                      <a:srgbClr val="C00000"/>
                    </a:solidFill>
                  </a:endParaRPr>
                </a:p>
              </p:txBody>
            </p:sp>
          </mc:Choice>
          <mc:Fallback>
            <p:sp>
              <p:nvSpPr>
                <p:cNvPr id="38" name="Oval 50">
                  <a:extLst>
                    <a:ext uri="{FF2B5EF4-FFF2-40B4-BE49-F238E27FC236}">
                      <a16:creationId xmlns:a16="http://schemas.microsoft.com/office/drawing/2014/main" id="{0889CAD8-0C20-5EDE-6381-A7C6531EBDD1}"/>
                    </a:ext>
                  </a:extLst>
                </p:cNvPr>
                <p:cNvSpPr>
                  <a:spLocks noRot="1" noChangeAspect="1" noMove="1" noResize="1" noEditPoints="1" noAdjustHandles="1" noChangeArrowheads="1" noChangeShapeType="1" noTextEdit="1"/>
                </p:cNvSpPr>
                <p:nvPr/>
              </p:nvSpPr>
              <p:spPr bwMode="auto">
                <a:xfrm>
                  <a:off x="10400123" y="3866014"/>
                  <a:ext cx="435031" cy="437783"/>
                </a:xfrm>
                <a:prstGeom prst="ellipse">
                  <a:avLst/>
                </a:prstGeom>
                <a:blipFill>
                  <a:blip r:embed="rId34"/>
                  <a:stretch>
                    <a:fillRect/>
                  </a:stretch>
                </a:blipFill>
                <a:ln w="9525">
                  <a:solidFill>
                    <a:schemeClr val="tx1"/>
                  </a:solidFill>
                  <a:round/>
                  <a:headEnd/>
                  <a:tailEnd/>
                </a:ln>
                <a:effec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9" name="Oval 50">
                  <a:extLst>
                    <a:ext uri="{FF2B5EF4-FFF2-40B4-BE49-F238E27FC236}">
                      <a16:creationId xmlns:a16="http://schemas.microsoft.com/office/drawing/2014/main" id="{5D8D9BCD-E5CD-073C-8E1A-2E42E0EA2069}"/>
                    </a:ext>
                  </a:extLst>
                </p:cNvPr>
                <p:cNvSpPr>
                  <a:spLocks noChangeAspect="1" noChangeArrowheads="1"/>
                </p:cNvSpPr>
                <p:nvPr/>
              </p:nvSpPr>
              <p:spPr bwMode="auto">
                <a:xfrm>
                  <a:off x="10494035" y="4921315"/>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r>
                          <a:rPr lang="en-US" altLang="en-US" sz="2000" b="1" i="1" smtClean="0">
                            <a:solidFill>
                              <a:srgbClr val="C00000"/>
                            </a:solidFill>
                            <a:latin typeface="Cambria Math" panose="02040503050406030204" pitchFamily="18" charset="0"/>
                          </a:rPr>
                          <m:t>𝟏𝟐</m:t>
                        </m:r>
                      </m:oMath>
                    </m:oMathPara>
                  </a14:m>
                  <a:endParaRPr lang="en-US" altLang="en-US" sz="2000" b="1" dirty="0">
                    <a:solidFill>
                      <a:srgbClr val="C00000"/>
                    </a:solidFill>
                  </a:endParaRPr>
                </a:p>
              </p:txBody>
            </p:sp>
          </mc:Choice>
          <mc:Fallback>
            <p:sp>
              <p:nvSpPr>
                <p:cNvPr id="39" name="Oval 50">
                  <a:extLst>
                    <a:ext uri="{FF2B5EF4-FFF2-40B4-BE49-F238E27FC236}">
                      <a16:creationId xmlns:a16="http://schemas.microsoft.com/office/drawing/2014/main" id="{5D8D9BCD-E5CD-073C-8E1A-2E42E0EA2069}"/>
                    </a:ext>
                  </a:extLst>
                </p:cNvPr>
                <p:cNvSpPr>
                  <a:spLocks noRot="1" noChangeAspect="1" noMove="1" noResize="1" noEditPoints="1" noAdjustHandles="1" noChangeArrowheads="1" noChangeShapeType="1" noTextEdit="1"/>
                </p:cNvSpPr>
                <p:nvPr/>
              </p:nvSpPr>
              <p:spPr bwMode="auto">
                <a:xfrm>
                  <a:off x="10494035" y="4921315"/>
                  <a:ext cx="435031" cy="437783"/>
                </a:xfrm>
                <a:prstGeom prst="ellipse">
                  <a:avLst/>
                </a:prstGeom>
                <a:blipFill>
                  <a:blip r:embed="rId35"/>
                  <a:stretch>
                    <a:fillRect l="-9459"/>
                  </a:stretch>
                </a:blipFill>
                <a:ln w="9525">
                  <a:solidFill>
                    <a:schemeClr val="tx1"/>
                  </a:solidFill>
                  <a:round/>
                  <a:headEnd/>
                  <a:tailEnd/>
                </a:ln>
                <a:effec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0" name="Oval 50">
                  <a:extLst>
                    <a:ext uri="{FF2B5EF4-FFF2-40B4-BE49-F238E27FC236}">
                      <a16:creationId xmlns:a16="http://schemas.microsoft.com/office/drawing/2014/main" id="{4202B4C0-118C-AF8C-7DCD-22B5EDC21736}"/>
                    </a:ext>
                  </a:extLst>
                </p:cNvPr>
                <p:cNvSpPr>
                  <a:spLocks noChangeAspect="1" noChangeArrowheads="1"/>
                </p:cNvSpPr>
                <p:nvPr/>
              </p:nvSpPr>
              <p:spPr bwMode="auto">
                <a:xfrm>
                  <a:off x="10457764" y="5602945"/>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r>
                          <a:rPr lang="en-US" altLang="en-US" sz="2000" b="1" i="1" smtClean="0">
                            <a:solidFill>
                              <a:srgbClr val="C00000"/>
                            </a:solidFill>
                            <a:latin typeface="Cambria Math" panose="02040503050406030204" pitchFamily="18" charset="0"/>
                          </a:rPr>
                          <m:t>𝟑</m:t>
                        </m:r>
                      </m:oMath>
                    </m:oMathPara>
                  </a14:m>
                  <a:endParaRPr lang="en-US" altLang="en-US" sz="2000" b="1" dirty="0">
                    <a:solidFill>
                      <a:srgbClr val="C00000"/>
                    </a:solidFill>
                  </a:endParaRPr>
                </a:p>
              </p:txBody>
            </p:sp>
          </mc:Choice>
          <mc:Fallback>
            <p:sp>
              <p:nvSpPr>
                <p:cNvPr id="40" name="Oval 50">
                  <a:extLst>
                    <a:ext uri="{FF2B5EF4-FFF2-40B4-BE49-F238E27FC236}">
                      <a16:creationId xmlns:a16="http://schemas.microsoft.com/office/drawing/2014/main" id="{4202B4C0-118C-AF8C-7DCD-22B5EDC21736}"/>
                    </a:ext>
                  </a:extLst>
                </p:cNvPr>
                <p:cNvSpPr>
                  <a:spLocks noRot="1" noChangeAspect="1" noMove="1" noResize="1" noEditPoints="1" noAdjustHandles="1" noChangeArrowheads="1" noChangeShapeType="1" noTextEdit="1"/>
                </p:cNvSpPr>
                <p:nvPr/>
              </p:nvSpPr>
              <p:spPr bwMode="auto">
                <a:xfrm>
                  <a:off x="10457764" y="5602945"/>
                  <a:ext cx="435031" cy="437783"/>
                </a:xfrm>
                <a:prstGeom prst="ellipse">
                  <a:avLst/>
                </a:prstGeom>
                <a:blipFill>
                  <a:blip r:embed="rId36"/>
                  <a:stretch>
                    <a:fillRect/>
                  </a:stretch>
                </a:blipFill>
                <a:ln w="9525">
                  <a:solidFill>
                    <a:schemeClr val="tx1"/>
                  </a:solidFill>
                  <a:round/>
                  <a:headEnd/>
                  <a:tailEnd/>
                </a:ln>
                <a:effectLst/>
              </p:spPr>
              <p:txBody>
                <a:bodyPr/>
                <a:lstStyle/>
                <a:p>
                  <a:r>
                    <a:rPr lang="en-US">
                      <a:noFill/>
                    </a:rPr>
                    <a:t> </a:t>
                  </a:r>
                </a:p>
              </p:txBody>
            </p:sp>
          </mc:Fallback>
        </mc:AlternateContent>
        <p:cxnSp>
          <p:nvCxnSpPr>
            <p:cNvPr id="41" name="Straight Connector 40">
              <a:extLst>
                <a:ext uri="{FF2B5EF4-FFF2-40B4-BE49-F238E27FC236}">
                  <a16:creationId xmlns:a16="http://schemas.microsoft.com/office/drawing/2014/main" id="{5B43F8A4-B9CA-223F-5461-B1E1FD91710F}"/>
                </a:ext>
              </a:extLst>
            </p:cNvPr>
            <p:cNvCxnSpPr>
              <a:cxnSpLocks/>
              <a:stCxn id="29" idx="6"/>
              <a:endCxn id="37" idx="2"/>
            </p:cNvCxnSpPr>
            <p:nvPr/>
          </p:nvCxnSpPr>
          <p:spPr>
            <a:xfrm>
              <a:off x="7734361" y="2756480"/>
              <a:ext cx="2883278" cy="86724"/>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CF0C180E-AA9F-14CC-450B-A51E0EAA66DB}"/>
                </a:ext>
              </a:extLst>
            </p:cNvPr>
            <p:cNvCxnSpPr>
              <a:cxnSpLocks/>
              <a:stCxn id="29" idx="5"/>
              <a:endCxn id="38" idx="1"/>
            </p:cNvCxnSpPr>
            <p:nvPr/>
          </p:nvCxnSpPr>
          <p:spPr>
            <a:xfrm>
              <a:off x="7670652" y="2911259"/>
              <a:ext cx="2793180" cy="1018867"/>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AF5AFA61-5A82-4C3C-D5AB-1F78BA0ED122}"/>
                </a:ext>
              </a:extLst>
            </p:cNvPr>
            <p:cNvCxnSpPr>
              <a:cxnSpLocks/>
              <a:stCxn id="29" idx="4"/>
              <a:endCxn id="40" idx="1"/>
            </p:cNvCxnSpPr>
            <p:nvPr/>
          </p:nvCxnSpPr>
          <p:spPr>
            <a:xfrm>
              <a:off x="7516846" y="2975371"/>
              <a:ext cx="3004627" cy="2691686"/>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41E531D9-F71E-EED1-03BB-A8072EAC1E5C}"/>
                </a:ext>
              </a:extLst>
            </p:cNvPr>
            <p:cNvCxnSpPr>
              <a:cxnSpLocks/>
              <a:stCxn id="34" idx="7"/>
              <a:endCxn id="37" idx="3"/>
            </p:cNvCxnSpPr>
            <p:nvPr/>
          </p:nvCxnSpPr>
          <p:spPr>
            <a:xfrm flipV="1">
              <a:off x="7774021" y="2997983"/>
              <a:ext cx="2907327" cy="852428"/>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E3F5F03F-56CB-B273-A64B-6AA2F8CBAA52}"/>
                </a:ext>
              </a:extLst>
            </p:cNvPr>
            <p:cNvCxnSpPr>
              <a:cxnSpLocks/>
              <a:stCxn id="36" idx="6"/>
              <a:endCxn id="40" idx="3"/>
            </p:cNvCxnSpPr>
            <p:nvPr/>
          </p:nvCxnSpPr>
          <p:spPr>
            <a:xfrm>
              <a:off x="7620214" y="5195448"/>
              <a:ext cx="2901259" cy="781168"/>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1E2B8F9A-B837-FAA3-5D0B-B2913FFD2AA6}"/>
                </a:ext>
              </a:extLst>
            </p:cNvPr>
            <p:cNvCxnSpPr>
              <a:cxnSpLocks/>
              <a:stCxn id="36" idx="7"/>
              <a:endCxn id="37" idx="4"/>
            </p:cNvCxnSpPr>
            <p:nvPr/>
          </p:nvCxnSpPr>
          <p:spPr>
            <a:xfrm flipV="1">
              <a:off x="7556505" y="3062095"/>
              <a:ext cx="3278650" cy="1978573"/>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E3E91A87-CD26-A35F-3A49-DDBAE20626FB}"/>
                    </a:ext>
                  </a:extLst>
                </p:cNvPr>
                <p:cNvSpPr txBox="1"/>
                <p:nvPr/>
              </p:nvSpPr>
              <p:spPr>
                <a:xfrm>
                  <a:off x="8799028" y="2624312"/>
                  <a:ext cx="365805"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p:sp>
              <p:nvSpPr>
                <p:cNvPr id="95" name="TextBox 94">
                  <a:extLst>
                    <a:ext uri="{FF2B5EF4-FFF2-40B4-BE49-F238E27FC236}">
                      <a16:creationId xmlns:a16="http://schemas.microsoft.com/office/drawing/2014/main" id="{E3E91A87-CD26-A35F-3A49-DDBAE20626FB}"/>
                    </a:ext>
                  </a:extLst>
                </p:cNvPr>
                <p:cNvSpPr txBox="1">
                  <a:spLocks noRot="1" noChangeAspect="1" noMove="1" noResize="1" noEditPoints="1" noAdjustHandles="1" noChangeArrowheads="1" noChangeShapeType="1" noTextEdit="1"/>
                </p:cNvSpPr>
                <p:nvPr/>
              </p:nvSpPr>
              <p:spPr>
                <a:xfrm>
                  <a:off x="8799028" y="2624312"/>
                  <a:ext cx="365805" cy="369332"/>
                </a:xfrm>
                <a:prstGeom prst="rect">
                  <a:avLst/>
                </a:prstGeom>
                <a:blipFill>
                  <a:blip r:embed="rId37"/>
                  <a:stretch>
                    <a:fillRect/>
                  </a:stretch>
                </a:blipFill>
              </p:spPr>
              <p:txBody>
                <a:bodyPr/>
                <a:lstStyle/>
                <a:p>
                  <a:r>
                    <a:rPr lang="en-US">
                      <a:noFill/>
                    </a:rPr>
                    <a:t> </a:t>
                  </a:r>
                </a:p>
              </p:txBody>
            </p:sp>
          </mc:Fallback>
        </mc:AlternateContent>
        <p:cxnSp>
          <p:nvCxnSpPr>
            <p:cNvPr id="11" name="Straight Connector 10">
              <a:extLst>
                <a:ext uri="{FF2B5EF4-FFF2-40B4-BE49-F238E27FC236}">
                  <a16:creationId xmlns:a16="http://schemas.microsoft.com/office/drawing/2014/main" id="{98D24909-B652-26E8-164B-8ED5984D4A8F}"/>
                </a:ext>
              </a:extLst>
            </p:cNvPr>
            <p:cNvCxnSpPr>
              <a:cxnSpLocks/>
              <a:stCxn id="34" idx="6"/>
              <a:endCxn id="38" idx="2"/>
            </p:cNvCxnSpPr>
            <p:nvPr/>
          </p:nvCxnSpPr>
          <p:spPr>
            <a:xfrm>
              <a:off x="7837730" y="4005191"/>
              <a:ext cx="2562393" cy="79715"/>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AFFDACC-7F1F-3EAF-A83F-2AF300D52352}"/>
                </a:ext>
              </a:extLst>
            </p:cNvPr>
            <p:cNvCxnSpPr>
              <a:cxnSpLocks/>
              <a:stCxn id="34" idx="5"/>
              <a:endCxn id="39" idx="2"/>
            </p:cNvCxnSpPr>
            <p:nvPr/>
          </p:nvCxnSpPr>
          <p:spPr>
            <a:xfrm>
              <a:off x="7774021" y="4159970"/>
              <a:ext cx="2720014" cy="980237"/>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25" name="TextBox 24">
                  <a:extLst>
                    <a:ext uri="{FF2B5EF4-FFF2-40B4-BE49-F238E27FC236}">
                      <a16:creationId xmlns:a16="http://schemas.microsoft.com/office/drawing/2014/main" id="{BC8B1E1E-E50D-846D-12E6-71C5F805A731}"/>
                    </a:ext>
                  </a:extLst>
                </p:cNvPr>
                <p:cNvSpPr txBox="1"/>
                <p:nvPr/>
              </p:nvSpPr>
              <p:spPr>
                <a:xfrm>
                  <a:off x="8226758" y="3032209"/>
                  <a:ext cx="365805"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p:sp>
              <p:nvSpPr>
                <p:cNvPr id="25" name="TextBox 24">
                  <a:extLst>
                    <a:ext uri="{FF2B5EF4-FFF2-40B4-BE49-F238E27FC236}">
                      <a16:creationId xmlns:a16="http://schemas.microsoft.com/office/drawing/2014/main" id="{BC8B1E1E-E50D-846D-12E6-71C5F805A731}"/>
                    </a:ext>
                  </a:extLst>
                </p:cNvPr>
                <p:cNvSpPr txBox="1">
                  <a:spLocks noRot="1" noChangeAspect="1" noMove="1" noResize="1" noEditPoints="1" noAdjustHandles="1" noChangeArrowheads="1" noChangeShapeType="1" noTextEdit="1"/>
                </p:cNvSpPr>
                <p:nvPr/>
              </p:nvSpPr>
              <p:spPr>
                <a:xfrm>
                  <a:off x="8226758" y="3032209"/>
                  <a:ext cx="365805" cy="369332"/>
                </a:xfrm>
                <a:prstGeom prst="rect">
                  <a:avLst/>
                </a:prstGeom>
                <a:blipFill>
                  <a:blip r:embed="rId3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6" name="TextBox 25">
                  <a:extLst>
                    <a:ext uri="{FF2B5EF4-FFF2-40B4-BE49-F238E27FC236}">
                      <a16:creationId xmlns:a16="http://schemas.microsoft.com/office/drawing/2014/main" id="{E88CA9AC-B15C-5398-3047-822A2CD82E24}"/>
                    </a:ext>
                  </a:extLst>
                </p:cNvPr>
                <p:cNvSpPr txBox="1"/>
                <p:nvPr/>
              </p:nvSpPr>
              <p:spPr>
                <a:xfrm>
                  <a:off x="7826340" y="3154285"/>
                  <a:ext cx="365805"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p:sp>
              <p:nvSpPr>
                <p:cNvPr id="26" name="TextBox 25">
                  <a:extLst>
                    <a:ext uri="{FF2B5EF4-FFF2-40B4-BE49-F238E27FC236}">
                      <a16:creationId xmlns:a16="http://schemas.microsoft.com/office/drawing/2014/main" id="{E88CA9AC-B15C-5398-3047-822A2CD82E24}"/>
                    </a:ext>
                  </a:extLst>
                </p:cNvPr>
                <p:cNvSpPr txBox="1">
                  <a:spLocks noRot="1" noChangeAspect="1" noMove="1" noResize="1" noEditPoints="1" noAdjustHandles="1" noChangeArrowheads="1" noChangeShapeType="1" noTextEdit="1"/>
                </p:cNvSpPr>
                <p:nvPr/>
              </p:nvSpPr>
              <p:spPr>
                <a:xfrm>
                  <a:off x="7826340" y="3154285"/>
                  <a:ext cx="365805" cy="369332"/>
                </a:xfrm>
                <a:prstGeom prst="rect">
                  <a:avLst/>
                </a:prstGeom>
                <a:blipFill>
                  <a:blip r:embed="rId3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7" name="TextBox 26">
                  <a:extLst>
                    <a:ext uri="{FF2B5EF4-FFF2-40B4-BE49-F238E27FC236}">
                      <a16:creationId xmlns:a16="http://schemas.microsoft.com/office/drawing/2014/main" id="{A76830A4-8BF1-B4B7-5952-22B4855BBCCF}"/>
                    </a:ext>
                  </a:extLst>
                </p:cNvPr>
                <p:cNvSpPr txBox="1"/>
                <p:nvPr/>
              </p:nvSpPr>
              <p:spPr>
                <a:xfrm>
                  <a:off x="9715677" y="3925475"/>
                  <a:ext cx="365805"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p:sp>
              <p:nvSpPr>
                <p:cNvPr id="27" name="TextBox 26">
                  <a:extLst>
                    <a:ext uri="{FF2B5EF4-FFF2-40B4-BE49-F238E27FC236}">
                      <a16:creationId xmlns:a16="http://schemas.microsoft.com/office/drawing/2014/main" id="{A76830A4-8BF1-B4B7-5952-22B4855BBCCF}"/>
                    </a:ext>
                  </a:extLst>
                </p:cNvPr>
                <p:cNvSpPr txBox="1">
                  <a:spLocks noRot="1" noChangeAspect="1" noMove="1" noResize="1" noEditPoints="1" noAdjustHandles="1" noChangeArrowheads="1" noChangeShapeType="1" noTextEdit="1"/>
                </p:cNvSpPr>
                <p:nvPr/>
              </p:nvSpPr>
              <p:spPr>
                <a:xfrm>
                  <a:off x="9715677" y="3925475"/>
                  <a:ext cx="365805" cy="369332"/>
                </a:xfrm>
                <a:prstGeom prst="rect">
                  <a:avLst/>
                </a:prstGeom>
                <a:blipFill>
                  <a:blip r:embed="rId4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8" name="TextBox 27">
                  <a:extLst>
                    <a:ext uri="{FF2B5EF4-FFF2-40B4-BE49-F238E27FC236}">
                      <a16:creationId xmlns:a16="http://schemas.microsoft.com/office/drawing/2014/main" id="{4694BC23-4887-E4F6-E682-C9C6FC9C156F}"/>
                    </a:ext>
                  </a:extLst>
                </p:cNvPr>
                <p:cNvSpPr txBox="1"/>
                <p:nvPr/>
              </p:nvSpPr>
              <p:spPr>
                <a:xfrm>
                  <a:off x="7937372" y="4136548"/>
                  <a:ext cx="365805"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p:sp>
              <p:nvSpPr>
                <p:cNvPr id="28" name="TextBox 27">
                  <a:extLst>
                    <a:ext uri="{FF2B5EF4-FFF2-40B4-BE49-F238E27FC236}">
                      <a16:creationId xmlns:a16="http://schemas.microsoft.com/office/drawing/2014/main" id="{4694BC23-4887-E4F6-E682-C9C6FC9C156F}"/>
                    </a:ext>
                  </a:extLst>
                </p:cNvPr>
                <p:cNvSpPr txBox="1">
                  <a:spLocks noRot="1" noChangeAspect="1" noMove="1" noResize="1" noEditPoints="1" noAdjustHandles="1" noChangeArrowheads="1" noChangeShapeType="1" noTextEdit="1"/>
                </p:cNvSpPr>
                <p:nvPr/>
              </p:nvSpPr>
              <p:spPr>
                <a:xfrm>
                  <a:off x="7937372" y="4136548"/>
                  <a:ext cx="365805" cy="369332"/>
                </a:xfrm>
                <a:prstGeom prst="rect">
                  <a:avLst/>
                </a:prstGeom>
                <a:blipFill>
                  <a:blip r:embed="rId41"/>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0" name="TextBox 29">
                  <a:extLst>
                    <a:ext uri="{FF2B5EF4-FFF2-40B4-BE49-F238E27FC236}">
                      <a16:creationId xmlns:a16="http://schemas.microsoft.com/office/drawing/2014/main" id="{0CF6C4D6-9677-924A-0EAB-BA9F1387F47B}"/>
                    </a:ext>
                  </a:extLst>
                </p:cNvPr>
                <p:cNvSpPr txBox="1"/>
                <p:nvPr/>
              </p:nvSpPr>
              <p:spPr>
                <a:xfrm>
                  <a:off x="7889584" y="4581686"/>
                  <a:ext cx="365805"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p:sp>
              <p:nvSpPr>
                <p:cNvPr id="30" name="TextBox 29">
                  <a:extLst>
                    <a:ext uri="{FF2B5EF4-FFF2-40B4-BE49-F238E27FC236}">
                      <a16:creationId xmlns:a16="http://schemas.microsoft.com/office/drawing/2014/main" id="{0CF6C4D6-9677-924A-0EAB-BA9F1387F47B}"/>
                    </a:ext>
                  </a:extLst>
                </p:cNvPr>
                <p:cNvSpPr txBox="1">
                  <a:spLocks noRot="1" noChangeAspect="1" noMove="1" noResize="1" noEditPoints="1" noAdjustHandles="1" noChangeArrowheads="1" noChangeShapeType="1" noTextEdit="1"/>
                </p:cNvSpPr>
                <p:nvPr/>
              </p:nvSpPr>
              <p:spPr>
                <a:xfrm>
                  <a:off x="7889584" y="4581686"/>
                  <a:ext cx="365805" cy="369332"/>
                </a:xfrm>
                <a:prstGeom prst="rect">
                  <a:avLst/>
                </a:prstGeom>
                <a:blipFill>
                  <a:blip r:embed="rId4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9BFD4A6B-8BBB-2866-DA6D-269E7607A2E5}"/>
                    </a:ext>
                  </a:extLst>
                </p:cNvPr>
                <p:cNvSpPr txBox="1"/>
                <p:nvPr/>
              </p:nvSpPr>
              <p:spPr>
                <a:xfrm>
                  <a:off x="8731952" y="5370051"/>
                  <a:ext cx="365805"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p:sp>
              <p:nvSpPr>
                <p:cNvPr id="31" name="TextBox 30">
                  <a:extLst>
                    <a:ext uri="{FF2B5EF4-FFF2-40B4-BE49-F238E27FC236}">
                      <a16:creationId xmlns:a16="http://schemas.microsoft.com/office/drawing/2014/main" id="{9BFD4A6B-8BBB-2866-DA6D-269E7607A2E5}"/>
                    </a:ext>
                  </a:extLst>
                </p:cNvPr>
                <p:cNvSpPr txBox="1">
                  <a:spLocks noRot="1" noChangeAspect="1" noMove="1" noResize="1" noEditPoints="1" noAdjustHandles="1" noChangeArrowheads="1" noChangeShapeType="1" noTextEdit="1"/>
                </p:cNvSpPr>
                <p:nvPr/>
              </p:nvSpPr>
              <p:spPr>
                <a:xfrm>
                  <a:off x="8731952" y="5370051"/>
                  <a:ext cx="365805" cy="369332"/>
                </a:xfrm>
                <a:prstGeom prst="rect">
                  <a:avLst/>
                </a:prstGeom>
                <a:blipFill>
                  <a:blip r:embed="rId43"/>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421480709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38A748-B66D-237A-7B0F-2A6834E48922}"/>
            </a:ext>
          </a:extLst>
        </p:cNvPr>
        <p:cNvGrpSpPr/>
        <p:nvPr/>
      </p:nvGrpSpPr>
      <p:grpSpPr>
        <a:xfrm>
          <a:off x="0" y="0"/>
          <a:ext cx="0" cy="0"/>
          <a:chOff x="0" y="0"/>
          <a:chExt cx="0" cy="0"/>
        </a:xfrm>
      </p:grpSpPr>
      <p:sp>
        <p:nvSpPr>
          <p:cNvPr id="34" name="Rectangle 33">
            <a:extLst>
              <a:ext uri="{FF2B5EF4-FFF2-40B4-BE49-F238E27FC236}">
                <a16:creationId xmlns:a16="http://schemas.microsoft.com/office/drawing/2014/main" id="{A2072FD7-0897-6A32-9F75-110E2E112185}"/>
              </a:ext>
            </a:extLst>
          </p:cNvPr>
          <p:cNvSpPr/>
          <p:nvPr/>
        </p:nvSpPr>
        <p:spPr>
          <a:xfrm>
            <a:off x="4488720" y="1773199"/>
            <a:ext cx="3215508" cy="4843619"/>
          </a:xfrm>
          <a:prstGeom prst="rect">
            <a:avLst/>
          </a:prstGeom>
          <a:solidFill>
            <a:srgbClr val="FFA7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373D825E-5512-24FE-5593-1A7E1C7172A9}"/>
              </a:ext>
            </a:extLst>
          </p:cNvPr>
          <p:cNvSpPr>
            <a:spLocks noGrp="1"/>
          </p:cNvSpPr>
          <p:nvPr>
            <p:ph type="title"/>
          </p:nvPr>
        </p:nvSpPr>
        <p:spPr>
          <a:xfrm>
            <a:off x="353085" y="-171592"/>
            <a:ext cx="10515600" cy="1325563"/>
          </a:xfrm>
        </p:spPr>
        <p:txBody>
          <a:bodyPr/>
          <a:lstStyle/>
          <a:p>
            <a:r>
              <a:rPr lang="en-US" dirty="0"/>
              <a:t>Shift Scheduling Reduces to Max Flow</a:t>
            </a:r>
          </a:p>
        </p:txBody>
      </p:sp>
      <p:sp>
        <p:nvSpPr>
          <p:cNvPr id="4" name="Slide Number Placeholder 3">
            <a:extLst>
              <a:ext uri="{FF2B5EF4-FFF2-40B4-BE49-F238E27FC236}">
                <a16:creationId xmlns:a16="http://schemas.microsoft.com/office/drawing/2014/main" id="{4004F754-D9BE-D19A-D83E-3CC331155F5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BADE50-950A-4D58-BFB2-FA2C6A8B385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2" name="TextBox 11">
            <a:extLst>
              <a:ext uri="{FF2B5EF4-FFF2-40B4-BE49-F238E27FC236}">
                <a16:creationId xmlns:a16="http://schemas.microsoft.com/office/drawing/2014/main" id="{D04A0423-E85F-6D47-5003-E52617DFF1A6}"/>
              </a:ext>
            </a:extLst>
          </p:cNvPr>
          <p:cNvSpPr txBox="1"/>
          <p:nvPr/>
        </p:nvSpPr>
        <p:spPr>
          <a:xfrm>
            <a:off x="1615701" y="1403866"/>
            <a:ext cx="1686680"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Shift Scheduling</a:t>
            </a:r>
          </a:p>
        </p:txBody>
      </p:sp>
      <p:sp>
        <p:nvSpPr>
          <p:cNvPr id="16" name="TextBox 15">
            <a:extLst>
              <a:ext uri="{FF2B5EF4-FFF2-40B4-BE49-F238E27FC236}">
                <a16:creationId xmlns:a16="http://schemas.microsoft.com/office/drawing/2014/main" id="{922551BC-EA8D-7615-03D7-2CD9848EC7F3}"/>
              </a:ext>
            </a:extLst>
          </p:cNvPr>
          <p:cNvSpPr txBox="1"/>
          <p:nvPr/>
        </p:nvSpPr>
        <p:spPr>
          <a:xfrm>
            <a:off x="7808995" y="1034039"/>
            <a:ext cx="193161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Max Flow Problem</a:t>
            </a:r>
          </a:p>
        </p:txBody>
      </p:sp>
      <p:sp>
        <p:nvSpPr>
          <p:cNvPr id="21" name="TextBox 20">
            <a:extLst>
              <a:ext uri="{FF2B5EF4-FFF2-40B4-BE49-F238E27FC236}">
                <a16:creationId xmlns:a16="http://schemas.microsoft.com/office/drawing/2014/main" id="{2752028E-29CC-4213-BD70-26DD042AF439}"/>
              </a:ext>
            </a:extLst>
          </p:cNvPr>
          <p:cNvSpPr txBox="1"/>
          <p:nvPr/>
        </p:nvSpPr>
        <p:spPr>
          <a:xfrm>
            <a:off x="7808995" y="4298946"/>
            <a:ext cx="3810210"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A maximal flow graph for that network</a:t>
            </a:r>
            <a:endPar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Box 27">
            <a:extLst>
              <a:ext uri="{FF2B5EF4-FFF2-40B4-BE49-F238E27FC236}">
                <a16:creationId xmlns:a16="http://schemas.microsoft.com/office/drawing/2014/main" id="{EE3926A7-13EC-2393-92D6-A47AD279337C}"/>
              </a:ext>
            </a:extLst>
          </p:cNvPr>
          <p:cNvSpPr txBox="1"/>
          <p:nvPr/>
        </p:nvSpPr>
        <p:spPr>
          <a:xfrm>
            <a:off x="2378525" y="4727933"/>
            <a:ext cx="1037463"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Schedule</a:t>
            </a:r>
            <a:endPar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AutoShape 5">
            <a:extLst>
              <a:ext uri="{FF2B5EF4-FFF2-40B4-BE49-F238E27FC236}">
                <a16:creationId xmlns:a16="http://schemas.microsoft.com/office/drawing/2014/main" id="{DA895F47-39E6-2F42-9205-2141C145CB73}"/>
              </a:ext>
            </a:extLst>
          </p:cNvPr>
          <p:cNvSpPr>
            <a:spLocks noChangeArrowheads="1"/>
          </p:cNvSpPr>
          <p:nvPr/>
        </p:nvSpPr>
        <p:spPr bwMode="auto">
          <a:xfrm>
            <a:off x="4627562" y="1861068"/>
            <a:ext cx="2840038" cy="759976"/>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AutoShape 5">
            <a:extLst>
              <a:ext uri="{FF2B5EF4-FFF2-40B4-BE49-F238E27FC236}">
                <a16:creationId xmlns:a16="http://schemas.microsoft.com/office/drawing/2014/main" id="{3065580F-E463-9FAC-AD98-BE3027CE43E2}"/>
              </a:ext>
            </a:extLst>
          </p:cNvPr>
          <p:cNvSpPr>
            <a:spLocks noChangeArrowheads="1"/>
          </p:cNvSpPr>
          <p:nvPr/>
        </p:nvSpPr>
        <p:spPr bwMode="auto">
          <a:xfrm rot="5400000">
            <a:off x="8725391" y="3466305"/>
            <a:ext cx="1086255" cy="701516"/>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AutoShape 5">
            <a:extLst>
              <a:ext uri="{FF2B5EF4-FFF2-40B4-BE49-F238E27FC236}">
                <a16:creationId xmlns:a16="http://schemas.microsoft.com/office/drawing/2014/main" id="{2178534A-68B3-0A9B-95A3-77BE57501358}"/>
              </a:ext>
            </a:extLst>
          </p:cNvPr>
          <p:cNvSpPr>
            <a:spLocks noChangeArrowheads="1"/>
          </p:cNvSpPr>
          <p:nvPr/>
        </p:nvSpPr>
        <p:spPr bwMode="auto">
          <a:xfrm rot="10800000">
            <a:off x="4641736" y="5283308"/>
            <a:ext cx="2840038" cy="993815"/>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Box 34">
            <a:extLst>
              <a:ext uri="{FF2B5EF4-FFF2-40B4-BE49-F238E27FC236}">
                <a16:creationId xmlns:a16="http://schemas.microsoft.com/office/drawing/2014/main" id="{7D01BB92-46E5-BA79-2D81-065A229BC51B}"/>
              </a:ext>
            </a:extLst>
          </p:cNvPr>
          <p:cNvSpPr txBox="1"/>
          <p:nvPr/>
        </p:nvSpPr>
        <p:spPr>
          <a:xfrm>
            <a:off x="5479573" y="6215041"/>
            <a:ext cx="113601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Reduction</a:t>
            </a:r>
          </a:p>
        </p:txBody>
      </p: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4EC24E22-AA98-6BFD-4336-3C02AAF2061E}"/>
                  </a:ext>
                </a:extLst>
              </p:cNvPr>
              <p:cNvSpPr txBox="1"/>
              <p:nvPr/>
            </p:nvSpPr>
            <p:spPr>
              <a:xfrm>
                <a:off x="4474144" y="2476596"/>
                <a:ext cx="3285854" cy="175432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Nodes: One per employee, O</a:t>
                </a:r>
                <a:r>
                  <a:rPr lang="en-US" dirty="0">
                    <a:solidFill>
                      <a:prstClr val="black"/>
                    </a:solidFill>
                    <a:latin typeface="Calibri" panose="020F0502020204030204"/>
                  </a:rPr>
                  <a:t>ne per shift, source, sink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Calibri" panose="020F0502020204030204"/>
                  </a:rPr>
                  <a:t>Edges: s to employees with capacity </a:t>
                </a:r>
                <a14:m>
                  <m:oMath xmlns:m="http://schemas.openxmlformats.org/officeDocument/2006/math">
                    <m:r>
                      <a:rPr lang="en-US" b="0" i="1" smtClean="0">
                        <a:solidFill>
                          <a:prstClr val="black"/>
                        </a:solidFill>
                        <a:latin typeface="Cambria Math" panose="02040503050406030204" pitchFamily="18" charset="0"/>
                      </a:rPr>
                      <m:t>𝑥</m:t>
                    </m:r>
                  </m:oMath>
                </a14:m>
                <a:r>
                  <a:rPr lang="en-US" dirty="0">
                    <a:solidFill>
                      <a:prstClr val="black"/>
                    </a:solidFill>
                    <a:latin typeface="Calibri" panose="020F0502020204030204"/>
                  </a:rPr>
                  <a:t>, employees to available shifts with capacity 1, shifts to sink with capacity </a:t>
                </a:r>
                <a14:m>
                  <m:oMath xmlns:m="http://schemas.openxmlformats.org/officeDocument/2006/math">
                    <m:sSub>
                      <m:sSubPr>
                        <m:ctrlPr>
                          <a:rPr lang="en-US" b="0" i="1" smtClean="0">
                            <a:solidFill>
                              <a:prstClr val="black"/>
                            </a:solidFill>
                            <a:latin typeface="Cambria Math" panose="02040503050406030204" pitchFamily="18" charset="0"/>
                          </a:rPr>
                        </m:ctrlPr>
                      </m:sSubPr>
                      <m:e>
                        <m:r>
                          <a:rPr lang="en-US" b="0" i="1" smtClean="0">
                            <a:solidFill>
                              <a:prstClr val="black"/>
                            </a:solidFill>
                            <a:latin typeface="Cambria Math" panose="02040503050406030204" pitchFamily="18" charset="0"/>
                          </a:rPr>
                          <m:t>𝑝</m:t>
                        </m:r>
                      </m:e>
                      <m:sub>
                        <m:r>
                          <a:rPr lang="en-US" b="0" i="1" smtClean="0">
                            <a:solidFill>
                              <a:prstClr val="black"/>
                            </a:solidFill>
                            <a:latin typeface="Cambria Math" panose="02040503050406030204" pitchFamily="18" charset="0"/>
                          </a:rPr>
                          <m:t>𝑖</m:t>
                        </m:r>
                      </m:sub>
                    </m:sSub>
                  </m:oMath>
                </a14:m>
                <a:endParaRPr lang="en-US" dirty="0">
                  <a:solidFill>
                    <a:prstClr val="black"/>
                  </a:solidFill>
                  <a:latin typeface="Calibri" panose="020F0502020204030204"/>
                </a:endParaRPr>
              </a:p>
            </p:txBody>
          </p:sp>
        </mc:Choice>
        <mc:Fallback>
          <p:sp>
            <p:nvSpPr>
              <p:cNvPr id="3" name="TextBox 2">
                <a:extLst>
                  <a:ext uri="{FF2B5EF4-FFF2-40B4-BE49-F238E27FC236}">
                    <a16:creationId xmlns:a16="http://schemas.microsoft.com/office/drawing/2014/main" id="{4EC24E22-AA98-6BFD-4336-3C02AAF2061E}"/>
                  </a:ext>
                </a:extLst>
              </p:cNvPr>
              <p:cNvSpPr txBox="1">
                <a:spLocks noRot="1" noChangeAspect="1" noMove="1" noResize="1" noEditPoints="1" noAdjustHandles="1" noChangeArrowheads="1" noChangeShapeType="1" noTextEdit="1"/>
              </p:cNvSpPr>
              <p:nvPr/>
            </p:nvSpPr>
            <p:spPr>
              <a:xfrm>
                <a:off x="4474144" y="2476596"/>
                <a:ext cx="3285854" cy="1754326"/>
              </a:xfrm>
              <a:prstGeom prst="rect">
                <a:avLst/>
              </a:prstGeom>
              <a:blipFill>
                <a:blip r:embed="rId2"/>
                <a:stretch>
                  <a:fillRect l="-1670" t="-1736" b="-4514"/>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3CB01A05-33DB-C921-21A3-F17DF51395E0}"/>
              </a:ext>
            </a:extLst>
          </p:cNvPr>
          <p:cNvSpPr txBox="1"/>
          <p:nvPr/>
        </p:nvSpPr>
        <p:spPr>
          <a:xfrm>
            <a:off x="9714100" y="3680214"/>
            <a:ext cx="2743200"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Ford-Fulkerson</a:t>
            </a:r>
          </a:p>
        </p:txBody>
      </p:sp>
      <p:sp>
        <p:nvSpPr>
          <p:cNvPr id="6" name="TextBox 5">
            <a:extLst>
              <a:ext uri="{FF2B5EF4-FFF2-40B4-BE49-F238E27FC236}">
                <a16:creationId xmlns:a16="http://schemas.microsoft.com/office/drawing/2014/main" id="{3730BFAD-FC3D-3474-3953-71C033799B51}"/>
              </a:ext>
            </a:extLst>
          </p:cNvPr>
          <p:cNvSpPr txBox="1"/>
          <p:nvPr/>
        </p:nvSpPr>
        <p:spPr>
          <a:xfrm>
            <a:off x="5243990" y="4593289"/>
            <a:ext cx="2743200" cy="92333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Calibri" panose="020F0502020204030204"/>
              </a:rPr>
              <a:t>If an employee-shift edge has flow, assign the employee to that shift</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Box 22">
            <a:extLst>
              <a:ext uri="{FF2B5EF4-FFF2-40B4-BE49-F238E27FC236}">
                <a16:creationId xmlns:a16="http://schemas.microsoft.com/office/drawing/2014/main" id="{BD5EBD0D-3552-55EF-B4AF-866950D09555}"/>
              </a:ext>
            </a:extLst>
          </p:cNvPr>
          <p:cNvSpPr txBox="1"/>
          <p:nvPr/>
        </p:nvSpPr>
        <p:spPr>
          <a:xfrm>
            <a:off x="105853" y="2113216"/>
            <a:ext cx="1796903" cy="1477328"/>
          </a:xfrm>
          <a:prstGeom prst="rect">
            <a:avLst/>
          </a:prstGeom>
          <a:noFill/>
          <a:ln>
            <a:solidFill>
              <a:schemeClr val="tx1"/>
            </a:solidFill>
          </a:ln>
        </p:spPr>
        <p:txBody>
          <a:bodyPr wrap="square" rtlCol="0">
            <a:spAutoFit/>
          </a:bodyPr>
          <a:lstStyle/>
          <a:p>
            <a:r>
              <a:rPr lang="en-US" dirty="0"/>
              <a:t>Shifts:</a:t>
            </a:r>
          </a:p>
          <a:p>
            <a:pPr marL="457200" indent="-457200">
              <a:buFont typeface="+mj-lt"/>
              <a:buAutoNum type="arabicPeriod"/>
            </a:pPr>
            <a:r>
              <a:rPr lang="en-US" dirty="0"/>
              <a:t>6am, 2</a:t>
            </a:r>
          </a:p>
          <a:p>
            <a:pPr marL="457200" indent="-457200">
              <a:buFont typeface="+mj-lt"/>
              <a:buAutoNum type="arabicPeriod"/>
            </a:pPr>
            <a:r>
              <a:rPr lang="en-US" dirty="0"/>
              <a:t>9am, 2</a:t>
            </a:r>
          </a:p>
          <a:p>
            <a:pPr marL="457200" indent="-457200">
              <a:buFont typeface="+mj-lt"/>
              <a:buAutoNum type="arabicPeriod"/>
            </a:pPr>
            <a:r>
              <a:rPr lang="en-US" dirty="0"/>
              <a:t>12pm, 1</a:t>
            </a:r>
          </a:p>
          <a:p>
            <a:pPr marL="457200" indent="-457200">
              <a:buFont typeface="+mj-lt"/>
              <a:buAutoNum type="arabicPeriod"/>
            </a:pPr>
            <a:r>
              <a:rPr lang="en-US" dirty="0"/>
              <a:t>3pm, 1</a:t>
            </a:r>
          </a:p>
        </p:txBody>
      </p:sp>
      <p:sp>
        <p:nvSpPr>
          <p:cNvPr id="279" name="TextBox 278">
            <a:extLst>
              <a:ext uri="{FF2B5EF4-FFF2-40B4-BE49-F238E27FC236}">
                <a16:creationId xmlns:a16="http://schemas.microsoft.com/office/drawing/2014/main" id="{63E7529B-B8B7-6701-F88E-BC0C9B4D5ED5}"/>
              </a:ext>
            </a:extLst>
          </p:cNvPr>
          <p:cNvSpPr txBox="1"/>
          <p:nvPr/>
        </p:nvSpPr>
        <p:spPr>
          <a:xfrm>
            <a:off x="2104777" y="2113216"/>
            <a:ext cx="2147315" cy="1200329"/>
          </a:xfrm>
          <a:prstGeom prst="rect">
            <a:avLst/>
          </a:prstGeom>
          <a:noFill/>
          <a:ln>
            <a:solidFill>
              <a:schemeClr val="tx1"/>
            </a:solidFill>
          </a:ln>
        </p:spPr>
        <p:txBody>
          <a:bodyPr wrap="square" rtlCol="0">
            <a:spAutoFit/>
          </a:bodyPr>
          <a:lstStyle/>
          <a:p>
            <a:r>
              <a:rPr lang="en-US" dirty="0"/>
              <a:t>Employees:</a:t>
            </a:r>
          </a:p>
          <a:p>
            <a:pPr marL="342900" indent="-342900">
              <a:buFont typeface="+mj-lt"/>
              <a:buAutoNum type="arabicPeriod"/>
            </a:pPr>
            <a:r>
              <a:rPr lang="en-US" dirty="0"/>
              <a:t>6am, 9am, 3pm</a:t>
            </a:r>
          </a:p>
          <a:p>
            <a:pPr marL="342900" indent="-342900">
              <a:buFont typeface="+mj-lt"/>
              <a:buAutoNum type="arabicPeriod"/>
            </a:pPr>
            <a:r>
              <a:rPr lang="en-US" dirty="0"/>
              <a:t>6am, 9am, 12pm</a:t>
            </a:r>
          </a:p>
          <a:p>
            <a:pPr marL="342900" indent="-342900">
              <a:buFont typeface="+mj-lt"/>
              <a:buAutoNum type="arabicPeriod"/>
            </a:pPr>
            <a:r>
              <a:rPr lang="en-US" dirty="0"/>
              <a:t>6am, 3pm</a:t>
            </a:r>
          </a:p>
        </p:txBody>
      </p:sp>
      <mc:AlternateContent xmlns:mc="http://schemas.openxmlformats.org/markup-compatibility/2006">
        <mc:Choice xmlns:a14="http://schemas.microsoft.com/office/drawing/2010/main" Requires="a14">
          <p:sp>
            <p:nvSpPr>
              <p:cNvPr id="290" name="TextBox 289">
                <a:extLst>
                  <a:ext uri="{FF2B5EF4-FFF2-40B4-BE49-F238E27FC236}">
                    <a16:creationId xmlns:a16="http://schemas.microsoft.com/office/drawing/2014/main" id="{4F23E32D-B1CE-C3AE-AA55-310B9D9BE3C5}"/>
                  </a:ext>
                </a:extLst>
              </p:cNvPr>
              <p:cNvSpPr txBox="1"/>
              <p:nvPr/>
            </p:nvSpPr>
            <p:spPr>
              <a:xfrm>
                <a:off x="1327983" y="3743740"/>
                <a:ext cx="946298" cy="369332"/>
              </a:xfrm>
              <a:prstGeom prst="rect">
                <a:avLst/>
              </a:prstGeom>
              <a:no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𝑥</m:t>
                      </m:r>
                      <m:r>
                        <a:rPr lang="en-US" b="0" i="1" smtClean="0">
                          <a:latin typeface="Cambria Math" panose="02040503050406030204" pitchFamily="18" charset="0"/>
                        </a:rPr>
                        <m:t>=2</m:t>
                      </m:r>
                    </m:oMath>
                  </m:oMathPara>
                </a14:m>
                <a:endParaRPr lang="en-US" dirty="0"/>
              </a:p>
            </p:txBody>
          </p:sp>
        </mc:Choice>
        <mc:Fallback>
          <p:sp>
            <p:nvSpPr>
              <p:cNvPr id="290" name="TextBox 289">
                <a:extLst>
                  <a:ext uri="{FF2B5EF4-FFF2-40B4-BE49-F238E27FC236}">
                    <a16:creationId xmlns:a16="http://schemas.microsoft.com/office/drawing/2014/main" id="{4F23E32D-B1CE-C3AE-AA55-310B9D9BE3C5}"/>
                  </a:ext>
                </a:extLst>
              </p:cNvPr>
              <p:cNvSpPr txBox="1">
                <a:spLocks noRot="1" noChangeAspect="1" noMove="1" noResize="1" noEditPoints="1" noAdjustHandles="1" noChangeArrowheads="1" noChangeShapeType="1" noTextEdit="1"/>
              </p:cNvSpPr>
              <p:nvPr/>
            </p:nvSpPr>
            <p:spPr>
              <a:xfrm>
                <a:off x="1327983" y="3743740"/>
                <a:ext cx="946298" cy="369332"/>
              </a:xfrm>
              <a:prstGeom prst="rect">
                <a:avLst/>
              </a:prstGeom>
              <a:blipFill>
                <a:blip r:embed="rId3"/>
                <a:stretch>
                  <a:fillRect/>
                </a:stretch>
              </a:blipFill>
              <a:ln>
                <a:solidFill>
                  <a:schemeClr val="tx1"/>
                </a:solidFill>
              </a:ln>
            </p:spPr>
            <p:txBody>
              <a:bodyPr/>
              <a:lstStyle/>
              <a:p>
                <a:r>
                  <a:rPr lang="en-US">
                    <a:noFill/>
                  </a:rPr>
                  <a:t> </a:t>
                </a:r>
              </a:p>
            </p:txBody>
          </p:sp>
        </mc:Fallback>
      </mc:AlternateContent>
      <p:grpSp>
        <p:nvGrpSpPr>
          <p:cNvPr id="291" name="Group 290">
            <a:extLst>
              <a:ext uri="{FF2B5EF4-FFF2-40B4-BE49-F238E27FC236}">
                <a16:creationId xmlns:a16="http://schemas.microsoft.com/office/drawing/2014/main" id="{38B57FC1-CFE6-52BB-CD63-BA55C8885D76}"/>
              </a:ext>
            </a:extLst>
          </p:cNvPr>
          <p:cNvGrpSpPr/>
          <p:nvPr/>
        </p:nvGrpSpPr>
        <p:grpSpPr>
          <a:xfrm>
            <a:off x="8279354" y="1383672"/>
            <a:ext cx="3806793" cy="2083476"/>
            <a:chOff x="5718433" y="2537588"/>
            <a:chExt cx="6400710" cy="3503140"/>
          </a:xfrm>
        </p:grpSpPr>
        <mc:AlternateContent xmlns:mc="http://schemas.openxmlformats.org/markup-compatibility/2006">
          <mc:Choice xmlns:a14="http://schemas.microsoft.com/office/drawing/2010/main" Requires="a14">
            <p:sp>
              <p:nvSpPr>
                <p:cNvPr id="292" name="Oval 50">
                  <a:extLst>
                    <a:ext uri="{FF2B5EF4-FFF2-40B4-BE49-F238E27FC236}">
                      <a16:creationId xmlns:a16="http://schemas.microsoft.com/office/drawing/2014/main" id="{301F0DE3-4E2D-0851-893C-6561994F1A53}"/>
                    </a:ext>
                  </a:extLst>
                </p:cNvPr>
                <p:cNvSpPr>
                  <a:spLocks noChangeAspect="1" noChangeArrowheads="1"/>
                </p:cNvSpPr>
                <p:nvPr/>
              </p:nvSpPr>
              <p:spPr bwMode="auto">
                <a:xfrm>
                  <a:off x="5718433" y="4200001"/>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r>
                          <a:rPr lang="en-US" altLang="en-US" sz="1400" b="1" i="1" dirty="0" smtClean="0">
                            <a:solidFill>
                              <a:srgbClr val="C00000"/>
                            </a:solidFill>
                            <a:latin typeface="Cambria Math" panose="02040503050406030204" pitchFamily="18" charset="0"/>
                          </a:rPr>
                          <m:t>𝒔</m:t>
                        </m:r>
                      </m:oMath>
                    </m:oMathPara>
                  </a14:m>
                  <a:endParaRPr lang="en-US" altLang="en-US" sz="1400" b="1" dirty="0">
                    <a:solidFill>
                      <a:srgbClr val="C00000"/>
                    </a:solidFill>
                  </a:endParaRPr>
                </a:p>
              </p:txBody>
            </p:sp>
          </mc:Choice>
          <mc:Fallback>
            <p:sp>
              <p:nvSpPr>
                <p:cNvPr id="292" name="Oval 50">
                  <a:extLst>
                    <a:ext uri="{FF2B5EF4-FFF2-40B4-BE49-F238E27FC236}">
                      <a16:creationId xmlns:a16="http://schemas.microsoft.com/office/drawing/2014/main" id="{301F0DE3-4E2D-0851-893C-6561994F1A53}"/>
                    </a:ext>
                  </a:extLst>
                </p:cNvPr>
                <p:cNvSpPr>
                  <a:spLocks noRot="1" noChangeAspect="1" noMove="1" noResize="1" noEditPoints="1" noAdjustHandles="1" noChangeArrowheads="1" noChangeShapeType="1" noTextEdit="1"/>
                </p:cNvSpPr>
                <p:nvPr/>
              </p:nvSpPr>
              <p:spPr bwMode="auto">
                <a:xfrm>
                  <a:off x="5718433" y="4200001"/>
                  <a:ext cx="435031" cy="437783"/>
                </a:xfrm>
                <a:prstGeom prst="ellipse">
                  <a:avLst/>
                </a:prstGeom>
                <a:blipFill>
                  <a:blip r:embed="rId4"/>
                  <a:stretch>
                    <a:fillRect/>
                  </a:stretch>
                </a:blipFill>
                <a:ln w="9525">
                  <a:solidFill>
                    <a:schemeClr val="tx1"/>
                  </a:solidFill>
                  <a:round/>
                  <a:headEnd/>
                  <a:tailEnd/>
                </a:ln>
                <a:effec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93" name="Oval 50">
                  <a:extLst>
                    <a:ext uri="{FF2B5EF4-FFF2-40B4-BE49-F238E27FC236}">
                      <a16:creationId xmlns:a16="http://schemas.microsoft.com/office/drawing/2014/main" id="{5003F590-E0A8-699D-34AF-9A55BDE737A9}"/>
                    </a:ext>
                  </a:extLst>
                </p:cNvPr>
                <p:cNvSpPr>
                  <a:spLocks noChangeAspect="1" noChangeArrowheads="1"/>
                </p:cNvSpPr>
                <p:nvPr/>
              </p:nvSpPr>
              <p:spPr bwMode="auto">
                <a:xfrm>
                  <a:off x="11684112" y="4308372"/>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r>
                          <a:rPr lang="en-US" altLang="en-US" sz="1400" b="1" i="1" dirty="0" smtClean="0">
                            <a:solidFill>
                              <a:srgbClr val="C00000"/>
                            </a:solidFill>
                            <a:latin typeface="Cambria Math" panose="02040503050406030204" pitchFamily="18" charset="0"/>
                          </a:rPr>
                          <m:t>𝒕</m:t>
                        </m:r>
                      </m:oMath>
                    </m:oMathPara>
                  </a14:m>
                  <a:endParaRPr lang="en-US" altLang="en-US" sz="1400" b="1" dirty="0">
                    <a:solidFill>
                      <a:srgbClr val="C00000"/>
                    </a:solidFill>
                  </a:endParaRPr>
                </a:p>
              </p:txBody>
            </p:sp>
          </mc:Choice>
          <mc:Fallback>
            <p:sp>
              <p:nvSpPr>
                <p:cNvPr id="293" name="Oval 50">
                  <a:extLst>
                    <a:ext uri="{FF2B5EF4-FFF2-40B4-BE49-F238E27FC236}">
                      <a16:creationId xmlns:a16="http://schemas.microsoft.com/office/drawing/2014/main" id="{5003F590-E0A8-699D-34AF-9A55BDE737A9}"/>
                    </a:ext>
                  </a:extLst>
                </p:cNvPr>
                <p:cNvSpPr>
                  <a:spLocks noRot="1" noChangeAspect="1" noMove="1" noResize="1" noEditPoints="1" noAdjustHandles="1" noChangeArrowheads="1" noChangeShapeType="1" noTextEdit="1"/>
                </p:cNvSpPr>
                <p:nvPr/>
              </p:nvSpPr>
              <p:spPr bwMode="auto">
                <a:xfrm>
                  <a:off x="11684112" y="4308372"/>
                  <a:ext cx="435031" cy="437783"/>
                </a:xfrm>
                <a:prstGeom prst="ellipse">
                  <a:avLst/>
                </a:prstGeom>
                <a:blipFill>
                  <a:blip r:embed="rId5"/>
                  <a:stretch>
                    <a:fillRect/>
                  </a:stretch>
                </a:blipFill>
                <a:ln w="9525">
                  <a:solidFill>
                    <a:schemeClr val="tx1"/>
                  </a:solidFill>
                  <a:round/>
                  <a:headEnd/>
                  <a:tailEnd/>
                </a:ln>
                <a:effectLst/>
              </p:spPr>
              <p:txBody>
                <a:bodyPr/>
                <a:lstStyle/>
                <a:p>
                  <a:r>
                    <a:rPr lang="en-US">
                      <a:noFill/>
                    </a:rPr>
                    <a:t> </a:t>
                  </a:r>
                </a:p>
              </p:txBody>
            </p:sp>
          </mc:Fallback>
        </mc:AlternateContent>
        <p:cxnSp>
          <p:nvCxnSpPr>
            <p:cNvPr id="294" name="Straight Connector 293">
              <a:extLst>
                <a:ext uri="{FF2B5EF4-FFF2-40B4-BE49-F238E27FC236}">
                  <a16:creationId xmlns:a16="http://schemas.microsoft.com/office/drawing/2014/main" id="{004A899A-05B1-F2B9-D732-4412DC15ACB5}"/>
                </a:ext>
              </a:extLst>
            </p:cNvPr>
            <p:cNvCxnSpPr>
              <a:cxnSpLocks/>
              <a:stCxn id="292" idx="7"/>
            </p:cNvCxnSpPr>
            <p:nvPr/>
          </p:nvCxnSpPr>
          <p:spPr>
            <a:xfrm flipV="1">
              <a:off x="6089756" y="2847148"/>
              <a:ext cx="1209574" cy="1416965"/>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95" name="Straight Connector 294">
              <a:extLst>
                <a:ext uri="{FF2B5EF4-FFF2-40B4-BE49-F238E27FC236}">
                  <a16:creationId xmlns:a16="http://schemas.microsoft.com/office/drawing/2014/main" id="{84D46059-07C2-92CB-C71C-48187480C570}"/>
                </a:ext>
              </a:extLst>
            </p:cNvPr>
            <p:cNvCxnSpPr>
              <a:cxnSpLocks/>
              <a:stCxn id="292" idx="6"/>
            </p:cNvCxnSpPr>
            <p:nvPr/>
          </p:nvCxnSpPr>
          <p:spPr>
            <a:xfrm flipV="1">
              <a:off x="6153464" y="4005192"/>
              <a:ext cx="1257964" cy="413702"/>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96" name="Straight Connector 295">
              <a:extLst>
                <a:ext uri="{FF2B5EF4-FFF2-40B4-BE49-F238E27FC236}">
                  <a16:creationId xmlns:a16="http://schemas.microsoft.com/office/drawing/2014/main" id="{4DA286E8-AED3-903B-39F2-C9A32384D4EB}"/>
                </a:ext>
              </a:extLst>
            </p:cNvPr>
            <p:cNvCxnSpPr>
              <a:cxnSpLocks/>
              <a:stCxn id="292" idx="5"/>
            </p:cNvCxnSpPr>
            <p:nvPr/>
          </p:nvCxnSpPr>
          <p:spPr>
            <a:xfrm>
              <a:off x="6089756" y="4573673"/>
              <a:ext cx="1095402" cy="566534"/>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97" name="Straight Connector 296">
              <a:extLst>
                <a:ext uri="{FF2B5EF4-FFF2-40B4-BE49-F238E27FC236}">
                  <a16:creationId xmlns:a16="http://schemas.microsoft.com/office/drawing/2014/main" id="{DB7E358F-2593-202F-BD15-0609D778B1D2}"/>
                </a:ext>
              </a:extLst>
            </p:cNvPr>
            <p:cNvCxnSpPr>
              <a:cxnSpLocks/>
              <a:endCxn id="293" idx="0"/>
            </p:cNvCxnSpPr>
            <p:nvPr/>
          </p:nvCxnSpPr>
          <p:spPr>
            <a:xfrm>
              <a:off x="10945253" y="2951108"/>
              <a:ext cx="956375" cy="1357265"/>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98" name="Straight Connector 297">
              <a:extLst>
                <a:ext uri="{FF2B5EF4-FFF2-40B4-BE49-F238E27FC236}">
                  <a16:creationId xmlns:a16="http://schemas.microsoft.com/office/drawing/2014/main" id="{764A04F4-D919-E772-D2D1-38B8C64015E1}"/>
                </a:ext>
              </a:extLst>
            </p:cNvPr>
            <p:cNvCxnSpPr>
              <a:cxnSpLocks/>
              <a:endCxn id="293" idx="1"/>
            </p:cNvCxnSpPr>
            <p:nvPr/>
          </p:nvCxnSpPr>
          <p:spPr>
            <a:xfrm>
              <a:off x="10835155" y="4100807"/>
              <a:ext cx="912665" cy="271677"/>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99" name="Straight Connector 298">
              <a:extLst>
                <a:ext uri="{FF2B5EF4-FFF2-40B4-BE49-F238E27FC236}">
                  <a16:creationId xmlns:a16="http://schemas.microsoft.com/office/drawing/2014/main" id="{1238E52F-9AE0-C903-9BC3-E551CD99911B}"/>
                </a:ext>
              </a:extLst>
            </p:cNvPr>
            <p:cNvCxnSpPr>
              <a:cxnSpLocks/>
              <a:endCxn id="293" idx="3"/>
            </p:cNvCxnSpPr>
            <p:nvPr/>
          </p:nvCxnSpPr>
          <p:spPr>
            <a:xfrm flipV="1">
              <a:off x="10920258" y="4682044"/>
              <a:ext cx="827562" cy="426688"/>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0" name="Straight Connector 299">
              <a:extLst>
                <a:ext uri="{FF2B5EF4-FFF2-40B4-BE49-F238E27FC236}">
                  <a16:creationId xmlns:a16="http://schemas.microsoft.com/office/drawing/2014/main" id="{03D35E3F-5DE5-094E-659F-4249DBB35553}"/>
                </a:ext>
              </a:extLst>
            </p:cNvPr>
            <p:cNvCxnSpPr>
              <a:cxnSpLocks/>
              <a:stCxn id="314" idx="6"/>
              <a:endCxn id="293" idx="4"/>
            </p:cNvCxnSpPr>
            <p:nvPr/>
          </p:nvCxnSpPr>
          <p:spPr>
            <a:xfrm flipV="1">
              <a:off x="10892795" y="4746155"/>
              <a:ext cx="1008833" cy="1075682"/>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301" name="TextBox 300">
                  <a:extLst>
                    <a:ext uri="{FF2B5EF4-FFF2-40B4-BE49-F238E27FC236}">
                      <a16:creationId xmlns:a16="http://schemas.microsoft.com/office/drawing/2014/main" id="{976ED02D-36EF-06B2-82FA-672A400FD1D9}"/>
                    </a:ext>
                  </a:extLst>
                </p:cNvPr>
                <p:cNvSpPr txBox="1"/>
                <p:nvPr/>
              </p:nvSpPr>
              <p:spPr>
                <a:xfrm>
                  <a:off x="6544966" y="3445074"/>
                  <a:ext cx="304891" cy="276999"/>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2</m:t>
                        </m:r>
                      </m:oMath>
                    </m:oMathPara>
                  </a14:m>
                  <a:endParaRPr lang="en-US" sz="1200" dirty="0"/>
                </a:p>
              </p:txBody>
            </p:sp>
          </mc:Choice>
          <mc:Fallback>
            <p:sp>
              <p:nvSpPr>
                <p:cNvPr id="301" name="TextBox 300">
                  <a:extLst>
                    <a:ext uri="{FF2B5EF4-FFF2-40B4-BE49-F238E27FC236}">
                      <a16:creationId xmlns:a16="http://schemas.microsoft.com/office/drawing/2014/main" id="{976ED02D-36EF-06B2-82FA-672A400FD1D9}"/>
                    </a:ext>
                  </a:extLst>
                </p:cNvPr>
                <p:cNvSpPr txBox="1">
                  <a:spLocks noRot="1" noChangeAspect="1" noMove="1" noResize="1" noEditPoints="1" noAdjustHandles="1" noChangeArrowheads="1" noChangeShapeType="1" noTextEdit="1"/>
                </p:cNvSpPr>
                <p:nvPr/>
              </p:nvSpPr>
              <p:spPr>
                <a:xfrm>
                  <a:off x="6544966" y="3445074"/>
                  <a:ext cx="304891" cy="276999"/>
                </a:xfrm>
                <a:prstGeom prst="rect">
                  <a:avLst/>
                </a:prstGeom>
                <a:blipFill>
                  <a:blip r:embed="rId6"/>
                  <a:stretch>
                    <a:fillRect r="-26667" b="-4444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02" name="TextBox 301">
                  <a:extLst>
                    <a:ext uri="{FF2B5EF4-FFF2-40B4-BE49-F238E27FC236}">
                      <a16:creationId xmlns:a16="http://schemas.microsoft.com/office/drawing/2014/main" id="{207A1ADA-E32D-46A1-B926-3881C52FB686}"/>
                    </a:ext>
                  </a:extLst>
                </p:cNvPr>
                <p:cNvSpPr txBox="1"/>
                <p:nvPr/>
              </p:nvSpPr>
              <p:spPr>
                <a:xfrm>
                  <a:off x="6742829" y="3934465"/>
                  <a:ext cx="304891" cy="276999"/>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2</m:t>
                        </m:r>
                      </m:oMath>
                    </m:oMathPara>
                  </a14:m>
                  <a:endParaRPr lang="en-US" sz="1200" dirty="0"/>
                </a:p>
              </p:txBody>
            </p:sp>
          </mc:Choice>
          <mc:Fallback>
            <p:sp>
              <p:nvSpPr>
                <p:cNvPr id="302" name="TextBox 301">
                  <a:extLst>
                    <a:ext uri="{FF2B5EF4-FFF2-40B4-BE49-F238E27FC236}">
                      <a16:creationId xmlns:a16="http://schemas.microsoft.com/office/drawing/2014/main" id="{207A1ADA-E32D-46A1-B926-3881C52FB686}"/>
                    </a:ext>
                  </a:extLst>
                </p:cNvPr>
                <p:cNvSpPr txBox="1">
                  <a:spLocks noRot="1" noChangeAspect="1" noMove="1" noResize="1" noEditPoints="1" noAdjustHandles="1" noChangeArrowheads="1" noChangeShapeType="1" noTextEdit="1"/>
                </p:cNvSpPr>
                <p:nvPr/>
              </p:nvSpPr>
              <p:spPr>
                <a:xfrm>
                  <a:off x="6742829" y="3934465"/>
                  <a:ext cx="304891" cy="276999"/>
                </a:xfrm>
                <a:prstGeom prst="rect">
                  <a:avLst/>
                </a:prstGeom>
                <a:blipFill>
                  <a:blip r:embed="rId7"/>
                  <a:stretch>
                    <a:fillRect r="-26667" b="-48148"/>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03" name="TextBox 302">
                  <a:extLst>
                    <a:ext uri="{FF2B5EF4-FFF2-40B4-BE49-F238E27FC236}">
                      <a16:creationId xmlns:a16="http://schemas.microsoft.com/office/drawing/2014/main" id="{FB4B6279-2104-C70F-3F11-4564E6B42765}"/>
                    </a:ext>
                  </a:extLst>
                </p:cNvPr>
                <p:cNvSpPr txBox="1"/>
                <p:nvPr/>
              </p:nvSpPr>
              <p:spPr>
                <a:xfrm>
                  <a:off x="6543030" y="4658723"/>
                  <a:ext cx="304891" cy="276999"/>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2</m:t>
                        </m:r>
                      </m:oMath>
                    </m:oMathPara>
                  </a14:m>
                  <a:endParaRPr lang="en-US" sz="1200" dirty="0"/>
                </a:p>
              </p:txBody>
            </p:sp>
          </mc:Choice>
          <mc:Fallback>
            <p:sp>
              <p:nvSpPr>
                <p:cNvPr id="303" name="TextBox 302">
                  <a:extLst>
                    <a:ext uri="{FF2B5EF4-FFF2-40B4-BE49-F238E27FC236}">
                      <a16:creationId xmlns:a16="http://schemas.microsoft.com/office/drawing/2014/main" id="{FB4B6279-2104-C70F-3F11-4564E6B42765}"/>
                    </a:ext>
                  </a:extLst>
                </p:cNvPr>
                <p:cNvSpPr txBox="1">
                  <a:spLocks noRot="1" noChangeAspect="1" noMove="1" noResize="1" noEditPoints="1" noAdjustHandles="1" noChangeArrowheads="1" noChangeShapeType="1" noTextEdit="1"/>
                </p:cNvSpPr>
                <p:nvPr/>
              </p:nvSpPr>
              <p:spPr>
                <a:xfrm>
                  <a:off x="6543030" y="4658723"/>
                  <a:ext cx="304891" cy="276999"/>
                </a:xfrm>
                <a:prstGeom prst="rect">
                  <a:avLst/>
                </a:prstGeom>
                <a:blipFill>
                  <a:blip r:embed="rId8"/>
                  <a:stretch>
                    <a:fillRect r="-27586" b="-4444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04" name="TextBox 303">
                  <a:extLst>
                    <a:ext uri="{FF2B5EF4-FFF2-40B4-BE49-F238E27FC236}">
                      <a16:creationId xmlns:a16="http://schemas.microsoft.com/office/drawing/2014/main" id="{FC9CC7F0-2734-FD6F-02B8-7B5F70DD85CA}"/>
                    </a:ext>
                  </a:extLst>
                </p:cNvPr>
                <p:cNvSpPr txBox="1"/>
                <p:nvPr/>
              </p:nvSpPr>
              <p:spPr>
                <a:xfrm>
                  <a:off x="11198818" y="3338951"/>
                  <a:ext cx="304891" cy="276999"/>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2</m:t>
                        </m:r>
                      </m:oMath>
                    </m:oMathPara>
                  </a14:m>
                  <a:endParaRPr lang="en-US" sz="1200" dirty="0"/>
                </a:p>
              </p:txBody>
            </p:sp>
          </mc:Choice>
          <mc:Fallback>
            <p:sp>
              <p:nvSpPr>
                <p:cNvPr id="304" name="TextBox 303">
                  <a:extLst>
                    <a:ext uri="{FF2B5EF4-FFF2-40B4-BE49-F238E27FC236}">
                      <a16:creationId xmlns:a16="http://schemas.microsoft.com/office/drawing/2014/main" id="{FC9CC7F0-2734-FD6F-02B8-7B5F70DD85CA}"/>
                    </a:ext>
                  </a:extLst>
                </p:cNvPr>
                <p:cNvSpPr txBox="1">
                  <a:spLocks noRot="1" noChangeAspect="1" noMove="1" noResize="1" noEditPoints="1" noAdjustHandles="1" noChangeArrowheads="1" noChangeShapeType="1" noTextEdit="1"/>
                </p:cNvSpPr>
                <p:nvPr/>
              </p:nvSpPr>
              <p:spPr>
                <a:xfrm>
                  <a:off x="11198818" y="3338951"/>
                  <a:ext cx="304891" cy="276999"/>
                </a:xfrm>
                <a:prstGeom prst="rect">
                  <a:avLst/>
                </a:prstGeom>
                <a:blipFill>
                  <a:blip r:embed="rId7"/>
                  <a:stretch>
                    <a:fillRect r="-26667" b="-48148"/>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05" name="TextBox 304">
                  <a:extLst>
                    <a:ext uri="{FF2B5EF4-FFF2-40B4-BE49-F238E27FC236}">
                      <a16:creationId xmlns:a16="http://schemas.microsoft.com/office/drawing/2014/main" id="{F348C372-46BC-739A-BCD1-ADCFBF13F5D2}"/>
                    </a:ext>
                  </a:extLst>
                </p:cNvPr>
                <p:cNvSpPr txBox="1"/>
                <p:nvPr/>
              </p:nvSpPr>
              <p:spPr>
                <a:xfrm>
                  <a:off x="11099178" y="3989849"/>
                  <a:ext cx="304891" cy="276999"/>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2</m:t>
                        </m:r>
                      </m:oMath>
                    </m:oMathPara>
                  </a14:m>
                  <a:endParaRPr lang="en-US" sz="1200" dirty="0"/>
                </a:p>
              </p:txBody>
            </p:sp>
          </mc:Choice>
          <mc:Fallback>
            <p:sp>
              <p:nvSpPr>
                <p:cNvPr id="305" name="TextBox 304">
                  <a:extLst>
                    <a:ext uri="{FF2B5EF4-FFF2-40B4-BE49-F238E27FC236}">
                      <a16:creationId xmlns:a16="http://schemas.microsoft.com/office/drawing/2014/main" id="{F348C372-46BC-739A-BCD1-ADCFBF13F5D2}"/>
                    </a:ext>
                  </a:extLst>
                </p:cNvPr>
                <p:cNvSpPr txBox="1">
                  <a:spLocks noRot="1" noChangeAspect="1" noMove="1" noResize="1" noEditPoints="1" noAdjustHandles="1" noChangeArrowheads="1" noChangeShapeType="1" noTextEdit="1"/>
                </p:cNvSpPr>
                <p:nvPr/>
              </p:nvSpPr>
              <p:spPr>
                <a:xfrm>
                  <a:off x="11099178" y="3989849"/>
                  <a:ext cx="304891" cy="276999"/>
                </a:xfrm>
                <a:prstGeom prst="rect">
                  <a:avLst/>
                </a:prstGeom>
                <a:blipFill>
                  <a:blip r:embed="rId6"/>
                  <a:stretch>
                    <a:fillRect r="-26667" b="-4444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06" name="TextBox 305">
                  <a:extLst>
                    <a:ext uri="{FF2B5EF4-FFF2-40B4-BE49-F238E27FC236}">
                      <a16:creationId xmlns:a16="http://schemas.microsoft.com/office/drawing/2014/main" id="{8AFF6E70-7837-717F-0BAA-4A4AFCA9EB67}"/>
                    </a:ext>
                  </a:extLst>
                </p:cNvPr>
                <p:cNvSpPr txBox="1"/>
                <p:nvPr/>
              </p:nvSpPr>
              <p:spPr>
                <a:xfrm>
                  <a:off x="11146581" y="4700897"/>
                  <a:ext cx="304891" cy="276999"/>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1</m:t>
                        </m:r>
                      </m:oMath>
                    </m:oMathPara>
                  </a14:m>
                  <a:endParaRPr lang="en-US" sz="1200" dirty="0"/>
                </a:p>
              </p:txBody>
            </p:sp>
          </mc:Choice>
          <mc:Fallback>
            <p:sp>
              <p:nvSpPr>
                <p:cNvPr id="306" name="TextBox 305">
                  <a:extLst>
                    <a:ext uri="{FF2B5EF4-FFF2-40B4-BE49-F238E27FC236}">
                      <a16:creationId xmlns:a16="http://schemas.microsoft.com/office/drawing/2014/main" id="{8AFF6E70-7837-717F-0BAA-4A4AFCA9EB67}"/>
                    </a:ext>
                  </a:extLst>
                </p:cNvPr>
                <p:cNvSpPr txBox="1">
                  <a:spLocks noRot="1" noChangeAspect="1" noMove="1" noResize="1" noEditPoints="1" noAdjustHandles="1" noChangeArrowheads="1" noChangeShapeType="1" noTextEdit="1"/>
                </p:cNvSpPr>
                <p:nvPr/>
              </p:nvSpPr>
              <p:spPr>
                <a:xfrm>
                  <a:off x="11146581" y="4700897"/>
                  <a:ext cx="304891" cy="276999"/>
                </a:xfrm>
                <a:prstGeom prst="rect">
                  <a:avLst/>
                </a:prstGeom>
                <a:blipFill>
                  <a:blip r:embed="rId9"/>
                  <a:stretch>
                    <a:fillRect r="-31034" b="-48148"/>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07" name="TextBox 306">
                  <a:extLst>
                    <a:ext uri="{FF2B5EF4-FFF2-40B4-BE49-F238E27FC236}">
                      <a16:creationId xmlns:a16="http://schemas.microsoft.com/office/drawing/2014/main" id="{BDFD7433-BF1B-1BD3-8E86-885786C43AEE}"/>
                    </a:ext>
                  </a:extLst>
                </p:cNvPr>
                <p:cNvSpPr txBox="1"/>
                <p:nvPr/>
              </p:nvSpPr>
              <p:spPr>
                <a:xfrm>
                  <a:off x="11120971" y="5233626"/>
                  <a:ext cx="304891" cy="276999"/>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1</m:t>
                        </m:r>
                      </m:oMath>
                    </m:oMathPara>
                  </a14:m>
                  <a:endParaRPr lang="en-US" sz="1200" dirty="0"/>
                </a:p>
              </p:txBody>
            </p:sp>
          </mc:Choice>
          <mc:Fallback>
            <p:sp>
              <p:nvSpPr>
                <p:cNvPr id="307" name="TextBox 306">
                  <a:extLst>
                    <a:ext uri="{FF2B5EF4-FFF2-40B4-BE49-F238E27FC236}">
                      <a16:creationId xmlns:a16="http://schemas.microsoft.com/office/drawing/2014/main" id="{BDFD7433-BF1B-1BD3-8E86-885786C43AEE}"/>
                    </a:ext>
                  </a:extLst>
                </p:cNvPr>
                <p:cNvSpPr txBox="1">
                  <a:spLocks noRot="1" noChangeAspect="1" noMove="1" noResize="1" noEditPoints="1" noAdjustHandles="1" noChangeArrowheads="1" noChangeShapeType="1" noTextEdit="1"/>
                </p:cNvSpPr>
                <p:nvPr/>
              </p:nvSpPr>
              <p:spPr>
                <a:xfrm>
                  <a:off x="11120971" y="5233626"/>
                  <a:ext cx="304891" cy="276999"/>
                </a:xfrm>
                <a:prstGeom prst="rect">
                  <a:avLst/>
                </a:prstGeom>
                <a:blipFill>
                  <a:blip r:embed="rId10"/>
                  <a:stretch>
                    <a:fillRect r="-26667" b="-48148"/>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08" name="Oval 50">
                  <a:extLst>
                    <a:ext uri="{FF2B5EF4-FFF2-40B4-BE49-F238E27FC236}">
                      <a16:creationId xmlns:a16="http://schemas.microsoft.com/office/drawing/2014/main" id="{9A9A16D7-F5A8-DC1D-0125-1B5A4E00C6F2}"/>
                    </a:ext>
                  </a:extLst>
                </p:cNvPr>
                <p:cNvSpPr>
                  <a:spLocks noChangeAspect="1" noChangeArrowheads="1"/>
                </p:cNvSpPr>
                <p:nvPr/>
              </p:nvSpPr>
              <p:spPr bwMode="auto">
                <a:xfrm>
                  <a:off x="7299330" y="2537588"/>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sSub>
                          <m:sSubPr>
                            <m:ctrlPr>
                              <a:rPr lang="en-US" altLang="en-US" sz="1400" b="1" i="1" smtClean="0">
                                <a:solidFill>
                                  <a:srgbClr val="C00000"/>
                                </a:solidFill>
                                <a:latin typeface="Cambria Math" panose="02040503050406030204" pitchFamily="18" charset="0"/>
                              </a:rPr>
                            </m:ctrlPr>
                          </m:sSubPr>
                          <m:e>
                            <m:r>
                              <a:rPr lang="en-US" altLang="en-US" sz="1400" b="1" i="1" smtClean="0">
                                <a:solidFill>
                                  <a:srgbClr val="C00000"/>
                                </a:solidFill>
                                <a:latin typeface="Cambria Math" panose="02040503050406030204" pitchFamily="18" charset="0"/>
                              </a:rPr>
                              <m:t>𝒆</m:t>
                            </m:r>
                          </m:e>
                          <m:sub>
                            <m:r>
                              <a:rPr lang="en-US" altLang="en-US" sz="1400" b="1" i="1" smtClean="0">
                                <a:solidFill>
                                  <a:srgbClr val="C00000"/>
                                </a:solidFill>
                                <a:latin typeface="Cambria Math" panose="02040503050406030204" pitchFamily="18" charset="0"/>
                              </a:rPr>
                              <m:t>𝟏</m:t>
                            </m:r>
                          </m:sub>
                        </m:sSub>
                      </m:oMath>
                    </m:oMathPara>
                  </a14:m>
                  <a:endParaRPr lang="en-US" altLang="en-US" sz="1400" b="1" dirty="0">
                    <a:solidFill>
                      <a:srgbClr val="C00000"/>
                    </a:solidFill>
                  </a:endParaRPr>
                </a:p>
              </p:txBody>
            </p:sp>
          </mc:Choice>
          <mc:Fallback>
            <p:sp>
              <p:nvSpPr>
                <p:cNvPr id="308" name="Oval 50">
                  <a:extLst>
                    <a:ext uri="{FF2B5EF4-FFF2-40B4-BE49-F238E27FC236}">
                      <a16:creationId xmlns:a16="http://schemas.microsoft.com/office/drawing/2014/main" id="{9A9A16D7-F5A8-DC1D-0125-1B5A4E00C6F2}"/>
                    </a:ext>
                  </a:extLst>
                </p:cNvPr>
                <p:cNvSpPr>
                  <a:spLocks noRot="1" noChangeAspect="1" noMove="1" noResize="1" noEditPoints="1" noAdjustHandles="1" noChangeArrowheads="1" noChangeShapeType="1" noTextEdit="1"/>
                </p:cNvSpPr>
                <p:nvPr/>
              </p:nvSpPr>
              <p:spPr bwMode="auto">
                <a:xfrm>
                  <a:off x="7299330" y="2537588"/>
                  <a:ext cx="435031" cy="437783"/>
                </a:xfrm>
                <a:prstGeom prst="ellipse">
                  <a:avLst/>
                </a:prstGeom>
                <a:blipFill>
                  <a:blip r:embed="rId11"/>
                  <a:stretch>
                    <a:fillRect l="-6667"/>
                  </a:stretch>
                </a:blipFill>
                <a:ln w="9525">
                  <a:solidFill>
                    <a:schemeClr val="tx1"/>
                  </a:solidFill>
                  <a:round/>
                  <a:headEnd/>
                  <a:tailEnd/>
                </a:ln>
                <a:effec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09" name="Oval 50">
                  <a:extLst>
                    <a:ext uri="{FF2B5EF4-FFF2-40B4-BE49-F238E27FC236}">
                      <a16:creationId xmlns:a16="http://schemas.microsoft.com/office/drawing/2014/main" id="{B31A03BA-AB58-A571-87B5-C1F63E0493C5}"/>
                    </a:ext>
                  </a:extLst>
                </p:cNvPr>
                <p:cNvSpPr>
                  <a:spLocks noChangeAspect="1" noChangeArrowheads="1"/>
                </p:cNvSpPr>
                <p:nvPr/>
              </p:nvSpPr>
              <p:spPr bwMode="auto">
                <a:xfrm>
                  <a:off x="7402699" y="3786299"/>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sSub>
                          <m:sSubPr>
                            <m:ctrlPr>
                              <a:rPr lang="en-US" altLang="en-US" sz="1400" b="1" i="1" smtClean="0">
                                <a:solidFill>
                                  <a:srgbClr val="C00000"/>
                                </a:solidFill>
                                <a:latin typeface="Cambria Math" panose="02040503050406030204" pitchFamily="18" charset="0"/>
                              </a:rPr>
                            </m:ctrlPr>
                          </m:sSubPr>
                          <m:e>
                            <m:r>
                              <a:rPr lang="en-US" altLang="en-US" sz="1400" b="1" i="1" smtClean="0">
                                <a:solidFill>
                                  <a:srgbClr val="C00000"/>
                                </a:solidFill>
                                <a:latin typeface="Cambria Math" panose="02040503050406030204" pitchFamily="18" charset="0"/>
                              </a:rPr>
                              <m:t>𝒆</m:t>
                            </m:r>
                          </m:e>
                          <m:sub>
                            <m:r>
                              <a:rPr lang="en-US" altLang="en-US" sz="1400" b="1" i="1" smtClean="0">
                                <a:solidFill>
                                  <a:srgbClr val="C00000"/>
                                </a:solidFill>
                                <a:latin typeface="Cambria Math" panose="02040503050406030204" pitchFamily="18" charset="0"/>
                              </a:rPr>
                              <m:t>𝟐</m:t>
                            </m:r>
                          </m:sub>
                        </m:sSub>
                      </m:oMath>
                    </m:oMathPara>
                  </a14:m>
                  <a:endParaRPr lang="en-US" altLang="en-US" sz="1400" b="1" dirty="0">
                    <a:solidFill>
                      <a:srgbClr val="C00000"/>
                    </a:solidFill>
                  </a:endParaRPr>
                </a:p>
              </p:txBody>
            </p:sp>
          </mc:Choice>
          <mc:Fallback>
            <p:sp>
              <p:nvSpPr>
                <p:cNvPr id="309" name="Oval 50">
                  <a:extLst>
                    <a:ext uri="{FF2B5EF4-FFF2-40B4-BE49-F238E27FC236}">
                      <a16:creationId xmlns:a16="http://schemas.microsoft.com/office/drawing/2014/main" id="{B31A03BA-AB58-A571-87B5-C1F63E0493C5}"/>
                    </a:ext>
                  </a:extLst>
                </p:cNvPr>
                <p:cNvSpPr>
                  <a:spLocks noRot="1" noChangeAspect="1" noMove="1" noResize="1" noEditPoints="1" noAdjustHandles="1" noChangeArrowheads="1" noChangeShapeType="1" noTextEdit="1"/>
                </p:cNvSpPr>
                <p:nvPr/>
              </p:nvSpPr>
              <p:spPr bwMode="auto">
                <a:xfrm>
                  <a:off x="7402699" y="3786299"/>
                  <a:ext cx="435031" cy="437783"/>
                </a:xfrm>
                <a:prstGeom prst="ellipse">
                  <a:avLst/>
                </a:prstGeom>
                <a:blipFill>
                  <a:blip r:embed="rId12"/>
                  <a:stretch>
                    <a:fillRect l="-6667"/>
                  </a:stretch>
                </a:blipFill>
                <a:ln w="9525">
                  <a:solidFill>
                    <a:schemeClr val="tx1"/>
                  </a:solidFill>
                  <a:round/>
                  <a:headEnd/>
                  <a:tailEnd/>
                </a:ln>
                <a:effec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10" name="Oval 50">
                  <a:extLst>
                    <a:ext uri="{FF2B5EF4-FFF2-40B4-BE49-F238E27FC236}">
                      <a16:creationId xmlns:a16="http://schemas.microsoft.com/office/drawing/2014/main" id="{65E8B53A-CDBA-72F8-3F95-B4FAB4683E5E}"/>
                    </a:ext>
                  </a:extLst>
                </p:cNvPr>
                <p:cNvSpPr>
                  <a:spLocks noChangeAspect="1" noChangeArrowheads="1"/>
                </p:cNvSpPr>
                <p:nvPr/>
              </p:nvSpPr>
              <p:spPr bwMode="auto">
                <a:xfrm>
                  <a:off x="7185183" y="4976556"/>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sSub>
                          <m:sSubPr>
                            <m:ctrlPr>
                              <a:rPr lang="en-US" altLang="en-US" sz="1400" b="1" i="1" smtClean="0">
                                <a:solidFill>
                                  <a:srgbClr val="C00000"/>
                                </a:solidFill>
                                <a:latin typeface="Cambria Math" panose="02040503050406030204" pitchFamily="18" charset="0"/>
                              </a:rPr>
                            </m:ctrlPr>
                          </m:sSubPr>
                          <m:e>
                            <m:r>
                              <a:rPr lang="en-US" altLang="en-US" sz="1400" b="1" i="1" smtClean="0">
                                <a:solidFill>
                                  <a:srgbClr val="C00000"/>
                                </a:solidFill>
                                <a:latin typeface="Cambria Math" panose="02040503050406030204" pitchFamily="18" charset="0"/>
                              </a:rPr>
                              <m:t>𝒆</m:t>
                            </m:r>
                          </m:e>
                          <m:sub>
                            <m:r>
                              <a:rPr lang="en-US" altLang="en-US" sz="1400" b="1" i="1" smtClean="0">
                                <a:solidFill>
                                  <a:srgbClr val="C00000"/>
                                </a:solidFill>
                                <a:latin typeface="Cambria Math" panose="02040503050406030204" pitchFamily="18" charset="0"/>
                              </a:rPr>
                              <m:t>𝟑</m:t>
                            </m:r>
                          </m:sub>
                        </m:sSub>
                      </m:oMath>
                    </m:oMathPara>
                  </a14:m>
                  <a:endParaRPr lang="en-US" altLang="en-US" sz="1400" b="1" dirty="0">
                    <a:solidFill>
                      <a:srgbClr val="C00000"/>
                    </a:solidFill>
                  </a:endParaRPr>
                </a:p>
              </p:txBody>
            </p:sp>
          </mc:Choice>
          <mc:Fallback>
            <p:sp>
              <p:nvSpPr>
                <p:cNvPr id="310" name="Oval 50">
                  <a:extLst>
                    <a:ext uri="{FF2B5EF4-FFF2-40B4-BE49-F238E27FC236}">
                      <a16:creationId xmlns:a16="http://schemas.microsoft.com/office/drawing/2014/main" id="{65E8B53A-CDBA-72F8-3F95-B4FAB4683E5E}"/>
                    </a:ext>
                  </a:extLst>
                </p:cNvPr>
                <p:cNvSpPr>
                  <a:spLocks noRot="1" noChangeAspect="1" noMove="1" noResize="1" noEditPoints="1" noAdjustHandles="1" noChangeArrowheads="1" noChangeShapeType="1" noTextEdit="1"/>
                </p:cNvSpPr>
                <p:nvPr/>
              </p:nvSpPr>
              <p:spPr bwMode="auto">
                <a:xfrm>
                  <a:off x="7185183" y="4976556"/>
                  <a:ext cx="435031" cy="437783"/>
                </a:xfrm>
                <a:prstGeom prst="ellipse">
                  <a:avLst/>
                </a:prstGeom>
                <a:blipFill>
                  <a:blip r:embed="rId13"/>
                  <a:stretch>
                    <a:fillRect l="-6667"/>
                  </a:stretch>
                </a:blipFill>
                <a:ln w="9525">
                  <a:solidFill>
                    <a:schemeClr val="tx1"/>
                  </a:solidFill>
                  <a:round/>
                  <a:headEnd/>
                  <a:tailEnd/>
                </a:ln>
                <a:effec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11" name="Oval 50">
                  <a:extLst>
                    <a:ext uri="{FF2B5EF4-FFF2-40B4-BE49-F238E27FC236}">
                      <a16:creationId xmlns:a16="http://schemas.microsoft.com/office/drawing/2014/main" id="{45CA01D2-A4B2-BE14-1597-2ED529A476A7}"/>
                    </a:ext>
                  </a:extLst>
                </p:cNvPr>
                <p:cNvSpPr>
                  <a:spLocks noChangeAspect="1" noChangeArrowheads="1"/>
                </p:cNvSpPr>
                <p:nvPr/>
              </p:nvSpPr>
              <p:spPr bwMode="auto">
                <a:xfrm>
                  <a:off x="10617639" y="2624312"/>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r>
                          <a:rPr lang="en-US" altLang="en-US" sz="1400" b="1" i="1" smtClean="0">
                            <a:solidFill>
                              <a:srgbClr val="C00000"/>
                            </a:solidFill>
                            <a:latin typeface="Cambria Math" panose="02040503050406030204" pitchFamily="18" charset="0"/>
                          </a:rPr>
                          <m:t>𝟔</m:t>
                        </m:r>
                      </m:oMath>
                    </m:oMathPara>
                  </a14:m>
                  <a:endParaRPr lang="en-US" altLang="en-US" sz="1400" b="1" dirty="0">
                    <a:solidFill>
                      <a:srgbClr val="C00000"/>
                    </a:solidFill>
                  </a:endParaRPr>
                </a:p>
              </p:txBody>
            </p:sp>
          </mc:Choice>
          <mc:Fallback>
            <p:sp>
              <p:nvSpPr>
                <p:cNvPr id="311" name="Oval 50">
                  <a:extLst>
                    <a:ext uri="{FF2B5EF4-FFF2-40B4-BE49-F238E27FC236}">
                      <a16:creationId xmlns:a16="http://schemas.microsoft.com/office/drawing/2014/main" id="{45CA01D2-A4B2-BE14-1597-2ED529A476A7}"/>
                    </a:ext>
                  </a:extLst>
                </p:cNvPr>
                <p:cNvSpPr>
                  <a:spLocks noRot="1" noChangeAspect="1" noMove="1" noResize="1" noEditPoints="1" noAdjustHandles="1" noChangeArrowheads="1" noChangeShapeType="1" noTextEdit="1"/>
                </p:cNvSpPr>
                <p:nvPr/>
              </p:nvSpPr>
              <p:spPr bwMode="auto">
                <a:xfrm>
                  <a:off x="10617639" y="2624312"/>
                  <a:ext cx="435031" cy="437783"/>
                </a:xfrm>
                <a:prstGeom prst="ellipse">
                  <a:avLst/>
                </a:prstGeom>
                <a:blipFill>
                  <a:blip r:embed="rId14"/>
                  <a:stretch>
                    <a:fillRect/>
                  </a:stretch>
                </a:blipFill>
                <a:ln w="9525">
                  <a:solidFill>
                    <a:schemeClr val="tx1"/>
                  </a:solidFill>
                  <a:round/>
                  <a:headEnd/>
                  <a:tailEnd/>
                </a:ln>
                <a:effec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12" name="Oval 50">
                  <a:extLst>
                    <a:ext uri="{FF2B5EF4-FFF2-40B4-BE49-F238E27FC236}">
                      <a16:creationId xmlns:a16="http://schemas.microsoft.com/office/drawing/2014/main" id="{0AC273B9-29AD-FC81-68C8-5E4BA9C1DA8E}"/>
                    </a:ext>
                  </a:extLst>
                </p:cNvPr>
                <p:cNvSpPr>
                  <a:spLocks noChangeAspect="1" noChangeArrowheads="1"/>
                </p:cNvSpPr>
                <p:nvPr/>
              </p:nvSpPr>
              <p:spPr bwMode="auto">
                <a:xfrm>
                  <a:off x="10400123" y="3866014"/>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r>
                          <a:rPr lang="en-US" altLang="en-US" sz="1400" b="1" i="1" smtClean="0">
                            <a:solidFill>
                              <a:srgbClr val="C00000"/>
                            </a:solidFill>
                            <a:latin typeface="Cambria Math" panose="02040503050406030204" pitchFamily="18" charset="0"/>
                          </a:rPr>
                          <m:t>𝟗</m:t>
                        </m:r>
                      </m:oMath>
                    </m:oMathPara>
                  </a14:m>
                  <a:endParaRPr lang="en-US" altLang="en-US" sz="1400" b="1" dirty="0">
                    <a:solidFill>
                      <a:srgbClr val="C00000"/>
                    </a:solidFill>
                  </a:endParaRPr>
                </a:p>
              </p:txBody>
            </p:sp>
          </mc:Choice>
          <mc:Fallback>
            <p:sp>
              <p:nvSpPr>
                <p:cNvPr id="312" name="Oval 50">
                  <a:extLst>
                    <a:ext uri="{FF2B5EF4-FFF2-40B4-BE49-F238E27FC236}">
                      <a16:creationId xmlns:a16="http://schemas.microsoft.com/office/drawing/2014/main" id="{0AC273B9-29AD-FC81-68C8-5E4BA9C1DA8E}"/>
                    </a:ext>
                  </a:extLst>
                </p:cNvPr>
                <p:cNvSpPr>
                  <a:spLocks noRot="1" noChangeAspect="1" noMove="1" noResize="1" noEditPoints="1" noAdjustHandles="1" noChangeArrowheads="1" noChangeShapeType="1" noTextEdit="1"/>
                </p:cNvSpPr>
                <p:nvPr/>
              </p:nvSpPr>
              <p:spPr bwMode="auto">
                <a:xfrm>
                  <a:off x="10400123" y="3866014"/>
                  <a:ext cx="435031" cy="437783"/>
                </a:xfrm>
                <a:prstGeom prst="ellipse">
                  <a:avLst/>
                </a:prstGeom>
                <a:blipFill>
                  <a:blip r:embed="rId15"/>
                  <a:stretch>
                    <a:fillRect/>
                  </a:stretch>
                </a:blipFill>
                <a:ln w="9525">
                  <a:solidFill>
                    <a:schemeClr val="tx1"/>
                  </a:solidFill>
                  <a:round/>
                  <a:headEnd/>
                  <a:tailEnd/>
                </a:ln>
                <a:effec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13" name="Oval 50">
                  <a:extLst>
                    <a:ext uri="{FF2B5EF4-FFF2-40B4-BE49-F238E27FC236}">
                      <a16:creationId xmlns:a16="http://schemas.microsoft.com/office/drawing/2014/main" id="{3BACF39B-B664-330B-7BDE-6529856A2A11}"/>
                    </a:ext>
                  </a:extLst>
                </p:cNvPr>
                <p:cNvSpPr>
                  <a:spLocks noChangeAspect="1" noChangeArrowheads="1"/>
                </p:cNvSpPr>
                <p:nvPr/>
              </p:nvSpPr>
              <p:spPr bwMode="auto">
                <a:xfrm>
                  <a:off x="10494035" y="4921315"/>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r>
                          <a:rPr lang="en-US" altLang="en-US" sz="1400" b="1" i="1" smtClean="0">
                            <a:solidFill>
                              <a:srgbClr val="C00000"/>
                            </a:solidFill>
                            <a:latin typeface="Cambria Math" panose="02040503050406030204" pitchFamily="18" charset="0"/>
                          </a:rPr>
                          <m:t>𝟏𝟐</m:t>
                        </m:r>
                      </m:oMath>
                    </m:oMathPara>
                  </a14:m>
                  <a:endParaRPr lang="en-US" altLang="en-US" sz="1400" b="1" dirty="0">
                    <a:solidFill>
                      <a:srgbClr val="C00000"/>
                    </a:solidFill>
                  </a:endParaRPr>
                </a:p>
              </p:txBody>
            </p:sp>
          </mc:Choice>
          <mc:Fallback>
            <p:sp>
              <p:nvSpPr>
                <p:cNvPr id="313" name="Oval 50">
                  <a:extLst>
                    <a:ext uri="{FF2B5EF4-FFF2-40B4-BE49-F238E27FC236}">
                      <a16:creationId xmlns:a16="http://schemas.microsoft.com/office/drawing/2014/main" id="{3BACF39B-B664-330B-7BDE-6529856A2A11}"/>
                    </a:ext>
                  </a:extLst>
                </p:cNvPr>
                <p:cNvSpPr>
                  <a:spLocks noRot="1" noChangeAspect="1" noMove="1" noResize="1" noEditPoints="1" noAdjustHandles="1" noChangeArrowheads="1" noChangeShapeType="1" noTextEdit="1"/>
                </p:cNvSpPr>
                <p:nvPr/>
              </p:nvSpPr>
              <p:spPr bwMode="auto">
                <a:xfrm>
                  <a:off x="10494035" y="4921315"/>
                  <a:ext cx="435031" cy="437783"/>
                </a:xfrm>
                <a:prstGeom prst="ellipse">
                  <a:avLst/>
                </a:prstGeom>
                <a:blipFill>
                  <a:blip r:embed="rId16"/>
                  <a:stretch>
                    <a:fillRect l="-17778" r="-2222"/>
                  </a:stretch>
                </a:blipFill>
                <a:ln w="9525">
                  <a:solidFill>
                    <a:schemeClr val="tx1"/>
                  </a:solidFill>
                  <a:round/>
                  <a:headEnd/>
                  <a:tailEnd/>
                </a:ln>
                <a:effec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14" name="Oval 50">
                  <a:extLst>
                    <a:ext uri="{FF2B5EF4-FFF2-40B4-BE49-F238E27FC236}">
                      <a16:creationId xmlns:a16="http://schemas.microsoft.com/office/drawing/2014/main" id="{68DD970B-6197-21D3-FE81-4B1CFEFFF64E}"/>
                    </a:ext>
                  </a:extLst>
                </p:cNvPr>
                <p:cNvSpPr>
                  <a:spLocks noChangeAspect="1" noChangeArrowheads="1"/>
                </p:cNvSpPr>
                <p:nvPr/>
              </p:nvSpPr>
              <p:spPr bwMode="auto">
                <a:xfrm>
                  <a:off x="10457764" y="5602945"/>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r>
                          <a:rPr lang="en-US" altLang="en-US" sz="1400" b="1" i="1" smtClean="0">
                            <a:solidFill>
                              <a:srgbClr val="C00000"/>
                            </a:solidFill>
                            <a:latin typeface="Cambria Math" panose="02040503050406030204" pitchFamily="18" charset="0"/>
                          </a:rPr>
                          <m:t>𝟑</m:t>
                        </m:r>
                      </m:oMath>
                    </m:oMathPara>
                  </a14:m>
                  <a:endParaRPr lang="en-US" altLang="en-US" sz="1400" b="1" dirty="0">
                    <a:solidFill>
                      <a:srgbClr val="C00000"/>
                    </a:solidFill>
                  </a:endParaRPr>
                </a:p>
              </p:txBody>
            </p:sp>
          </mc:Choice>
          <mc:Fallback>
            <p:sp>
              <p:nvSpPr>
                <p:cNvPr id="314" name="Oval 50">
                  <a:extLst>
                    <a:ext uri="{FF2B5EF4-FFF2-40B4-BE49-F238E27FC236}">
                      <a16:creationId xmlns:a16="http://schemas.microsoft.com/office/drawing/2014/main" id="{68DD970B-6197-21D3-FE81-4B1CFEFFF64E}"/>
                    </a:ext>
                  </a:extLst>
                </p:cNvPr>
                <p:cNvSpPr>
                  <a:spLocks noRot="1" noChangeAspect="1" noMove="1" noResize="1" noEditPoints="1" noAdjustHandles="1" noChangeArrowheads="1" noChangeShapeType="1" noTextEdit="1"/>
                </p:cNvSpPr>
                <p:nvPr/>
              </p:nvSpPr>
              <p:spPr bwMode="auto">
                <a:xfrm>
                  <a:off x="10457764" y="5602945"/>
                  <a:ext cx="435031" cy="437783"/>
                </a:xfrm>
                <a:prstGeom prst="ellipse">
                  <a:avLst/>
                </a:prstGeom>
                <a:blipFill>
                  <a:blip r:embed="rId17"/>
                  <a:stretch>
                    <a:fillRect/>
                  </a:stretch>
                </a:blipFill>
                <a:ln w="9525">
                  <a:solidFill>
                    <a:schemeClr val="tx1"/>
                  </a:solidFill>
                  <a:round/>
                  <a:headEnd/>
                  <a:tailEnd/>
                </a:ln>
                <a:effectLst/>
              </p:spPr>
              <p:txBody>
                <a:bodyPr/>
                <a:lstStyle/>
                <a:p>
                  <a:r>
                    <a:rPr lang="en-US">
                      <a:noFill/>
                    </a:rPr>
                    <a:t> </a:t>
                  </a:r>
                </a:p>
              </p:txBody>
            </p:sp>
          </mc:Fallback>
        </mc:AlternateContent>
        <p:cxnSp>
          <p:nvCxnSpPr>
            <p:cNvPr id="315" name="Straight Connector 314">
              <a:extLst>
                <a:ext uri="{FF2B5EF4-FFF2-40B4-BE49-F238E27FC236}">
                  <a16:creationId xmlns:a16="http://schemas.microsoft.com/office/drawing/2014/main" id="{8B87EF23-01B8-A6F6-3411-A9F5A7E436A6}"/>
                </a:ext>
              </a:extLst>
            </p:cNvPr>
            <p:cNvCxnSpPr>
              <a:cxnSpLocks/>
              <a:stCxn id="308" idx="6"/>
              <a:endCxn id="311" idx="2"/>
            </p:cNvCxnSpPr>
            <p:nvPr/>
          </p:nvCxnSpPr>
          <p:spPr>
            <a:xfrm>
              <a:off x="7734361" y="2756480"/>
              <a:ext cx="2883278" cy="86724"/>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6" name="Straight Connector 315">
              <a:extLst>
                <a:ext uri="{FF2B5EF4-FFF2-40B4-BE49-F238E27FC236}">
                  <a16:creationId xmlns:a16="http://schemas.microsoft.com/office/drawing/2014/main" id="{66B01DC4-306E-5190-4D1C-13275A2113BC}"/>
                </a:ext>
              </a:extLst>
            </p:cNvPr>
            <p:cNvCxnSpPr>
              <a:cxnSpLocks/>
              <a:stCxn id="308" idx="5"/>
              <a:endCxn id="312" idx="1"/>
            </p:cNvCxnSpPr>
            <p:nvPr/>
          </p:nvCxnSpPr>
          <p:spPr>
            <a:xfrm>
              <a:off x="7670652" y="2911259"/>
              <a:ext cx="2793180" cy="1018867"/>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7" name="Straight Connector 316">
              <a:extLst>
                <a:ext uri="{FF2B5EF4-FFF2-40B4-BE49-F238E27FC236}">
                  <a16:creationId xmlns:a16="http://schemas.microsoft.com/office/drawing/2014/main" id="{61A791CC-B97D-436F-3DF1-58C45ECC9EF3}"/>
                </a:ext>
              </a:extLst>
            </p:cNvPr>
            <p:cNvCxnSpPr>
              <a:cxnSpLocks/>
              <a:stCxn id="308" idx="4"/>
              <a:endCxn id="314" idx="1"/>
            </p:cNvCxnSpPr>
            <p:nvPr/>
          </p:nvCxnSpPr>
          <p:spPr>
            <a:xfrm>
              <a:off x="7516846" y="2975371"/>
              <a:ext cx="3004627" cy="2691686"/>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8" name="Straight Connector 317">
              <a:extLst>
                <a:ext uri="{FF2B5EF4-FFF2-40B4-BE49-F238E27FC236}">
                  <a16:creationId xmlns:a16="http://schemas.microsoft.com/office/drawing/2014/main" id="{2C421E55-7BBE-F0B8-8073-BB1D66FDDFB4}"/>
                </a:ext>
              </a:extLst>
            </p:cNvPr>
            <p:cNvCxnSpPr>
              <a:cxnSpLocks/>
              <a:stCxn id="309" idx="7"/>
              <a:endCxn id="311" idx="3"/>
            </p:cNvCxnSpPr>
            <p:nvPr/>
          </p:nvCxnSpPr>
          <p:spPr>
            <a:xfrm flipV="1">
              <a:off x="7774021" y="2997983"/>
              <a:ext cx="2907327" cy="852428"/>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9" name="Straight Connector 318">
              <a:extLst>
                <a:ext uri="{FF2B5EF4-FFF2-40B4-BE49-F238E27FC236}">
                  <a16:creationId xmlns:a16="http://schemas.microsoft.com/office/drawing/2014/main" id="{3AA8BCE3-1229-8A9B-2B16-D2E2B1A7C17D}"/>
                </a:ext>
              </a:extLst>
            </p:cNvPr>
            <p:cNvCxnSpPr>
              <a:cxnSpLocks/>
              <a:stCxn id="310" idx="6"/>
              <a:endCxn id="314" idx="3"/>
            </p:cNvCxnSpPr>
            <p:nvPr/>
          </p:nvCxnSpPr>
          <p:spPr>
            <a:xfrm>
              <a:off x="7620214" y="5195448"/>
              <a:ext cx="2901259" cy="781168"/>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20" name="Straight Connector 319">
              <a:extLst>
                <a:ext uri="{FF2B5EF4-FFF2-40B4-BE49-F238E27FC236}">
                  <a16:creationId xmlns:a16="http://schemas.microsoft.com/office/drawing/2014/main" id="{E9BDA2EF-20D1-7877-6EF0-DC909821B6D7}"/>
                </a:ext>
              </a:extLst>
            </p:cNvPr>
            <p:cNvCxnSpPr>
              <a:cxnSpLocks/>
              <a:stCxn id="310" idx="7"/>
              <a:endCxn id="311" idx="4"/>
            </p:cNvCxnSpPr>
            <p:nvPr/>
          </p:nvCxnSpPr>
          <p:spPr>
            <a:xfrm flipV="1">
              <a:off x="7556505" y="3062095"/>
              <a:ext cx="3278650" cy="1978573"/>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321" name="TextBox 320">
                  <a:extLst>
                    <a:ext uri="{FF2B5EF4-FFF2-40B4-BE49-F238E27FC236}">
                      <a16:creationId xmlns:a16="http://schemas.microsoft.com/office/drawing/2014/main" id="{6578A09C-B601-2348-A7B0-44B50FBE4052}"/>
                    </a:ext>
                  </a:extLst>
                </p:cNvPr>
                <p:cNvSpPr txBox="1"/>
                <p:nvPr/>
              </p:nvSpPr>
              <p:spPr>
                <a:xfrm>
                  <a:off x="8799028" y="2624312"/>
                  <a:ext cx="304891" cy="276999"/>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1</m:t>
                        </m:r>
                      </m:oMath>
                    </m:oMathPara>
                  </a14:m>
                  <a:endParaRPr lang="en-US" sz="1200" dirty="0"/>
                </a:p>
              </p:txBody>
            </p:sp>
          </mc:Choice>
          <mc:Fallback>
            <p:sp>
              <p:nvSpPr>
                <p:cNvPr id="321" name="TextBox 320">
                  <a:extLst>
                    <a:ext uri="{FF2B5EF4-FFF2-40B4-BE49-F238E27FC236}">
                      <a16:creationId xmlns:a16="http://schemas.microsoft.com/office/drawing/2014/main" id="{6578A09C-B601-2348-A7B0-44B50FBE4052}"/>
                    </a:ext>
                  </a:extLst>
                </p:cNvPr>
                <p:cNvSpPr txBox="1">
                  <a:spLocks noRot="1" noChangeAspect="1" noMove="1" noResize="1" noEditPoints="1" noAdjustHandles="1" noChangeArrowheads="1" noChangeShapeType="1" noTextEdit="1"/>
                </p:cNvSpPr>
                <p:nvPr/>
              </p:nvSpPr>
              <p:spPr>
                <a:xfrm>
                  <a:off x="8799028" y="2624312"/>
                  <a:ext cx="304891" cy="276999"/>
                </a:xfrm>
                <a:prstGeom prst="rect">
                  <a:avLst/>
                </a:prstGeom>
                <a:blipFill>
                  <a:blip r:embed="rId9"/>
                  <a:stretch>
                    <a:fillRect r="-31034" b="-48148"/>
                  </a:stretch>
                </a:blipFill>
              </p:spPr>
              <p:txBody>
                <a:bodyPr/>
                <a:lstStyle/>
                <a:p>
                  <a:r>
                    <a:rPr lang="en-US">
                      <a:noFill/>
                    </a:rPr>
                    <a:t> </a:t>
                  </a:r>
                </a:p>
              </p:txBody>
            </p:sp>
          </mc:Fallback>
        </mc:AlternateContent>
        <p:cxnSp>
          <p:nvCxnSpPr>
            <p:cNvPr id="322" name="Straight Connector 321">
              <a:extLst>
                <a:ext uri="{FF2B5EF4-FFF2-40B4-BE49-F238E27FC236}">
                  <a16:creationId xmlns:a16="http://schemas.microsoft.com/office/drawing/2014/main" id="{56BAF54F-3056-877C-5993-F89F46FC9291}"/>
                </a:ext>
              </a:extLst>
            </p:cNvPr>
            <p:cNvCxnSpPr>
              <a:cxnSpLocks/>
              <a:stCxn id="309" idx="6"/>
              <a:endCxn id="312" idx="2"/>
            </p:cNvCxnSpPr>
            <p:nvPr/>
          </p:nvCxnSpPr>
          <p:spPr>
            <a:xfrm>
              <a:off x="7837730" y="4005191"/>
              <a:ext cx="2562393" cy="79715"/>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23" name="Straight Connector 322">
              <a:extLst>
                <a:ext uri="{FF2B5EF4-FFF2-40B4-BE49-F238E27FC236}">
                  <a16:creationId xmlns:a16="http://schemas.microsoft.com/office/drawing/2014/main" id="{B1688633-F899-F96B-14BB-BF27BAE30ED0}"/>
                </a:ext>
              </a:extLst>
            </p:cNvPr>
            <p:cNvCxnSpPr>
              <a:cxnSpLocks/>
              <a:stCxn id="309" idx="5"/>
              <a:endCxn id="313" idx="2"/>
            </p:cNvCxnSpPr>
            <p:nvPr/>
          </p:nvCxnSpPr>
          <p:spPr>
            <a:xfrm>
              <a:off x="7774021" y="4159970"/>
              <a:ext cx="2720014" cy="980237"/>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324" name="TextBox 323">
                  <a:extLst>
                    <a:ext uri="{FF2B5EF4-FFF2-40B4-BE49-F238E27FC236}">
                      <a16:creationId xmlns:a16="http://schemas.microsoft.com/office/drawing/2014/main" id="{97DCE6F7-B3DA-1745-0B60-8F6D766222C3}"/>
                    </a:ext>
                  </a:extLst>
                </p:cNvPr>
                <p:cNvSpPr txBox="1"/>
                <p:nvPr/>
              </p:nvSpPr>
              <p:spPr>
                <a:xfrm>
                  <a:off x="8226758" y="3032209"/>
                  <a:ext cx="304891" cy="276999"/>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1</m:t>
                        </m:r>
                      </m:oMath>
                    </m:oMathPara>
                  </a14:m>
                  <a:endParaRPr lang="en-US" sz="1200" dirty="0"/>
                </a:p>
              </p:txBody>
            </p:sp>
          </mc:Choice>
          <mc:Fallback>
            <p:sp>
              <p:nvSpPr>
                <p:cNvPr id="324" name="TextBox 323">
                  <a:extLst>
                    <a:ext uri="{FF2B5EF4-FFF2-40B4-BE49-F238E27FC236}">
                      <a16:creationId xmlns:a16="http://schemas.microsoft.com/office/drawing/2014/main" id="{97DCE6F7-B3DA-1745-0B60-8F6D766222C3}"/>
                    </a:ext>
                  </a:extLst>
                </p:cNvPr>
                <p:cNvSpPr txBox="1">
                  <a:spLocks noRot="1" noChangeAspect="1" noMove="1" noResize="1" noEditPoints="1" noAdjustHandles="1" noChangeArrowheads="1" noChangeShapeType="1" noTextEdit="1"/>
                </p:cNvSpPr>
                <p:nvPr/>
              </p:nvSpPr>
              <p:spPr>
                <a:xfrm>
                  <a:off x="8226758" y="3032209"/>
                  <a:ext cx="304891" cy="276999"/>
                </a:xfrm>
                <a:prstGeom prst="rect">
                  <a:avLst/>
                </a:prstGeom>
                <a:blipFill>
                  <a:blip r:embed="rId10"/>
                  <a:stretch>
                    <a:fillRect r="-26667" b="-48148"/>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25" name="TextBox 324">
                  <a:extLst>
                    <a:ext uri="{FF2B5EF4-FFF2-40B4-BE49-F238E27FC236}">
                      <a16:creationId xmlns:a16="http://schemas.microsoft.com/office/drawing/2014/main" id="{08B2B3FA-78EE-4F6D-DB8F-892BFE77989D}"/>
                    </a:ext>
                  </a:extLst>
                </p:cNvPr>
                <p:cNvSpPr txBox="1"/>
                <p:nvPr/>
              </p:nvSpPr>
              <p:spPr>
                <a:xfrm>
                  <a:off x="7826340" y="3154285"/>
                  <a:ext cx="304891" cy="276999"/>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1</m:t>
                        </m:r>
                      </m:oMath>
                    </m:oMathPara>
                  </a14:m>
                  <a:endParaRPr lang="en-US" sz="1200" dirty="0"/>
                </a:p>
              </p:txBody>
            </p:sp>
          </mc:Choice>
          <mc:Fallback>
            <p:sp>
              <p:nvSpPr>
                <p:cNvPr id="325" name="TextBox 324">
                  <a:extLst>
                    <a:ext uri="{FF2B5EF4-FFF2-40B4-BE49-F238E27FC236}">
                      <a16:creationId xmlns:a16="http://schemas.microsoft.com/office/drawing/2014/main" id="{08B2B3FA-78EE-4F6D-DB8F-892BFE77989D}"/>
                    </a:ext>
                  </a:extLst>
                </p:cNvPr>
                <p:cNvSpPr txBox="1">
                  <a:spLocks noRot="1" noChangeAspect="1" noMove="1" noResize="1" noEditPoints="1" noAdjustHandles="1" noChangeArrowheads="1" noChangeShapeType="1" noTextEdit="1"/>
                </p:cNvSpPr>
                <p:nvPr/>
              </p:nvSpPr>
              <p:spPr>
                <a:xfrm>
                  <a:off x="7826340" y="3154285"/>
                  <a:ext cx="304891" cy="276999"/>
                </a:xfrm>
                <a:prstGeom prst="rect">
                  <a:avLst/>
                </a:prstGeom>
                <a:blipFill>
                  <a:blip r:embed="rId10"/>
                  <a:stretch>
                    <a:fillRect r="-26667" b="-48148"/>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26" name="TextBox 325">
                  <a:extLst>
                    <a:ext uri="{FF2B5EF4-FFF2-40B4-BE49-F238E27FC236}">
                      <a16:creationId xmlns:a16="http://schemas.microsoft.com/office/drawing/2014/main" id="{0557A7C9-9570-8D73-1C68-4C6D9272FC70}"/>
                    </a:ext>
                  </a:extLst>
                </p:cNvPr>
                <p:cNvSpPr txBox="1"/>
                <p:nvPr/>
              </p:nvSpPr>
              <p:spPr>
                <a:xfrm>
                  <a:off x="9715677" y="3925475"/>
                  <a:ext cx="304891" cy="276999"/>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1</m:t>
                        </m:r>
                      </m:oMath>
                    </m:oMathPara>
                  </a14:m>
                  <a:endParaRPr lang="en-US" sz="1200" dirty="0"/>
                </a:p>
              </p:txBody>
            </p:sp>
          </mc:Choice>
          <mc:Fallback>
            <p:sp>
              <p:nvSpPr>
                <p:cNvPr id="326" name="TextBox 325">
                  <a:extLst>
                    <a:ext uri="{FF2B5EF4-FFF2-40B4-BE49-F238E27FC236}">
                      <a16:creationId xmlns:a16="http://schemas.microsoft.com/office/drawing/2014/main" id="{0557A7C9-9570-8D73-1C68-4C6D9272FC70}"/>
                    </a:ext>
                  </a:extLst>
                </p:cNvPr>
                <p:cNvSpPr txBox="1">
                  <a:spLocks noRot="1" noChangeAspect="1" noMove="1" noResize="1" noEditPoints="1" noAdjustHandles="1" noChangeArrowheads="1" noChangeShapeType="1" noTextEdit="1"/>
                </p:cNvSpPr>
                <p:nvPr/>
              </p:nvSpPr>
              <p:spPr>
                <a:xfrm>
                  <a:off x="9715677" y="3925475"/>
                  <a:ext cx="304891" cy="276999"/>
                </a:xfrm>
                <a:prstGeom prst="rect">
                  <a:avLst/>
                </a:prstGeom>
                <a:blipFill>
                  <a:blip r:embed="rId10"/>
                  <a:stretch>
                    <a:fillRect r="-26667" b="-48148"/>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27" name="TextBox 326">
                  <a:extLst>
                    <a:ext uri="{FF2B5EF4-FFF2-40B4-BE49-F238E27FC236}">
                      <a16:creationId xmlns:a16="http://schemas.microsoft.com/office/drawing/2014/main" id="{2EB3A178-60EC-B478-72CC-AF1B1B9CDB2C}"/>
                    </a:ext>
                  </a:extLst>
                </p:cNvPr>
                <p:cNvSpPr txBox="1"/>
                <p:nvPr/>
              </p:nvSpPr>
              <p:spPr>
                <a:xfrm>
                  <a:off x="7937372" y="4136548"/>
                  <a:ext cx="304891" cy="276999"/>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1</m:t>
                        </m:r>
                      </m:oMath>
                    </m:oMathPara>
                  </a14:m>
                  <a:endParaRPr lang="en-US" sz="1200" dirty="0"/>
                </a:p>
              </p:txBody>
            </p:sp>
          </mc:Choice>
          <mc:Fallback>
            <p:sp>
              <p:nvSpPr>
                <p:cNvPr id="327" name="TextBox 326">
                  <a:extLst>
                    <a:ext uri="{FF2B5EF4-FFF2-40B4-BE49-F238E27FC236}">
                      <a16:creationId xmlns:a16="http://schemas.microsoft.com/office/drawing/2014/main" id="{2EB3A178-60EC-B478-72CC-AF1B1B9CDB2C}"/>
                    </a:ext>
                  </a:extLst>
                </p:cNvPr>
                <p:cNvSpPr txBox="1">
                  <a:spLocks noRot="1" noChangeAspect="1" noMove="1" noResize="1" noEditPoints="1" noAdjustHandles="1" noChangeArrowheads="1" noChangeShapeType="1" noTextEdit="1"/>
                </p:cNvSpPr>
                <p:nvPr/>
              </p:nvSpPr>
              <p:spPr>
                <a:xfrm>
                  <a:off x="7937372" y="4136548"/>
                  <a:ext cx="304891" cy="276999"/>
                </a:xfrm>
                <a:prstGeom prst="rect">
                  <a:avLst/>
                </a:prstGeom>
                <a:blipFill>
                  <a:blip r:embed="rId18"/>
                  <a:stretch>
                    <a:fillRect r="-31034" b="-4444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28" name="TextBox 327">
                  <a:extLst>
                    <a:ext uri="{FF2B5EF4-FFF2-40B4-BE49-F238E27FC236}">
                      <a16:creationId xmlns:a16="http://schemas.microsoft.com/office/drawing/2014/main" id="{88D18D26-59BC-3677-3A9F-3935C0FE01D7}"/>
                    </a:ext>
                  </a:extLst>
                </p:cNvPr>
                <p:cNvSpPr txBox="1"/>
                <p:nvPr/>
              </p:nvSpPr>
              <p:spPr>
                <a:xfrm>
                  <a:off x="7889584" y="4581686"/>
                  <a:ext cx="304891" cy="276999"/>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1</m:t>
                        </m:r>
                      </m:oMath>
                    </m:oMathPara>
                  </a14:m>
                  <a:endParaRPr lang="en-US" sz="1200" dirty="0"/>
                </a:p>
              </p:txBody>
            </p:sp>
          </mc:Choice>
          <mc:Fallback>
            <p:sp>
              <p:nvSpPr>
                <p:cNvPr id="328" name="TextBox 327">
                  <a:extLst>
                    <a:ext uri="{FF2B5EF4-FFF2-40B4-BE49-F238E27FC236}">
                      <a16:creationId xmlns:a16="http://schemas.microsoft.com/office/drawing/2014/main" id="{88D18D26-59BC-3677-3A9F-3935C0FE01D7}"/>
                    </a:ext>
                  </a:extLst>
                </p:cNvPr>
                <p:cNvSpPr txBox="1">
                  <a:spLocks noRot="1" noChangeAspect="1" noMove="1" noResize="1" noEditPoints="1" noAdjustHandles="1" noChangeArrowheads="1" noChangeShapeType="1" noTextEdit="1"/>
                </p:cNvSpPr>
                <p:nvPr/>
              </p:nvSpPr>
              <p:spPr>
                <a:xfrm>
                  <a:off x="7889584" y="4581686"/>
                  <a:ext cx="304891" cy="276999"/>
                </a:xfrm>
                <a:prstGeom prst="rect">
                  <a:avLst/>
                </a:prstGeom>
                <a:blipFill>
                  <a:blip r:embed="rId10"/>
                  <a:stretch>
                    <a:fillRect r="-26667" b="-48148"/>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29" name="TextBox 328">
                  <a:extLst>
                    <a:ext uri="{FF2B5EF4-FFF2-40B4-BE49-F238E27FC236}">
                      <a16:creationId xmlns:a16="http://schemas.microsoft.com/office/drawing/2014/main" id="{BAF9E9C6-53F6-13D0-ED28-7F74F3D61535}"/>
                    </a:ext>
                  </a:extLst>
                </p:cNvPr>
                <p:cNvSpPr txBox="1"/>
                <p:nvPr/>
              </p:nvSpPr>
              <p:spPr>
                <a:xfrm>
                  <a:off x="8731952" y="5370051"/>
                  <a:ext cx="304891" cy="276999"/>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1</m:t>
                        </m:r>
                      </m:oMath>
                    </m:oMathPara>
                  </a14:m>
                  <a:endParaRPr lang="en-US" sz="1200" dirty="0"/>
                </a:p>
              </p:txBody>
            </p:sp>
          </mc:Choice>
          <mc:Fallback>
            <p:sp>
              <p:nvSpPr>
                <p:cNvPr id="329" name="TextBox 328">
                  <a:extLst>
                    <a:ext uri="{FF2B5EF4-FFF2-40B4-BE49-F238E27FC236}">
                      <a16:creationId xmlns:a16="http://schemas.microsoft.com/office/drawing/2014/main" id="{BAF9E9C6-53F6-13D0-ED28-7F74F3D61535}"/>
                    </a:ext>
                  </a:extLst>
                </p:cNvPr>
                <p:cNvSpPr txBox="1">
                  <a:spLocks noRot="1" noChangeAspect="1" noMove="1" noResize="1" noEditPoints="1" noAdjustHandles="1" noChangeArrowheads="1" noChangeShapeType="1" noTextEdit="1"/>
                </p:cNvSpPr>
                <p:nvPr/>
              </p:nvSpPr>
              <p:spPr>
                <a:xfrm>
                  <a:off x="8731952" y="5370051"/>
                  <a:ext cx="304891" cy="276999"/>
                </a:xfrm>
                <a:prstGeom prst="rect">
                  <a:avLst/>
                </a:prstGeom>
                <a:blipFill>
                  <a:blip r:embed="rId10"/>
                  <a:stretch>
                    <a:fillRect r="-26667" b="-48148"/>
                  </a:stretch>
                </a:blipFill>
              </p:spPr>
              <p:txBody>
                <a:bodyPr/>
                <a:lstStyle/>
                <a:p>
                  <a:r>
                    <a:rPr lang="en-US">
                      <a:noFill/>
                    </a:rPr>
                    <a:t> </a:t>
                  </a:r>
                </a:p>
              </p:txBody>
            </p:sp>
          </mc:Fallback>
        </mc:AlternateContent>
      </p:grpSp>
      <p:grpSp>
        <p:nvGrpSpPr>
          <p:cNvPr id="330" name="Group 329">
            <a:extLst>
              <a:ext uri="{FF2B5EF4-FFF2-40B4-BE49-F238E27FC236}">
                <a16:creationId xmlns:a16="http://schemas.microsoft.com/office/drawing/2014/main" id="{8EB32C7D-67B1-3243-5FD6-36887EDD38F0}"/>
              </a:ext>
            </a:extLst>
          </p:cNvPr>
          <p:cNvGrpSpPr/>
          <p:nvPr/>
        </p:nvGrpSpPr>
        <p:grpSpPr>
          <a:xfrm>
            <a:off x="7757905" y="4661470"/>
            <a:ext cx="3806793" cy="2083476"/>
            <a:chOff x="5718433" y="2537588"/>
            <a:chExt cx="6400710" cy="3503140"/>
          </a:xfrm>
        </p:grpSpPr>
        <mc:AlternateContent xmlns:mc="http://schemas.openxmlformats.org/markup-compatibility/2006">
          <mc:Choice xmlns:a14="http://schemas.microsoft.com/office/drawing/2010/main" Requires="a14">
            <p:sp>
              <p:nvSpPr>
                <p:cNvPr id="331" name="Oval 50">
                  <a:extLst>
                    <a:ext uri="{FF2B5EF4-FFF2-40B4-BE49-F238E27FC236}">
                      <a16:creationId xmlns:a16="http://schemas.microsoft.com/office/drawing/2014/main" id="{CEC15196-B40B-D046-A2DF-61B218C7EC1E}"/>
                    </a:ext>
                  </a:extLst>
                </p:cNvPr>
                <p:cNvSpPr>
                  <a:spLocks noChangeAspect="1" noChangeArrowheads="1"/>
                </p:cNvSpPr>
                <p:nvPr/>
              </p:nvSpPr>
              <p:spPr bwMode="auto">
                <a:xfrm>
                  <a:off x="5718433" y="4200001"/>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r>
                          <a:rPr lang="en-US" altLang="en-US" sz="1400" b="1" i="1" dirty="0" smtClean="0">
                            <a:solidFill>
                              <a:srgbClr val="C00000"/>
                            </a:solidFill>
                            <a:latin typeface="Cambria Math" panose="02040503050406030204" pitchFamily="18" charset="0"/>
                          </a:rPr>
                          <m:t>𝒔</m:t>
                        </m:r>
                      </m:oMath>
                    </m:oMathPara>
                  </a14:m>
                  <a:endParaRPr lang="en-US" altLang="en-US" sz="1400" b="1" dirty="0">
                    <a:solidFill>
                      <a:srgbClr val="C00000"/>
                    </a:solidFill>
                  </a:endParaRPr>
                </a:p>
              </p:txBody>
            </p:sp>
          </mc:Choice>
          <mc:Fallback>
            <p:sp>
              <p:nvSpPr>
                <p:cNvPr id="331" name="Oval 50">
                  <a:extLst>
                    <a:ext uri="{FF2B5EF4-FFF2-40B4-BE49-F238E27FC236}">
                      <a16:creationId xmlns:a16="http://schemas.microsoft.com/office/drawing/2014/main" id="{CEC15196-B40B-D046-A2DF-61B218C7EC1E}"/>
                    </a:ext>
                  </a:extLst>
                </p:cNvPr>
                <p:cNvSpPr>
                  <a:spLocks noRot="1" noChangeAspect="1" noMove="1" noResize="1" noEditPoints="1" noAdjustHandles="1" noChangeArrowheads="1" noChangeShapeType="1" noTextEdit="1"/>
                </p:cNvSpPr>
                <p:nvPr/>
              </p:nvSpPr>
              <p:spPr bwMode="auto">
                <a:xfrm>
                  <a:off x="5718433" y="4200001"/>
                  <a:ext cx="435031" cy="437783"/>
                </a:xfrm>
                <a:prstGeom prst="ellipse">
                  <a:avLst/>
                </a:prstGeom>
                <a:blipFill>
                  <a:blip r:embed="rId19"/>
                  <a:stretch>
                    <a:fillRect/>
                  </a:stretch>
                </a:blipFill>
                <a:ln w="9525">
                  <a:solidFill>
                    <a:schemeClr val="tx1"/>
                  </a:solidFill>
                  <a:round/>
                  <a:headEnd/>
                  <a:tailEnd/>
                </a:ln>
                <a:effec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32" name="Oval 50">
                  <a:extLst>
                    <a:ext uri="{FF2B5EF4-FFF2-40B4-BE49-F238E27FC236}">
                      <a16:creationId xmlns:a16="http://schemas.microsoft.com/office/drawing/2014/main" id="{D519DCCF-35FC-9FEC-8B1C-3009AA2F5823}"/>
                    </a:ext>
                  </a:extLst>
                </p:cNvPr>
                <p:cNvSpPr>
                  <a:spLocks noChangeAspect="1" noChangeArrowheads="1"/>
                </p:cNvSpPr>
                <p:nvPr/>
              </p:nvSpPr>
              <p:spPr bwMode="auto">
                <a:xfrm>
                  <a:off x="11684112" y="4308372"/>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r>
                          <a:rPr lang="en-US" altLang="en-US" sz="1400" b="1" i="1" dirty="0" smtClean="0">
                            <a:solidFill>
                              <a:srgbClr val="C00000"/>
                            </a:solidFill>
                            <a:latin typeface="Cambria Math" panose="02040503050406030204" pitchFamily="18" charset="0"/>
                          </a:rPr>
                          <m:t>𝒕</m:t>
                        </m:r>
                      </m:oMath>
                    </m:oMathPara>
                  </a14:m>
                  <a:endParaRPr lang="en-US" altLang="en-US" sz="1400" b="1" dirty="0">
                    <a:solidFill>
                      <a:srgbClr val="C00000"/>
                    </a:solidFill>
                  </a:endParaRPr>
                </a:p>
              </p:txBody>
            </p:sp>
          </mc:Choice>
          <mc:Fallback>
            <p:sp>
              <p:nvSpPr>
                <p:cNvPr id="332" name="Oval 50">
                  <a:extLst>
                    <a:ext uri="{FF2B5EF4-FFF2-40B4-BE49-F238E27FC236}">
                      <a16:creationId xmlns:a16="http://schemas.microsoft.com/office/drawing/2014/main" id="{D519DCCF-35FC-9FEC-8B1C-3009AA2F5823}"/>
                    </a:ext>
                  </a:extLst>
                </p:cNvPr>
                <p:cNvSpPr>
                  <a:spLocks noRot="1" noChangeAspect="1" noMove="1" noResize="1" noEditPoints="1" noAdjustHandles="1" noChangeArrowheads="1" noChangeShapeType="1" noTextEdit="1"/>
                </p:cNvSpPr>
                <p:nvPr/>
              </p:nvSpPr>
              <p:spPr bwMode="auto">
                <a:xfrm>
                  <a:off x="11684112" y="4308372"/>
                  <a:ext cx="435031" cy="437783"/>
                </a:xfrm>
                <a:prstGeom prst="ellipse">
                  <a:avLst/>
                </a:prstGeom>
                <a:blipFill>
                  <a:blip r:embed="rId20"/>
                  <a:stretch>
                    <a:fillRect/>
                  </a:stretch>
                </a:blipFill>
                <a:ln w="9525">
                  <a:solidFill>
                    <a:schemeClr val="tx1"/>
                  </a:solidFill>
                  <a:round/>
                  <a:headEnd/>
                  <a:tailEnd/>
                </a:ln>
                <a:effectLst/>
              </p:spPr>
              <p:txBody>
                <a:bodyPr/>
                <a:lstStyle/>
                <a:p>
                  <a:r>
                    <a:rPr lang="en-US">
                      <a:noFill/>
                    </a:rPr>
                    <a:t> </a:t>
                  </a:r>
                </a:p>
              </p:txBody>
            </p:sp>
          </mc:Fallback>
        </mc:AlternateContent>
        <p:cxnSp>
          <p:nvCxnSpPr>
            <p:cNvPr id="333" name="Straight Connector 332">
              <a:extLst>
                <a:ext uri="{FF2B5EF4-FFF2-40B4-BE49-F238E27FC236}">
                  <a16:creationId xmlns:a16="http://schemas.microsoft.com/office/drawing/2014/main" id="{9FA76DEF-DBD6-C1CF-B3CD-4B738C80022E}"/>
                </a:ext>
              </a:extLst>
            </p:cNvPr>
            <p:cNvCxnSpPr>
              <a:cxnSpLocks/>
              <a:stCxn id="331" idx="7"/>
            </p:cNvCxnSpPr>
            <p:nvPr/>
          </p:nvCxnSpPr>
          <p:spPr>
            <a:xfrm flipV="1">
              <a:off x="6089756" y="2847148"/>
              <a:ext cx="1209574" cy="1416965"/>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34" name="Straight Connector 333">
              <a:extLst>
                <a:ext uri="{FF2B5EF4-FFF2-40B4-BE49-F238E27FC236}">
                  <a16:creationId xmlns:a16="http://schemas.microsoft.com/office/drawing/2014/main" id="{E0A992BE-8D76-A8E3-4933-59F54AF6708B}"/>
                </a:ext>
              </a:extLst>
            </p:cNvPr>
            <p:cNvCxnSpPr>
              <a:cxnSpLocks/>
              <a:stCxn id="331" idx="6"/>
            </p:cNvCxnSpPr>
            <p:nvPr/>
          </p:nvCxnSpPr>
          <p:spPr>
            <a:xfrm flipV="1">
              <a:off x="6153464" y="4005192"/>
              <a:ext cx="1257964" cy="413702"/>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35" name="Straight Connector 334">
              <a:extLst>
                <a:ext uri="{FF2B5EF4-FFF2-40B4-BE49-F238E27FC236}">
                  <a16:creationId xmlns:a16="http://schemas.microsoft.com/office/drawing/2014/main" id="{1FF8B29D-DFF6-27B4-447E-148775E45617}"/>
                </a:ext>
              </a:extLst>
            </p:cNvPr>
            <p:cNvCxnSpPr>
              <a:cxnSpLocks/>
              <a:stCxn id="331" idx="5"/>
            </p:cNvCxnSpPr>
            <p:nvPr/>
          </p:nvCxnSpPr>
          <p:spPr>
            <a:xfrm>
              <a:off x="6089756" y="4573673"/>
              <a:ext cx="1095402" cy="566534"/>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36" name="Straight Connector 335">
              <a:extLst>
                <a:ext uri="{FF2B5EF4-FFF2-40B4-BE49-F238E27FC236}">
                  <a16:creationId xmlns:a16="http://schemas.microsoft.com/office/drawing/2014/main" id="{874737E1-514B-4C48-374A-7DE38D5CE1E7}"/>
                </a:ext>
              </a:extLst>
            </p:cNvPr>
            <p:cNvCxnSpPr>
              <a:cxnSpLocks/>
              <a:endCxn id="332" idx="0"/>
            </p:cNvCxnSpPr>
            <p:nvPr/>
          </p:nvCxnSpPr>
          <p:spPr>
            <a:xfrm>
              <a:off x="10945253" y="2951108"/>
              <a:ext cx="956375" cy="1357265"/>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37" name="Straight Connector 336">
              <a:extLst>
                <a:ext uri="{FF2B5EF4-FFF2-40B4-BE49-F238E27FC236}">
                  <a16:creationId xmlns:a16="http://schemas.microsoft.com/office/drawing/2014/main" id="{D6967232-945F-3307-B882-E5CC067AFE09}"/>
                </a:ext>
              </a:extLst>
            </p:cNvPr>
            <p:cNvCxnSpPr>
              <a:cxnSpLocks/>
              <a:endCxn id="332" idx="1"/>
            </p:cNvCxnSpPr>
            <p:nvPr/>
          </p:nvCxnSpPr>
          <p:spPr>
            <a:xfrm>
              <a:off x="10835155" y="4100807"/>
              <a:ext cx="912665" cy="271677"/>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38" name="Straight Connector 337">
              <a:extLst>
                <a:ext uri="{FF2B5EF4-FFF2-40B4-BE49-F238E27FC236}">
                  <a16:creationId xmlns:a16="http://schemas.microsoft.com/office/drawing/2014/main" id="{F5BD99E0-554C-894D-8331-5B746CE3FB43}"/>
                </a:ext>
              </a:extLst>
            </p:cNvPr>
            <p:cNvCxnSpPr>
              <a:cxnSpLocks/>
              <a:endCxn id="332" idx="3"/>
            </p:cNvCxnSpPr>
            <p:nvPr/>
          </p:nvCxnSpPr>
          <p:spPr>
            <a:xfrm flipV="1">
              <a:off x="10920258" y="4682044"/>
              <a:ext cx="827562" cy="426688"/>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39" name="Straight Connector 338">
              <a:extLst>
                <a:ext uri="{FF2B5EF4-FFF2-40B4-BE49-F238E27FC236}">
                  <a16:creationId xmlns:a16="http://schemas.microsoft.com/office/drawing/2014/main" id="{BC32FFE7-C5C4-8E4D-A78D-815CF46CF0B7}"/>
                </a:ext>
              </a:extLst>
            </p:cNvPr>
            <p:cNvCxnSpPr>
              <a:cxnSpLocks/>
              <a:stCxn id="353" idx="6"/>
              <a:endCxn id="332" idx="4"/>
            </p:cNvCxnSpPr>
            <p:nvPr/>
          </p:nvCxnSpPr>
          <p:spPr>
            <a:xfrm flipV="1">
              <a:off x="10892795" y="4746155"/>
              <a:ext cx="1008833" cy="1075682"/>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340" name="TextBox 339">
                  <a:extLst>
                    <a:ext uri="{FF2B5EF4-FFF2-40B4-BE49-F238E27FC236}">
                      <a16:creationId xmlns:a16="http://schemas.microsoft.com/office/drawing/2014/main" id="{2B0B3E82-D5C0-8548-F785-F1361E9C0E02}"/>
                    </a:ext>
                  </a:extLst>
                </p:cNvPr>
                <p:cNvSpPr txBox="1"/>
                <p:nvPr/>
              </p:nvSpPr>
              <p:spPr>
                <a:xfrm>
                  <a:off x="6544966" y="3445074"/>
                  <a:ext cx="782170" cy="465744"/>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2/</m:t>
                        </m:r>
                        <m:r>
                          <a:rPr lang="en-US" sz="1200" b="0" i="1" smtClean="0">
                            <a:latin typeface="Cambria Math" panose="02040503050406030204" pitchFamily="18" charset="0"/>
                          </a:rPr>
                          <m:t>2</m:t>
                        </m:r>
                      </m:oMath>
                    </m:oMathPara>
                  </a14:m>
                  <a:endParaRPr lang="en-US" sz="1200" dirty="0"/>
                </a:p>
              </p:txBody>
            </p:sp>
          </mc:Choice>
          <mc:Fallback>
            <p:sp>
              <p:nvSpPr>
                <p:cNvPr id="340" name="TextBox 339">
                  <a:extLst>
                    <a:ext uri="{FF2B5EF4-FFF2-40B4-BE49-F238E27FC236}">
                      <a16:creationId xmlns:a16="http://schemas.microsoft.com/office/drawing/2014/main" id="{2B0B3E82-D5C0-8548-F785-F1361E9C0E02}"/>
                    </a:ext>
                  </a:extLst>
                </p:cNvPr>
                <p:cNvSpPr txBox="1">
                  <a:spLocks noRot="1" noChangeAspect="1" noMove="1" noResize="1" noEditPoints="1" noAdjustHandles="1" noChangeArrowheads="1" noChangeShapeType="1" noTextEdit="1"/>
                </p:cNvSpPr>
                <p:nvPr/>
              </p:nvSpPr>
              <p:spPr>
                <a:xfrm>
                  <a:off x="6544966" y="3445074"/>
                  <a:ext cx="782170" cy="465744"/>
                </a:xfrm>
                <a:prstGeom prst="rect">
                  <a:avLst/>
                </a:prstGeom>
                <a:blipFill>
                  <a:blip r:embed="rId21"/>
                  <a:stretch>
                    <a:fillRect b="-4348"/>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41" name="TextBox 340">
                  <a:extLst>
                    <a:ext uri="{FF2B5EF4-FFF2-40B4-BE49-F238E27FC236}">
                      <a16:creationId xmlns:a16="http://schemas.microsoft.com/office/drawing/2014/main" id="{09010873-70A3-73B9-C70D-9618E6616EFB}"/>
                    </a:ext>
                  </a:extLst>
                </p:cNvPr>
                <p:cNvSpPr txBox="1"/>
                <p:nvPr/>
              </p:nvSpPr>
              <p:spPr>
                <a:xfrm>
                  <a:off x="6742829" y="3934465"/>
                  <a:ext cx="782170" cy="465744"/>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2/</m:t>
                        </m:r>
                        <m:r>
                          <a:rPr lang="en-US" sz="1200" b="0" i="1" smtClean="0">
                            <a:latin typeface="Cambria Math" panose="02040503050406030204" pitchFamily="18" charset="0"/>
                          </a:rPr>
                          <m:t>2</m:t>
                        </m:r>
                      </m:oMath>
                    </m:oMathPara>
                  </a14:m>
                  <a:endParaRPr lang="en-US" sz="1200" dirty="0"/>
                </a:p>
              </p:txBody>
            </p:sp>
          </mc:Choice>
          <mc:Fallback>
            <p:sp>
              <p:nvSpPr>
                <p:cNvPr id="341" name="TextBox 340">
                  <a:extLst>
                    <a:ext uri="{FF2B5EF4-FFF2-40B4-BE49-F238E27FC236}">
                      <a16:creationId xmlns:a16="http://schemas.microsoft.com/office/drawing/2014/main" id="{09010873-70A3-73B9-C70D-9618E6616EFB}"/>
                    </a:ext>
                  </a:extLst>
                </p:cNvPr>
                <p:cNvSpPr txBox="1">
                  <a:spLocks noRot="1" noChangeAspect="1" noMove="1" noResize="1" noEditPoints="1" noAdjustHandles="1" noChangeArrowheads="1" noChangeShapeType="1" noTextEdit="1"/>
                </p:cNvSpPr>
                <p:nvPr/>
              </p:nvSpPr>
              <p:spPr>
                <a:xfrm>
                  <a:off x="6742829" y="3934465"/>
                  <a:ext cx="782170" cy="465744"/>
                </a:xfrm>
                <a:prstGeom prst="rect">
                  <a:avLst/>
                </a:prstGeom>
                <a:blipFill>
                  <a:blip r:embed="rId22"/>
                  <a:stretch>
                    <a:fillRect b="-444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42" name="TextBox 341">
                  <a:extLst>
                    <a:ext uri="{FF2B5EF4-FFF2-40B4-BE49-F238E27FC236}">
                      <a16:creationId xmlns:a16="http://schemas.microsoft.com/office/drawing/2014/main" id="{880B66A0-E190-08E5-1482-96806182AF59}"/>
                    </a:ext>
                  </a:extLst>
                </p:cNvPr>
                <p:cNvSpPr txBox="1"/>
                <p:nvPr/>
              </p:nvSpPr>
              <p:spPr>
                <a:xfrm>
                  <a:off x="6543030" y="4658723"/>
                  <a:ext cx="782170" cy="465744"/>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2/</m:t>
                        </m:r>
                        <m:r>
                          <a:rPr lang="en-US" sz="1200" b="0" i="1" smtClean="0">
                            <a:latin typeface="Cambria Math" panose="02040503050406030204" pitchFamily="18" charset="0"/>
                          </a:rPr>
                          <m:t>2</m:t>
                        </m:r>
                      </m:oMath>
                    </m:oMathPara>
                  </a14:m>
                  <a:endParaRPr lang="en-US" sz="1200" dirty="0"/>
                </a:p>
              </p:txBody>
            </p:sp>
          </mc:Choice>
          <mc:Fallback>
            <p:sp>
              <p:nvSpPr>
                <p:cNvPr id="342" name="TextBox 341">
                  <a:extLst>
                    <a:ext uri="{FF2B5EF4-FFF2-40B4-BE49-F238E27FC236}">
                      <a16:creationId xmlns:a16="http://schemas.microsoft.com/office/drawing/2014/main" id="{880B66A0-E190-08E5-1482-96806182AF59}"/>
                    </a:ext>
                  </a:extLst>
                </p:cNvPr>
                <p:cNvSpPr txBox="1">
                  <a:spLocks noRot="1" noChangeAspect="1" noMove="1" noResize="1" noEditPoints="1" noAdjustHandles="1" noChangeArrowheads="1" noChangeShapeType="1" noTextEdit="1"/>
                </p:cNvSpPr>
                <p:nvPr/>
              </p:nvSpPr>
              <p:spPr>
                <a:xfrm>
                  <a:off x="6543030" y="4658723"/>
                  <a:ext cx="782170" cy="465744"/>
                </a:xfrm>
                <a:prstGeom prst="rect">
                  <a:avLst/>
                </a:prstGeom>
                <a:blipFill>
                  <a:blip r:embed="rId22"/>
                  <a:stretch>
                    <a:fillRect b="-444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43" name="TextBox 342">
                  <a:extLst>
                    <a:ext uri="{FF2B5EF4-FFF2-40B4-BE49-F238E27FC236}">
                      <a16:creationId xmlns:a16="http://schemas.microsoft.com/office/drawing/2014/main" id="{F778BBAD-B29A-5755-9E78-295180C118B2}"/>
                    </a:ext>
                  </a:extLst>
                </p:cNvPr>
                <p:cNvSpPr txBox="1"/>
                <p:nvPr/>
              </p:nvSpPr>
              <p:spPr>
                <a:xfrm>
                  <a:off x="11198818" y="3338951"/>
                  <a:ext cx="782170" cy="465744"/>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2/</m:t>
                        </m:r>
                        <m:r>
                          <a:rPr lang="en-US" sz="1200" b="0" i="1" smtClean="0">
                            <a:latin typeface="Cambria Math" panose="02040503050406030204" pitchFamily="18" charset="0"/>
                          </a:rPr>
                          <m:t>2</m:t>
                        </m:r>
                      </m:oMath>
                    </m:oMathPara>
                  </a14:m>
                  <a:endParaRPr lang="en-US" sz="1200" dirty="0"/>
                </a:p>
              </p:txBody>
            </p:sp>
          </mc:Choice>
          <mc:Fallback>
            <p:sp>
              <p:nvSpPr>
                <p:cNvPr id="343" name="TextBox 342">
                  <a:extLst>
                    <a:ext uri="{FF2B5EF4-FFF2-40B4-BE49-F238E27FC236}">
                      <a16:creationId xmlns:a16="http://schemas.microsoft.com/office/drawing/2014/main" id="{F778BBAD-B29A-5755-9E78-295180C118B2}"/>
                    </a:ext>
                  </a:extLst>
                </p:cNvPr>
                <p:cNvSpPr txBox="1">
                  <a:spLocks noRot="1" noChangeAspect="1" noMove="1" noResize="1" noEditPoints="1" noAdjustHandles="1" noChangeArrowheads="1" noChangeShapeType="1" noTextEdit="1"/>
                </p:cNvSpPr>
                <p:nvPr/>
              </p:nvSpPr>
              <p:spPr>
                <a:xfrm>
                  <a:off x="11198818" y="3338951"/>
                  <a:ext cx="782170" cy="465744"/>
                </a:xfrm>
                <a:prstGeom prst="rect">
                  <a:avLst/>
                </a:prstGeom>
                <a:blipFill>
                  <a:blip r:embed="rId23"/>
                  <a:stretch>
                    <a:fillRect b="-444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44" name="TextBox 343">
                  <a:extLst>
                    <a:ext uri="{FF2B5EF4-FFF2-40B4-BE49-F238E27FC236}">
                      <a16:creationId xmlns:a16="http://schemas.microsoft.com/office/drawing/2014/main" id="{849F229B-3F41-83F5-3116-AE01F0322F7D}"/>
                    </a:ext>
                  </a:extLst>
                </p:cNvPr>
                <p:cNvSpPr txBox="1"/>
                <p:nvPr/>
              </p:nvSpPr>
              <p:spPr>
                <a:xfrm>
                  <a:off x="10773049" y="3881271"/>
                  <a:ext cx="782170" cy="465744"/>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2/2</m:t>
                        </m:r>
                      </m:oMath>
                    </m:oMathPara>
                  </a14:m>
                  <a:endParaRPr lang="en-US" sz="1200" dirty="0"/>
                </a:p>
              </p:txBody>
            </p:sp>
          </mc:Choice>
          <mc:Fallback>
            <p:sp>
              <p:nvSpPr>
                <p:cNvPr id="344" name="TextBox 343">
                  <a:extLst>
                    <a:ext uri="{FF2B5EF4-FFF2-40B4-BE49-F238E27FC236}">
                      <a16:creationId xmlns:a16="http://schemas.microsoft.com/office/drawing/2014/main" id="{849F229B-3F41-83F5-3116-AE01F0322F7D}"/>
                    </a:ext>
                  </a:extLst>
                </p:cNvPr>
                <p:cNvSpPr txBox="1">
                  <a:spLocks noRot="1" noChangeAspect="1" noMove="1" noResize="1" noEditPoints="1" noAdjustHandles="1" noChangeArrowheads="1" noChangeShapeType="1" noTextEdit="1"/>
                </p:cNvSpPr>
                <p:nvPr/>
              </p:nvSpPr>
              <p:spPr>
                <a:xfrm>
                  <a:off x="10773049" y="3881271"/>
                  <a:ext cx="782170" cy="465744"/>
                </a:xfrm>
                <a:prstGeom prst="rect">
                  <a:avLst/>
                </a:prstGeom>
                <a:blipFill>
                  <a:blip r:embed="rId22"/>
                  <a:stretch>
                    <a:fillRect b="-444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45" name="TextBox 344">
                  <a:extLst>
                    <a:ext uri="{FF2B5EF4-FFF2-40B4-BE49-F238E27FC236}">
                      <a16:creationId xmlns:a16="http://schemas.microsoft.com/office/drawing/2014/main" id="{05C4C6FB-C15B-DC19-BC89-C3A5FDD9787B}"/>
                    </a:ext>
                  </a:extLst>
                </p:cNvPr>
                <p:cNvSpPr txBox="1"/>
                <p:nvPr/>
              </p:nvSpPr>
              <p:spPr>
                <a:xfrm>
                  <a:off x="10680682" y="4617519"/>
                  <a:ext cx="782170" cy="465744"/>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1/</m:t>
                        </m:r>
                        <m:r>
                          <a:rPr lang="en-US" sz="1200" b="0" i="1" smtClean="0">
                            <a:latin typeface="Cambria Math" panose="02040503050406030204" pitchFamily="18" charset="0"/>
                          </a:rPr>
                          <m:t>1</m:t>
                        </m:r>
                      </m:oMath>
                    </m:oMathPara>
                  </a14:m>
                  <a:endParaRPr lang="en-US" sz="1200" dirty="0"/>
                </a:p>
              </p:txBody>
            </p:sp>
          </mc:Choice>
          <mc:Fallback>
            <p:sp>
              <p:nvSpPr>
                <p:cNvPr id="345" name="TextBox 344">
                  <a:extLst>
                    <a:ext uri="{FF2B5EF4-FFF2-40B4-BE49-F238E27FC236}">
                      <a16:creationId xmlns:a16="http://schemas.microsoft.com/office/drawing/2014/main" id="{05C4C6FB-C15B-DC19-BC89-C3A5FDD9787B}"/>
                    </a:ext>
                  </a:extLst>
                </p:cNvPr>
                <p:cNvSpPr txBox="1">
                  <a:spLocks noRot="1" noChangeAspect="1" noMove="1" noResize="1" noEditPoints="1" noAdjustHandles="1" noChangeArrowheads="1" noChangeShapeType="1" noTextEdit="1"/>
                </p:cNvSpPr>
                <p:nvPr/>
              </p:nvSpPr>
              <p:spPr>
                <a:xfrm>
                  <a:off x="10680682" y="4617519"/>
                  <a:ext cx="782170" cy="465744"/>
                </a:xfrm>
                <a:prstGeom prst="rect">
                  <a:avLst/>
                </a:prstGeom>
                <a:blipFill>
                  <a:blip r:embed="rId24"/>
                  <a:stretch>
                    <a:fillRect b="-444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46" name="TextBox 345">
                  <a:extLst>
                    <a:ext uri="{FF2B5EF4-FFF2-40B4-BE49-F238E27FC236}">
                      <a16:creationId xmlns:a16="http://schemas.microsoft.com/office/drawing/2014/main" id="{237D2B8D-5BE1-5C23-E0B9-3D04DBD8D82B}"/>
                    </a:ext>
                  </a:extLst>
                </p:cNvPr>
                <p:cNvSpPr txBox="1"/>
                <p:nvPr/>
              </p:nvSpPr>
              <p:spPr>
                <a:xfrm>
                  <a:off x="11120971" y="5233626"/>
                  <a:ext cx="685140" cy="465744"/>
                </a:xfrm>
                <a:prstGeom prst="rect">
                  <a:avLst/>
                </a:prstGeom>
                <a:solidFill>
                  <a:schemeClr val="bg1"/>
                </a:solidFill>
              </p:spPr>
              <p:txBody>
                <a:bodyPr wrap="none" rtlCol="0">
                  <a:spAutoFit/>
                </a:bodyPr>
                <a:lstStyle/>
                <a:p>
                  <a:pPr/>
                  <a:r>
                    <a:rPr lang="en-US" sz="1200" b="0" dirty="0"/>
                    <a:t>1/</a:t>
                  </a:r>
                  <a14:m>
                    <m:oMath xmlns:m="http://schemas.openxmlformats.org/officeDocument/2006/math">
                      <m:r>
                        <a:rPr lang="en-US" sz="1200" b="0" i="1" smtClean="0">
                          <a:latin typeface="Cambria Math" panose="02040503050406030204" pitchFamily="18" charset="0"/>
                        </a:rPr>
                        <m:t>1</m:t>
                      </m:r>
                    </m:oMath>
                  </a14:m>
                  <a:endParaRPr lang="en-US" sz="1200" dirty="0"/>
                </a:p>
              </p:txBody>
            </p:sp>
          </mc:Choice>
          <mc:Fallback>
            <p:sp>
              <p:nvSpPr>
                <p:cNvPr id="346" name="TextBox 345">
                  <a:extLst>
                    <a:ext uri="{FF2B5EF4-FFF2-40B4-BE49-F238E27FC236}">
                      <a16:creationId xmlns:a16="http://schemas.microsoft.com/office/drawing/2014/main" id="{237D2B8D-5BE1-5C23-E0B9-3D04DBD8D82B}"/>
                    </a:ext>
                  </a:extLst>
                </p:cNvPr>
                <p:cNvSpPr txBox="1">
                  <a:spLocks noRot="1" noChangeAspect="1" noMove="1" noResize="1" noEditPoints="1" noAdjustHandles="1" noChangeArrowheads="1" noChangeShapeType="1" noTextEdit="1"/>
                </p:cNvSpPr>
                <p:nvPr/>
              </p:nvSpPr>
              <p:spPr>
                <a:xfrm>
                  <a:off x="11120971" y="5233626"/>
                  <a:ext cx="685140" cy="465744"/>
                </a:xfrm>
                <a:prstGeom prst="rect">
                  <a:avLst/>
                </a:prstGeom>
                <a:blipFill>
                  <a:blip r:embed="rId25"/>
                  <a:stretch>
                    <a:fillRect l="-1493" t="-2222" b="-17778"/>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47" name="Oval 50">
                  <a:extLst>
                    <a:ext uri="{FF2B5EF4-FFF2-40B4-BE49-F238E27FC236}">
                      <a16:creationId xmlns:a16="http://schemas.microsoft.com/office/drawing/2014/main" id="{6AEBDC3D-2EE8-5725-0DE4-25A36A0BF24B}"/>
                    </a:ext>
                  </a:extLst>
                </p:cNvPr>
                <p:cNvSpPr>
                  <a:spLocks noChangeAspect="1" noChangeArrowheads="1"/>
                </p:cNvSpPr>
                <p:nvPr/>
              </p:nvSpPr>
              <p:spPr bwMode="auto">
                <a:xfrm>
                  <a:off x="7299330" y="2537588"/>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sSub>
                          <m:sSubPr>
                            <m:ctrlPr>
                              <a:rPr lang="en-US" altLang="en-US" sz="1400" b="1" i="1" smtClean="0">
                                <a:solidFill>
                                  <a:srgbClr val="C00000"/>
                                </a:solidFill>
                                <a:latin typeface="Cambria Math" panose="02040503050406030204" pitchFamily="18" charset="0"/>
                              </a:rPr>
                            </m:ctrlPr>
                          </m:sSubPr>
                          <m:e>
                            <m:r>
                              <a:rPr lang="en-US" altLang="en-US" sz="1400" b="1" i="1" smtClean="0">
                                <a:solidFill>
                                  <a:srgbClr val="C00000"/>
                                </a:solidFill>
                                <a:latin typeface="Cambria Math" panose="02040503050406030204" pitchFamily="18" charset="0"/>
                              </a:rPr>
                              <m:t>𝒆</m:t>
                            </m:r>
                          </m:e>
                          <m:sub>
                            <m:r>
                              <a:rPr lang="en-US" altLang="en-US" sz="1400" b="1" i="1" smtClean="0">
                                <a:solidFill>
                                  <a:srgbClr val="C00000"/>
                                </a:solidFill>
                                <a:latin typeface="Cambria Math" panose="02040503050406030204" pitchFamily="18" charset="0"/>
                              </a:rPr>
                              <m:t>𝟏</m:t>
                            </m:r>
                          </m:sub>
                        </m:sSub>
                      </m:oMath>
                    </m:oMathPara>
                  </a14:m>
                  <a:endParaRPr lang="en-US" altLang="en-US" sz="1400" b="1" dirty="0">
                    <a:solidFill>
                      <a:srgbClr val="C00000"/>
                    </a:solidFill>
                  </a:endParaRPr>
                </a:p>
              </p:txBody>
            </p:sp>
          </mc:Choice>
          <mc:Fallback>
            <p:sp>
              <p:nvSpPr>
                <p:cNvPr id="347" name="Oval 50">
                  <a:extLst>
                    <a:ext uri="{FF2B5EF4-FFF2-40B4-BE49-F238E27FC236}">
                      <a16:creationId xmlns:a16="http://schemas.microsoft.com/office/drawing/2014/main" id="{6AEBDC3D-2EE8-5725-0DE4-25A36A0BF24B}"/>
                    </a:ext>
                  </a:extLst>
                </p:cNvPr>
                <p:cNvSpPr>
                  <a:spLocks noRot="1" noChangeAspect="1" noMove="1" noResize="1" noEditPoints="1" noAdjustHandles="1" noChangeArrowheads="1" noChangeShapeType="1" noTextEdit="1"/>
                </p:cNvSpPr>
                <p:nvPr/>
              </p:nvSpPr>
              <p:spPr bwMode="auto">
                <a:xfrm>
                  <a:off x="7299330" y="2537588"/>
                  <a:ext cx="435031" cy="437783"/>
                </a:xfrm>
                <a:prstGeom prst="ellipse">
                  <a:avLst/>
                </a:prstGeom>
                <a:blipFill>
                  <a:blip r:embed="rId26"/>
                  <a:stretch>
                    <a:fillRect l="-9091" b="-2273"/>
                  </a:stretch>
                </a:blipFill>
                <a:ln w="9525">
                  <a:solidFill>
                    <a:schemeClr val="tx1"/>
                  </a:solidFill>
                  <a:round/>
                  <a:headEnd/>
                  <a:tailEnd/>
                </a:ln>
                <a:effec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48" name="Oval 50">
                  <a:extLst>
                    <a:ext uri="{FF2B5EF4-FFF2-40B4-BE49-F238E27FC236}">
                      <a16:creationId xmlns:a16="http://schemas.microsoft.com/office/drawing/2014/main" id="{563CF05E-3316-3415-07BE-C68BC8AC8B0A}"/>
                    </a:ext>
                  </a:extLst>
                </p:cNvPr>
                <p:cNvSpPr>
                  <a:spLocks noChangeAspect="1" noChangeArrowheads="1"/>
                </p:cNvSpPr>
                <p:nvPr/>
              </p:nvSpPr>
              <p:spPr bwMode="auto">
                <a:xfrm>
                  <a:off x="7402699" y="3786299"/>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sSub>
                          <m:sSubPr>
                            <m:ctrlPr>
                              <a:rPr lang="en-US" altLang="en-US" sz="1400" b="1" i="1" smtClean="0">
                                <a:solidFill>
                                  <a:srgbClr val="C00000"/>
                                </a:solidFill>
                                <a:latin typeface="Cambria Math" panose="02040503050406030204" pitchFamily="18" charset="0"/>
                              </a:rPr>
                            </m:ctrlPr>
                          </m:sSubPr>
                          <m:e>
                            <m:r>
                              <a:rPr lang="en-US" altLang="en-US" sz="1400" b="1" i="1" smtClean="0">
                                <a:solidFill>
                                  <a:srgbClr val="C00000"/>
                                </a:solidFill>
                                <a:latin typeface="Cambria Math" panose="02040503050406030204" pitchFamily="18" charset="0"/>
                              </a:rPr>
                              <m:t>𝒆</m:t>
                            </m:r>
                          </m:e>
                          <m:sub>
                            <m:r>
                              <a:rPr lang="en-US" altLang="en-US" sz="1400" b="1" i="1" smtClean="0">
                                <a:solidFill>
                                  <a:srgbClr val="C00000"/>
                                </a:solidFill>
                                <a:latin typeface="Cambria Math" panose="02040503050406030204" pitchFamily="18" charset="0"/>
                              </a:rPr>
                              <m:t>𝟐</m:t>
                            </m:r>
                          </m:sub>
                        </m:sSub>
                      </m:oMath>
                    </m:oMathPara>
                  </a14:m>
                  <a:endParaRPr lang="en-US" altLang="en-US" sz="1400" b="1" dirty="0">
                    <a:solidFill>
                      <a:srgbClr val="C00000"/>
                    </a:solidFill>
                  </a:endParaRPr>
                </a:p>
              </p:txBody>
            </p:sp>
          </mc:Choice>
          <mc:Fallback>
            <p:sp>
              <p:nvSpPr>
                <p:cNvPr id="348" name="Oval 50">
                  <a:extLst>
                    <a:ext uri="{FF2B5EF4-FFF2-40B4-BE49-F238E27FC236}">
                      <a16:creationId xmlns:a16="http://schemas.microsoft.com/office/drawing/2014/main" id="{563CF05E-3316-3415-07BE-C68BC8AC8B0A}"/>
                    </a:ext>
                  </a:extLst>
                </p:cNvPr>
                <p:cNvSpPr>
                  <a:spLocks noRot="1" noChangeAspect="1" noMove="1" noResize="1" noEditPoints="1" noAdjustHandles="1" noChangeArrowheads="1" noChangeShapeType="1" noTextEdit="1"/>
                </p:cNvSpPr>
                <p:nvPr/>
              </p:nvSpPr>
              <p:spPr bwMode="auto">
                <a:xfrm>
                  <a:off x="7402699" y="3786299"/>
                  <a:ext cx="435031" cy="437783"/>
                </a:xfrm>
                <a:prstGeom prst="ellipse">
                  <a:avLst/>
                </a:prstGeom>
                <a:blipFill>
                  <a:blip r:embed="rId27"/>
                  <a:stretch>
                    <a:fillRect l="-9091" b="-2273"/>
                  </a:stretch>
                </a:blipFill>
                <a:ln w="9525">
                  <a:solidFill>
                    <a:schemeClr val="tx1"/>
                  </a:solidFill>
                  <a:round/>
                  <a:headEnd/>
                  <a:tailEnd/>
                </a:ln>
                <a:effec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49" name="Oval 50">
                  <a:extLst>
                    <a:ext uri="{FF2B5EF4-FFF2-40B4-BE49-F238E27FC236}">
                      <a16:creationId xmlns:a16="http://schemas.microsoft.com/office/drawing/2014/main" id="{86D5E45E-762D-F34F-1ADA-B1339EDFD90F}"/>
                    </a:ext>
                  </a:extLst>
                </p:cNvPr>
                <p:cNvSpPr>
                  <a:spLocks noChangeAspect="1" noChangeArrowheads="1"/>
                </p:cNvSpPr>
                <p:nvPr/>
              </p:nvSpPr>
              <p:spPr bwMode="auto">
                <a:xfrm>
                  <a:off x="7185183" y="4976556"/>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sSub>
                          <m:sSubPr>
                            <m:ctrlPr>
                              <a:rPr lang="en-US" altLang="en-US" sz="1400" b="1" i="1" smtClean="0">
                                <a:solidFill>
                                  <a:srgbClr val="C00000"/>
                                </a:solidFill>
                                <a:latin typeface="Cambria Math" panose="02040503050406030204" pitchFamily="18" charset="0"/>
                              </a:rPr>
                            </m:ctrlPr>
                          </m:sSubPr>
                          <m:e>
                            <m:r>
                              <a:rPr lang="en-US" altLang="en-US" sz="1400" b="1" i="1" smtClean="0">
                                <a:solidFill>
                                  <a:srgbClr val="C00000"/>
                                </a:solidFill>
                                <a:latin typeface="Cambria Math" panose="02040503050406030204" pitchFamily="18" charset="0"/>
                              </a:rPr>
                              <m:t>𝒆</m:t>
                            </m:r>
                          </m:e>
                          <m:sub>
                            <m:r>
                              <a:rPr lang="en-US" altLang="en-US" sz="1400" b="1" i="1" smtClean="0">
                                <a:solidFill>
                                  <a:srgbClr val="C00000"/>
                                </a:solidFill>
                                <a:latin typeface="Cambria Math" panose="02040503050406030204" pitchFamily="18" charset="0"/>
                              </a:rPr>
                              <m:t>𝟑</m:t>
                            </m:r>
                          </m:sub>
                        </m:sSub>
                      </m:oMath>
                    </m:oMathPara>
                  </a14:m>
                  <a:endParaRPr lang="en-US" altLang="en-US" sz="1400" b="1" dirty="0">
                    <a:solidFill>
                      <a:srgbClr val="C00000"/>
                    </a:solidFill>
                  </a:endParaRPr>
                </a:p>
              </p:txBody>
            </p:sp>
          </mc:Choice>
          <mc:Fallback>
            <p:sp>
              <p:nvSpPr>
                <p:cNvPr id="349" name="Oval 50">
                  <a:extLst>
                    <a:ext uri="{FF2B5EF4-FFF2-40B4-BE49-F238E27FC236}">
                      <a16:creationId xmlns:a16="http://schemas.microsoft.com/office/drawing/2014/main" id="{86D5E45E-762D-F34F-1ADA-B1339EDFD90F}"/>
                    </a:ext>
                  </a:extLst>
                </p:cNvPr>
                <p:cNvSpPr>
                  <a:spLocks noRot="1" noChangeAspect="1" noMove="1" noResize="1" noEditPoints="1" noAdjustHandles="1" noChangeArrowheads="1" noChangeShapeType="1" noTextEdit="1"/>
                </p:cNvSpPr>
                <p:nvPr/>
              </p:nvSpPr>
              <p:spPr bwMode="auto">
                <a:xfrm>
                  <a:off x="7185183" y="4976556"/>
                  <a:ext cx="435031" cy="437783"/>
                </a:xfrm>
                <a:prstGeom prst="ellipse">
                  <a:avLst/>
                </a:prstGeom>
                <a:blipFill>
                  <a:blip r:embed="rId28"/>
                  <a:stretch>
                    <a:fillRect l="-9091" b="-2273"/>
                  </a:stretch>
                </a:blipFill>
                <a:ln w="9525">
                  <a:solidFill>
                    <a:schemeClr val="tx1"/>
                  </a:solidFill>
                  <a:round/>
                  <a:headEnd/>
                  <a:tailEnd/>
                </a:ln>
                <a:effec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0" name="Oval 50">
                  <a:extLst>
                    <a:ext uri="{FF2B5EF4-FFF2-40B4-BE49-F238E27FC236}">
                      <a16:creationId xmlns:a16="http://schemas.microsoft.com/office/drawing/2014/main" id="{49B18D8E-7E68-8727-6ED0-BD46E508EEF8}"/>
                    </a:ext>
                  </a:extLst>
                </p:cNvPr>
                <p:cNvSpPr>
                  <a:spLocks noChangeAspect="1" noChangeArrowheads="1"/>
                </p:cNvSpPr>
                <p:nvPr/>
              </p:nvSpPr>
              <p:spPr bwMode="auto">
                <a:xfrm>
                  <a:off x="10617639" y="2624312"/>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r>
                          <a:rPr lang="en-US" altLang="en-US" sz="1400" b="1" i="1" smtClean="0">
                            <a:solidFill>
                              <a:srgbClr val="C00000"/>
                            </a:solidFill>
                            <a:latin typeface="Cambria Math" panose="02040503050406030204" pitchFamily="18" charset="0"/>
                          </a:rPr>
                          <m:t>𝟔</m:t>
                        </m:r>
                      </m:oMath>
                    </m:oMathPara>
                  </a14:m>
                  <a:endParaRPr lang="en-US" altLang="en-US" sz="1400" b="1" dirty="0">
                    <a:solidFill>
                      <a:srgbClr val="C00000"/>
                    </a:solidFill>
                  </a:endParaRPr>
                </a:p>
              </p:txBody>
            </p:sp>
          </mc:Choice>
          <mc:Fallback>
            <p:sp>
              <p:nvSpPr>
                <p:cNvPr id="350" name="Oval 50">
                  <a:extLst>
                    <a:ext uri="{FF2B5EF4-FFF2-40B4-BE49-F238E27FC236}">
                      <a16:creationId xmlns:a16="http://schemas.microsoft.com/office/drawing/2014/main" id="{49B18D8E-7E68-8727-6ED0-BD46E508EEF8}"/>
                    </a:ext>
                  </a:extLst>
                </p:cNvPr>
                <p:cNvSpPr>
                  <a:spLocks noRot="1" noChangeAspect="1" noMove="1" noResize="1" noEditPoints="1" noAdjustHandles="1" noChangeArrowheads="1" noChangeShapeType="1" noTextEdit="1"/>
                </p:cNvSpPr>
                <p:nvPr/>
              </p:nvSpPr>
              <p:spPr bwMode="auto">
                <a:xfrm>
                  <a:off x="10617639" y="2624312"/>
                  <a:ext cx="435031" cy="437783"/>
                </a:xfrm>
                <a:prstGeom prst="ellipse">
                  <a:avLst/>
                </a:prstGeom>
                <a:blipFill>
                  <a:blip r:embed="rId29"/>
                  <a:stretch>
                    <a:fillRect/>
                  </a:stretch>
                </a:blipFill>
                <a:ln w="9525">
                  <a:solidFill>
                    <a:schemeClr val="tx1"/>
                  </a:solidFill>
                  <a:round/>
                  <a:headEnd/>
                  <a:tailEnd/>
                </a:ln>
                <a:effec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1" name="Oval 50">
                  <a:extLst>
                    <a:ext uri="{FF2B5EF4-FFF2-40B4-BE49-F238E27FC236}">
                      <a16:creationId xmlns:a16="http://schemas.microsoft.com/office/drawing/2014/main" id="{C5417C18-1D1D-66EB-6C38-D6BB3FE554AA}"/>
                    </a:ext>
                  </a:extLst>
                </p:cNvPr>
                <p:cNvSpPr>
                  <a:spLocks noChangeAspect="1" noChangeArrowheads="1"/>
                </p:cNvSpPr>
                <p:nvPr/>
              </p:nvSpPr>
              <p:spPr bwMode="auto">
                <a:xfrm>
                  <a:off x="10400123" y="3866014"/>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r>
                          <a:rPr lang="en-US" altLang="en-US" sz="1400" b="1" i="1" smtClean="0">
                            <a:solidFill>
                              <a:srgbClr val="C00000"/>
                            </a:solidFill>
                            <a:latin typeface="Cambria Math" panose="02040503050406030204" pitchFamily="18" charset="0"/>
                          </a:rPr>
                          <m:t>𝟗</m:t>
                        </m:r>
                      </m:oMath>
                    </m:oMathPara>
                  </a14:m>
                  <a:endParaRPr lang="en-US" altLang="en-US" sz="1400" b="1" dirty="0">
                    <a:solidFill>
                      <a:srgbClr val="C00000"/>
                    </a:solidFill>
                  </a:endParaRPr>
                </a:p>
              </p:txBody>
            </p:sp>
          </mc:Choice>
          <mc:Fallback>
            <p:sp>
              <p:nvSpPr>
                <p:cNvPr id="351" name="Oval 50">
                  <a:extLst>
                    <a:ext uri="{FF2B5EF4-FFF2-40B4-BE49-F238E27FC236}">
                      <a16:creationId xmlns:a16="http://schemas.microsoft.com/office/drawing/2014/main" id="{C5417C18-1D1D-66EB-6C38-D6BB3FE554AA}"/>
                    </a:ext>
                  </a:extLst>
                </p:cNvPr>
                <p:cNvSpPr>
                  <a:spLocks noRot="1" noChangeAspect="1" noMove="1" noResize="1" noEditPoints="1" noAdjustHandles="1" noChangeArrowheads="1" noChangeShapeType="1" noTextEdit="1"/>
                </p:cNvSpPr>
                <p:nvPr/>
              </p:nvSpPr>
              <p:spPr bwMode="auto">
                <a:xfrm>
                  <a:off x="10400123" y="3866014"/>
                  <a:ext cx="435031" cy="437783"/>
                </a:xfrm>
                <a:prstGeom prst="ellipse">
                  <a:avLst/>
                </a:prstGeom>
                <a:blipFill>
                  <a:blip r:embed="rId30"/>
                  <a:stretch>
                    <a:fillRect/>
                  </a:stretch>
                </a:blipFill>
                <a:ln w="9525">
                  <a:solidFill>
                    <a:schemeClr val="tx1"/>
                  </a:solidFill>
                  <a:round/>
                  <a:headEnd/>
                  <a:tailEnd/>
                </a:ln>
                <a:effec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2" name="Oval 50">
                  <a:extLst>
                    <a:ext uri="{FF2B5EF4-FFF2-40B4-BE49-F238E27FC236}">
                      <a16:creationId xmlns:a16="http://schemas.microsoft.com/office/drawing/2014/main" id="{B95EB85C-0DA4-2A16-C76A-8F2F0E78F5EE}"/>
                    </a:ext>
                  </a:extLst>
                </p:cNvPr>
                <p:cNvSpPr>
                  <a:spLocks noChangeAspect="1" noChangeArrowheads="1"/>
                </p:cNvSpPr>
                <p:nvPr/>
              </p:nvSpPr>
              <p:spPr bwMode="auto">
                <a:xfrm>
                  <a:off x="10494035" y="4921315"/>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r>
                          <a:rPr lang="en-US" altLang="en-US" sz="1400" b="1" i="1" smtClean="0">
                            <a:solidFill>
                              <a:srgbClr val="C00000"/>
                            </a:solidFill>
                            <a:latin typeface="Cambria Math" panose="02040503050406030204" pitchFamily="18" charset="0"/>
                          </a:rPr>
                          <m:t>𝟏𝟐</m:t>
                        </m:r>
                      </m:oMath>
                    </m:oMathPara>
                  </a14:m>
                  <a:endParaRPr lang="en-US" altLang="en-US" sz="1400" b="1" dirty="0">
                    <a:solidFill>
                      <a:srgbClr val="C00000"/>
                    </a:solidFill>
                  </a:endParaRPr>
                </a:p>
              </p:txBody>
            </p:sp>
          </mc:Choice>
          <mc:Fallback>
            <p:sp>
              <p:nvSpPr>
                <p:cNvPr id="352" name="Oval 50">
                  <a:extLst>
                    <a:ext uri="{FF2B5EF4-FFF2-40B4-BE49-F238E27FC236}">
                      <a16:creationId xmlns:a16="http://schemas.microsoft.com/office/drawing/2014/main" id="{B95EB85C-0DA4-2A16-C76A-8F2F0E78F5EE}"/>
                    </a:ext>
                  </a:extLst>
                </p:cNvPr>
                <p:cNvSpPr>
                  <a:spLocks noRot="1" noChangeAspect="1" noMove="1" noResize="1" noEditPoints="1" noAdjustHandles="1" noChangeArrowheads="1" noChangeShapeType="1" noTextEdit="1"/>
                </p:cNvSpPr>
                <p:nvPr/>
              </p:nvSpPr>
              <p:spPr bwMode="auto">
                <a:xfrm>
                  <a:off x="10494035" y="4921315"/>
                  <a:ext cx="435031" cy="437783"/>
                </a:xfrm>
                <a:prstGeom prst="ellipse">
                  <a:avLst/>
                </a:prstGeom>
                <a:blipFill>
                  <a:blip r:embed="rId31"/>
                  <a:stretch>
                    <a:fillRect l="-20455" r="-2273"/>
                  </a:stretch>
                </a:blipFill>
                <a:ln w="9525">
                  <a:solidFill>
                    <a:schemeClr val="tx1"/>
                  </a:solidFill>
                  <a:round/>
                  <a:headEnd/>
                  <a:tailEnd/>
                </a:ln>
                <a:effec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3" name="Oval 50">
                  <a:extLst>
                    <a:ext uri="{FF2B5EF4-FFF2-40B4-BE49-F238E27FC236}">
                      <a16:creationId xmlns:a16="http://schemas.microsoft.com/office/drawing/2014/main" id="{302176E9-9040-C031-6033-B86DD15DC9D3}"/>
                    </a:ext>
                  </a:extLst>
                </p:cNvPr>
                <p:cNvSpPr>
                  <a:spLocks noChangeAspect="1" noChangeArrowheads="1"/>
                </p:cNvSpPr>
                <p:nvPr/>
              </p:nvSpPr>
              <p:spPr bwMode="auto">
                <a:xfrm>
                  <a:off x="10457764" y="5602945"/>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r>
                          <a:rPr lang="en-US" altLang="en-US" sz="1400" b="1" i="1" smtClean="0">
                            <a:solidFill>
                              <a:srgbClr val="C00000"/>
                            </a:solidFill>
                            <a:latin typeface="Cambria Math" panose="02040503050406030204" pitchFamily="18" charset="0"/>
                          </a:rPr>
                          <m:t>𝟑</m:t>
                        </m:r>
                      </m:oMath>
                    </m:oMathPara>
                  </a14:m>
                  <a:endParaRPr lang="en-US" altLang="en-US" sz="1400" b="1" dirty="0">
                    <a:solidFill>
                      <a:srgbClr val="C00000"/>
                    </a:solidFill>
                  </a:endParaRPr>
                </a:p>
              </p:txBody>
            </p:sp>
          </mc:Choice>
          <mc:Fallback>
            <p:sp>
              <p:nvSpPr>
                <p:cNvPr id="353" name="Oval 50">
                  <a:extLst>
                    <a:ext uri="{FF2B5EF4-FFF2-40B4-BE49-F238E27FC236}">
                      <a16:creationId xmlns:a16="http://schemas.microsoft.com/office/drawing/2014/main" id="{302176E9-9040-C031-6033-B86DD15DC9D3}"/>
                    </a:ext>
                  </a:extLst>
                </p:cNvPr>
                <p:cNvSpPr>
                  <a:spLocks noRot="1" noChangeAspect="1" noMove="1" noResize="1" noEditPoints="1" noAdjustHandles="1" noChangeArrowheads="1" noChangeShapeType="1" noTextEdit="1"/>
                </p:cNvSpPr>
                <p:nvPr/>
              </p:nvSpPr>
              <p:spPr bwMode="auto">
                <a:xfrm>
                  <a:off x="10457764" y="5602945"/>
                  <a:ext cx="435031" cy="437783"/>
                </a:xfrm>
                <a:prstGeom prst="ellipse">
                  <a:avLst/>
                </a:prstGeom>
                <a:blipFill>
                  <a:blip r:embed="rId32"/>
                  <a:stretch>
                    <a:fillRect/>
                  </a:stretch>
                </a:blipFill>
                <a:ln w="9525">
                  <a:solidFill>
                    <a:schemeClr val="tx1"/>
                  </a:solidFill>
                  <a:round/>
                  <a:headEnd/>
                  <a:tailEnd/>
                </a:ln>
                <a:effectLst/>
              </p:spPr>
              <p:txBody>
                <a:bodyPr/>
                <a:lstStyle/>
                <a:p>
                  <a:r>
                    <a:rPr lang="en-US">
                      <a:noFill/>
                    </a:rPr>
                    <a:t> </a:t>
                  </a:r>
                </a:p>
              </p:txBody>
            </p:sp>
          </mc:Fallback>
        </mc:AlternateContent>
        <p:cxnSp>
          <p:nvCxnSpPr>
            <p:cNvPr id="354" name="Straight Connector 353">
              <a:extLst>
                <a:ext uri="{FF2B5EF4-FFF2-40B4-BE49-F238E27FC236}">
                  <a16:creationId xmlns:a16="http://schemas.microsoft.com/office/drawing/2014/main" id="{189600F3-42FA-C226-B32F-C9A4E6B663DB}"/>
                </a:ext>
              </a:extLst>
            </p:cNvPr>
            <p:cNvCxnSpPr>
              <a:cxnSpLocks/>
              <a:stCxn id="347" idx="6"/>
              <a:endCxn id="350" idx="2"/>
            </p:cNvCxnSpPr>
            <p:nvPr/>
          </p:nvCxnSpPr>
          <p:spPr>
            <a:xfrm>
              <a:off x="7734361" y="2756480"/>
              <a:ext cx="2883278" cy="86724"/>
            </a:xfrm>
            <a:prstGeom prst="line">
              <a:avLst/>
            </a:prstGeom>
            <a:ln w="3810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55" name="Straight Connector 354">
              <a:extLst>
                <a:ext uri="{FF2B5EF4-FFF2-40B4-BE49-F238E27FC236}">
                  <a16:creationId xmlns:a16="http://schemas.microsoft.com/office/drawing/2014/main" id="{197E8CB8-CA51-DA5E-D1BE-D03722F184F8}"/>
                </a:ext>
              </a:extLst>
            </p:cNvPr>
            <p:cNvCxnSpPr>
              <a:cxnSpLocks/>
              <a:stCxn id="347" idx="5"/>
              <a:endCxn id="351" idx="1"/>
            </p:cNvCxnSpPr>
            <p:nvPr/>
          </p:nvCxnSpPr>
          <p:spPr>
            <a:xfrm>
              <a:off x="7670652" y="2911259"/>
              <a:ext cx="2793180" cy="1018867"/>
            </a:xfrm>
            <a:prstGeom prst="line">
              <a:avLst/>
            </a:prstGeom>
            <a:ln w="3810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56" name="Straight Connector 355">
              <a:extLst>
                <a:ext uri="{FF2B5EF4-FFF2-40B4-BE49-F238E27FC236}">
                  <a16:creationId xmlns:a16="http://schemas.microsoft.com/office/drawing/2014/main" id="{0ED9862F-4DD0-206B-6BFE-CB907FBC542A}"/>
                </a:ext>
              </a:extLst>
            </p:cNvPr>
            <p:cNvCxnSpPr>
              <a:cxnSpLocks/>
              <a:stCxn id="347" idx="4"/>
              <a:endCxn id="353" idx="1"/>
            </p:cNvCxnSpPr>
            <p:nvPr/>
          </p:nvCxnSpPr>
          <p:spPr>
            <a:xfrm>
              <a:off x="7516846" y="2975371"/>
              <a:ext cx="3004627" cy="2691686"/>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57" name="Straight Connector 356">
              <a:extLst>
                <a:ext uri="{FF2B5EF4-FFF2-40B4-BE49-F238E27FC236}">
                  <a16:creationId xmlns:a16="http://schemas.microsoft.com/office/drawing/2014/main" id="{71DEB695-34C6-9CB3-9936-B05EF70EB805}"/>
                </a:ext>
              </a:extLst>
            </p:cNvPr>
            <p:cNvCxnSpPr>
              <a:cxnSpLocks/>
              <a:stCxn id="348" idx="7"/>
              <a:endCxn id="350" idx="3"/>
            </p:cNvCxnSpPr>
            <p:nvPr/>
          </p:nvCxnSpPr>
          <p:spPr>
            <a:xfrm flipV="1">
              <a:off x="7774021" y="2997983"/>
              <a:ext cx="2907327" cy="852428"/>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58" name="Straight Connector 357">
              <a:extLst>
                <a:ext uri="{FF2B5EF4-FFF2-40B4-BE49-F238E27FC236}">
                  <a16:creationId xmlns:a16="http://schemas.microsoft.com/office/drawing/2014/main" id="{68010EFF-FE24-51AB-5D84-5650B032E185}"/>
                </a:ext>
              </a:extLst>
            </p:cNvPr>
            <p:cNvCxnSpPr>
              <a:cxnSpLocks/>
              <a:stCxn id="349" idx="6"/>
              <a:endCxn id="353" idx="3"/>
            </p:cNvCxnSpPr>
            <p:nvPr/>
          </p:nvCxnSpPr>
          <p:spPr>
            <a:xfrm>
              <a:off x="7620214" y="5195448"/>
              <a:ext cx="2901259" cy="781168"/>
            </a:xfrm>
            <a:prstGeom prst="line">
              <a:avLst/>
            </a:prstGeom>
            <a:ln w="3810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59" name="Straight Connector 358">
              <a:extLst>
                <a:ext uri="{FF2B5EF4-FFF2-40B4-BE49-F238E27FC236}">
                  <a16:creationId xmlns:a16="http://schemas.microsoft.com/office/drawing/2014/main" id="{10B4405D-4B85-FA9D-2C54-2B789792D7D2}"/>
                </a:ext>
              </a:extLst>
            </p:cNvPr>
            <p:cNvCxnSpPr>
              <a:cxnSpLocks/>
              <a:stCxn id="349" idx="7"/>
              <a:endCxn id="350" idx="4"/>
            </p:cNvCxnSpPr>
            <p:nvPr/>
          </p:nvCxnSpPr>
          <p:spPr>
            <a:xfrm flipV="1">
              <a:off x="7556505" y="3062095"/>
              <a:ext cx="3278650" cy="1978573"/>
            </a:xfrm>
            <a:prstGeom prst="line">
              <a:avLst/>
            </a:prstGeom>
            <a:ln w="3810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360" name="TextBox 359">
                  <a:extLst>
                    <a:ext uri="{FF2B5EF4-FFF2-40B4-BE49-F238E27FC236}">
                      <a16:creationId xmlns:a16="http://schemas.microsoft.com/office/drawing/2014/main" id="{CDBCB4D0-C07F-2BE5-EBBA-F7113E0C1949}"/>
                    </a:ext>
                  </a:extLst>
                </p:cNvPr>
                <p:cNvSpPr txBox="1"/>
                <p:nvPr/>
              </p:nvSpPr>
              <p:spPr>
                <a:xfrm>
                  <a:off x="8799028" y="2624313"/>
                  <a:ext cx="782170" cy="465744"/>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1/</m:t>
                        </m:r>
                        <m:r>
                          <a:rPr lang="en-US" sz="1200" b="0" i="1" smtClean="0">
                            <a:latin typeface="Cambria Math" panose="02040503050406030204" pitchFamily="18" charset="0"/>
                          </a:rPr>
                          <m:t>1</m:t>
                        </m:r>
                      </m:oMath>
                    </m:oMathPara>
                  </a14:m>
                  <a:endParaRPr lang="en-US" sz="1200" dirty="0"/>
                </a:p>
              </p:txBody>
            </p:sp>
          </mc:Choice>
          <mc:Fallback>
            <p:sp>
              <p:nvSpPr>
                <p:cNvPr id="360" name="TextBox 359">
                  <a:extLst>
                    <a:ext uri="{FF2B5EF4-FFF2-40B4-BE49-F238E27FC236}">
                      <a16:creationId xmlns:a16="http://schemas.microsoft.com/office/drawing/2014/main" id="{CDBCB4D0-C07F-2BE5-EBBA-F7113E0C1949}"/>
                    </a:ext>
                  </a:extLst>
                </p:cNvPr>
                <p:cNvSpPr txBox="1">
                  <a:spLocks noRot="1" noChangeAspect="1" noMove="1" noResize="1" noEditPoints="1" noAdjustHandles="1" noChangeArrowheads="1" noChangeShapeType="1" noTextEdit="1"/>
                </p:cNvSpPr>
                <p:nvPr/>
              </p:nvSpPr>
              <p:spPr>
                <a:xfrm>
                  <a:off x="8799028" y="2624313"/>
                  <a:ext cx="782170" cy="465744"/>
                </a:xfrm>
                <a:prstGeom prst="rect">
                  <a:avLst/>
                </a:prstGeom>
                <a:blipFill>
                  <a:blip r:embed="rId33"/>
                  <a:stretch>
                    <a:fillRect b="-4348"/>
                  </a:stretch>
                </a:blipFill>
              </p:spPr>
              <p:txBody>
                <a:bodyPr/>
                <a:lstStyle/>
                <a:p>
                  <a:r>
                    <a:rPr lang="en-US">
                      <a:noFill/>
                    </a:rPr>
                    <a:t> </a:t>
                  </a:r>
                </a:p>
              </p:txBody>
            </p:sp>
          </mc:Fallback>
        </mc:AlternateContent>
        <p:cxnSp>
          <p:nvCxnSpPr>
            <p:cNvPr id="361" name="Straight Connector 360">
              <a:extLst>
                <a:ext uri="{FF2B5EF4-FFF2-40B4-BE49-F238E27FC236}">
                  <a16:creationId xmlns:a16="http://schemas.microsoft.com/office/drawing/2014/main" id="{6936C171-63DD-A4C5-40D6-5296F264A22B}"/>
                </a:ext>
              </a:extLst>
            </p:cNvPr>
            <p:cNvCxnSpPr>
              <a:cxnSpLocks/>
              <a:stCxn id="348" idx="6"/>
              <a:endCxn id="351" idx="2"/>
            </p:cNvCxnSpPr>
            <p:nvPr/>
          </p:nvCxnSpPr>
          <p:spPr>
            <a:xfrm>
              <a:off x="7837730" y="4005191"/>
              <a:ext cx="2562393" cy="79715"/>
            </a:xfrm>
            <a:prstGeom prst="line">
              <a:avLst/>
            </a:prstGeom>
            <a:ln w="3810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62" name="Straight Connector 361">
              <a:extLst>
                <a:ext uri="{FF2B5EF4-FFF2-40B4-BE49-F238E27FC236}">
                  <a16:creationId xmlns:a16="http://schemas.microsoft.com/office/drawing/2014/main" id="{40794E4A-45A8-12DF-4C59-8A376D2A2821}"/>
                </a:ext>
              </a:extLst>
            </p:cNvPr>
            <p:cNvCxnSpPr>
              <a:cxnSpLocks/>
              <a:stCxn id="348" idx="5"/>
              <a:endCxn id="352" idx="2"/>
            </p:cNvCxnSpPr>
            <p:nvPr/>
          </p:nvCxnSpPr>
          <p:spPr>
            <a:xfrm>
              <a:off x="7774021" y="4159970"/>
              <a:ext cx="2720014" cy="980237"/>
            </a:xfrm>
            <a:prstGeom prst="line">
              <a:avLst/>
            </a:prstGeom>
            <a:ln w="3810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363" name="TextBox 362">
                  <a:extLst>
                    <a:ext uri="{FF2B5EF4-FFF2-40B4-BE49-F238E27FC236}">
                      <a16:creationId xmlns:a16="http://schemas.microsoft.com/office/drawing/2014/main" id="{E6A6F4CB-53B1-3BEC-3487-674229C77DB7}"/>
                    </a:ext>
                  </a:extLst>
                </p:cNvPr>
                <p:cNvSpPr txBox="1"/>
                <p:nvPr/>
              </p:nvSpPr>
              <p:spPr>
                <a:xfrm>
                  <a:off x="8226758" y="3032210"/>
                  <a:ext cx="685140" cy="465744"/>
                </a:xfrm>
                <a:prstGeom prst="rect">
                  <a:avLst/>
                </a:prstGeom>
                <a:solidFill>
                  <a:schemeClr val="bg1"/>
                </a:solidFill>
              </p:spPr>
              <p:txBody>
                <a:bodyPr wrap="none" rtlCol="0">
                  <a:spAutoFit/>
                </a:bodyPr>
                <a:lstStyle/>
                <a:p>
                  <a:pPr/>
                  <a:r>
                    <a:rPr lang="en-US" sz="1200" b="0" dirty="0"/>
                    <a:t>1/</a:t>
                  </a:r>
                  <a14:m>
                    <m:oMath xmlns:m="http://schemas.openxmlformats.org/officeDocument/2006/math">
                      <m:r>
                        <a:rPr lang="en-US" sz="1200" b="0" i="1" smtClean="0">
                          <a:latin typeface="Cambria Math" panose="02040503050406030204" pitchFamily="18" charset="0"/>
                        </a:rPr>
                        <m:t>1</m:t>
                      </m:r>
                    </m:oMath>
                  </a14:m>
                  <a:endParaRPr lang="en-US" sz="1200" dirty="0"/>
                </a:p>
              </p:txBody>
            </p:sp>
          </mc:Choice>
          <mc:Fallback>
            <p:sp>
              <p:nvSpPr>
                <p:cNvPr id="363" name="TextBox 362">
                  <a:extLst>
                    <a:ext uri="{FF2B5EF4-FFF2-40B4-BE49-F238E27FC236}">
                      <a16:creationId xmlns:a16="http://schemas.microsoft.com/office/drawing/2014/main" id="{E6A6F4CB-53B1-3BEC-3487-674229C77DB7}"/>
                    </a:ext>
                  </a:extLst>
                </p:cNvPr>
                <p:cNvSpPr txBox="1">
                  <a:spLocks noRot="1" noChangeAspect="1" noMove="1" noResize="1" noEditPoints="1" noAdjustHandles="1" noChangeArrowheads="1" noChangeShapeType="1" noTextEdit="1"/>
                </p:cNvSpPr>
                <p:nvPr/>
              </p:nvSpPr>
              <p:spPr>
                <a:xfrm>
                  <a:off x="8226758" y="3032210"/>
                  <a:ext cx="685140" cy="465744"/>
                </a:xfrm>
                <a:prstGeom prst="rect">
                  <a:avLst/>
                </a:prstGeom>
                <a:blipFill>
                  <a:blip r:embed="rId34"/>
                  <a:stretch>
                    <a:fillRect t="-2222" b="-17778"/>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4" name="TextBox 363">
                  <a:extLst>
                    <a:ext uri="{FF2B5EF4-FFF2-40B4-BE49-F238E27FC236}">
                      <a16:creationId xmlns:a16="http://schemas.microsoft.com/office/drawing/2014/main" id="{41AC53F7-D77C-B176-9851-38D172E3E1B7}"/>
                    </a:ext>
                  </a:extLst>
                </p:cNvPr>
                <p:cNvSpPr txBox="1"/>
                <p:nvPr/>
              </p:nvSpPr>
              <p:spPr>
                <a:xfrm>
                  <a:off x="7826340" y="3154285"/>
                  <a:ext cx="304891" cy="276999"/>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1</m:t>
                        </m:r>
                      </m:oMath>
                    </m:oMathPara>
                  </a14:m>
                  <a:endParaRPr lang="en-US" sz="1200" dirty="0"/>
                </a:p>
              </p:txBody>
            </p:sp>
          </mc:Choice>
          <mc:Fallback>
            <p:sp>
              <p:nvSpPr>
                <p:cNvPr id="364" name="TextBox 363">
                  <a:extLst>
                    <a:ext uri="{FF2B5EF4-FFF2-40B4-BE49-F238E27FC236}">
                      <a16:creationId xmlns:a16="http://schemas.microsoft.com/office/drawing/2014/main" id="{41AC53F7-D77C-B176-9851-38D172E3E1B7}"/>
                    </a:ext>
                  </a:extLst>
                </p:cNvPr>
                <p:cNvSpPr txBox="1">
                  <a:spLocks noRot="1" noChangeAspect="1" noMove="1" noResize="1" noEditPoints="1" noAdjustHandles="1" noChangeArrowheads="1" noChangeShapeType="1" noTextEdit="1"/>
                </p:cNvSpPr>
                <p:nvPr/>
              </p:nvSpPr>
              <p:spPr>
                <a:xfrm>
                  <a:off x="7826340" y="3154285"/>
                  <a:ext cx="304891" cy="276999"/>
                </a:xfrm>
                <a:prstGeom prst="rect">
                  <a:avLst/>
                </a:prstGeom>
                <a:blipFill>
                  <a:blip r:embed="rId35"/>
                  <a:stretch>
                    <a:fillRect r="-26667" b="-4444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5" name="TextBox 364">
                  <a:extLst>
                    <a:ext uri="{FF2B5EF4-FFF2-40B4-BE49-F238E27FC236}">
                      <a16:creationId xmlns:a16="http://schemas.microsoft.com/office/drawing/2014/main" id="{64A91ACB-86AE-22A2-184D-FEE18A36F46E}"/>
                    </a:ext>
                  </a:extLst>
                </p:cNvPr>
                <p:cNvSpPr txBox="1"/>
                <p:nvPr/>
              </p:nvSpPr>
              <p:spPr>
                <a:xfrm>
                  <a:off x="9458344" y="3881271"/>
                  <a:ext cx="782170" cy="465744"/>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1/</m:t>
                        </m:r>
                        <m:r>
                          <a:rPr lang="en-US" sz="1200" b="0" i="1" smtClean="0">
                            <a:latin typeface="Cambria Math" panose="02040503050406030204" pitchFamily="18" charset="0"/>
                          </a:rPr>
                          <m:t>1</m:t>
                        </m:r>
                      </m:oMath>
                    </m:oMathPara>
                  </a14:m>
                  <a:endParaRPr lang="en-US" sz="1200" dirty="0"/>
                </a:p>
              </p:txBody>
            </p:sp>
          </mc:Choice>
          <mc:Fallback>
            <p:sp>
              <p:nvSpPr>
                <p:cNvPr id="365" name="TextBox 364">
                  <a:extLst>
                    <a:ext uri="{FF2B5EF4-FFF2-40B4-BE49-F238E27FC236}">
                      <a16:creationId xmlns:a16="http://schemas.microsoft.com/office/drawing/2014/main" id="{64A91ACB-86AE-22A2-184D-FEE18A36F46E}"/>
                    </a:ext>
                  </a:extLst>
                </p:cNvPr>
                <p:cNvSpPr txBox="1">
                  <a:spLocks noRot="1" noChangeAspect="1" noMove="1" noResize="1" noEditPoints="1" noAdjustHandles="1" noChangeArrowheads="1" noChangeShapeType="1" noTextEdit="1"/>
                </p:cNvSpPr>
                <p:nvPr/>
              </p:nvSpPr>
              <p:spPr>
                <a:xfrm>
                  <a:off x="9458344" y="3881271"/>
                  <a:ext cx="782170" cy="465744"/>
                </a:xfrm>
                <a:prstGeom prst="rect">
                  <a:avLst/>
                </a:prstGeom>
                <a:blipFill>
                  <a:blip r:embed="rId24"/>
                  <a:stretch>
                    <a:fillRect b="-444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6" name="TextBox 365">
                  <a:extLst>
                    <a:ext uri="{FF2B5EF4-FFF2-40B4-BE49-F238E27FC236}">
                      <a16:creationId xmlns:a16="http://schemas.microsoft.com/office/drawing/2014/main" id="{441376A7-EE8C-611F-B146-3B986D97583D}"/>
                    </a:ext>
                  </a:extLst>
                </p:cNvPr>
                <p:cNvSpPr txBox="1"/>
                <p:nvPr/>
              </p:nvSpPr>
              <p:spPr>
                <a:xfrm>
                  <a:off x="7937372" y="4136548"/>
                  <a:ext cx="782170" cy="465744"/>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1/</m:t>
                        </m:r>
                        <m:r>
                          <a:rPr lang="en-US" sz="1200" b="0" i="1" smtClean="0">
                            <a:latin typeface="Cambria Math" panose="02040503050406030204" pitchFamily="18" charset="0"/>
                          </a:rPr>
                          <m:t>1</m:t>
                        </m:r>
                      </m:oMath>
                    </m:oMathPara>
                  </a14:m>
                  <a:endParaRPr lang="en-US" sz="1200" dirty="0"/>
                </a:p>
              </p:txBody>
            </p:sp>
          </mc:Choice>
          <mc:Fallback>
            <p:sp>
              <p:nvSpPr>
                <p:cNvPr id="366" name="TextBox 365">
                  <a:extLst>
                    <a:ext uri="{FF2B5EF4-FFF2-40B4-BE49-F238E27FC236}">
                      <a16:creationId xmlns:a16="http://schemas.microsoft.com/office/drawing/2014/main" id="{441376A7-EE8C-611F-B146-3B986D97583D}"/>
                    </a:ext>
                  </a:extLst>
                </p:cNvPr>
                <p:cNvSpPr txBox="1">
                  <a:spLocks noRot="1" noChangeAspect="1" noMove="1" noResize="1" noEditPoints="1" noAdjustHandles="1" noChangeArrowheads="1" noChangeShapeType="1" noTextEdit="1"/>
                </p:cNvSpPr>
                <p:nvPr/>
              </p:nvSpPr>
              <p:spPr>
                <a:xfrm>
                  <a:off x="7937372" y="4136548"/>
                  <a:ext cx="782170" cy="465744"/>
                </a:xfrm>
                <a:prstGeom prst="rect">
                  <a:avLst/>
                </a:prstGeom>
                <a:blipFill>
                  <a:blip r:embed="rId24"/>
                  <a:stretch>
                    <a:fillRect b="-444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7" name="TextBox 366">
                  <a:extLst>
                    <a:ext uri="{FF2B5EF4-FFF2-40B4-BE49-F238E27FC236}">
                      <a16:creationId xmlns:a16="http://schemas.microsoft.com/office/drawing/2014/main" id="{4C0511C1-18CE-CBCD-CEDF-7CF6267673A7}"/>
                    </a:ext>
                  </a:extLst>
                </p:cNvPr>
                <p:cNvSpPr txBox="1"/>
                <p:nvPr/>
              </p:nvSpPr>
              <p:spPr>
                <a:xfrm>
                  <a:off x="7889584" y="4581687"/>
                  <a:ext cx="782170" cy="465744"/>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1/</m:t>
                        </m:r>
                        <m:r>
                          <a:rPr lang="en-US" sz="1200" b="0" i="1" smtClean="0">
                            <a:latin typeface="Cambria Math" panose="02040503050406030204" pitchFamily="18" charset="0"/>
                          </a:rPr>
                          <m:t>1</m:t>
                        </m:r>
                      </m:oMath>
                    </m:oMathPara>
                  </a14:m>
                  <a:endParaRPr lang="en-US" sz="1200" dirty="0"/>
                </a:p>
              </p:txBody>
            </p:sp>
          </mc:Choice>
          <mc:Fallback>
            <p:sp>
              <p:nvSpPr>
                <p:cNvPr id="367" name="TextBox 366">
                  <a:extLst>
                    <a:ext uri="{FF2B5EF4-FFF2-40B4-BE49-F238E27FC236}">
                      <a16:creationId xmlns:a16="http://schemas.microsoft.com/office/drawing/2014/main" id="{4C0511C1-18CE-CBCD-CEDF-7CF6267673A7}"/>
                    </a:ext>
                  </a:extLst>
                </p:cNvPr>
                <p:cNvSpPr txBox="1">
                  <a:spLocks noRot="1" noChangeAspect="1" noMove="1" noResize="1" noEditPoints="1" noAdjustHandles="1" noChangeArrowheads="1" noChangeShapeType="1" noTextEdit="1"/>
                </p:cNvSpPr>
                <p:nvPr/>
              </p:nvSpPr>
              <p:spPr>
                <a:xfrm>
                  <a:off x="7889584" y="4581687"/>
                  <a:ext cx="782170" cy="465744"/>
                </a:xfrm>
                <a:prstGeom prst="rect">
                  <a:avLst/>
                </a:prstGeom>
                <a:blipFill>
                  <a:blip r:embed="rId36"/>
                  <a:stretch>
                    <a:fillRect b="-4348"/>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8" name="TextBox 367">
                  <a:extLst>
                    <a:ext uri="{FF2B5EF4-FFF2-40B4-BE49-F238E27FC236}">
                      <a16:creationId xmlns:a16="http://schemas.microsoft.com/office/drawing/2014/main" id="{C4CFC569-4F50-7125-21EB-A07CD29661BE}"/>
                    </a:ext>
                  </a:extLst>
                </p:cNvPr>
                <p:cNvSpPr txBox="1"/>
                <p:nvPr/>
              </p:nvSpPr>
              <p:spPr>
                <a:xfrm>
                  <a:off x="8731953" y="5370051"/>
                  <a:ext cx="782170" cy="465744"/>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1/</m:t>
                        </m:r>
                        <m:r>
                          <a:rPr lang="en-US" sz="1200" b="0" i="1" smtClean="0">
                            <a:latin typeface="Cambria Math" panose="02040503050406030204" pitchFamily="18" charset="0"/>
                          </a:rPr>
                          <m:t>1</m:t>
                        </m:r>
                      </m:oMath>
                    </m:oMathPara>
                  </a14:m>
                  <a:endParaRPr lang="en-US" sz="1200" dirty="0"/>
                </a:p>
              </p:txBody>
            </p:sp>
          </mc:Choice>
          <mc:Fallback>
            <p:sp>
              <p:nvSpPr>
                <p:cNvPr id="368" name="TextBox 367">
                  <a:extLst>
                    <a:ext uri="{FF2B5EF4-FFF2-40B4-BE49-F238E27FC236}">
                      <a16:creationId xmlns:a16="http://schemas.microsoft.com/office/drawing/2014/main" id="{C4CFC569-4F50-7125-21EB-A07CD29661BE}"/>
                    </a:ext>
                  </a:extLst>
                </p:cNvPr>
                <p:cNvSpPr txBox="1">
                  <a:spLocks noRot="1" noChangeAspect="1" noMove="1" noResize="1" noEditPoints="1" noAdjustHandles="1" noChangeArrowheads="1" noChangeShapeType="1" noTextEdit="1"/>
                </p:cNvSpPr>
                <p:nvPr/>
              </p:nvSpPr>
              <p:spPr>
                <a:xfrm>
                  <a:off x="8731953" y="5370051"/>
                  <a:ext cx="782170" cy="465744"/>
                </a:xfrm>
                <a:prstGeom prst="rect">
                  <a:avLst/>
                </a:prstGeom>
                <a:blipFill>
                  <a:blip r:embed="rId37"/>
                  <a:stretch>
                    <a:fillRect b="-6667"/>
                  </a:stretch>
                </a:blipFill>
              </p:spPr>
              <p:txBody>
                <a:bodyPr/>
                <a:lstStyle/>
                <a:p>
                  <a:r>
                    <a:rPr lang="en-US">
                      <a:noFill/>
                    </a:rPr>
                    <a:t> </a:t>
                  </a:r>
                </a:p>
              </p:txBody>
            </p:sp>
          </mc:Fallback>
        </mc:AlternateContent>
      </p:grpSp>
      <p:sp>
        <p:nvSpPr>
          <p:cNvPr id="369" name="TextBox 368">
            <a:extLst>
              <a:ext uri="{FF2B5EF4-FFF2-40B4-BE49-F238E27FC236}">
                <a16:creationId xmlns:a16="http://schemas.microsoft.com/office/drawing/2014/main" id="{2D7DEC9A-2FAB-8FBD-BBF7-BBD648EEA23A}"/>
              </a:ext>
            </a:extLst>
          </p:cNvPr>
          <p:cNvSpPr txBox="1"/>
          <p:nvPr/>
        </p:nvSpPr>
        <p:spPr>
          <a:xfrm>
            <a:off x="392189" y="5199378"/>
            <a:ext cx="3796360" cy="1200329"/>
          </a:xfrm>
          <a:prstGeom prst="rect">
            <a:avLst/>
          </a:prstGeom>
          <a:noFill/>
          <a:ln>
            <a:solidFill>
              <a:schemeClr val="tx1"/>
            </a:solidFill>
          </a:ln>
        </p:spPr>
        <p:txBody>
          <a:bodyPr wrap="none" rtlCol="0">
            <a:spAutoFit/>
          </a:bodyPr>
          <a:lstStyle/>
          <a:p>
            <a:r>
              <a:rPr lang="en-US" dirty="0"/>
              <a:t>Solution:</a:t>
            </a:r>
          </a:p>
          <a:p>
            <a:pPr marL="285750" indent="-285750">
              <a:buFont typeface="Arial" panose="020B0604020202020204" pitchFamily="34" charset="0"/>
              <a:buChar char="•"/>
            </a:pPr>
            <a:r>
              <a:rPr lang="en-US" dirty="0"/>
              <a:t>Employee 1 assigned to 6am, 9am</a:t>
            </a:r>
          </a:p>
          <a:p>
            <a:pPr marL="285750" indent="-285750">
              <a:buFont typeface="Arial" panose="020B0604020202020204" pitchFamily="34" charset="0"/>
              <a:buChar char="•"/>
            </a:pPr>
            <a:r>
              <a:rPr lang="en-US" dirty="0"/>
              <a:t>Employee 2 assigned to 9am, 12pm</a:t>
            </a:r>
          </a:p>
          <a:p>
            <a:pPr marL="285750" indent="-285750">
              <a:buFont typeface="Arial" panose="020B0604020202020204" pitchFamily="34" charset="0"/>
              <a:buChar char="•"/>
            </a:pPr>
            <a:r>
              <a:rPr lang="en-US" dirty="0"/>
              <a:t>Employee 3 assigned to 6am, 3pm</a:t>
            </a:r>
          </a:p>
        </p:txBody>
      </p:sp>
    </p:spTree>
    <p:extLst>
      <p:ext uri="{BB962C8B-B14F-4D97-AF65-F5344CB8AC3E}">
        <p14:creationId xmlns:p14="http://schemas.microsoft.com/office/powerpoint/2010/main" val="287614569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28FDDB-DA58-EDD9-342D-E1F5972A5A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08A77E-60FB-B1D1-CD84-C17779695049}"/>
              </a:ext>
            </a:extLst>
          </p:cNvPr>
          <p:cNvSpPr>
            <a:spLocks noGrp="1"/>
          </p:cNvSpPr>
          <p:nvPr>
            <p:ph type="title"/>
          </p:nvPr>
        </p:nvSpPr>
        <p:spPr/>
        <p:txBody>
          <a:bodyPr/>
          <a:lstStyle/>
          <a:p>
            <a:r>
              <a:rPr lang="en-US" dirty="0"/>
              <a:t>Running Time</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CB947515-A80F-F43A-36C2-0FD43446BD5D}"/>
                  </a:ext>
                </a:extLst>
              </p:cNvPr>
              <p:cNvSpPr>
                <a:spLocks noGrp="1"/>
              </p:cNvSpPr>
              <p:nvPr>
                <p:ph idx="1"/>
              </p:nvPr>
            </p:nvSpPr>
            <p:spPr>
              <a:xfrm>
                <a:off x="113275" y="1829522"/>
                <a:ext cx="5874393" cy="4954050"/>
              </a:xfrm>
            </p:spPr>
            <p:txBody>
              <a:bodyPr>
                <a:normAutofit/>
              </a:bodyPr>
              <a:lstStyle/>
              <a:p>
                <a:r>
                  <a:rPr lang="en-US" dirty="0"/>
                  <a:t>Constructing the graph</a:t>
                </a:r>
              </a:p>
              <a:p>
                <a:pPr lvl="1"/>
                <a:r>
                  <a:rPr lang="en-US" dirty="0"/>
                  <a:t>Nodes: </a:t>
                </a:r>
                <a14:m>
                  <m:oMath xmlns:m="http://schemas.openxmlformats.org/officeDocument/2006/math">
                    <m:r>
                      <a:rPr lang="en-US" b="0" i="1" smtClean="0">
                        <a:latin typeface="Cambria Math" panose="02040503050406030204" pitchFamily="18" charset="0"/>
                      </a:rPr>
                      <m:t>𝑛</m:t>
                    </m:r>
                    <m:r>
                      <a:rPr lang="en-US" b="0" i="1" smtClean="0">
                        <a:latin typeface="Cambria Math" panose="02040503050406030204" pitchFamily="18" charset="0"/>
                      </a:rPr>
                      <m:t>+</m:t>
                    </m:r>
                    <m:r>
                      <a:rPr lang="en-US" b="0" i="1" smtClean="0">
                        <a:latin typeface="Cambria Math" panose="02040503050406030204" pitchFamily="18" charset="0"/>
                      </a:rPr>
                      <m:t>𝑚</m:t>
                    </m:r>
                    <m:r>
                      <a:rPr lang="en-US" b="0" i="1" smtClean="0">
                        <a:latin typeface="Cambria Math" panose="02040503050406030204" pitchFamily="18" charset="0"/>
                      </a:rPr>
                      <m:t>+2</m:t>
                    </m:r>
                  </m:oMath>
                </a14:m>
                <a:endParaRPr lang="en-US" dirty="0"/>
              </a:p>
              <a:p>
                <a:pPr lvl="1"/>
                <a:r>
                  <a:rPr lang="en-US" dirty="0"/>
                  <a:t>Edges: not more than </a:t>
                </a:r>
                <a14:m>
                  <m:oMath xmlns:m="http://schemas.openxmlformats.org/officeDocument/2006/math">
                    <m:r>
                      <a:rPr lang="en-US" b="0" i="1" smtClean="0">
                        <a:latin typeface="Cambria Math" panose="02040503050406030204" pitchFamily="18" charset="0"/>
                      </a:rPr>
                      <m:t>𝑛</m:t>
                    </m:r>
                    <m:r>
                      <a:rPr lang="en-US" b="0" i="1" smtClean="0">
                        <a:latin typeface="Cambria Math" panose="02040503050406030204" pitchFamily="18" charset="0"/>
                      </a:rPr>
                      <m:t>⋅</m:t>
                    </m:r>
                    <m:r>
                      <a:rPr lang="en-US" b="0" i="1" smtClean="0">
                        <a:latin typeface="Cambria Math" panose="02040503050406030204" pitchFamily="18" charset="0"/>
                      </a:rPr>
                      <m:t>𝑚</m:t>
                    </m:r>
                  </m:oMath>
                </a14:m>
                <a:endParaRPr lang="en-US" dirty="0"/>
              </a:p>
              <a:p>
                <a:pPr lvl="1"/>
                <a:r>
                  <a:rPr lang="en-US" dirty="0"/>
                  <a:t>Largest capacity: </a:t>
                </a:r>
                <a14:m>
                  <m:oMath xmlns:m="http://schemas.openxmlformats.org/officeDocument/2006/math">
                    <m:r>
                      <a:rPr lang="en-US" b="0" i="1" smtClean="0">
                        <a:latin typeface="Cambria Math" panose="02040503050406030204" pitchFamily="18" charset="0"/>
                      </a:rPr>
                      <m:t>𝐶</m:t>
                    </m:r>
                    <m:r>
                      <a:rPr lang="en-US" b="0" i="0"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max</m:t>
                        </m:r>
                      </m:fName>
                      <m:e>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𝑛</m:t>
                                </m:r>
                              </m:sub>
                            </m:sSub>
                          </m:e>
                        </m:d>
                      </m:e>
                    </m:func>
                  </m:oMath>
                </a14:m>
                <a:endParaRPr lang="en-US" dirty="0"/>
              </a:p>
              <a:p>
                <a:r>
                  <a:rPr lang="en-US" dirty="0"/>
                  <a:t>Running Max Flow</a:t>
                </a:r>
              </a:p>
              <a:p>
                <a:pPr lvl="1"/>
                <a14:m>
                  <m:oMath xmlns:m="http://schemas.openxmlformats.org/officeDocument/2006/math">
                    <m:r>
                      <m:rPr>
                        <m:sty m:val="p"/>
                      </m:rPr>
                      <a:rPr lang="en-US" b="0" i="0" smtClean="0">
                        <a:latin typeface="Cambria Math" panose="02040503050406030204" pitchFamily="18" charset="0"/>
                      </a:rPr>
                      <m:t>Θ</m:t>
                    </m:r>
                    <m:d>
                      <m:dPr>
                        <m:ctrlPr>
                          <a:rPr lang="en-US" b="0" i="1" smtClean="0">
                            <a:latin typeface="Cambria Math" panose="02040503050406030204" pitchFamily="18" charset="0"/>
                          </a:rPr>
                        </m:ctrlPr>
                      </m:dPr>
                      <m:e>
                        <m:r>
                          <a:rPr lang="en-US" b="0" i="1" smtClean="0">
                            <a:latin typeface="Cambria Math" panose="02040503050406030204" pitchFamily="18" charset="0"/>
                          </a:rPr>
                          <m:t>𝐶</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r>
                              <a:rPr lang="en-US" b="0" i="1" smtClean="0">
                                <a:latin typeface="Cambria Math" panose="02040503050406030204" pitchFamily="18" charset="0"/>
                              </a:rPr>
                              <m:t>2</m:t>
                            </m:r>
                          </m:sup>
                        </m:sSup>
                        <m:r>
                          <a:rPr lang="en-US" b="0" i="1" smtClean="0">
                            <a:latin typeface="Cambria Math" panose="02040503050406030204" pitchFamily="18" charset="0"/>
                          </a:rPr>
                          <m:t>𝑚</m:t>
                        </m:r>
                        <m:r>
                          <a:rPr lang="en-US" b="0" i="1" smtClean="0">
                            <a:latin typeface="Cambria Math" panose="02040503050406030204" pitchFamily="18" charset="0"/>
                          </a:rPr>
                          <m:t>+</m:t>
                        </m:r>
                        <m:r>
                          <a:rPr lang="en-US" b="0" i="1" smtClean="0">
                            <a:latin typeface="Cambria Math" panose="02040503050406030204" pitchFamily="18" charset="0"/>
                          </a:rPr>
                          <m:t>𝐶𝑛</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𝑚</m:t>
                            </m:r>
                          </m:e>
                          <m:sup>
                            <m:r>
                              <a:rPr lang="en-US" b="0" i="1" smtClean="0">
                                <a:latin typeface="Cambria Math" panose="02040503050406030204" pitchFamily="18" charset="0"/>
                              </a:rPr>
                              <m:t>2</m:t>
                            </m:r>
                          </m:sup>
                        </m:sSup>
                      </m:e>
                    </m:d>
                  </m:oMath>
                </a14:m>
                <a:endParaRPr lang="en-US" dirty="0"/>
              </a:p>
              <a:p>
                <a:pPr marL="0" indent="0">
                  <a:buNone/>
                </a:pPr>
                <a:endParaRPr lang="en-US" dirty="0"/>
              </a:p>
            </p:txBody>
          </p:sp>
        </mc:Choice>
        <mc:Fallback>
          <p:sp>
            <p:nvSpPr>
              <p:cNvPr id="3" name="Content Placeholder 2">
                <a:extLst>
                  <a:ext uri="{FF2B5EF4-FFF2-40B4-BE49-F238E27FC236}">
                    <a16:creationId xmlns:a16="http://schemas.microsoft.com/office/drawing/2014/main" id="{CB947515-A80F-F43A-36C2-0FD43446BD5D}"/>
                  </a:ext>
                </a:extLst>
              </p:cNvPr>
              <p:cNvSpPr>
                <a:spLocks noGrp="1" noRot="1" noChangeAspect="1" noMove="1" noResize="1" noEditPoints="1" noAdjustHandles="1" noChangeArrowheads="1" noChangeShapeType="1" noTextEdit="1"/>
              </p:cNvSpPr>
              <p:nvPr>
                <p:ph idx="1"/>
              </p:nvPr>
            </p:nvSpPr>
            <p:spPr>
              <a:xfrm>
                <a:off x="113275" y="1829522"/>
                <a:ext cx="5874393" cy="4954050"/>
              </a:xfrm>
              <a:blipFill>
                <a:blip r:embed="rId2"/>
                <a:stretch>
                  <a:fillRect l="-1869" t="-196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Oval 50">
                <a:extLst>
                  <a:ext uri="{FF2B5EF4-FFF2-40B4-BE49-F238E27FC236}">
                    <a16:creationId xmlns:a16="http://schemas.microsoft.com/office/drawing/2014/main" id="{48595F65-7BA1-5A03-523E-DFF406BFA092}"/>
                  </a:ext>
                </a:extLst>
              </p:cNvPr>
              <p:cNvSpPr>
                <a:spLocks noChangeAspect="1" noChangeArrowheads="1"/>
              </p:cNvSpPr>
              <p:nvPr/>
            </p:nvSpPr>
            <p:spPr bwMode="auto">
              <a:xfrm>
                <a:off x="5718433" y="4200001"/>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r>
                        <a:rPr lang="en-US" altLang="en-US" sz="2000" b="1" i="1" dirty="0" smtClean="0">
                          <a:solidFill>
                            <a:srgbClr val="C00000"/>
                          </a:solidFill>
                          <a:latin typeface="Cambria Math" panose="02040503050406030204" pitchFamily="18" charset="0"/>
                        </a:rPr>
                        <m:t>𝒔</m:t>
                      </m:r>
                    </m:oMath>
                  </m:oMathPara>
                </a14:m>
                <a:endParaRPr lang="en-US" altLang="en-US" sz="2000" b="1" dirty="0">
                  <a:solidFill>
                    <a:srgbClr val="C00000"/>
                  </a:solidFill>
                </a:endParaRPr>
              </a:p>
            </p:txBody>
          </p:sp>
        </mc:Choice>
        <mc:Fallback xmlns="">
          <p:sp>
            <p:nvSpPr>
              <p:cNvPr id="23" name="Oval 50">
                <a:extLst>
                  <a:ext uri="{FF2B5EF4-FFF2-40B4-BE49-F238E27FC236}">
                    <a16:creationId xmlns:a16="http://schemas.microsoft.com/office/drawing/2014/main" id="{48595F65-7BA1-5A03-523E-DFF406BFA092}"/>
                  </a:ext>
                </a:extLst>
              </p:cNvPr>
              <p:cNvSpPr>
                <a:spLocks noRot="1" noChangeAspect="1" noMove="1" noResize="1" noEditPoints="1" noAdjustHandles="1" noChangeArrowheads="1" noChangeShapeType="1" noTextEdit="1"/>
              </p:cNvSpPr>
              <p:nvPr/>
            </p:nvSpPr>
            <p:spPr bwMode="auto">
              <a:xfrm>
                <a:off x="5718433" y="4200001"/>
                <a:ext cx="435031" cy="437783"/>
              </a:xfrm>
              <a:prstGeom prst="ellipse">
                <a:avLst/>
              </a:prstGeom>
              <a:blipFill>
                <a:blip r:embed="rId3"/>
                <a:stretch>
                  <a:fillRect/>
                </a:stretch>
              </a:blipFill>
              <a:ln w="9525">
                <a:solidFill>
                  <a:schemeClr val="tx1"/>
                </a:solidFill>
                <a:round/>
                <a:headEnd/>
                <a:tailEnd/>
              </a:ln>
              <a:effec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Oval 50">
                <a:extLst>
                  <a:ext uri="{FF2B5EF4-FFF2-40B4-BE49-F238E27FC236}">
                    <a16:creationId xmlns:a16="http://schemas.microsoft.com/office/drawing/2014/main" id="{76BABBB4-8DA2-ECC9-94F0-B7E2C58F7D1B}"/>
                  </a:ext>
                </a:extLst>
              </p:cNvPr>
              <p:cNvSpPr>
                <a:spLocks noChangeAspect="1" noChangeArrowheads="1"/>
              </p:cNvSpPr>
              <p:nvPr/>
            </p:nvSpPr>
            <p:spPr bwMode="auto">
              <a:xfrm>
                <a:off x="11684112" y="4308372"/>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r>
                        <a:rPr lang="en-US" altLang="en-US" sz="2000" b="1" i="1" dirty="0" smtClean="0">
                          <a:solidFill>
                            <a:srgbClr val="C00000"/>
                          </a:solidFill>
                          <a:latin typeface="Cambria Math" panose="02040503050406030204" pitchFamily="18" charset="0"/>
                        </a:rPr>
                        <m:t>𝒕</m:t>
                      </m:r>
                    </m:oMath>
                  </m:oMathPara>
                </a14:m>
                <a:endParaRPr lang="en-US" altLang="en-US" sz="2000" b="1" dirty="0">
                  <a:solidFill>
                    <a:srgbClr val="C00000"/>
                  </a:solidFill>
                </a:endParaRPr>
              </a:p>
            </p:txBody>
          </p:sp>
        </mc:Choice>
        <mc:Fallback xmlns="">
          <p:sp>
            <p:nvSpPr>
              <p:cNvPr id="24" name="Oval 50">
                <a:extLst>
                  <a:ext uri="{FF2B5EF4-FFF2-40B4-BE49-F238E27FC236}">
                    <a16:creationId xmlns:a16="http://schemas.microsoft.com/office/drawing/2014/main" id="{76BABBB4-8DA2-ECC9-94F0-B7E2C58F7D1B}"/>
                  </a:ext>
                </a:extLst>
              </p:cNvPr>
              <p:cNvSpPr>
                <a:spLocks noRot="1" noChangeAspect="1" noMove="1" noResize="1" noEditPoints="1" noAdjustHandles="1" noChangeArrowheads="1" noChangeShapeType="1" noTextEdit="1"/>
              </p:cNvSpPr>
              <p:nvPr/>
            </p:nvSpPr>
            <p:spPr bwMode="auto">
              <a:xfrm>
                <a:off x="11684112" y="4308372"/>
                <a:ext cx="435031" cy="437783"/>
              </a:xfrm>
              <a:prstGeom prst="ellipse">
                <a:avLst/>
              </a:prstGeom>
              <a:blipFill>
                <a:blip r:embed="rId4"/>
                <a:stretch>
                  <a:fillRect/>
                </a:stretch>
              </a:blipFill>
              <a:ln w="9525">
                <a:solidFill>
                  <a:schemeClr val="tx1"/>
                </a:solidFill>
                <a:round/>
                <a:headEnd/>
                <a:tailEnd/>
              </a:ln>
              <a:effectLst/>
            </p:spPr>
            <p:txBody>
              <a:bodyPr/>
              <a:lstStyle/>
              <a:p>
                <a:r>
                  <a:rPr lang="en-US">
                    <a:noFill/>
                  </a:rPr>
                  <a:t> </a:t>
                </a:r>
              </a:p>
            </p:txBody>
          </p:sp>
        </mc:Fallback>
      </mc:AlternateContent>
      <p:cxnSp>
        <p:nvCxnSpPr>
          <p:cNvPr id="59" name="Straight Connector 58">
            <a:extLst>
              <a:ext uri="{FF2B5EF4-FFF2-40B4-BE49-F238E27FC236}">
                <a16:creationId xmlns:a16="http://schemas.microsoft.com/office/drawing/2014/main" id="{32F99E92-FCE6-4CA6-06F3-1510100878C2}"/>
              </a:ext>
            </a:extLst>
          </p:cNvPr>
          <p:cNvCxnSpPr>
            <a:cxnSpLocks/>
            <a:stCxn id="23" idx="7"/>
          </p:cNvCxnSpPr>
          <p:nvPr/>
        </p:nvCxnSpPr>
        <p:spPr>
          <a:xfrm flipV="1">
            <a:off x="6089756" y="2847148"/>
            <a:ext cx="1209574" cy="1416965"/>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BE5D3388-F162-7F20-B190-37A29445A226}"/>
              </a:ext>
            </a:extLst>
          </p:cNvPr>
          <p:cNvCxnSpPr>
            <a:cxnSpLocks/>
            <a:stCxn id="23" idx="6"/>
          </p:cNvCxnSpPr>
          <p:nvPr/>
        </p:nvCxnSpPr>
        <p:spPr>
          <a:xfrm flipV="1">
            <a:off x="6153464" y="4005192"/>
            <a:ext cx="1257964" cy="413702"/>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892FC80B-0BB1-7FDA-9CC9-026989E4DA31}"/>
              </a:ext>
            </a:extLst>
          </p:cNvPr>
          <p:cNvCxnSpPr>
            <a:cxnSpLocks/>
            <a:stCxn id="23" idx="5"/>
          </p:cNvCxnSpPr>
          <p:nvPr/>
        </p:nvCxnSpPr>
        <p:spPr>
          <a:xfrm>
            <a:off x="6089756" y="4573673"/>
            <a:ext cx="1095402" cy="566534"/>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6761B918-17C6-4FF2-BF87-B976CB656DE1}"/>
              </a:ext>
            </a:extLst>
          </p:cNvPr>
          <p:cNvCxnSpPr>
            <a:cxnSpLocks/>
            <a:stCxn id="23" idx="4"/>
          </p:cNvCxnSpPr>
          <p:nvPr/>
        </p:nvCxnSpPr>
        <p:spPr>
          <a:xfrm>
            <a:off x="5935949" y="4637785"/>
            <a:ext cx="1154742" cy="1587676"/>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302CD8EB-DF84-2DC5-FF72-4707B4E4EE18}"/>
              </a:ext>
            </a:extLst>
          </p:cNvPr>
          <p:cNvCxnSpPr>
            <a:cxnSpLocks/>
            <a:endCxn id="24" idx="0"/>
          </p:cNvCxnSpPr>
          <p:nvPr/>
        </p:nvCxnSpPr>
        <p:spPr>
          <a:xfrm>
            <a:off x="10945253" y="2951108"/>
            <a:ext cx="956375" cy="1357265"/>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5" name="Straight Connector 74">
            <a:extLst>
              <a:ext uri="{FF2B5EF4-FFF2-40B4-BE49-F238E27FC236}">
                <a16:creationId xmlns:a16="http://schemas.microsoft.com/office/drawing/2014/main" id="{C2C69E57-9D3D-CADE-DB7B-5D24DB28CD51}"/>
              </a:ext>
            </a:extLst>
          </p:cNvPr>
          <p:cNvCxnSpPr>
            <a:cxnSpLocks/>
            <a:endCxn id="24" idx="1"/>
          </p:cNvCxnSpPr>
          <p:nvPr/>
        </p:nvCxnSpPr>
        <p:spPr>
          <a:xfrm>
            <a:off x="10835155" y="4100807"/>
            <a:ext cx="912665" cy="271677"/>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8" name="Straight Connector 77">
            <a:extLst>
              <a:ext uri="{FF2B5EF4-FFF2-40B4-BE49-F238E27FC236}">
                <a16:creationId xmlns:a16="http://schemas.microsoft.com/office/drawing/2014/main" id="{AF19BA45-B8D0-D3E1-EA7D-4C0F7BF828FB}"/>
              </a:ext>
            </a:extLst>
          </p:cNvPr>
          <p:cNvCxnSpPr>
            <a:cxnSpLocks/>
            <a:endCxn id="24" idx="3"/>
          </p:cNvCxnSpPr>
          <p:nvPr/>
        </p:nvCxnSpPr>
        <p:spPr>
          <a:xfrm flipV="1">
            <a:off x="10920258" y="4682044"/>
            <a:ext cx="827562" cy="426688"/>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FCAF2923-ADA6-6BCD-F549-031B36280411}"/>
              </a:ext>
            </a:extLst>
          </p:cNvPr>
          <p:cNvCxnSpPr>
            <a:cxnSpLocks/>
            <a:endCxn id="24" idx="4"/>
          </p:cNvCxnSpPr>
          <p:nvPr/>
        </p:nvCxnSpPr>
        <p:spPr>
          <a:xfrm flipV="1">
            <a:off x="10894672" y="4746156"/>
            <a:ext cx="1006956" cy="1397105"/>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A3B9D2C0-0ACF-7853-24E4-E8970EDC299D}"/>
                  </a:ext>
                </a:extLst>
              </p:cNvPr>
              <p:cNvSpPr txBox="1"/>
              <p:nvPr/>
            </p:nvSpPr>
            <p:spPr>
              <a:xfrm>
                <a:off x="6544966" y="3445074"/>
                <a:ext cx="367986"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𝑥</m:t>
                      </m:r>
                    </m:oMath>
                  </m:oMathPara>
                </a14:m>
                <a:endParaRPr lang="en-US" dirty="0"/>
              </a:p>
            </p:txBody>
          </p:sp>
        </mc:Choice>
        <mc:Fallback xmlns="">
          <p:sp>
            <p:nvSpPr>
              <p:cNvPr id="33" name="TextBox 32">
                <a:extLst>
                  <a:ext uri="{FF2B5EF4-FFF2-40B4-BE49-F238E27FC236}">
                    <a16:creationId xmlns:a16="http://schemas.microsoft.com/office/drawing/2014/main" id="{A3B9D2C0-0ACF-7853-24E4-E8970EDC299D}"/>
                  </a:ext>
                </a:extLst>
              </p:cNvPr>
              <p:cNvSpPr txBox="1">
                <a:spLocks noRot="1" noChangeAspect="1" noMove="1" noResize="1" noEditPoints="1" noAdjustHandles="1" noChangeArrowheads="1" noChangeShapeType="1" noTextEdit="1"/>
              </p:cNvSpPr>
              <p:nvPr/>
            </p:nvSpPr>
            <p:spPr>
              <a:xfrm>
                <a:off x="6544966" y="3445074"/>
                <a:ext cx="367986"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C7EC2E4E-A990-FECB-AAB4-A8A90434CF3F}"/>
                  </a:ext>
                </a:extLst>
              </p:cNvPr>
              <p:cNvSpPr txBox="1"/>
              <p:nvPr/>
            </p:nvSpPr>
            <p:spPr>
              <a:xfrm>
                <a:off x="6742829" y="3934465"/>
                <a:ext cx="367986"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𝑥</m:t>
                      </m:r>
                    </m:oMath>
                  </m:oMathPara>
                </a14:m>
                <a:endParaRPr lang="en-US" dirty="0"/>
              </a:p>
            </p:txBody>
          </p:sp>
        </mc:Choice>
        <mc:Fallback xmlns="">
          <p:sp>
            <p:nvSpPr>
              <p:cNvPr id="60" name="TextBox 59">
                <a:extLst>
                  <a:ext uri="{FF2B5EF4-FFF2-40B4-BE49-F238E27FC236}">
                    <a16:creationId xmlns:a16="http://schemas.microsoft.com/office/drawing/2014/main" id="{C7EC2E4E-A990-FECB-AAB4-A8A90434CF3F}"/>
                  </a:ext>
                </a:extLst>
              </p:cNvPr>
              <p:cNvSpPr txBox="1">
                <a:spLocks noRot="1" noChangeAspect="1" noMove="1" noResize="1" noEditPoints="1" noAdjustHandles="1" noChangeArrowheads="1" noChangeShapeType="1" noTextEdit="1"/>
              </p:cNvSpPr>
              <p:nvPr/>
            </p:nvSpPr>
            <p:spPr>
              <a:xfrm>
                <a:off x="6742829" y="3934465"/>
                <a:ext cx="367986"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73A689F4-D8AA-86C1-2E99-19E1DA91ECC5}"/>
                  </a:ext>
                </a:extLst>
              </p:cNvPr>
              <p:cNvSpPr txBox="1"/>
              <p:nvPr/>
            </p:nvSpPr>
            <p:spPr>
              <a:xfrm>
                <a:off x="6543030" y="4658723"/>
                <a:ext cx="367986"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𝑥</m:t>
                      </m:r>
                    </m:oMath>
                  </m:oMathPara>
                </a14:m>
                <a:endParaRPr lang="en-US" dirty="0"/>
              </a:p>
            </p:txBody>
          </p:sp>
        </mc:Choice>
        <mc:Fallback xmlns="">
          <p:sp>
            <p:nvSpPr>
              <p:cNvPr id="61" name="TextBox 60">
                <a:extLst>
                  <a:ext uri="{FF2B5EF4-FFF2-40B4-BE49-F238E27FC236}">
                    <a16:creationId xmlns:a16="http://schemas.microsoft.com/office/drawing/2014/main" id="{73A689F4-D8AA-86C1-2E99-19E1DA91ECC5}"/>
                  </a:ext>
                </a:extLst>
              </p:cNvPr>
              <p:cNvSpPr txBox="1">
                <a:spLocks noRot="1" noChangeAspect="1" noMove="1" noResize="1" noEditPoints="1" noAdjustHandles="1" noChangeArrowheads="1" noChangeShapeType="1" noTextEdit="1"/>
              </p:cNvSpPr>
              <p:nvPr/>
            </p:nvSpPr>
            <p:spPr>
              <a:xfrm>
                <a:off x="6543030" y="4658723"/>
                <a:ext cx="367986"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B77FB34C-435C-C3C3-AC81-CE72674B2B56}"/>
                  </a:ext>
                </a:extLst>
              </p:cNvPr>
              <p:cNvSpPr txBox="1"/>
              <p:nvPr/>
            </p:nvSpPr>
            <p:spPr>
              <a:xfrm>
                <a:off x="6365716" y="5385641"/>
                <a:ext cx="367986"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𝑥</m:t>
                      </m:r>
                    </m:oMath>
                  </m:oMathPara>
                </a14:m>
                <a:endParaRPr lang="en-US" dirty="0"/>
              </a:p>
            </p:txBody>
          </p:sp>
        </mc:Choice>
        <mc:Fallback xmlns="">
          <p:sp>
            <p:nvSpPr>
              <p:cNvPr id="63" name="TextBox 62">
                <a:extLst>
                  <a:ext uri="{FF2B5EF4-FFF2-40B4-BE49-F238E27FC236}">
                    <a16:creationId xmlns:a16="http://schemas.microsoft.com/office/drawing/2014/main" id="{B77FB34C-435C-C3C3-AC81-CE72674B2B56}"/>
                  </a:ext>
                </a:extLst>
              </p:cNvPr>
              <p:cNvSpPr txBox="1">
                <a:spLocks noRot="1" noChangeAspect="1" noMove="1" noResize="1" noEditPoints="1" noAdjustHandles="1" noChangeArrowheads="1" noChangeShapeType="1" noTextEdit="1"/>
              </p:cNvSpPr>
              <p:nvPr/>
            </p:nvSpPr>
            <p:spPr>
              <a:xfrm>
                <a:off x="6365716" y="5385641"/>
                <a:ext cx="367986"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F86BD7AB-6B77-5D6E-08F8-AE048F1D1146}"/>
                  </a:ext>
                </a:extLst>
              </p:cNvPr>
              <p:cNvSpPr txBox="1"/>
              <p:nvPr/>
            </p:nvSpPr>
            <p:spPr>
              <a:xfrm>
                <a:off x="11198818" y="3338951"/>
                <a:ext cx="460511"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1</m:t>
                          </m:r>
                        </m:sub>
                      </m:sSub>
                    </m:oMath>
                  </m:oMathPara>
                </a14:m>
                <a:endParaRPr lang="en-US" dirty="0"/>
              </a:p>
            </p:txBody>
          </p:sp>
        </mc:Choice>
        <mc:Fallback xmlns="">
          <p:sp>
            <p:nvSpPr>
              <p:cNvPr id="80" name="TextBox 79">
                <a:extLst>
                  <a:ext uri="{FF2B5EF4-FFF2-40B4-BE49-F238E27FC236}">
                    <a16:creationId xmlns:a16="http://schemas.microsoft.com/office/drawing/2014/main" id="{F86BD7AB-6B77-5D6E-08F8-AE048F1D1146}"/>
                  </a:ext>
                </a:extLst>
              </p:cNvPr>
              <p:cNvSpPr txBox="1">
                <a:spLocks noRot="1" noChangeAspect="1" noMove="1" noResize="1" noEditPoints="1" noAdjustHandles="1" noChangeArrowheads="1" noChangeShapeType="1" noTextEdit="1"/>
              </p:cNvSpPr>
              <p:nvPr/>
            </p:nvSpPr>
            <p:spPr>
              <a:xfrm>
                <a:off x="11198818" y="3338951"/>
                <a:ext cx="460511" cy="369332"/>
              </a:xfrm>
              <a:prstGeom prst="rect">
                <a:avLst/>
              </a:prstGeom>
              <a:blipFill>
                <a:blip r:embed="rId9"/>
                <a:stretch>
                  <a:fillRect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4680BFD1-C01C-E89C-4E47-81A43B5D312B}"/>
                  </a:ext>
                </a:extLst>
              </p:cNvPr>
              <p:cNvSpPr txBox="1"/>
              <p:nvPr/>
            </p:nvSpPr>
            <p:spPr>
              <a:xfrm>
                <a:off x="11099178" y="3989849"/>
                <a:ext cx="465832"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2</m:t>
                          </m:r>
                        </m:sub>
                      </m:sSub>
                    </m:oMath>
                  </m:oMathPara>
                </a14:m>
                <a:endParaRPr lang="en-US" dirty="0"/>
              </a:p>
            </p:txBody>
          </p:sp>
        </mc:Choice>
        <mc:Fallback xmlns="">
          <p:sp>
            <p:nvSpPr>
              <p:cNvPr id="82" name="TextBox 81">
                <a:extLst>
                  <a:ext uri="{FF2B5EF4-FFF2-40B4-BE49-F238E27FC236}">
                    <a16:creationId xmlns:a16="http://schemas.microsoft.com/office/drawing/2014/main" id="{4680BFD1-C01C-E89C-4E47-81A43B5D312B}"/>
                  </a:ext>
                </a:extLst>
              </p:cNvPr>
              <p:cNvSpPr txBox="1">
                <a:spLocks noRot="1" noChangeAspect="1" noMove="1" noResize="1" noEditPoints="1" noAdjustHandles="1" noChangeArrowheads="1" noChangeShapeType="1" noTextEdit="1"/>
              </p:cNvSpPr>
              <p:nvPr/>
            </p:nvSpPr>
            <p:spPr>
              <a:xfrm>
                <a:off x="11099178" y="3989849"/>
                <a:ext cx="465832" cy="369332"/>
              </a:xfrm>
              <a:prstGeom prst="rect">
                <a:avLst/>
              </a:prstGeom>
              <a:blipFill>
                <a:blip r:embed="rId10"/>
                <a:stretch>
                  <a:fillRect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TextBox 82">
                <a:extLst>
                  <a:ext uri="{FF2B5EF4-FFF2-40B4-BE49-F238E27FC236}">
                    <a16:creationId xmlns:a16="http://schemas.microsoft.com/office/drawing/2014/main" id="{4E1E17D7-D80A-BCD2-F72E-6FD59E67C3FB}"/>
                  </a:ext>
                </a:extLst>
              </p:cNvPr>
              <p:cNvSpPr txBox="1"/>
              <p:nvPr/>
            </p:nvSpPr>
            <p:spPr>
              <a:xfrm>
                <a:off x="11146581" y="4700897"/>
                <a:ext cx="465832"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3</m:t>
                          </m:r>
                        </m:sub>
                      </m:sSub>
                    </m:oMath>
                  </m:oMathPara>
                </a14:m>
                <a:endParaRPr lang="en-US" dirty="0"/>
              </a:p>
            </p:txBody>
          </p:sp>
        </mc:Choice>
        <mc:Fallback xmlns="">
          <p:sp>
            <p:nvSpPr>
              <p:cNvPr id="83" name="TextBox 82">
                <a:extLst>
                  <a:ext uri="{FF2B5EF4-FFF2-40B4-BE49-F238E27FC236}">
                    <a16:creationId xmlns:a16="http://schemas.microsoft.com/office/drawing/2014/main" id="{4E1E17D7-D80A-BCD2-F72E-6FD59E67C3FB}"/>
                  </a:ext>
                </a:extLst>
              </p:cNvPr>
              <p:cNvSpPr txBox="1">
                <a:spLocks noRot="1" noChangeAspect="1" noMove="1" noResize="1" noEditPoints="1" noAdjustHandles="1" noChangeArrowheads="1" noChangeShapeType="1" noTextEdit="1"/>
              </p:cNvSpPr>
              <p:nvPr/>
            </p:nvSpPr>
            <p:spPr>
              <a:xfrm>
                <a:off x="11146581" y="4700897"/>
                <a:ext cx="465832" cy="369332"/>
              </a:xfrm>
              <a:prstGeom prst="rect">
                <a:avLst/>
              </a:prstGeom>
              <a:blipFill>
                <a:blip r:embed="rId11"/>
                <a:stretch>
                  <a:fillRect b="-65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4" name="TextBox 83">
                <a:extLst>
                  <a:ext uri="{FF2B5EF4-FFF2-40B4-BE49-F238E27FC236}">
                    <a16:creationId xmlns:a16="http://schemas.microsoft.com/office/drawing/2014/main" id="{F6508880-3499-10DF-3E36-2D1CB8AE411B}"/>
                  </a:ext>
                </a:extLst>
              </p:cNvPr>
              <p:cNvSpPr txBox="1"/>
              <p:nvPr/>
            </p:nvSpPr>
            <p:spPr>
              <a:xfrm>
                <a:off x="11291342" y="5199461"/>
                <a:ext cx="478208"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𝑛</m:t>
                          </m:r>
                        </m:sub>
                      </m:sSub>
                    </m:oMath>
                  </m:oMathPara>
                </a14:m>
                <a:endParaRPr lang="en-US" dirty="0"/>
              </a:p>
            </p:txBody>
          </p:sp>
        </mc:Choice>
        <mc:Fallback xmlns="">
          <p:sp>
            <p:nvSpPr>
              <p:cNvPr id="84" name="TextBox 83">
                <a:extLst>
                  <a:ext uri="{FF2B5EF4-FFF2-40B4-BE49-F238E27FC236}">
                    <a16:creationId xmlns:a16="http://schemas.microsoft.com/office/drawing/2014/main" id="{F6508880-3499-10DF-3E36-2D1CB8AE411B}"/>
                  </a:ext>
                </a:extLst>
              </p:cNvPr>
              <p:cNvSpPr txBox="1">
                <a:spLocks noRot="1" noChangeAspect="1" noMove="1" noResize="1" noEditPoints="1" noAdjustHandles="1" noChangeArrowheads="1" noChangeShapeType="1" noTextEdit="1"/>
              </p:cNvSpPr>
              <p:nvPr/>
            </p:nvSpPr>
            <p:spPr>
              <a:xfrm>
                <a:off x="11291342" y="5199461"/>
                <a:ext cx="478208" cy="369332"/>
              </a:xfrm>
              <a:prstGeom prst="rect">
                <a:avLst/>
              </a:prstGeom>
              <a:blipFill>
                <a:blip r:embed="rId12"/>
                <a:stretch>
                  <a:fillRect b="-491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Oval 50">
                <a:extLst>
                  <a:ext uri="{FF2B5EF4-FFF2-40B4-BE49-F238E27FC236}">
                    <a16:creationId xmlns:a16="http://schemas.microsoft.com/office/drawing/2014/main" id="{7D1CF378-AE8D-B258-F6CE-3A0643D80F2B}"/>
                  </a:ext>
                </a:extLst>
              </p:cNvPr>
              <p:cNvSpPr>
                <a:spLocks noChangeAspect="1" noChangeArrowheads="1"/>
              </p:cNvSpPr>
              <p:nvPr/>
            </p:nvSpPr>
            <p:spPr bwMode="auto">
              <a:xfrm>
                <a:off x="7299330" y="2537588"/>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sSub>
                        <m:sSubPr>
                          <m:ctrlPr>
                            <a:rPr lang="en-US" altLang="en-US" sz="2000" b="1" i="1" smtClean="0">
                              <a:solidFill>
                                <a:srgbClr val="C00000"/>
                              </a:solidFill>
                              <a:latin typeface="Cambria Math" panose="02040503050406030204" pitchFamily="18" charset="0"/>
                            </a:rPr>
                          </m:ctrlPr>
                        </m:sSubPr>
                        <m:e>
                          <m:r>
                            <a:rPr lang="en-US" altLang="en-US" sz="2000" b="1" i="1" smtClean="0">
                              <a:solidFill>
                                <a:srgbClr val="C00000"/>
                              </a:solidFill>
                              <a:latin typeface="Cambria Math" panose="02040503050406030204" pitchFamily="18" charset="0"/>
                            </a:rPr>
                            <m:t>𝒆</m:t>
                          </m:r>
                        </m:e>
                        <m:sub>
                          <m:r>
                            <a:rPr lang="en-US" altLang="en-US" sz="2000" b="1" i="1" smtClean="0">
                              <a:solidFill>
                                <a:srgbClr val="C00000"/>
                              </a:solidFill>
                              <a:latin typeface="Cambria Math" panose="02040503050406030204" pitchFamily="18" charset="0"/>
                            </a:rPr>
                            <m:t>𝟏</m:t>
                          </m:r>
                        </m:sub>
                      </m:sSub>
                    </m:oMath>
                  </m:oMathPara>
                </a14:m>
                <a:endParaRPr lang="en-US" altLang="en-US" sz="2000" b="1" dirty="0">
                  <a:solidFill>
                    <a:srgbClr val="C00000"/>
                  </a:solidFill>
                </a:endParaRPr>
              </a:p>
            </p:txBody>
          </p:sp>
        </mc:Choice>
        <mc:Fallback xmlns="">
          <p:sp>
            <p:nvSpPr>
              <p:cNvPr id="29" name="Oval 50">
                <a:extLst>
                  <a:ext uri="{FF2B5EF4-FFF2-40B4-BE49-F238E27FC236}">
                    <a16:creationId xmlns:a16="http://schemas.microsoft.com/office/drawing/2014/main" id="{7D1CF378-AE8D-B258-F6CE-3A0643D80F2B}"/>
                  </a:ext>
                </a:extLst>
              </p:cNvPr>
              <p:cNvSpPr>
                <a:spLocks noRot="1" noChangeAspect="1" noMove="1" noResize="1" noEditPoints="1" noAdjustHandles="1" noChangeArrowheads="1" noChangeShapeType="1" noTextEdit="1"/>
              </p:cNvSpPr>
              <p:nvPr/>
            </p:nvSpPr>
            <p:spPr bwMode="auto">
              <a:xfrm>
                <a:off x="7299330" y="2537588"/>
                <a:ext cx="435031" cy="437783"/>
              </a:xfrm>
              <a:prstGeom prst="ellipse">
                <a:avLst/>
              </a:prstGeom>
              <a:blipFill>
                <a:blip r:embed="rId13"/>
                <a:stretch>
                  <a:fillRect/>
                </a:stretch>
              </a:blipFill>
              <a:ln w="9525">
                <a:solidFill>
                  <a:schemeClr val="tx1"/>
                </a:solidFill>
                <a:round/>
                <a:headEnd/>
                <a:tailEnd/>
              </a:ln>
              <a:effec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Oval 50">
                <a:extLst>
                  <a:ext uri="{FF2B5EF4-FFF2-40B4-BE49-F238E27FC236}">
                    <a16:creationId xmlns:a16="http://schemas.microsoft.com/office/drawing/2014/main" id="{0E82F270-26A1-7E67-0071-9527525E2384}"/>
                  </a:ext>
                </a:extLst>
              </p:cNvPr>
              <p:cNvSpPr>
                <a:spLocks noChangeAspect="1" noChangeArrowheads="1"/>
              </p:cNvSpPr>
              <p:nvPr/>
            </p:nvSpPr>
            <p:spPr bwMode="auto">
              <a:xfrm>
                <a:off x="7402699" y="3786299"/>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sSub>
                        <m:sSubPr>
                          <m:ctrlPr>
                            <a:rPr lang="en-US" altLang="en-US" sz="2000" b="1" i="1" smtClean="0">
                              <a:solidFill>
                                <a:srgbClr val="C00000"/>
                              </a:solidFill>
                              <a:latin typeface="Cambria Math" panose="02040503050406030204" pitchFamily="18" charset="0"/>
                            </a:rPr>
                          </m:ctrlPr>
                        </m:sSubPr>
                        <m:e>
                          <m:r>
                            <a:rPr lang="en-US" altLang="en-US" sz="2000" b="1" i="1" smtClean="0">
                              <a:solidFill>
                                <a:srgbClr val="C00000"/>
                              </a:solidFill>
                              <a:latin typeface="Cambria Math" panose="02040503050406030204" pitchFamily="18" charset="0"/>
                            </a:rPr>
                            <m:t>𝒆</m:t>
                          </m:r>
                        </m:e>
                        <m:sub>
                          <m:r>
                            <a:rPr lang="en-US" altLang="en-US" sz="2000" b="1" i="1" smtClean="0">
                              <a:solidFill>
                                <a:srgbClr val="C00000"/>
                              </a:solidFill>
                              <a:latin typeface="Cambria Math" panose="02040503050406030204" pitchFamily="18" charset="0"/>
                            </a:rPr>
                            <m:t>𝟐</m:t>
                          </m:r>
                        </m:sub>
                      </m:sSub>
                    </m:oMath>
                  </m:oMathPara>
                </a14:m>
                <a:endParaRPr lang="en-US" altLang="en-US" sz="2000" b="1" dirty="0">
                  <a:solidFill>
                    <a:srgbClr val="C00000"/>
                  </a:solidFill>
                </a:endParaRPr>
              </a:p>
            </p:txBody>
          </p:sp>
        </mc:Choice>
        <mc:Fallback xmlns="">
          <p:sp>
            <p:nvSpPr>
              <p:cNvPr id="34" name="Oval 50">
                <a:extLst>
                  <a:ext uri="{FF2B5EF4-FFF2-40B4-BE49-F238E27FC236}">
                    <a16:creationId xmlns:a16="http://schemas.microsoft.com/office/drawing/2014/main" id="{0E82F270-26A1-7E67-0071-9527525E2384}"/>
                  </a:ext>
                </a:extLst>
              </p:cNvPr>
              <p:cNvSpPr>
                <a:spLocks noRot="1" noChangeAspect="1" noMove="1" noResize="1" noEditPoints="1" noAdjustHandles="1" noChangeArrowheads="1" noChangeShapeType="1" noTextEdit="1"/>
              </p:cNvSpPr>
              <p:nvPr/>
            </p:nvSpPr>
            <p:spPr bwMode="auto">
              <a:xfrm>
                <a:off x="7402699" y="3786299"/>
                <a:ext cx="435031" cy="437783"/>
              </a:xfrm>
              <a:prstGeom prst="ellipse">
                <a:avLst/>
              </a:prstGeom>
              <a:blipFill>
                <a:blip r:embed="rId14"/>
                <a:stretch>
                  <a:fillRect/>
                </a:stretch>
              </a:blipFill>
              <a:ln w="9525">
                <a:solidFill>
                  <a:schemeClr val="tx1"/>
                </a:solidFill>
                <a:round/>
                <a:headEnd/>
                <a:tailEnd/>
              </a:ln>
              <a:effec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Oval 50">
                <a:extLst>
                  <a:ext uri="{FF2B5EF4-FFF2-40B4-BE49-F238E27FC236}">
                    <a16:creationId xmlns:a16="http://schemas.microsoft.com/office/drawing/2014/main" id="{09A02A32-2A09-A798-60C7-6E6FD271A92B}"/>
                  </a:ext>
                </a:extLst>
              </p:cNvPr>
              <p:cNvSpPr>
                <a:spLocks noChangeAspect="1" noChangeArrowheads="1"/>
              </p:cNvSpPr>
              <p:nvPr/>
            </p:nvSpPr>
            <p:spPr bwMode="auto">
              <a:xfrm>
                <a:off x="7090691" y="6100801"/>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sSub>
                        <m:sSubPr>
                          <m:ctrlPr>
                            <a:rPr lang="en-US" altLang="en-US" sz="2000" b="1" i="1" smtClean="0">
                              <a:solidFill>
                                <a:srgbClr val="C00000"/>
                              </a:solidFill>
                              <a:latin typeface="Cambria Math" panose="02040503050406030204" pitchFamily="18" charset="0"/>
                            </a:rPr>
                          </m:ctrlPr>
                        </m:sSubPr>
                        <m:e>
                          <m:r>
                            <a:rPr lang="en-US" altLang="en-US" sz="2000" b="1" i="1" smtClean="0">
                              <a:solidFill>
                                <a:srgbClr val="C00000"/>
                              </a:solidFill>
                              <a:latin typeface="Cambria Math" panose="02040503050406030204" pitchFamily="18" charset="0"/>
                            </a:rPr>
                            <m:t>𝒆</m:t>
                          </m:r>
                        </m:e>
                        <m:sub>
                          <m:r>
                            <a:rPr lang="en-US" altLang="en-US" sz="2000" b="1" i="1" smtClean="0">
                              <a:solidFill>
                                <a:srgbClr val="C00000"/>
                              </a:solidFill>
                              <a:latin typeface="Cambria Math" panose="02040503050406030204" pitchFamily="18" charset="0"/>
                            </a:rPr>
                            <m:t>𝒎</m:t>
                          </m:r>
                        </m:sub>
                      </m:sSub>
                    </m:oMath>
                  </m:oMathPara>
                </a14:m>
                <a:endParaRPr lang="en-US" altLang="en-US" sz="2000" b="1" dirty="0">
                  <a:solidFill>
                    <a:srgbClr val="C00000"/>
                  </a:solidFill>
                </a:endParaRPr>
              </a:p>
            </p:txBody>
          </p:sp>
        </mc:Choice>
        <mc:Fallback xmlns="">
          <p:sp>
            <p:nvSpPr>
              <p:cNvPr id="35" name="Oval 50">
                <a:extLst>
                  <a:ext uri="{FF2B5EF4-FFF2-40B4-BE49-F238E27FC236}">
                    <a16:creationId xmlns:a16="http://schemas.microsoft.com/office/drawing/2014/main" id="{09A02A32-2A09-A798-60C7-6E6FD271A92B}"/>
                  </a:ext>
                </a:extLst>
              </p:cNvPr>
              <p:cNvSpPr>
                <a:spLocks noRot="1" noChangeAspect="1" noMove="1" noResize="1" noEditPoints="1" noAdjustHandles="1" noChangeArrowheads="1" noChangeShapeType="1" noTextEdit="1"/>
              </p:cNvSpPr>
              <p:nvPr/>
            </p:nvSpPr>
            <p:spPr bwMode="auto">
              <a:xfrm>
                <a:off x="7090691" y="6100801"/>
                <a:ext cx="435031" cy="437783"/>
              </a:xfrm>
              <a:prstGeom prst="ellipse">
                <a:avLst/>
              </a:prstGeom>
              <a:blipFill>
                <a:blip r:embed="rId15"/>
                <a:stretch>
                  <a:fillRect l="-6757"/>
                </a:stretch>
              </a:blipFill>
              <a:ln w="9525">
                <a:solidFill>
                  <a:schemeClr val="tx1"/>
                </a:solidFill>
                <a:round/>
                <a:headEnd/>
                <a:tailEnd/>
              </a:ln>
              <a:effec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Oval 50">
                <a:extLst>
                  <a:ext uri="{FF2B5EF4-FFF2-40B4-BE49-F238E27FC236}">
                    <a16:creationId xmlns:a16="http://schemas.microsoft.com/office/drawing/2014/main" id="{1CC35501-A2F7-8BAE-6CF9-D1E378465612}"/>
                  </a:ext>
                </a:extLst>
              </p:cNvPr>
              <p:cNvSpPr>
                <a:spLocks noChangeAspect="1" noChangeArrowheads="1"/>
              </p:cNvSpPr>
              <p:nvPr/>
            </p:nvSpPr>
            <p:spPr bwMode="auto">
              <a:xfrm>
                <a:off x="7185183" y="4976556"/>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sSub>
                        <m:sSubPr>
                          <m:ctrlPr>
                            <a:rPr lang="en-US" altLang="en-US" sz="2000" b="1" i="1" smtClean="0">
                              <a:solidFill>
                                <a:srgbClr val="C00000"/>
                              </a:solidFill>
                              <a:latin typeface="Cambria Math" panose="02040503050406030204" pitchFamily="18" charset="0"/>
                            </a:rPr>
                          </m:ctrlPr>
                        </m:sSubPr>
                        <m:e>
                          <m:r>
                            <a:rPr lang="en-US" altLang="en-US" sz="2000" b="1" i="1" smtClean="0">
                              <a:solidFill>
                                <a:srgbClr val="C00000"/>
                              </a:solidFill>
                              <a:latin typeface="Cambria Math" panose="02040503050406030204" pitchFamily="18" charset="0"/>
                            </a:rPr>
                            <m:t>𝒆</m:t>
                          </m:r>
                        </m:e>
                        <m:sub>
                          <m:r>
                            <a:rPr lang="en-US" altLang="en-US" sz="2000" b="1" i="1" smtClean="0">
                              <a:solidFill>
                                <a:srgbClr val="C00000"/>
                              </a:solidFill>
                              <a:latin typeface="Cambria Math" panose="02040503050406030204" pitchFamily="18" charset="0"/>
                            </a:rPr>
                            <m:t>𝟑</m:t>
                          </m:r>
                        </m:sub>
                      </m:sSub>
                    </m:oMath>
                  </m:oMathPara>
                </a14:m>
                <a:endParaRPr lang="en-US" altLang="en-US" sz="2000" b="1" dirty="0">
                  <a:solidFill>
                    <a:srgbClr val="C00000"/>
                  </a:solidFill>
                </a:endParaRPr>
              </a:p>
            </p:txBody>
          </p:sp>
        </mc:Choice>
        <mc:Fallback xmlns="">
          <p:sp>
            <p:nvSpPr>
              <p:cNvPr id="36" name="Oval 50">
                <a:extLst>
                  <a:ext uri="{FF2B5EF4-FFF2-40B4-BE49-F238E27FC236}">
                    <a16:creationId xmlns:a16="http://schemas.microsoft.com/office/drawing/2014/main" id="{1CC35501-A2F7-8BAE-6CF9-D1E378465612}"/>
                  </a:ext>
                </a:extLst>
              </p:cNvPr>
              <p:cNvSpPr>
                <a:spLocks noRot="1" noChangeAspect="1" noMove="1" noResize="1" noEditPoints="1" noAdjustHandles="1" noChangeArrowheads="1" noChangeShapeType="1" noTextEdit="1"/>
              </p:cNvSpPr>
              <p:nvPr/>
            </p:nvSpPr>
            <p:spPr bwMode="auto">
              <a:xfrm>
                <a:off x="7185183" y="4976556"/>
                <a:ext cx="435031" cy="437783"/>
              </a:xfrm>
              <a:prstGeom prst="ellipse">
                <a:avLst/>
              </a:prstGeom>
              <a:blipFill>
                <a:blip r:embed="rId16"/>
                <a:stretch>
                  <a:fillRect l="-1370"/>
                </a:stretch>
              </a:blipFill>
              <a:ln w="9525">
                <a:solidFill>
                  <a:schemeClr val="tx1"/>
                </a:solidFill>
                <a:round/>
                <a:headEnd/>
                <a:tailEnd/>
              </a:ln>
              <a:effec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Oval 50">
                <a:extLst>
                  <a:ext uri="{FF2B5EF4-FFF2-40B4-BE49-F238E27FC236}">
                    <a16:creationId xmlns:a16="http://schemas.microsoft.com/office/drawing/2014/main" id="{9F83B641-417E-16CA-45AC-4167892691A5}"/>
                  </a:ext>
                </a:extLst>
              </p:cNvPr>
              <p:cNvSpPr>
                <a:spLocks noChangeAspect="1" noChangeArrowheads="1"/>
              </p:cNvSpPr>
              <p:nvPr/>
            </p:nvSpPr>
            <p:spPr bwMode="auto">
              <a:xfrm>
                <a:off x="10617639" y="2624312"/>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sSub>
                        <m:sSubPr>
                          <m:ctrlPr>
                            <a:rPr lang="en-US" altLang="en-US" sz="2000" b="1" i="1" smtClean="0">
                              <a:solidFill>
                                <a:srgbClr val="C00000"/>
                              </a:solidFill>
                              <a:latin typeface="Cambria Math" panose="02040503050406030204" pitchFamily="18" charset="0"/>
                            </a:rPr>
                          </m:ctrlPr>
                        </m:sSubPr>
                        <m:e>
                          <m:r>
                            <a:rPr lang="en-US" altLang="en-US" sz="2000" b="1" i="1" smtClean="0">
                              <a:solidFill>
                                <a:srgbClr val="C00000"/>
                              </a:solidFill>
                              <a:latin typeface="Cambria Math" panose="02040503050406030204" pitchFamily="18" charset="0"/>
                            </a:rPr>
                            <m:t>𝒔</m:t>
                          </m:r>
                        </m:e>
                        <m:sub>
                          <m:r>
                            <a:rPr lang="en-US" altLang="en-US" sz="2000" b="1" i="1" smtClean="0">
                              <a:solidFill>
                                <a:srgbClr val="C00000"/>
                              </a:solidFill>
                              <a:latin typeface="Cambria Math" panose="02040503050406030204" pitchFamily="18" charset="0"/>
                            </a:rPr>
                            <m:t>𝟏</m:t>
                          </m:r>
                        </m:sub>
                      </m:sSub>
                    </m:oMath>
                  </m:oMathPara>
                </a14:m>
                <a:endParaRPr lang="en-US" altLang="en-US" sz="2000" b="1" dirty="0">
                  <a:solidFill>
                    <a:srgbClr val="C00000"/>
                  </a:solidFill>
                </a:endParaRPr>
              </a:p>
            </p:txBody>
          </p:sp>
        </mc:Choice>
        <mc:Fallback xmlns="">
          <p:sp>
            <p:nvSpPr>
              <p:cNvPr id="37" name="Oval 50">
                <a:extLst>
                  <a:ext uri="{FF2B5EF4-FFF2-40B4-BE49-F238E27FC236}">
                    <a16:creationId xmlns:a16="http://schemas.microsoft.com/office/drawing/2014/main" id="{9F83B641-417E-16CA-45AC-4167892691A5}"/>
                  </a:ext>
                </a:extLst>
              </p:cNvPr>
              <p:cNvSpPr>
                <a:spLocks noRot="1" noChangeAspect="1" noMove="1" noResize="1" noEditPoints="1" noAdjustHandles="1" noChangeArrowheads="1" noChangeShapeType="1" noTextEdit="1"/>
              </p:cNvSpPr>
              <p:nvPr/>
            </p:nvSpPr>
            <p:spPr bwMode="auto">
              <a:xfrm>
                <a:off x="10617639" y="2624312"/>
                <a:ext cx="435031" cy="437783"/>
              </a:xfrm>
              <a:prstGeom prst="ellipse">
                <a:avLst/>
              </a:prstGeom>
              <a:blipFill>
                <a:blip r:embed="rId17"/>
                <a:stretch>
                  <a:fillRect/>
                </a:stretch>
              </a:blipFill>
              <a:ln w="9525">
                <a:solidFill>
                  <a:schemeClr val="tx1"/>
                </a:solidFill>
                <a:round/>
                <a:headEnd/>
                <a:tailEnd/>
              </a:ln>
              <a:effec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Oval 50">
                <a:extLst>
                  <a:ext uri="{FF2B5EF4-FFF2-40B4-BE49-F238E27FC236}">
                    <a16:creationId xmlns:a16="http://schemas.microsoft.com/office/drawing/2014/main" id="{25D365D3-1B71-F532-CFAC-12BD96609D73}"/>
                  </a:ext>
                </a:extLst>
              </p:cNvPr>
              <p:cNvSpPr>
                <a:spLocks noChangeAspect="1" noChangeArrowheads="1"/>
              </p:cNvSpPr>
              <p:nvPr/>
            </p:nvSpPr>
            <p:spPr bwMode="auto">
              <a:xfrm>
                <a:off x="10400123" y="3866014"/>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sSub>
                        <m:sSubPr>
                          <m:ctrlPr>
                            <a:rPr lang="en-US" altLang="en-US" sz="2000" b="1" i="1" smtClean="0">
                              <a:solidFill>
                                <a:srgbClr val="C00000"/>
                              </a:solidFill>
                              <a:latin typeface="Cambria Math" panose="02040503050406030204" pitchFamily="18" charset="0"/>
                            </a:rPr>
                          </m:ctrlPr>
                        </m:sSubPr>
                        <m:e>
                          <m:r>
                            <a:rPr lang="en-US" altLang="en-US" sz="2000" b="1" i="1" smtClean="0">
                              <a:solidFill>
                                <a:srgbClr val="C00000"/>
                              </a:solidFill>
                              <a:latin typeface="Cambria Math" panose="02040503050406030204" pitchFamily="18" charset="0"/>
                            </a:rPr>
                            <m:t>𝒔</m:t>
                          </m:r>
                        </m:e>
                        <m:sub>
                          <m:r>
                            <a:rPr lang="en-US" altLang="en-US" sz="2000" b="1" i="1" smtClean="0">
                              <a:solidFill>
                                <a:srgbClr val="C00000"/>
                              </a:solidFill>
                              <a:latin typeface="Cambria Math" panose="02040503050406030204" pitchFamily="18" charset="0"/>
                            </a:rPr>
                            <m:t>𝟐</m:t>
                          </m:r>
                        </m:sub>
                      </m:sSub>
                    </m:oMath>
                  </m:oMathPara>
                </a14:m>
                <a:endParaRPr lang="en-US" altLang="en-US" sz="2000" b="1" dirty="0">
                  <a:solidFill>
                    <a:srgbClr val="C00000"/>
                  </a:solidFill>
                </a:endParaRPr>
              </a:p>
            </p:txBody>
          </p:sp>
        </mc:Choice>
        <mc:Fallback xmlns="">
          <p:sp>
            <p:nvSpPr>
              <p:cNvPr id="38" name="Oval 50">
                <a:extLst>
                  <a:ext uri="{FF2B5EF4-FFF2-40B4-BE49-F238E27FC236}">
                    <a16:creationId xmlns:a16="http://schemas.microsoft.com/office/drawing/2014/main" id="{25D365D3-1B71-F532-CFAC-12BD96609D73}"/>
                  </a:ext>
                </a:extLst>
              </p:cNvPr>
              <p:cNvSpPr>
                <a:spLocks noRot="1" noChangeAspect="1" noMove="1" noResize="1" noEditPoints="1" noAdjustHandles="1" noChangeArrowheads="1" noChangeShapeType="1" noTextEdit="1"/>
              </p:cNvSpPr>
              <p:nvPr/>
            </p:nvSpPr>
            <p:spPr bwMode="auto">
              <a:xfrm>
                <a:off x="10400123" y="3866014"/>
                <a:ext cx="435031" cy="437783"/>
              </a:xfrm>
              <a:prstGeom prst="ellipse">
                <a:avLst/>
              </a:prstGeom>
              <a:blipFill>
                <a:blip r:embed="rId18"/>
                <a:stretch>
                  <a:fillRect/>
                </a:stretch>
              </a:blipFill>
              <a:ln w="9525">
                <a:solidFill>
                  <a:schemeClr val="tx1"/>
                </a:solidFill>
                <a:round/>
                <a:headEnd/>
                <a:tailEnd/>
              </a:ln>
              <a:effec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Oval 50">
                <a:extLst>
                  <a:ext uri="{FF2B5EF4-FFF2-40B4-BE49-F238E27FC236}">
                    <a16:creationId xmlns:a16="http://schemas.microsoft.com/office/drawing/2014/main" id="{F06DD509-B898-F858-3AA2-49CED404A206}"/>
                  </a:ext>
                </a:extLst>
              </p:cNvPr>
              <p:cNvSpPr>
                <a:spLocks noChangeAspect="1" noChangeArrowheads="1"/>
              </p:cNvSpPr>
              <p:nvPr/>
            </p:nvSpPr>
            <p:spPr bwMode="auto">
              <a:xfrm>
                <a:off x="10494035" y="4921315"/>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sSub>
                        <m:sSubPr>
                          <m:ctrlPr>
                            <a:rPr lang="en-US" altLang="en-US" sz="2000" b="1" i="1" smtClean="0">
                              <a:solidFill>
                                <a:srgbClr val="C00000"/>
                              </a:solidFill>
                              <a:latin typeface="Cambria Math" panose="02040503050406030204" pitchFamily="18" charset="0"/>
                            </a:rPr>
                          </m:ctrlPr>
                        </m:sSubPr>
                        <m:e>
                          <m:r>
                            <a:rPr lang="en-US" altLang="en-US" sz="2000" b="1" i="1" smtClean="0">
                              <a:solidFill>
                                <a:srgbClr val="C00000"/>
                              </a:solidFill>
                              <a:latin typeface="Cambria Math" panose="02040503050406030204" pitchFamily="18" charset="0"/>
                            </a:rPr>
                            <m:t>𝒔</m:t>
                          </m:r>
                        </m:e>
                        <m:sub>
                          <m:r>
                            <a:rPr lang="en-US" altLang="en-US" sz="2000" b="1" i="1" smtClean="0">
                              <a:solidFill>
                                <a:srgbClr val="C00000"/>
                              </a:solidFill>
                              <a:latin typeface="Cambria Math" panose="02040503050406030204" pitchFamily="18" charset="0"/>
                            </a:rPr>
                            <m:t>𝟑</m:t>
                          </m:r>
                        </m:sub>
                      </m:sSub>
                    </m:oMath>
                  </m:oMathPara>
                </a14:m>
                <a:endParaRPr lang="en-US" altLang="en-US" sz="2000" b="1" dirty="0">
                  <a:solidFill>
                    <a:srgbClr val="C00000"/>
                  </a:solidFill>
                </a:endParaRPr>
              </a:p>
            </p:txBody>
          </p:sp>
        </mc:Choice>
        <mc:Fallback xmlns="">
          <p:sp>
            <p:nvSpPr>
              <p:cNvPr id="39" name="Oval 50">
                <a:extLst>
                  <a:ext uri="{FF2B5EF4-FFF2-40B4-BE49-F238E27FC236}">
                    <a16:creationId xmlns:a16="http://schemas.microsoft.com/office/drawing/2014/main" id="{F06DD509-B898-F858-3AA2-49CED404A206}"/>
                  </a:ext>
                </a:extLst>
              </p:cNvPr>
              <p:cNvSpPr>
                <a:spLocks noRot="1" noChangeAspect="1" noMove="1" noResize="1" noEditPoints="1" noAdjustHandles="1" noChangeArrowheads="1" noChangeShapeType="1" noTextEdit="1"/>
              </p:cNvSpPr>
              <p:nvPr/>
            </p:nvSpPr>
            <p:spPr bwMode="auto">
              <a:xfrm>
                <a:off x="10494035" y="4921315"/>
                <a:ext cx="435031" cy="437783"/>
              </a:xfrm>
              <a:prstGeom prst="ellipse">
                <a:avLst/>
              </a:prstGeom>
              <a:blipFill>
                <a:blip r:embed="rId19"/>
                <a:stretch>
                  <a:fillRect/>
                </a:stretch>
              </a:blipFill>
              <a:ln w="9525">
                <a:solidFill>
                  <a:schemeClr val="tx1"/>
                </a:solidFill>
                <a:round/>
                <a:headEnd/>
                <a:tailEnd/>
              </a:ln>
              <a:effec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Oval 50">
                <a:extLst>
                  <a:ext uri="{FF2B5EF4-FFF2-40B4-BE49-F238E27FC236}">
                    <a16:creationId xmlns:a16="http://schemas.microsoft.com/office/drawing/2014/main" id="{67A7356D-A41C-29A4-C0D1-551ACA0928B8}"/>
                  </a:ext>
                </a:extLst>
              </p:cNvPr>
              <p:cNvSpPr>
                <a:spLocks noChangeAspect="1" noChangeArrowheads="1"/>
              </p:cNvSpPr>
              <p:nvPr/>
            </p:nvSpPr>
            <p:spPr bwMode="auto">
              <a:xfrm>
                <a:off x="10510222" y="6006569"/>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sSub>
                        <m:sSubPr>
                          <m:ctrlPr>
                            <a:rPr lang="en-US" altLang="en-US" sz="2000" b="1" i="1" smtClean="0">
                              <a:solidFill>
                                <a:srgbClr val="C00000"/>
                              </a:solidFill>
                              <a:latin typeface="Cambria Math" panose="02040503050406030204" pitchFamily="18" charset="0"/>
                            </a:rPr>
                          </m:ctrlPr>
                        </m:sSubPr>
                        <m:e>
                          <m:r>
                            <a:rPr lang="en-US" altLang="en-US" sz="2000" b="1" i="1" smtClean="0">
                              <a:solidFill>
                                <a:srgbClr val="C00000"/>
                              </a:solidFill>
                              <a:latin typeface="Cambria Math" panose="02040503050406030204" pitchFamily="18" charset="0"/>
                            </a:rPr>
                            <m:t>𝒔</m:t>
                          </m:r>
                        </m:e>
                        <m:sub>
                          <m:r>
                            <a:rPr lang="en-US" altLang="en-US" sz="2000" b="1" i="1" smtClean="0">
                              <a:solidFill>
                                <a:srgbClr val="C00000"/>
                              </a:solidFill>
                              <a:latin typeface="Cambria Math" panose="02040503050406030204" pitchFamily="18" charset="0"/>
                            </a:rPr>
                            <m:t>𝒏</m:t>
                          </m:r>
                        </m:sub>
                      </m:sSub>
                    </m:oMath>
                  </m:oMathPara>
                </a14:m>
                <a:endParaRPr lang="en-US" altLang="en-US" sz="2000" b="1" dirty="0">
                  <a:solidFill>
                    <a:srgbClr val="C00000"/>
                  </a:solidFill>
                </a:endParaRPr>
              </a:p>
            </p:txBody>
          </p:sp>
        </mc:Choice>
        <mc:Fallback xmlns="">
          <p:sp>
            <p:nvSpPr>
              <p:cNvPr id="40" name="Oval 50">
                <a:extLst>
                  <a:ext uri="{FF2B5EF4-FFF2-40B4-BE49-F238E27FC236}">
                    <a16:creationId xmlns:a16="http://schemas.microsoft.com/office/drawing/2014/main" id="{67A7356D-A41C-29A4-C0D1-551ACA0928B8}"/>
                  </a:ext>
                </a:extLst>
              </p:cNvPr>
              <p:cNvSpPr>
                <a:spLocks noRot="1" noChangeAspect="1" noMove="1" noResize="1" noEditPoints="1" noAdjustHandles="1" noChangeArrowheads="1" noChangeShapeType="1" noTextEdit="1"/>
              </p:cNvSpPr>
              <p:nvPr/>
            </p:nvSpPr>
            <p:spPr bwMode="auto">
              <a:xfrm>
                <a:off x="10510222" y="6006569"/>
                <a:ext cx="435031" cy="437783"/>
              </a:xfrm>
              <a:prstGeom prst="ellipse">
                <a:avLst/>
              </a:prstGeom>
              <a:blipFill>
                <a:blip r:embed="rId20"/>
                <a:stretch>
                  <a:fillRect/>
                </a:stretch>
              </a:blipFill>
              <a:ln w="9525">
                <a:solidFill>
                  <a:schemeClr val="tx1"/>
                </a:solidFill>
                <a:round/>
                <a:headEnd/>
                <a:tailEnd/>
              </a:ln>
              <a:effectLst/>
            </p:spPr>
            <p:txBody>
              <a:bodyPr/>
              <a:lstStyle/>
              <a:p>
                <a:r>
                  <a:rPr lang="en-US">
                    <a:noFill/>
                  </a:rPr>
                  <a:t> </a:t>
                </a:r>
              </a:p>
            </p:txBody>
          </p:sp>
        </mc:Fallback>
      </mc:AlternateContent>
      <p:cxnSp>
        <p:nvCxnSpPr>
          <p:cNvPr id="41" name="Straight Connector 40">
            <a:extLst>
              <a:ext uri="{FF2B5EF4-FFF2-40B4-BE49-F238E27FC236}">
                <a16:creationId xmlns:a16="http://schemas.microsoft.com/office/drawing/2014/main" id="{DF31A035-7532-DB4D-E268-9E76C81138E6}"/>
              </a:ext>
            </a:extLst>
          </p:cNvPr>
          <p:cNvCxnSpPr>
            <a:cxnSpLocks/>
            <a:stCxn id="29" idx="6"/>
            <a:endCxn id="37" idx="2"/>
          </p:cNvCxnSpPr>
          <p:nvPr/>
        </p:nvCxnSpPr>
        <p:spPr>
          <a:xfrm>
            <a:off x="7734361" y="2756480"/>
            <a:ext cx="2883278" cy="86724"/>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F276A198-0302-ADB7-C28B-1CD89DB1DFB9}"/>
              </a:ext>
            </a:extLst>
          </p:cNvPr>
          <p:cNvCxnSpPr>
            <a:cxnSpLocks/>
            <a:stCxn id="29" idx="5"/>
            <a:endCxn id="39" idx="1"/>
          </p:cNvCxnSpPr>
          <p:nvPr/>
        </p:nvCxnSpPr>
        <p:spPr>
          <a:xfrm>
            <a:off x="7670652" y="2911259"/>
            <a:ext cx="2887092" cy="2074168"/>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AB8B500A-8635-C74B-1E65-4FBF9BC4B697}"/>
              </a:ext>
            </a:extLst>
          </p:cNvPr>
          <p:cNvCxnSpPr>
            <a:cxnSpLocks/>
            <a:stCxn id="29" idx="4"/>
            <a:endCxn id="40" idx="2"/>
          </p:cNvCxnSpPr>
          <p:nvPr/>
        </p:nvCxnSpPr>
        <p:spPr>
          <a:xfrm>
            <a:off x="7516846" y="2975371"/>
            <a:ext cx="2993376" cy="3250090"/>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5BA7221-4906-4B72-DFE6-A670ED201015}"/>
              </a:ext>
            </a:extLst>
          </p:cNvPr>
          <p:cNvCxnSpPr>
            <a:cxnSpLocks/>
            <a:stCxn id="34" idx="6"/>
            <a:endCxn id="37" idx="3"/>
          </p:cNvCxnSpPr>
          <p:nvPr/>
        </p:nvCxnSpPr>
        <p:spPr>
          <a:xfrm flipV="1">
            <a:off x="7837730" y="2997983"/>
            <a:ext cx="2843618" cy="1007208"/>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956BC954-AD14-E1FC-96B2-D8F8E68CDA71}"/>
              </a:ext>
            </a:extLst>
          </p:cNvPr>
          <p:cNvCxnSpPr>
            <a:cxnSpLocks/>
            <a:stCxn id="36" idx="6"/>
            <a:endCxn id="39" idx="2"/>
          </p:cNvCxnSpPr>
          <p:nvPr/>
        </p:nvCxnSpPr>
        <p:spPr>
          <a:xfrm flipV="1">
            <a:off x="7620214" y="5140207"/>
            <a:ext cx="2873821" cy="55241"/>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42B6B5B7-AF1F-1EC9-5601-DB7F457E0E5B}"/>
              </a:ext>
            </a:extLst>
          </p:cNvPr>
          <p:cNvCxnSpPr>
            <a:cxnSpLocks/>
            <a:stCxn id="36" idx="7"/>
            <a:endCxn id="38" idx="2"/>
          </p:cNvCxnSpPr>
          <p:nvPr/>
        </p:nvCxnSpPr>
        <p:spPr>
          <a:xfrm flipV="1">
            <a:off x="7556505" y="4084906"/>
            <a:ext cx="2843618" cy="955762"/>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6" name="Straight Connector 85">
            <a:extLst>
              <a:ext uri="{FF2B5EF4-FFF2-40B4-BE49-F238E27FC236}">
                <a16:creationId xmlns:a16="http://schemas.microsoft.com/office/drawing/2014/main" id="{31FE36CD-7074-1602-6769-8EC34C30E329}"/>
              </a:ext>
            </a:extLst>
          </p:cNvPr>
          <p:cNvCxnSpPr>
            <a:cxnSpLocks/>
            <a:stCxn id="36" idx="5"/>
          </p:cNvCxnSpPr>
          <p:nvPr/>
        </p:nvCxnSpPr>
        <p:spPr>
          <a:xfrm>
            <a:off x="7556505" y="5350227"/>
            <a:ext cx="2861301" cy="316926"/>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9" name="Straight Connector 88">
            <a:extLst>
              <a:ext uri="{FF2B5EF4-FFF2-40B4-BE49-F238E27FC236}">
                <a16:creationId xmlns:a16="http://schemas.microsoft.com/office/drawing/2014/main" id="{A760FDB2-7B9B-D116-A53E-43130D3E64E8}"/>
              </a:ext>
            </a:extLst>
          </p:cNvPr>
          <p:cNvCxnSpPr>
            <a:cxnSpLocks/>
            <a:stCxn id="35" idx="6"/>
            <a:endCxn id="37" idx="4"/>
          </p:cNvCxnSpPr>
          <p:nvPr/>
        </p:nvCxnSpPr>
        <p:spPr>
          <a:xfrm flipV="1">
            <a:off x="7525722" y="3062095"/>
            <a:ext cx="3309433" cy="3257598"/>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2" name="Straight Connector 91">
            <a:extLst>
              <a:ext uri="{FF2B5EF4-FFF2-40B4-BE49-F238E27FC236}">
                <a16:creationId xmlns:a16="http://schemas.microsoft.com/office/drawing/2014/main" id="{E9E3E901-A499-6C22-50B8-F101A4F3161F}"/>
              </a:ext>
            </a:extLst>
          </p:cNvPr>
          <p:cNvCxnSpPr>
            <a:cxnSpLocks/>
            <a:stCxn id="35" idx="6"/>
            <a:endCxn id="40" idx="2"/>
          </p:cNvCxnSpPr>
          <p:nvPr/>
        </p:nvCxnSpPr>
        <p:spPr>
          <a:xfrm flipV="1">
            <a:off x="7525722" y="6225461"/>
            <a:ext cx="2984500" cy="94232"/>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074B14B1-FF67-7B89-A025-F6F655455F80}"/>
                  </a:ext>
                </a:extLst>
              </p:cNvPr>
              <p:cNvSpPr txBox="1"/>
              <p:nvPr/>
            </p:nvSpPr>
            <p:spPr>
              <a:xfrm>
                <a:off x="8799028" y="2624312"/>
                <a:ext cx="365805"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95" name="TextBox 94">
                <a:extLst>
                  <a:ext uri="{FF2B5EF4-FFF2-40B4-BE49-F238E27FC236}">
                    <a16:creationId xmlns:a16="http://schemas.microsoft.com/office/drawing/2014/main" id="{074B14B1-FF67-7B89-A025-F6F655455F80}"/>
                  </a:ext>
                </a:extLst>
              </p:cNvPr>
              <p:cNvSpPr txBox="1">
                <a:spLocks noRot="1" noChangeAspect="1" noMove="1" noResize="1" noEditPoints="1" noAdjustHandles="1" noChangeArrowheads="1" noChangeShapeType="1" noTextEdit="1"/>
              </p:cNvSpPr>
              <p:nvPr/>
            </p:nvSpPr>
            <p:spPr>
              <a:xfrm>
                <a:off x="8799028" y="2624312"/>
                <a:ext cx="365805"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C7CF0255-265D-6BF4-50BA-92B7BC8EDDFD}"/>
                  </a:ext>
                </a:extLst>
              </p:cNvPr>
              <p:cNvSpPr txBox="1"/>
              <p:nvPr/>
            </p:nvSpPr>
            <p:spPr>
              <a:xfrm>
                <a:off x="9451158" y="3096321"/>
                <a:ext cx="365805"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96" name="TextBox 95">
                <a:extLst>
                  <a:ext uri="{FF2B5EF4-FFF2-40B4-BE49-F238E27FC236}">
                    <a16:creationId xmlns:a16="http://schemas.microsoft.com/office/drawing/2014/main" id="{C7CF0255-265D-6BF4-50BA-92B7BC8EDDFD}"/>
                  </a:ext>
                </a:extLst>
              </p:cNvPr>
              <p:cNvSpPr txBox="1">
                <a:spLocks noRot="1" noChangeAspect="1" noMove="1" noResize="1" noEditPoints="1" noAdjustHandles="1" noChangeArrowheads="1" noChangeShapeType="1" noTextEdit="1"/>
              </p:cNvSpPr>
              <p:nvPr/>
            </p:nvSpPr>
            <p:spPr>
              <a:xfrm>
                <a:off x="9451158" y="3096321"/>
                <a:ext cx="365805" cy="369332"/>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06A7C4A5-9D1C-9087-CA94-DE962BA6F5DE}"/>
                  </a:ext>
                </a:extLst>
              </p:cNvPr>
              <p:cNvSpPr txBox="1"/>
              <p:nvPr/>
            </p:nvSpPr>
            <p:spPr>
              <a:xfrm>
                <a:off x="8981930" y="3733313"/>
                <a:ext cx="365805"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97" name="TextBox 96">
                <a:extLst>
                  <a:ext uri="{FF2B5EF4-FFF2-40B4-BE49-F238E27FC236}">
                    <a16:creationId xmlns:a16="http://schemas.microsoft.com/office/drawing/2014/main" id="{06A7C4A5-9D1C-9087-CA94-DE962BA6F5DE}"/>
                  </a:ext>
                </a:extLst>
              </p:cNvPr>
              <p:cNvSpPr txBox="1">
                <a:spLocks noRot="1" noChangeAspect="1" noMove="1" noResize="1" noEditPoints="1" noAdjustHandles="1" noChangeArrowheads="1" noChangeShapeType="1" noTextEdit="1"/>
              </p:cNvSpPr>
              <p:nvPr/>
            </p:nvSpPr>
            <p:spPr>
              <a:xfrm>
                <a:off x="8981930" y="3733313"/>
                <a:ext cx="365805" cy="369332"/>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8" name="TextBox 97">
                <a:extLst>
                  <a:ext uri="{FF2B5EF4-FFF2-40B4-BE49-F238E27FC236}">
                    <a16:creationId xmlns:a16="http://schemas.microsoft.com/office/drawing/2014/main" id="{26707C76-3EC8-7E73-7969-A9E5C5546F1D}"/>
                  </a:ext>
                </a:extLst>
              </p:cNvPr>
              <p:cNvSpPr txBox="1"/>
              <p:nvPr/>
            </p:nvSpPr>
            <p:spPr>
              <a:xfrm>
                <a:off x="8474094" y="4027377"/>
                <a:ext cx="365805"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98" name="TextBox 97">
                <a:extLst>
                  <a:ext uri="{FF2B5EF4-FFF2-40B4-BE49-F238E27FC236}">
                    <a16:creationId xmlns:a16="http://schemas.microsoft.com/office/drawing/2014/main" id="{26707C76-3EC8-7E73-7969-A9E5C5546F1D}"/>
                  </a:ext>
                </a:extLst>
              </p:cNvPr>
              <p:cNvSpPr txBox="1">
                <a:spLocks noRot="1" noChangeAspect="1" noMove="1" noResize="1" noEditPoints="1" noAdjustHandles="1" noChangeArrowheads="1" noChangeShapeType="1" noTextEdit="1"/>
              </p:cNvSpPr>
              <p:nvPr/>
            </p:nvSpPr>
            <p:spPr>
              <a:xfrm>
                <a:off x="8474094" y="4027377"/>
                <a:ext cx="365805" cy="369332"/>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CBF2BDDA-B1F1-FF4D-26C7-A5F1DDF99CE3}"/>
                  </a:ext>
                </a:extLst>
              </p:cNvPr>
              <p:cNvSpPr txBox="1"/>
              <p:nvPr/>
            </p:nvSpPr>
            <p:spPr>
              <a:xfrm>
                <a:off x="8176968" y="4521104"/>
                <a:ext cx="365805"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99" name="TextBox 98">
                <a:extLst>
                  <a:ext uri="{FF2B5EF4-FFF2-40B4-BE49-F238E27FC236}">
                    <a16:creationId xmlns:a16="http://schemas.microsoft.com/office/drawing/2014/main" id="{CBF2BDDA-B1F1-FF4D-26C7-A5F1DDF99CE3}"/>
                  </a:ext>
                </a:extLst>
              </p:cNvPr>
              <p:cNvSpPr txBox="1">
                <a:spLocks noRot="1" noChangeAspect="1" noMove="1" noResize="1" noEditPoints="1" noAdjustHandles="1" noChangeArrowheads="1" noChangeShapeType="1" noTextEdit="1"/>
              </p:cNvSpPr>
              <p:nvPr/>
            </p:nvSpPr>
            <p:spPr>
              <a:xfrm>
                <a:off x="8176968" y="4521104"/>
                <a:ext cx="365805"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F240A79E-B41C-BE8E-F3B7-630D7A32EA95}"/>
                  </a:ext>
                </a:extLst>
              </p:cNvPr>
              <p:cNvSpPr txBox="1"/>
              <p:nvPr/>
            </p:nvSpPr>
            <p:spPr>
              <a:xfrm>
                <a:off x="8931295" y="5019653"/>
                <a:ext cx="365805"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100" name="TextBox 99">
                <a:extLst>
                  <a:ext uri="{FF2B5EF4-FFF2-40B4-BE49-F238E27FC236}">
                    <a16:creationId xmlns:a16="http://schemas.microsoft.com/office/drawing/2014/main" id="{F240A79E-B41C-BE8E-F3B7-630D7A32EA95}"/>
                  </a:ext>
                </a:extLst>
              </p:cNvPr>
              <p:cNvSpPr txBox="1">
                <a:spLocks noRot="1" noChangeAspect="1" noMove="1" noResize="1" noEditPoints="1" noAdjustHandles="1" noChangeArrowheads="1" noChangeShapeType="1" noTextEdit="1"/>
              </p:cNvSpPr>
              <p:nvPr/>
            </p:nvSpPr>
            <p:spPr>
              <a:xfrm>
                <a:off x="8931295" y="5019653"/>
                <a:ext cx="365805"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1" name="TextBox 100">
                <a:extLst>
                  <a:ext uri="{FF2B5EF4-FFF2-40B4-BE49-F238E27FC236}">
                    <a16:creationId xmlns:a16="http://schemas.microsoft.com/office/drawing/2014/main" id="{DE9C1D77-CE43-ECE3-DD53-77DDA9BAB149}"/>
                  </a:ext>
                </a:extLst>
              </p:cNvPr>
              <p:cNvSpPr txBox="1"/>
              <p:nvPr/>
            </p:nvSpPr>
            <p:spPr>
              <a:xfrm>
                <a:off x="8871778" y="5360383"/>
                <a:ext cx="365805"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101" name="TextBox 100">
                <a:extLst>
                  <a:ext uri="{FF2B5EF4-FFF2-40B4-BE49-F238E27FC236}">
                    <a16:creationId xmlns:a16="http://schemas.microsoft.com/office/drawing/2014/main" id="{DE9C1D77-CE43-ECE3-DD53-77DDA9BAB149}"/>
                  </a:ext>
                </a:extLst>
              </p:cNvPr>
              <p:cNvSpPr txBox="1">
                <a:spLocks noRot="1" noChangeAspect="1" noMove="1" noResize="1" noEditPoints="1" noAdjustHandles="1" noChangeArrowheads="1" noChangeShapeType="1" noTextEdit="1"/>
              </p:cNvSpPr>
              <p:nvPr/>
            </p:nvSpPr>
            <p:spPr>
              <a:xfrm>
                <a:off x="8871778" y="5360383"/>
                <a:ext cx="365805" cy="369332"/>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FEA8B4A9-B37D-5505-A5A8-9D24B5A290AC}"/>
                  </a:ext>
                </a:extLst>
              </p:cNvPr>
              <p:cNvSpPr txBox="1"/>
              <p:nvPr/>
            </p:nvSpPr>
            <p:spPr>
              <a:xfrm>
                <a:off x="8993097" y="6072076"/>
                <a:ext cx="365805"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102" name="TextBox 101">
                <a:extLst>
                  <a:ext uri="{FF2B5EF4-FFF2-40B4-BE49-F238E27FC236}">
                    <a16:creationId xmlns:a16="http://schemas.microsoft.com/office/drawing/2014/main" id="{FEA8B4A9-B37D-5505-A5A8-9D24B5A290AC}"/>
                  </a:ext>
                </a:extLst>
              </p:cNvPr>
              <p:cNvSpPr txBox="1">
                <a:spLocks noRot="1" noChangeAspect="1" noMove="1" noResize="1" noEditPoints="1" noAdjustHandles="1" noChangeArrowheads="1" noChangeShapeType="1" noTextEdit="1"/>
              </p:cNvSpPr>
              <p:nvPr/>
            </p:nvSpPr>
            <p:spPr>
              <a:xfrm>
                <a:off x="8993097" y="6072076"/>
                <a:ext cx="365805" cy="369332"/>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3" name="TextBox 102">
                <a:extLst>
                  <a:ext uri="{FF2B5EF4-FFF2-40B4-BE49-F238E27FC236}">
                    <a16:creationId xmlns:a16="http://schemas.microsoft.com/office/drawing/2014/main" id="{05D7E744-D143-66B2-F7C1-F35606B33055}"/>
                  </a:ext>
                </a:extLst>
              </p:cNvPr>
              <p:cNvSpPr txBox="1"/>
              <p:nvPr/>
            </p:nvSpPr>
            <p:spPr>
              <a:xfrm>
                <a:off x="7814142" y="5711321"/>
                <a:ext cx="365805"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103" name="TextBox 102">
                <a:extLst>
                  <a:ext uri="{FF2B5EF4-FFF2-40B4-BE49-F238E27FC236}">
                    <a16:creationId xmlns:a16="http://schemas.microsoft.com/office/drawing/2014/main" id="{05D7E744-D143-66B2-F7C1-F35606B33055}"/>
                  </a:ext>
                </a:extLst>
              </p:cNvPr>
              <p:cNvSpPr txBox="1">
                <a:spLocks noRot="1" noChangeAspect="1" noMove="1" noResize="1" noEditPoints="1" noAdjustHandles="1" noChangeArrowheads="1" noChangeShapeType="1" noTextEdit="1"/>
              </p:cNvSpPr>
              <p:nvPr/>
            </p:nvSpPr>
            <p:spPr>
              <a:xfrm>
                <a:off x="7814142" y="5711321"/>
                <a:ext cx="365805" cy="369332"/>
              </a:xfrm>
              <a:prstGeom prst="rect">
                <a:avLst/>
              </a:prstGeom>
              <a:blipFill>
                <a:blip r:embed="rId29"/>
                <a:stretch>
                  <a:fillRect/>
                </a:stretch>
              </a:blipFill>
            </p:spPr>
            <p:txBody>
              <a:bodyPr/>
              <a:lstStyle/>
              <a:p>
                <a:r>
                  <a:rPr lang="en-US">
                    <a:noFill/>
                  </a:rPr>
                  <a:t> </a:t>
                </a:r>
              </a:p>
            </p:txBody>
          </p:sp>
        </mc:Fallback>
      </mc:AlternateContent>
      <p:sp>
        <p:nvSpPr>
          <p:cNvPr id="104" name="TextBox 103">
            <a:extLst>
              <a:ext uri="{FF2B5EF4-FFF2-40B4-BE49-F238E27FC236}">
                <a16:creationId xmlns:a16="http://schemas.microsoft.com/office/drawing/2014/main" id="{22D72DAC-CB23-62CB-3103-66FD118E184F}"/>
              </a:ext>
            </a:extLst>
          </p:cNvPr>
          <p:cNvSpPr txBox="1"/>
          <p:nvPr/>
        </p:nvSpPr>
        <p:spPr>
          <a:xfrm>
            <a:off x="7096880" y="5278946"/>
            <a:ext cx="468398" cy="584775"/>
          </a:xfrm>
          <a:prstGeom prst="rect">
            <a:avLst/>
          </a:prstGeom>
          <a:noFill/>
        </p:spPr>
        <p:txBody>
          <a:bodyPr wrap="none" rtlCol="0">
            <a:spAutoFit/>
          </a:bodyPr>
          <a:lstStyle/>
          <a:p>
            <a:r>
              <a:rPr lang="en-US" sz="3200" dirty="0">
                <a:solidFill>
                  <a:srgbClr val="C00000"/>
                </a:solidFill>
              </a:rPr>
              <a:t>…</a:t>
            </a:r>
          </a:p>
        </p:txBody>
      </p:sp>
      <p:sp>
        <p:nvSpPr>
          <p:cNvPr id="106" name="TextBox 105">
            <a:extLst>
              <a:ext uri="{FF2B5EF4-FFF2-40B4-BE49-F238E27FC236}">
                <a16:creationId xmlns:a16="http://schemas.microsoft.com/office/drawing/2014/main" id="{04CC5A42-3386-3228-FB5E-4708EABF1802}"/>
              </a:ext>
            </a:extLst>
          </p:cNvPr>
          <p:cNvSpPr txBox="1"/>
          <p:nvPr/>
        </p:nvSpPr>
        <p:spPr>
          <a:xfrm>
            <a:off x="10438494" y="5270321"/>
            <a:ext cx="468398" cy="584775"/>
          </a:xfrm>
          <a:prstGeom prst="rect">
            <a:avLst/>
          </a:prstGeom>
          <a:noFill/>
        </p:spPr>
        <p:txBody>
          <a:bodyPr wrap="none" rtlCol="0">
            <a:spAutoFit/>
          </a:bodyPr>
          <a:lstStyle/>
          <a:p>
            <a:r>
              <a:rPr lang="en-US" sz="3200" dirty="0">
                <a:solidFill>
                  <a:srgbClr val="C00000"/>
                </a:solidFill>
              </a:rPr>
              <a:t>…</a:t>
            </a:r>
          </a:p>
        </p:txBody>
      </p:sp>
    </p:spTree>
    <p:extLst>
      <p:ext uri="{BB962C8B-B14F-4D97-AF65-F5344CB8AC3E}">
        <p14:creationId xmlns:p14="http://schemas.microsoft.com/office/powerpoint/2010/main" val="12073705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739412-9E03-8F90-4026-7B80D69DE5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04ADE4-5765-6782-23EC-9E90A1F25997}"/>
              </a:ext>
            </a:extLst>
          </p:cNvPr>
          <p:cNvSpPr>
            <a:spLocks noGrp="1"/>
          </p:cNvSpPr>
          <p:nvPr>
            <p:ph type="title"/>
          </p:nvPr>
        </p:nvSpPr>
        <p:spPr/>
        <p:txBody>
          <a:bodyPr/>
          <a:lstStyle/>
          <a:p>
            <a:r>
              <a:rPr lang="en-US" dirty="0"/>
              <a:t>Correctness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97E734E-1F64-2D87-D748-CC379C1363A0}"/>
                  </a:ext>
                </a:extLst>
              </p:cNvPr>
              <p:cNvSpPr>
                <a:spLocks noGrp="1"/>
              </p:cNvSpPr>
              <p:nvPr>
                <p:ph idx="1"/>
              </p:nvPr>
            </p:nvSpPr>
            <p:spPr>
              <a:xfrm>
                <a:off x="113275" y="1435395"/>
                <a:ext cx="5573935" cy="5348177"/>
              </a:xfrm>
            </p:spPr>
            <p:txBody>
              <a:bodyPr>
                <a:normAutofit fontScale="92500" lnSpcReduction="10000"/>
              </a:bodyPr>
              <a:lstStyle/>
              <a:p>
                <a:r>
                  <a:rPr lang="en-US" dirty="0"/>
                  <a:t>Valid flow </a:t>
                </a:r>
                <a14:m>
                  <m:oMath xmlns:m="http://schemas.openxmlformats.org/officeDocument/2006/math">
                    <m:r>
                      <a:rPr lang="en-US" b="0" i="1" smtClean="0">
                        <a:latin typeface="Cambria Math" panose="02040503050406030204" pitchFamily="18" charset="0"/>
                      </a:rPr>
                      <m:t>⇒</m:t>
                    </m:r>
                  </m:oMath>
                </a14:m>
                <a:r>
                  <a:rPr lang="en-US" dirty="0"/>
                  <a:t> Valid answer</a:t>
                </a:r>
              </a:p>
              <a:p>
                <a:pPr lvl="1"/>
                <a:r>
                  <a:rPr lang="en-US" dirty="0"/>
                  <a:t>No employee is assigned to more than </a:t>
                </a:r>
                <a14:m>
                  <m:oMath xmlns:m="http://schemas.openxmlformats.org/officeDocument/2006/math">
                    <m:r>
                      <a:rPr lang="en-US" b="0" i="1" smtClean="0">
                        <a:latin typeface="Cambria Math" panose="02040503050406030204" pitchFamily="18" charset="0"/>
                      </a:rPr>
                      <m:t>𝑥</m:t>
                    </m:r>
                  </m:oMath>
                </a14:m>
                <a:r>
                  <a:rPr lang="en-US" dirty="0"/>
                  <a:t> shifts (capacity on </a:t>
                </a:r>
                <a14:m>
                  <m:oMath xmlns:m="http://schemas.openxmlformats.org/officeDocument/2006/math">
                    <m:r>
                      <a:rPr lang="en-US" b="0" i="1" smtClean="0">
                        <a:latin typeface="Cambria Math" panose="02040503050406030204" pitchFamily="18" charset="0"/>
                      </a:rPr>
                      <m:t>𝑠</m:t>
                    </m:r>
                  </m:oMath>
                </a14:m>
                <a:r>
                  <a:rPr lang="en-US" dirty="0"/>
                  <a:t> to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𝑒</m:t>
                        </m:r>
                      </m:e>
                      <m:sub>
                        <m:r>
                          <a:rPr lang="en-US" b="0" i="1" smtClean="0">
                            <a:latin typeface="Cambria Math" panose="02040503050406030204" pitchFamily="18" charset="0"/>
                          </a:rPr>
                          <m:t>𝑖</m:t>
                        </m:r>
                      </m:sub>
                    </m:sSub>
                  </m:oMath>
                </a14:m>
                <a:r>
                  <a:rPr lang="en-US" dirty="0"/>
                  <a:t>)</a:t>
                </a:r>
              </a:p>
              <a:p>
                <a:pPr lvl="1"/>
                <a:r>
                  <a:rPr lang="en-US" dirty="0"/>
                  <a:t>No employee is assigned to the same shift more than once (capacity of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𝑒</m:t>
                        </m:r>
                      </m:e>
                      <m:sub>
                        <m:r>
                          <a:rPr lang="en-US" b="0" i="1" smtClean="0">
                            <a:latin typeface="Cambria Math" panose="02040503050406030204" pitchFamily="18" charset="0"/>
                          </a:rPr>
                          <m:t>𝑖</m:t>
                        </m:r>
                      </m:sub>
                    </m:sSub>
                  </m:oMath>
                </a14:m>
                <a:r>
                  <a:rPr lang="en-US" dirty="0"/>
                  <a:t> to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𝑗</m:t>
                        </m:r>
                      </m:sub>
                    </m:sSub>
                  </m:oMath>
                </a14:m>
                <a:r>
                  <a:rPr lang="en-US" dirty="0"/>
                  <a:t>)</a:t>
                </a:r>
              </a:p>
              <a:p>
                <a:pPr lvl="1"/>
                <a:r>
                  <a:rPr lang="en-US" dirty="0"/>
                  <a:t>No employee is assigned to an unavailable shift (by selection of edges to draw)</a:t>
                </a:r>
              </a:p>
              <a:p>
                <a:pPr lvl="1"/>
                <a:r>
                  <a:rPr lang="en-US" dirty="0"/>
                  <a:t>All shifts staffed if flow value is </a:t>
                </a:r>
                <a14:m>
                  <m:oMath xmlns:m="http://schemas.openxmlformats.org/officeDocument/2006/math">
                    <m:nary>
                      <m:naryPr>
                        <m:chr m:val="∑"/>
                        <m:subHide m:val="on"/>
                        <m:supHide m:val="on"/>
                        <m:ctrlPr>
                          <a:rPr lang="en-US" b="0" i="1" smtClean="0">
                            <a:latin typeface="Cambria Math" panose="02040503050406030204" pitchFamily="18" charset="0"/>
                          </a:rPr>
                        </m:ctrlPr>
                      </m:naryPr>
                      <m:sub/>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𝑖</m:t>
                            </m:r>
                          </m:sub>
                        </m:sSub>
                      </m:e>
                    </m:nary>
                  </m:oMath>
                </a14:m>
                <a:endParaRPr lang="en-US" dirty="0"/>
              </a:p>
              <a:p>
                <a:r>
                  <a:rPr lang="en-US" dirty="0"/>
                  <a:t>Valid answer </a:t>
                </a:r>
                <a14:m>
                  <m:oMath xmlns:m="http://schemas.openxmlformats.org/officeDocument/2006/math">
                    <m:r>
                      <a:rPr lang="en-US" b="0" i="1" smtClean="0">
                        <a:latin typeface="Cambria Math" panose="02040503050406030204" pitchFamily="18" charset="0"/>
                      </a:rPr>
                      <m:t>⇒</m:t>
                    </m:r>
                  </m:oMath>
                </a14:m>
                <a:r>
                  <a:rPr lang="en-US" dirty="0"/>
                  <a:t> Valid flow</a:t>
                </a:r>
              </a:p>
              <a:p>
                <a:pPr lvl="1"/>
                <a:r>
                  <a:rPr lang="en-US" dirty="0"/>
                  <a:t>Suppose we had a way of staffing the shifts, we will show that there must be flow through the graph whose value matches </a:t>
                </a:r>
                <a14:m>
                  <m:oMath xmlns:m="http://schemas.openxmlformats.org/officeDocument/2006/math">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𝑖</m:t>
                        </m:r>
                      </m:sub>
                    </m:sSub>
                  </m:oMath>
                </a14:m>
                <a:endParaRPr lang="en-US" dirty="0"/>
              </a:p>
              <a:p>
                <a:pPr lvl="2"/>
                <a:r>
                  <a:rPr lang="en-US" dirty="0"/>
                  <a:t>All capacity constraints will be observed</a:t>
                </a:r>
              </a:p>
              <a:p>
                <a:pPr lvl="2"/>
                <a:r>
                  <a:rPr lang="en-US" dirty="0"/>
                  <a:t>It will only use edges we drew</a:t>
                </a:r>
              </a:p>
              <a:p>
                <a:pPr lvl="2"/>
                <a:r>
                  <a:rPr lang="en-US" dirty="0"/>
                  <a:t>It will assign flow across </a:t>
                </a:r>
                <a14:m>
                  <m:oMath xmlns:m="http://schemas.openxmlformats.org/officeDocument/2006/math">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𝑖</m:t>
                        </m:r>
                      </m:sub>
                    </m:sSub>
                  </m:oMath>
                </a14:m>
                <a:r>
                  <a:rPr lang="en-US" dirty="0"/>
                  <a:t>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𝑒</m:t>
                        </m:r>
                      </m:e>
                      <m:sub>
                        <m:r>
                          <a:rPr lang="en-US" b="0" i="1" dirty="0" smtClean="0">
                            <a:latin typeface="Cambria Math" panose="02040503050406030204" pitchFamily="18" charset="0"/>
                          </a:rPr>
                          <m:t>𝑖</m:t>
                        </m:r>
                      </m:sub>
                    </m:sSub>
                  </m:oMath>
                </a14:m>
                <a:r>
                  <a:rPr lang="en-US" dirty="0"/>
                  <a:t>-to-</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𝑗</m:t>
                        </m:r>
                      </m:sub>
                    </m:sSub>
                  </m:oMath>
                </a14:m>
                <a:r>
                  <a:rPr lang="en-US" dirty="0"/>
                  <a:t> shifts</a:t>
                </a:r>
              </a:p>
            </p:txBody>
          </p:sp>
        </mc:Choice>
        <mc:Fallback xmlns="">
          <p:sp>
            <p:nvSpPr>
              <p:cNvPr id="3" name="Content Placeholder 2">
                <a:extLst>
                  <a:ext uri="{FF2B5EF4-FFF2-40B4-BE49-F238E27FC236}">
                    <a16:creationId xmlns:a16="http://schemas.microsoft.com/office/drawing/2014/main" id="{997E734E-1F64-2D87-D748-CC379C1363A0}"/>
                  </a:ext>
                </a:extLst>
              </p:cNvPr>
              <p:cNvSpPr>
                <a:spLocks noGrp="1" noRot="1" noChangeAspect="1" noMove="1" noResize="1" noEditPoints="1" noAdjustHandles="1" noChangeArrowheads="1" noChangeShapeType="1" noTextEdit="1"/>
              </p:cNvSpPr>
              <p:nvPr>
                <p:ph idx="1"/>
              </p:nvPr>
            </p:nvSpPr>
            <p:spPr>
              <a:xfrm>
                <a:off x="113275" y="1435395"/>
                <a:ext cx="5573935" cy="5348177"/>
              </a:xfrm>
              <a:blipFill>
                <a:blip r:embed="rId2"/>
                <a:stretch>
                  <a:fillRect l="-1751" t="-2278" r="-2188" b="-125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Oval 50">
                <a:extLst>
                  <a:ext uri="{FF2B5EF4-FFF2-40B4-BE49-F238E27FC236}">
                    <a16:creationId xmlns:a16="http://schemas.microsoft.com/office/drawing/2014/main" id="{176F6BE0-9A95-5E03-EB42-433B25BA4EA9}"/>
                  </a:ext>
                </a:extLst>
              </p:cNvPr>
              <p:cNvSpPr>
                <a:spLocks noChangeAspect="1" noChangeArrowheads="1"/>
              </p:cNvSpPr>
              <p:nvPr/>
            </p:nvSpPr>
            <p:spPr bwMode="auto">
              <a:xfrm>
                <a:off x="5718433" y="4200001"/>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r>
                        <a:rPr lang="en-US" altLang="en-US" sz="2000" b="1" i="1" dirty="0" smtClean="0">
                          <a:solidFill>
                            <a:srgbClr val="C00000"/>
                          </a:solidFill>
                          <a:latin typeface="Cambria Math" panose="02040503050406030204" pitchFamily="18" charset="0"/>
                        </a:rPr>
                        <m:t>𝒔</m:t>
                      </m:r>
                    </m:oMath>
                  </m:oMathPara>
                </a14:m>
                <a:endParaRPr lang="en-US" altLang="en-US" sz="2000" b="1" dirty="0">
                  <a:solidFill>
                    <a:srgbClr val="C00000"/>
                  </a:solidFill>
                </a:endParaRPr>
              </a:p>
            </p:txBody>
          </p:sp>
        </mc:Choice>
        <mc:Fallback xmlns="">
          <p:sp>
            <p:nvSpPr>
              <p:cNvPr id="23" name="Oval 50">
                <a:extLst>
                  <a:ext uri="{FF2B5EF4-FFF2-40B4-BE49-F238E27FC236}">
                    <a16:creationId xmlns:a16="http://schemas.microsoft.com/office/drawing/2014/main" id="{176F6BE0-9A95-5E03-EB42-433B25BA4EA9}"/>
                  </a:ext>
                </a:extLst>
              </p:cNvPr>
              <p:cNvSpPr>
                <a:spLocks noRot="1" noChangeAspect="1" noMove="1" noResize="1" noEditPoints="1" noAdjustHandles="1" noChangeArrowheads="1" noChangeShapeType="1" noTextEdit="1"/>
              </p:cNvSpPr>
              <p:nvPr/>
            </p:nvSpPr>
            <p:spPr bwMode="auto">
              <a:xfrm>
                <a:off x="5718433" y="4200001"/>
                <a:ext cx="435031" cy="437783"/>
              </a:xfrm>
              <a:prstGeom prst="ellipse">
                <a:avLst/>
              </a:prstGeom>
              <a:blipFill>
                <a:blip r:embed="rId3"/>
                <a:stretch>
                  <a:fillRect/>
                </a:stretch>
              </a:blipFill>
              <a:ln w="9525">
                <a:solidFill>
                  <a:schemeClr val="tx1"/>
                </a:solidFill>
                <a:round/>
                <a:headEnd/>
                <a:tailEnd/>
              </a:ln>
              <a:effec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Oval 50">
                <a:extLst>
                  <a:ext uri="{FF2B5EF4-FFF2-40B4-BE49-F238E27FC236}">
                    <a16:creationId xmlns:a16="http://schemas.microsoft.com/office/drawing/2014/main" id="{C69D1107-9286-B80A-538D-2AF6E1D13710}"/>
                  </a:ext>
                </a:extLst>
              </p:cNvPr>
              <p:cNvSpPr>
                <a:spLocks noChangeAspect="1" noChangeArrowheads="1"/>
              </p:cNvSpPr>
              <p:nvPr/>
            </p:nvSpPr>
            <p:spPr bwMode="auto">
              <a:xfrm>
                <a:off x="11684112" y="4308372"/>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r>
                        <a:rPr lang="en-US" altLang="en-US" sz="2000" b="1" i="1" dirty="0" smtClean="0">
                          <a:solidFill>
                            <a:srgbClr val="C00000"/>
                          </a:solidFill>
                          <a:latin typeface="Cambria Math" panose="02040503050406030204" pitchFamily="18" charset="0"/>
                        </a:rPr>
                        <m:t>𝒕</m:t>
                      </m:r>
                    </m:oMath>
                  </m:oMathPara>
                </a14:m>
                <a:endParaRPr lang="en-US" altLang="en-US" sz="2000" b="1" dirty="0">
                  <a:solidFill>
                    <a:srgbClr val="C00000"/>
                  </a:solidFill>
                </a:endParaRPr>
              </a:p>
            </p:txBody>
          </p:sp>
        </mc:Choice>
        <mc:Fallback xmlns="">
          <p:sp>
            <p:nvSpPr>
              <p:cNvPr id="24" name="Oval 50">
                <a:extLst>
                  <a:ext uri="{FF2B5EF4-FFF2-40B4-BE49-F238E27FC236}">
                    <a16:creationId xmlns:a16="http://schemas.microsoft.com/office/drawing/2014/main" id="{C69D1107-9286-B80A-538D-2AF6E1D13710}"/>
                  </a:ext>
                </a:extLst>
              </p:cNvPr>
              <p:cNvSpPr>
                <a:spLocks noRot="1" noChangeAspect="1" noMove="1" noResize="1" noEditPoints="1" noAdjustHandles="1" noChangeArrowheads="1" noChangeShapeType="1" noTextEdit="1"/>
              </p:cNvSpPr>
              <p:nvPr/>
            </p:nvSpPr>
            <p:spPr bwMode="auto">
              <a:xfrm>
                <a:off x="11684112" y="4308372"/>
                <a:ext cx="435031" cy="437783"/>
              </a:xfrm>
              <a:prstGeom prst="ellipse">
                <a:avLst/>
              </a:prstGeom>
              <a:blipFill>
                <a:blip r:embed="rId4"/>
                <a:stretch>
                  <a:fillRect/>
                </a:stretch>
              </a:blipFill>
              <a:ln w="9525">
                <a:solidFill>
                  <a:schemeClr val="tx1"/>
                </a:solidFill>
                <a:round/>
                <a:headEnd/>
                <a:tailEnd/>
              </a:ln>
              <a:effectLst/>
            </p:spPr>
            <p:txBody>
              <a:bodyPr/>
              <a:lstStyle/>
              <a:p>
                <a:r>
                  <a:rPr lang="en-US">
                    <a:noFill/>
                  </a:rPr>
                  <a:t> </a:t>
                </a:r>
              </a:p>
            </p:txBody>
          </p:sp>
        </mc:Fallback>
      </mc:AlternateContent>
      <p:cxnSp>
        <p:nvCxnSpPr>
          <p:cNvPr id="59" name="Straight Connector 58">
            <a:extLst>
              <a:ext uri="{FF2B5EF4-FFF2-40B4-BE49-F238E27FC236}">
                <a16:creationId xmlns:a16="http://schemas.microsoft.com/office/drawing/2014/main" id="{E1B3B36F-05B3-1686-60EC-104DD4330E50}"/>
              </a:ext>
            </a:extLst>
          </p:cNvPr>
          <p:cNvCxnSpPr>
            <a:cxnSpLocks/>
            <a:stCxn id="23" idx="7"/>
          </p:cNvCxnSpPr>
          <p:nvPr/>
        </p:nvCxnSpPr>
        <p:spPr>
          <a:xfrm flipV="1">
            <a:off x="6089756" y="2847148"/>
            <a:ext cx="1209574" cy="1416965"/>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051D3903-F9CE-C3D6-C977-49CD16878A9F}"/>
              </a:ext>
            </a:extLst>
          </p:cNvPr>
          <p:cNvCxnSpPr>
            <a:cxnSpLocks/>
            <a:stCxn id="23" idx="6"/>
          </p:cNvCxnSpPr>
          <p:nvPr/>
        </p:nvCxnSpPr>
        <p:spPr>
          <a:xfrm flipV="1">
            <a:off x="6153464" y="4005192"/>
            <a:ext cx="1257964" cy="413702"/>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36DB78E0-978C-6807-A7D6-16487506A29A}"/>
              </a:ext>
            </a:extLst>
          </p:cNvPr>
          <p:cNvCxnSpPr>
            <a:cxnSpLocks/>
            <a:stCxn id="23" idx="5"/>
          </p:cNvCxnSpPr>
          <p:nvPr/>
        </p:nvCxnSpPr>
        <p:spPr>
          <a:xfrm>
            <a:off x="6089756" y="4573673"/>
            <a:ext cx="1095402" cy="566534"/>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36402E01-89AE-25EB-6778-C3BE36C632F7}"/>
              </a:ext>
            </a:extLst>
          </p:cNvPr>
          <p:cNvCxnSpPr>
            <a:cxnSpLocks/>
            <a:stCxn id="23" idx="4"/>
          </p:cNvCxnSpPr>
          <p:nvPr/>
        </p:nvCxnSpPr>
        <p:spPr>
          <a:xfrm>
            <a:off x="5935949" y="4637785"/>
            <a:ext cx="1154742" cy="1587676"/>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CC20FD26-66A4-19DA-C80E-B5334EAD9CCF}"/>
              </a:ext>
            </a:extLst>
          </p:cNvPr>
          <p:cNvCxnSpPr>
            <a:cxnSpLocks/>
            <a:endCxn id="24" idx="0"/>
          </p:cNvCxnSpPr>
          <p:nvPr/>
        </p:nvCxnSpPr>
        <p:spPr>
          <a:xfrm>
            <a:off x="10945253" y="2951108"/>
            <a:ext cx="956375" cy="1357265"/>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5" name="Straight Connector 74">
            <a:extLst>
              <a:ext uri="{FF2B5EF4-FFF2-40B4-BE49-F238E27FC236}">
                <a16:creationId xmlns:a16="http://schemas.microsoft.com/office/drawing/2014/main" id="{6E094704-6863-C2BD-8192-6DA318697BB7}"/>
              </a:ext>
            </a:extLst>
          </p:cNvPr>
          <p:cNvCxnSpPr>
            <a:cxnSpLocks/>
            <a:endCxn id="24" idx="1"/>
          </p:cNvCxnSpPr>
          <p:nvPr/>
        </p:nvCxnSpPr>
        <p:spPr>
          <a:xfrm>
            <a:off x="10835155" y="4100807"/>
            <a:ext cx="912665" cy="271677"/>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8" name="Straight Connector 77">
            <a:extLst>
              <a:ext uri="{FF2B5EF4-FFF2-40B4-BE49-F238E27FC236}">
                <a16:creationId xmlns:a16="http://schemas.microsoft.com/office/drawing/2014/main" id="{DC0927D6-3F65-D56F-BC33-07B3E7A1A10B}"/>
              </a:ext>
            </a:extLst>
          </p:cNvPr>
          <p:cNvCxnSpPr>
            <a:cxnSpLocks/>
            <a:endCxn id="24" idx="3"/>
          </p:cNvCxnSpPr>
          <p:nvPr/>
        </p:nvCxnSpPr>
        <p:spPr>
          <a:xfrm flipV="1">
            <a:off x="10920258" y="4682044"/>
            <a:ext cx="827562" cy="426688"/>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2CD66DA3-81A7-4E12-92E5-79957D2EAAA4}"/>
              </a:ext>
            </a:extLst>
          </p:cNvPr>
          <p:cNvCxnSpPr>
            <a:cxnSpLocks/>
            <a:endCxn id="24" idx="4"/>
          </p:cNvCxnSpPr>
          <p:nvPr/>
        </p:nvCxnSpPr>
        <p:spPr>
          <a:xfrm flipV="1">
            <a:off x="10894672" y="4746156"/>
            <a:ext cx="1006956" cy="1397105"/>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537B579-5238-A44C-09EA-650671EC3A75}"/>
                  </a:ext>
                </a:extLst>
              </p:cNvPr>
              <p:cNvSpPr txBox="1"/>
              <p:nvPr/>
            </p:nvSpPr>
            <p:spPr>
              <a:xfrm>
                <a:off x="6544966" y="3445074"/>
                <a:ext cx="367986"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𝑥</m:t>
                      </m:r>
                    </m:oMath>
                  </m:oMathPara>
                </a14:m>
                <a:endParaRPr lang="en-US" dirty="0"/>
              </a:p>
            </p:txBody>
          </p:sp>
        </mc:Choice>
        <mc:Fallback xmlns="">
          <p:sp>
            <p:nvSpPr>
              <p:cNvPr id="33" name="TextBox 32">
                <a:extLst>
                  <a:ext uri="{FF2B5EF4-FFF2-40B4-BE49-F238E27FC236}">
                    <a16:creationId xmlns:a16="http://schemas.microsoft.com/office/drawing/2014/main" id="{B537B579-5238-A44C-09EA-650671EC3A75}"/>
                  </a:ext>
                </a:extLst>
              </p:cNvPr>
              <p:cNvSpPr txBox="1">
                <a:spLocks noRot="1" noChangeAspect="1" noMove="1" noResize="1" noEditPoints="1" noAdjustHandles="1" noChangeArrowheads="1" noChangeShapeType="1" noTextEdit="1"/>
              </p:cNvSpPr>
              <p:nvPr/>
            </p:nvSpPr>
            <p:spPr>
              <a:xfrm>
                <a:off x="6544966" y="3445074"/>
                <a:ext cx="367986"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EDF05412-D299-1535-5D1F-585A9DC5B26D}"/>
                  </a:ext>
                </a:extLst>
              </p:cNvPr>
              <p:cNvSpPr txBox="1"/>
              <p:nvPr/>
            </p:nvSpPr>
            <p:spPr>
              <a:xfrm>
                <a:off x="6742829" y="3934465"/>
                <a:ext cx="367986"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𝑥</m:t>
                      </m:r>
                    </m:oMath>
                  </m:oMathPara>
                </a14:m>
                <a:endParaRPr lang="en-US" dirty="0"/>
              </a:p>
            </p:txBody>
          </p:sp>
        </mc:Choice>
        <mc:Fallback xmlns="">
          <p:sp>
            <p:nvSpPr>
              <p:cNvPr id="60" name="TextBox 59">
                <a:extLst>
                  <a:ext uri="{FF2B5EF4-FFF2-40B4-BE49-F238E27FC236}">
                    <a16:creationId xmlns:a16="http://schemas.microsoft.com/office/drawing/2014/main" id="{EDF05412-D299-1535-5D1F-585A9DC5B26D}"/>
                  </a:ext>
                </a:extLst>
              </p:cNvPr>
              <p:cNvSpPr txBox="1">
                <a:spLocks noRot="1" noChangeAspect="1" noMove="1" noResize="1" noEditPoints="1" noAdjustHandles="1" noChangeArrowheads="1" noChangeShapeType="1" noTextEdit="1"/>
              </p:cNvSpPr>
              <p:nvPr/>
            </p:nvSpPr>
            <p:spPr>
              <a:xfrm>
                <a:off x="6742829" y="3934465"/>
                <a:ext cx="367986"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D490B157-070D-A784-F6B3-D7558E5E4DD0}"/>
                  </a:ext>
                </a:extLst>
              </p:cNvPr>
              <p:cNvSpPr txBox="1"/>
              <p:nvPr/>
            </p:nvSpPr>
            <p:spPr>
              <a:xfrm>
                <a:off x="6543030" y="4658723"/>
                <a:ext cx="367986"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𝑥</m:t>
                      </m:r>
                    </m:oMath>
                  </m:oMathPara>
                </a14:m>
                <a:endParaRPr lang="en-US" dirty="0"/>
              </a:p>
            </p:txBody>
          </p:sp>
        </mc:Choice>
        <mc:Fallback xmlns="">
          <p:sp>
            <p:nvSpPr>
              <p:cNvPr id="61" name="TextBox 60">
                <a:extLst>
                  <a:ext uri="{FF2B5EF4-FFF2-40B4-BE49-F238E27FC236}">
                    <a16:creationId xmlns:a16="http://schemas.microsoft.com/office/drawing/2014/main" id="{D490B157-070D-A784-F6B3-D7558E5E4DD0}"/>
                  </a:ext>
                </a:extLst>
              </p:cNvPr>
              <p:cNvSpPr txBox="1">
                <a:spLocks noRot="1" noChangeAspect="1" noMove="1" noResize="1" noEditPoints="1" noAdjustHandles="1" noChangeArrowheads="1" noChangeShapeType="1" noTextEdit="1"/>
              </p:cNvSpPr>
              <p:nvPr/>
            </p:nvSpPr>
            <p:spPr>
              <a:xfrm>
                <a:off x="6543030" y="4658723"/>
                <a:ext cx="367986"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06DAB94F-5599-09E3-A0B7-264C8F01BD5A}"/>
                  </a:ext>
                </a:extLst>
              </p:cNvPr>
              <p:cNvSpPr txBox="1"/>
              <p:nvPr/>
            </p:nvSpPr>
            <p:spPr>
              <a:xfrm>
                <a:off x="6365716" y="5385641"/>
                <a:ext cx="367986"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𝑥</m:t>
                      </m:r>
                    </m:oMath>
                  </m:oMathPara>
                </a14:m>
                <a:endParaRPr lang="en-US" dirty="0"/>
              </a:p>
            </p:txBody>
          </p:sp>
        </mc:Choice>
        <mc:Fallback xmlns="">
          <p:sp>
            <p:nvSpPr>
              <p:cNvPr id="63" name="TextBox 62">
                <a:extLst>
                  <a:ext uri="{FF2B5EF4-FFF2-40B4-BE49-F238E27FC236}">
                    <a16:creationId xmlns:a16="http://schemas.microsoft.com/office/drawing/2014/main" id="{06DAB94F-5599-09E3-A0B7-264C8F01BD5A}"/>
                  </a:ext>
                </a:extLst>
              </p:cNvPr>
              <p:cNvSpPr txBox="1">
                <a:spLocks noRot="1" noChangeAspect="1" noMove="1" noResize="1" noEditPoints="1" noAdjustHandles="1" noChangeArrowheads="1" noChangeShapeType="1" noTextEdit="1"/>
              </p:cNvSpPr>
              <p:nvPr/>
            </p:nvSpPr>
            <p:spPr>
              <a:xfrm>
                <a:off x="6365716" y="5385641"/>
                <a:ext cx="367986"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EE8B4AAD-D578-FFD6-7E80-C0BF74941F14}"/>
                  </a:ext>
                </a:extLst>
              </p:cNvPr>
              <p:cNvSpPr txBox="1"/>
              <p:nvPr/>
            </p:nvSpPr>
            <p:spPr>
              <a:xfrm>
                <a:off x="11198818" y="3338951"/>
                <a:ext cx="460511"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1</m:t>
                          </m:r>
                        </m:sub>
                      </m:sSub>
                    </m:oMath>
                  </m:oMathPara>
                </a14:m>
                <a:endParaRPr lang="en-US" dirty="0"/>
              </a:p>
            </p:txBody>
          </p:sp>
        </mc:Choice>
        <mc:Fallback xmlns="">
          <p:sp>
            <p:nvSpPr>
              <p:cNvPr id="80" name="TextBox 79">
                <a:extLst>
                  <a:ext uri="{FF2B5EF4-FFF2-40B4-BE49-F238E27FC236}">
                    <a16:creationId xmlns:a16="http://schemas.microsoft.com/office/drawing/2014/main" id="{EE8B4AAD-D578-FFD6-7E80-C0BF74941F14}"/>
                  </a:ext>
                </a:extLst>
              </p:cNvPr>
              <p:cNvSpPr txBox="1">
                <a:spLocks noRot="1" noChangeAspect="1" noMove="1" noResize="1" noEditPoints="1" noAdjustHandles="1" noChangeArrowheads="1" noChangeShapeType="1" noTextEdit="1"/>
              </p:cNvSpPr>
              <p:nvPr/>
            </p:nvSpPr>
            <p:spPr>
              <a:xfrm>
                <a:off x="11198818" y="3338951"/>
                <a:ext cx="460511" cy="369332"/>
              </a:xfrm>
              <a:prstGeom prst="rect">
                <a:avLst/>
              </a:prstGeom>
              <a:blipFill>
                <a:blip r:embed="rId9"/>
                <a:stretch>
                  <a:fillRect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39E82689-6C9B-796B-A621-4695C60A1FDE}"/>
                  </a:ext>
                </a:extLst>
              </p:cNvPr>
              <p:cNvSpPr txBox="1"/>
              <p:nvPr/>
            </p:nvSpPr>
            <p:spPr>
              <a:xfrm>
                <a:off x="11099178" y="3989849"/>
                <a:ext cx="465832"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2</m:t>
                          </m:r>
                        </m:sub>
                      </m:sSub>
                    </m:oMath>
                  </m:oMathPara>
                </a14:m>
                <a:endParaRPr lang="en-US" dirty="0"/>
              </a:p>
            </p:txBody>
          </p:sp>
        </mc:Choice>
        <mc:Fallback xmlns="">
          <p:sp>
            <p:nvSpPr>
              <p:cNvPr id="82" name="TextBox 81">
                <a:extLst>
                  <a:ext uri="{FF2B5EF4-FFF2-40B4-BE49-F238E27FC236}">
                    <a16:creationId xmlns:a16="http://schemas.microsoft.com/office/drawing/2014/main" id="{39E82689-6C9B-796B-A621-4695C60A1FDE}"/>
                  </a:ext>
                </a:extLst>
              </p:cNvPr>
              <p:cNvSpPr txBox="1">
                <a:spLocks noRot="1" noChangeAspect="1" noMove="1" noResize="1" noEditPoints="1" noAdjustHandles="1" noChangeArrowheads="1" noChangeShapeType="1" noTextEdit="1"/>
              </p:cNvSpPr>
              <p:nvPr/>
            </p:nvSpPr>
            <p:spPr>
              <a:xfrm>
                <a:off x="11099178" y="3989849"/>
                <a:ext cx="465832" cy="369332"/>
              </a:xfrm>
              <a:prstGeom prst="rect">
                <a:avLst/>
              </a:prstGeom>
              <a:blipFill>
                <a:blip r:embed="rId10"/>
                <a:stretch>
                  <a:fillRect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TextBox 82">
                <a:extLst>
                  <a:ext uri="{FF2B5EF4-FFF2-40B4-BE49-F238E27FC236}">
                    <a16:creationId xmlns:a16="http://schemas.microsoft.com/office/drawing/2014/main" id="{7060C35C-5F85-0707-7E4A-42AE84F45B73}"/>
                  </a:ext>
                </a:extLst>
              </p:cNvPr>
              <p:cNvSpPr txBox="1"/>
              <p:nvPr/>
            </p:nvSpPr>
            <p:spPr>
              <a:xfrm>
                <a:off x="11146581" y="4700897"/>
                <a:ext cx="465832"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3</m:t>
                          </m:r>
                        </m:sub>
                      </m:sSub>
                    </m:oMath>
                  </m:oMathPara>
                </a14:m>
                <a:endParaRPr lang="en-US" dirty="0"/>
              </a:p>
            </p:txBody>
          </p:sp>
        </mc:Choice>
        <mc:Fallback xmlns="">
          <p:sp>
            <p:nvSpPr>
              <p:cNvPr id="83" name="TextBox 82">
                <a:extLst>
                  <a:ext uri="{FF2B5EF4-FFF2-40B4-BE49-F238E27FC236}">
                    <a16:creationId xmlns:a16="http://schemas.microsoft.com/office/drawing/2014/main" id="{7060C35C-5F85-0707-7E4A-42AE84F45B73}"/>
                  </a:ext>
                </a:extLst>
              </p:cNvPr>
              <p:cNvSpPr txBox="1">
                <a:spLocks noRot="1" noChangeAspect="1" noMove="1" noResize="1" noEditPoints="1" noAdjustHandles="1" noChangeArrowheads="1" noChangeShapeType="1" noTextEdit="1"/>
              </p:cNvSpPr>
              <p:nvPr/>
            </p:nvSpPr>
            <p:spPr>
              <a:xfrm>
                <a:off x="11146581" y="4700897"/>
                <a:ext cx="465832" cy="369332"/>
              </a:xfrm>
              <a:prstGeom prst="rect">
                <a:avLst/>
              </a:prstGeom>
              <a:blipFill>
                <a:blip r:embed="rId11"/>
                <a:stretch>
                  <a:fillRect b="-65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4" name="TextBox 83">
                <a:extLst>
                  <a:ext uri="{FF2B5EF4-FFF2-40B4-BE49-F238E27FC236}">
                    <a16:creationId xmlns:a16="http://schemas.microsoft.com/office/drawing/2014/main" id="{292248CA-A294-B818-8B37-DEC0F9521382}"/>
                  </a:ext>
                </a:extLst>
              </p:cNvPr>
              <p:cNvSpPr txBox="1"/>
              <p:nvPr/>
            </p:nvSpPr>
            <p:spPr>
              <a:xfrm>
                <a:off x="11291342" y="5199461"/>
                <a:ext cx="478208"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𝑛</m:t>
                          </m:r>
                        </m:sub>
                      </m:sSub>
                    </m:oMath>
                  </m:oMathPara>
                </a14:m>
                <a:endParaRPr lang="en-US" dirty="0"/>
              </a:p>
            </p:txBody>
          </p:sp>
        </mc:Choice>
        <mc:Fallback xmlns="">
          <p:sp>
            <p:nvSpPr>
              <p:cNvPr id="84" name="TextBox 83">
                <a:extLst>
                  <a:ext uri="{FF2B5EF4-FFF2-40B4-BE49-F238E27FC236}">
                    <a16:creationId xmlns:a16="http://schemas.microsoft.com/office/drawing/2014/main" id="{292248CA-A294-B818-8B37-DEC0F9521382}"/>
                  </a:ext>
                </a:extLst>
              </p:cNvPr>
              <p:cNvSpPr txBox="1">
                <a:spLocks noRot="1" noChangeAspect="1" noMove="1" noResize="1" noEditPoints="1" noAdjustHandles="1" noChangeArrowheads="1" noChangeShapeType="1" noTextEdit="1"/>
              </p:cNvSpPr>
              <p:nvPr/>
            </p:nvSpPr>
            <p:spPr>
              <a:xfrm>
                <a:off x="11291342" y="5199461"/>
                <a:ext cx="478208" cy="369332"/>
              </a:xfrm>
              <a:prstGeom prst="rect">
                <a:avLst/>
              </a:prstGeom>
              <a:blipFill>
                <a:blip r:embed="rId12"/>
                <a:stretch>
                  <a:fillRect b="-491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Oval 50">
                <a:extLst>
                  <a:ext uri="{FF2B5EF4-FFF2-40B4-BE49-F238E27FC236}">
                    <a16:creationId xmlns:a16="http://schemas.microsoft.com/office/drawing/2014/main" id="{5A8BDF4F-C33A-91A6-6C2F-D8136A275133}"/>
                  </a:ext>
                </a:extLst>
              </p:cNvPr>
              <p:cNvSpPr>
                <a:spLocks noChangeAspect="1" noChangeArrowheads="1"/>
              </p:cNvSpPr>
              <p:nvPr/>
            </p:nvSpPr>
            <p:spPr bwMode="auto">
              <a:xfrm>
                <a:off x="7299330" y="2537588"/>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sSub>
                        <m:sSubPr>
                          <m:ctrlPr>
                            <a:rPr lang="en-US" altLang="en-US" sz="2000" b="1" i="1" smtClean="0">
                              <a:solidFill>
                                <a:srgbClr val="C00000"/>
                              </a:solidFill>
                              <a:latin typeface="Cambria Math" panose="02040503050406030204" pitchFamily="18" charset="0"/>
                            </a:rPr>
                          </m:ctrlPr>
                        </m:sSubPr>
                        <m:e>
                          <m:r>
                            <a:rPr lang="en-US" altLang="en-US" sz="2000" b="1" i="1" smtClean="0">
                              <a:solidFill>
                                <a:srgbClr val="C00000"/>
                              </a:solidFill>
                              <a:latin typeface="Cambria Math" panose="02040503050406030204" pitchFamily="18" charset="0"/>
                            </a:rPr>
                            <m:t>𝒆</m:t>
                          </m:r>
                        </m:e>
                        <m:sub>
                          <m:r>
                            <a:rPr lang="en-US" altLang="en-US" sz="2000" b="1" i="1" smtClean="0">
                              <a:solidFill>
                                <a:srgbClr val="C00000"/>
                              </a:solidFill>
                              <a:latin typeface="Cambria Math" panose="02040503050406030204" pitchFamily="18" charset="0"/>
                            </a:rPr>
                            <m:t>𝟏</m:t>
                          </m:r>
                        </m:sub>
                      </m:sSub>
                    </m:oMath>
                  </m:oMathPara>
                </a14:m>
                <a:endParaRPr lang="en-US" altLang="en-US" sz="2000" b="1" dirty="0">
                  <a:solidFill>
                    <a:srgbClr val="C00000"/>
                  </a:solidFill>
                </a:endParaRPr>
              </a:p>
            </p:txBody>
          </p:sp>
        </mc:Choice>
        <mc:Fallback xmlns="">
          <p:sp>
            <p:nvSpPr>
              <p:cNvPr id="29" name="Oval 50">
                <a:extLst>
                  <a:ext uri="{FF2B5EF4-FFF2-40B4-BE49-F238E27FC236}">
                    <a16:creationId xmlns:a16="http://schemas.microsoft.com/office/drawing/2014/main" id="{5A8BDF4F-C33A-91A6-6C2F-D8136A275133}"/>
                  </a:ext>
                </a:extLst>
              </p:cNvPr>
              <p:cNvSpPr>
                <a:spLocks noRot="1" noChangeAspect="1" noMove="1" noResize="1" noEditPoints="1" noAdjustHandles="1" noChangeArrowheads="1" noChangeShapeType="1" noTextEdit="1"/>
              </p:cNvSpPr>
              <p:nvPr/>
            </p:nvSpPr>
            <p:spPr bwMode="auto">
              <a:xfrm>
                <a:off x="7299330" y="2537588"/>
                <a:ext cx="435031" cy="437783"/>
              </a:xfrm>
              <a:prstGeom prst="ellipse">
                <a:avLst/>
              </a:prstGeom>
              <a:blipFill>
                <a:blip r:embed="rId13"/>
                <a:stretch>
                  <a:fillRect/>
                </a:stretch>
              </a:blipFill>
              <a:ln w="9525">
                <a:solidFill>
                  <a:schemeClr val="tx1"/>
                </a:solidFill>
                <a:round/>
                <a:headEnd/>
                <a:tailEnd/>
              </a:ln>
              <a:effec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Oval 50">
                <a:extLst>
                  <a:ext uri="{FF2B5EF4-FFF2-40B4-BE49-F238E27FC236}">
                    <a16:creationId xmlns:a16="http://schemas.microsoft.com/office/drawing/2014/main" id="{D83A7009-B439-C218-DE45-63F604EBF19E}"/>
                  </a:ext>
                </a:extLst>
              </p:cNvPr>
              <p:cNvSpPr>
                <a:spLocks noChangeAspect="1" noChangeArrowheads="1"/>
              </p:cNvSpPr>
              <p:nvPr/>
            </p:nvSpPr>
            <p:spPr bwMode="auto">
              <a:xfrm>
                <a:off x="7402699" y="3786299"/>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sSub>
                        <m:sSubPr>
                          <m:ctrlPr>
                            <a:rPr lang="en-US" altLang="en-US" sz="2000" b="1" i="1" smtClean="0">
                              <a:solidFill>
                                <a:srgbClr val="C00000"/>
                              </a:solidFill>
                              <a:latin typeface="Cambria Math" panose="02040503050406030204" pitchFamily="18" charset="0"/>
                            </a:rPr>
                          </m:ctrlPr>
                        </m:sSubPr>
                        <m:e>
                          <m:r>
                            <a:rPr lang="en-US" altLang="en-US" sz="2000" b="1" i="1" smtClean="0">
                              <a:solidFill>
                                <a:srgbClr val="C00000"/>
                              </a:solidFill>
                              <a:latin typeface="Cambria Math" panose="02040503050406030204" pitchFamily="18" charset="0"/>
                            </a:rPr>
                            <m:t>𝒆</m:t>
                          </m:r>
                        </m:e>
                        <m:sub>
                          <m:r>
                            <a:rPr lang="en-US" altLang="en-US" sz="2000" b="1" i="1" smtClean="0">
                              <a:solidFill>
                                <a:srgbClr val="C00000"/>
                              </a:solidFill>
                              <a:latin typeface="Cambria Math" panose="02040503050406030204" pitchFamily="18" charset="0"/>
                            </a:rPr>
                            <m:t>𝟐</m:t>
                          </m:r>
                        </m:sub>
                      </m:sSub>
                    </m:oMath>
                  </m:oMathPara>
                </a14:m>
                <a:endParaRPr lang="en-US" altLang="en-US" sz="2000" b="1" dirty="0">
                  <a:solidFill>
                    <a:srgbClr val="C00000"/>
                  </a:solidFill>
                </a:endParaRPr>
              </a:p>
            </p:txBody>
          </p:sp>
        </mc:Choice>
        <mc:Fallback xmlns="">
          <p:sp>
            <p:nvSpPr>
              <p:cNvPr id="34" name="Oval 50">
                <a:extLst>
                  <a:ext uri="{FF2B5EF4-FFF2-40B4-BE49-F238E27FC236}">
                    <a16:creationId xmlns:a16="http://schemas.microsoft.com/office/drawing/2014/main" id="{D83A7009-B439-C218-DE45-63F604EBF19E}"/>
                  </a:ext>
                </a:extLst>
              </p:cNvPr>
              <p:cNvSpPr>
                <a:spLocks noRot="1" noChangeAspect="1" noMove="1" noResize="1" noEditPoints="1" noAdjustHandles="1" noChangeArrowheads="1" noChangeShapeType="1" noTextEdit="1"/>
              </p:cNvSpPr>
              <p:nvPr/>
            </p:nvSpPr>
            <p:spPr bwMode="auto">
              <a:xfrm>
                <a:off x="7402699" y="3786299"/>
                <a:ext cx="435031" cy="437783"/>
              </a:xfrm>
              <a:prstGeom prst="ellipse">
                <a:avLst/>
              </a:prstGeom>
              <a:blipFill>
                <a:blip r:embed="rId14"/>
                <a:stretch>
                  <a:fillRect/>
                </a:stretch>
              </a:blipFill>
              <a:ln w="9525">
                <a:solidFill>
                  <a:schemeClr val="tx1"/>
                </a:solidFill>
                <a:round/>
                <a:headEnd/>
                <a:tailEnd/>
              </a:ln>
              <a:effec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Oval 50">
                <a:extLst>
                  <a:ext uri="{FF2B5EF4-FFF2-40B4-BE49-F238E27FC236}">
                    <a16:creationId xmlns:a16="http://schemas.microsoft.com/office/drawing/2014/main" id="{DAF5A347-264F-58C9-C430-DA29F94BEE97}"/>
                  </a:ext>
                </a:extLst>
              </p:cNvPr>
              <p:cNvSpPr>
                <a:spLocks noChangeAspect="1" noChangeArrowheads="1"/>
              </p:cNvSpPr>
              <p:nvPr/>
            </p:nvSpPr>
            <p:spPr bwMode="auto">
              <a:xfrm>
                <a:off x="7090691" y="6100801"/>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sSub>
                        <m:sSubPr>
                          <m:ctrlPr>
                            <a:rPr lang="en-US" altLang="en-US" sz="2000" b="1" i="1" smtClean="0">
                              <a:solidFill>
                                <a:srgbClr val="C00000"/>
                              </a:solidFill>
                              <a:latin typeface="Cambria Math" panose="02040503050406030204" pitchFamily="18" charset="0"/>
                            </a:rPr>
                          </m:ctrlPr>
                        </m:sSubPr>
                        <m:e>
                          <m:r>
                            <a:rPr lang="en-US" altLang="en-US" sz="2000" b="1" i="1" smtClean="0">
                              <a:solidFill>
                                <a:srgbClr val="C00000"/>
                              </a:solidFill>
                              <a:latin typeface="Cambria Math" panose="02040503050406030204" pitchFamily="18" charset="0"/>
                            </a:rPr>
                            <m:t>𝒆</m:t>
                          </m:r>
                        </m:e>
                        <m:sub>
                          <m:r>
                            <a:rPr lang="en-US" altLang="en-US" sz="2000" b="1" i="1" smtClean="0">
                              <a:solidFill>
                                <a:srgbClr val="C00000"/>
                              </a:solidFill>
                              <a:latin typeface="Cambria Math" panose="02040503050406030204" pitchFamily="18" charset="0"/>
                            </a:rPr>
                            <m:t>𝒎</m:t>
                          </m:r>
                        </m:sub>
                      </m:sSub>
                    </m:oMath>
                  </m:oMathPara>
                </a14:m>
                <a:endParaRPr lang="en-US" altLang="en-US" sz="2000" b="1" dirty="0">
                  <a:solidFill>
                    <a:srgbClr val="C00000"/>
                  </a:solidFill>
                </a:endParaRPr>
              </a:p>
            </p:txBody>
          </p:sp>
        </mc:Choice>
        <mc:Fallback xmlns="">
          <p:sp>
            <p:nvSpPr>
              <p:cNvPr id="35" name="Oval 50">
                <a:extLst>
                  <a:ext uri="{FF2B5EF4-FFF2-40B4-BE49-F238E27FC236}">
                    <a16:creationId xmlns:a16="http://schemas.microsoft.com/office/drawing/2014/main" id="{DAF5A347-264F-58C9-C430-DA29F94BEE97}"/>
                  </a:ext>
                </a:extLst>
              </p:cNvPr>
              <p:cNvSpPr>
                <a:spLocks noRot="1" noChangeAspect="1" noMove="1" noResize="1" noEditPoints="1" noAdjustHandles="1" noChangeArrowheads="1" noChangeShapeType="1" noTextEdit="1"/>
              </p:cNvSpPr>
              <p:nvPr/>
            </p:nvSpPr>
            <p:spPr bwMode="auto">
              <a:xfrm>
                <a:off x="7090691" y="6100801"/>
                <a:ext cx="435031" cy="437783"/>
              </a:xfrm>
              <a:prstGeom prst="ellipse">
                <a:avLst/>
              </a:prstGeom>
              <a:blipFill>
                <a:blip r:embed="rId15"/>
                <a:stretch>
                  <a:fillRect l="-6757"/>
                </a:stretch>
              </a:blipFill>
              <a:ln w="9525">
                <a:solidFill>
                  <a:schemeClr val="tx1"/>
                </a:solidFill>
                <a:round/>
                <a:headEnd/>
                <a:tailEnd/>
              </a:ln>
              <a:effec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Oval 50">
                <a:extLst>
                  <a:ext uri="{FF2B5EF4-FFF2-40B4-BE49-F238E27FC236}">
                    <a16:creationId xmlns:a16="http://schemas.microsoft.com/office/drawing/2014/main" id="{C3A11FD7-40A0-B41A-6FC3-8C2F1919FF6F}"/>
                  </a:ext>
                </a:extLst>
              </p:cNvPr>
              <p:cNvSpPr>
                <a:spLocks noChangeAspect="1" noChangeArrowheads="1"/>
              </p:cNvSpPr>
              <p:nvPr/>
            </p:nvSpPr>
            <p:spPr bwMode="auto">
              <a:xfrm>
                <a:off x="7185183" y="4976556"/>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sSub>
                        <m:sSubPr>
                          <m:ctrlPr>
                            <a:rPr lang="en-US" altLang="en-US" sz="2000" b="1" i="1" smtClean="0">
                              <a:solidFill>
                                <a:srgbClr val="C00000"/>
                              </a:solidFill>
                              <a:latin typeface="Cambria Math" panose="02040503050406030204" pitchFamily="18" charset="0"/>
                            </a:rPr>
                          </m:ctrlPr>
                        </m:sSubPr>
                        <m:e>
                          <m:r>
                            <a:rPr lang="en-US" altLang="en-US" sz="2000" b="1" i="1" smtClean="0">
                              <a:solidFill>
                                <a:srgbClr val="C00000"/>
                              </a:solidFill>
                              <a:latin typeface="Cambria Math" panose="02040503050406030204" pitchFamily="18" charset="0"/>
                            </a:rPr>
                            <m:t>𝒆</m:t>
                          </m:r>
                        </m:e>
                        <m:sub>
                          <m:r>
                            <a:rPr lang="en-US" altLang="en-US" sz="2000" b="1" i="1" smtClean="0">
                              <a:solidFill>
                                <a:srgbClr val="C00000"/>
                              </a:solidFill>
                              <a:latin typeface="Cambria Math" panose="02040503050406030204" pitchFamily="18" charset="0"/>
                            </a:rPr>
                            <m:t>𝟑</m:t>
                          </m:r>
                        </m:sub>
                      </m:sSub>
                    </m:oMath>
                  </m:oMathPara>
                </a14:m>
                <a:endParaRPr lang="en-US" altLang="en-US" sz="2000" b="1" dirty="0">
                  <a:solidFill>
                    <a:srgbClr val="C00000"/>
                  </a:solidFill>
                </a:endParaRPr>
              </a:p>
            </p:txBody>
          </p:sp>
        </mc:Choice>
        <mc:Fallback xmlns="">
          <p:sp>
            <p:nvSpPr>
              <p:cNvPr id="36" name="Oval 50">
                <a:extLst>
                  <a:ext uri="{FF2B5EF4-FFF2-40B4-BE49-F238E27FC236}">
                    <a16:creationId xmlns:a16="http://schemas.microsoft.com/office/drawing/2014/main" id="{C3A11FD7-40A0-B41A-6FC3-8C2F1919FF6F}"/>
                  </a:ext>
                </a:extLst>
              </p:cNvPr>
              <p:cNvSpPr>
                <a:spLocks noRot="1" noChangeAspect="1" noMove="1" noResize="1" noEditPoints="1" noAdjustHandles="1" noChangeArrowheads="1" noChangeShapeType="1" noTextEdit="1"/>
              </p:cNvSpPr>
              <p:nvPr/>
            </p:nvSpPr>
            <p:spPr bwMode="auto">
              <a:xfrm>
                <a:off x="7185183" y="4976556"/>
                <a:ext cx="435031" cy="437783"/>
              </a:xfrm>
              <a:prstGeom prst="ellipse">
                <a:avLst/>
              </a:prstGeom>
              <a:blipFill>
                <a:blip r:embed="rId16"/>
                <a:stretch>
                  <a:fillRect l="-1370"/>
                </a:stretch>
              </a:blipFill>
              <a:ln w="9525">
                <a:solidFill>
                  <a:schemeClr val="tx1"/>
                </a:solidFill>
                <a:round/>
                <a:headEnd/>
                <a:tailEnd/>
              </a:ln>
              <a:effec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Oval 50">
                <a:extLst>
                  <a:ext uri="{FF2B5EF4-FFF2-40B4-BE49-F238E27FC236}">
                    <a16:creationId xmlns:a16="http://schemas.microsoft.com/office/drawing/2014/main" id="{AE7431EF-DDA5-8586-5754-19550D59ED0F}"/>
                  </a:ext>
                </a:extLst>
              </p:cNvPr>
              <p:cNvSpPr>
                <a:spLocks noChangeAspect="1" noChangeArrowheads="1"/>
              </p:cNvSpPr>
              <p:nvPr/>
            </p:nvSpPr>
            <p:spPr bwMode="auto">
              <a:xfrm>
                <a:off x="10617639" y="2624312"/>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sSub>
                        <m:sSubPr>
                          <m:ctrlPr>
                            <a:rPr lang="en-US" altLang="en-US" sz="2000" b="1" i="1" smtClean="0">
                              <a:solidFill>
                                <a:srgbClr val="C00000"/>
                              </a:solidFill>
                              <a:latin typeface="Cambria Math" panose="02040503050406030204" pitchFamily="18" charset="0"/>
                            </a:rPr>
                          </m:ctrlPr>
                        </m:sSubPr>
                        <m:e>
                          <m:r>
                            <a:rPr lang="en-US" altLang="en-US" sz="2000" b="1" i="1" smtClean="0">
                              <a:solidFill>
                                <a:srgbClr val="C00000"/>
                              </a:solidFill>
                              <a:latin typeface="Cambria Math" panose="02040503050406030204" pitchFamily="18" charset="0"/>
                            </a:rPr>
                            <m:t>𝒔</m:t>
                          </m:r>
                        </m:e>
                        <m:sub>
                          <m:r>
                            <a:rPr lang="en-US" altLang="en-US" sz="2000" b="1" i="1" smtClean="0">
                              <a:solidFill>
                                <a:srgbClr val="C00000"/>
                              </a:solidFill>
                              <a:latin typeface="Cambria Math" panose="02040503050406030204" pitchFamily="18" charset="0"/>
                            </a:rPr>
                            <m:t>𝟏</m:t>
                          </m:r>
                        </m:sub>
                      </m:sSub>
                    </m:oMath>
                  </m:oMathPara>
                </a14:m>
                <a:endParaRPr lang="en-US" altLang="en-US" sz="2000" b="1" dirty="0">
                  <a:solidFill>
                    <a:srgbClr val="C00000"/>
                  </a:solidFill>
                </a:endParaRPr>
              </a:p>
            </p:txBody>
          </p:sp>
        </mc:Choice>
        <mc:Fallback xmlns="">
          <p:sp>
            <p:nvSpPr>
              <p:cNvPr id="37" name="Oval 50">
                <a:extLst>
                  <a:ext uri="{FF2B5EF4-FFF2-40B4-BE49-F238E27FC236}">
                    <a16:creationId xmlns:a16="http://schemas.microsoft.com/office/drawing/2014/main" id="{AE7431EF-DDA5-8586-5754-19550D59ED0F}"/>
                  </a:ext>
                </a:extLst>
              </p:cNvPr>
              <p:cNvSpPr>
                <a:spLocks noRot="1" noChangeAspect="1" noMove="1" noResize="1" noEditPoints="1" noAdjustHandles="1" noChangeArrowheads="1" noChangeShapeType="1" noTextEdit="1"/>
              </p:cNvSpPr>
              <p:nvPr/>
            </p:nvSpPr>
            <p:spPr bwMode="auto">
              <a:xfrm>
                <a:off x="10617639" y="2624312"/>
                <a:ext cx="435031" cy="437783"/>
              </a:xfrm>
              <a:prstGeom prst="ellipse">
                <a:avLst/>
              </a:prstGeom>
              <a:blipFill>
                <a:blip r:embed="rId17"/>
                <a:stretch>
                  <a:fillRect/>
                </a:stretch>
              </a:blipFill>
              <a:ln w="9525">
                <a:solidFill>
                  <a:schemeClr val="tx1"/>
                </a:solidFill>
                <a:round/>
                <a:headEnd/>
                <a:tailEnd/>
              </a:ln>
              <a:effec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Oval 50">
                <a:extLst>
                  <a:ext uri="{FF2B5EF4-FFF2-40B4-BE49-F238E27FC236}">
                    <a16:creationId xmlns:a16="http://schemas.microsoft.com/office/drawing/2014/main" id="{9C871B78-E61D-6E20-02AC-64EAAEAB5ABF}"/>
                  </a:ext>
                </a:extLst>
              </p:cNvPr>
              <p:cNvSpPr>
                <a:spLocks noChangeAspect="1" noChangeArrowheads="1"/>
              </p:cNvSpPr>
              <p:nvPr/>
            </p:nvSpPr>
            <p:spPr bwMode="auto">
              <a:xfrm>
                <a:off x="10400123" y="3866014"/>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sSub>
                        <m:sSubPr>
                          <m:ctrlPr>
                            <a:rPr lang="en-US" altLang="en-US" sz="2000" b="1" i="1" smtClean="0">
                              <a:solidFill>
                                <a:srgbClr val="C00000"/>
                              </a:solidFill>
                              <a:latin typeface="Cambria Math" panose="02040503050406030204" pitchFamily="18" charset="0"/>
                            </a:rPr>
                          </m:ctrlPr>
                        </m:sSubPr>
                        <m:e>
                          <m:r>
                            <a:rPr lang="en-US" altLang="en-US" sz="2000" b="1" i="1" smtClean="0">
                              <a:solidFill>
                                <a:srgbClr val="C00000"/>
                              </a:solidFill>
                              <a:latin typeface="Cambria Math" panose="02040503050406030204" pitchFamily="18" charset="0"/>
                            </a:rPr>
                            <m:t>𝒔</m:t>
                          </m:r>
                        </m:e>
                        <m:sub>
                          <m:r>
                            <a:rPr lang="en-US" altLang="en-US" sz="2000" b="1" i="1" smtClean="0">
                              <a:solidFill>
                                <a:srgbClr val="C00000"/>
                              </a:solidFill>
                              <a:latin typeface="Cambria Math" panose="02040503050406030204" pitchFamily="18" charset="0"/>
                            </a:rPr>
                            <m:t>𝟐</m:t>
                          </m:r>
                        </m:sub>
                      </m:sSub>
                    </m:oMath>
                  </m:oMathPara>
                </a14:m>
                <a:endParaRPr lang="en-US" altLang="en-US" sz="2000" b="1" dirty="0">
                  <a:solidFill>
                    <a:srgbClr val="C00000"/>
                  </a:solidFill>
                </a:endParaRPr>
              </a:p>
            </p:txBody>
          </p:sp>
        </mc:Choice>
        <mc:Fallback xmlns="">
          <p:sp>
            <p:nvSpPr>
              <p:cNvPr id="38" name="Oval 50">
                <a:extLst>
                  <a:ext uri="{FF2B5EF4-FFF2-40B4-BE49-F238E27FC236}">
                    <a16:creationId xmlns:a16="http://schemas.microsoft.com/office/drawing/2014/main" id="{9C871B78-E61D-6E20-02AC-64EAAEAB5ABF}"/>
                  </a:ext>
                </a:extLst>
              </p:cNvPr>
              <p:cNvSpPr>
                <a:spLocks noRot="1" noChangeAspect="1" noMove="1" noResize="1" noEditPoints="1" noAdjustHandles="1" noChangeArrowheads="1" noChangeShapeType="1" noTextEdit="1"/>
              </p:cNvSpPr>
              <p:nvPr/>
            </p:nvSpPr>
            <p:spPr bwMode="auto">
              <a:xfrm>
                <a:off x="10400123" y="3866014"/>
                <a:ext cx="435031" cy="437783"/>
              </a:xfrm>
              <a:prstGeom prst="ellipse">
                <a:avLst/>
              </a:prstGeom>
              <a:blipFill>
                <a:blip r:embed="rId18"/>
                <a:stretch>
                  <a:fillRect/>
                </a:stretch>
              </a:blipFill>
              <a:ln w="9525">
                <a:solidFill>
                  <a:schemeClr val="tx1"/>
                </a:solidFill>
                <a:round/>
                <a:headEnd/>
                <a:tailEnd/>
              </a:ln>
              <a:effec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Oval 50">
                <a:extLst>
                  <a:ext uri="{FF2B5EF4-FFF2-40B4-BE49-F238E27FC236}">
                    <a16:creationId xmlns:a16="http://schemas.microsoft.com/office/drawing/2014/main" id="{CFFAD35B-ACDB-1FF4-4620-141CA5A01699}"/>
                  </a:ext>
                </a:extLst>
              </p:cNvPr>
              <p:cNvSpPr>
                <a:spLocks noChangeAspect="1" noChangeArrowheads="1"/>
              </p:cNvSpPr>
              <p:nvPr/>
            </p:nvSpPr>
            <p:spPr bwMode="auto">
              <a:xfrm>
                <a:off x="10494035" y="4921315"/>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sSub>
                        <m:sSubPr>
                          <m:ctrlPr>
                            <a:rPr lang="en-US" altLang="en-US" sz="2000" b="1" i="1" smtClean="0">
                              <a:solidFill>
                                <a:srgbClr val="C00000"/>
                              </a:solidFill>
                              <a:latin typeface="Cambria Math" panose="02040503050406030204" pitchFamily="18" charset="0"/>
                            </a:rPr>
                          </m:ctrlPr>
                        </m:sSubPr>
                        <m:e>
                          <m:r>
                            <a:rPr lang="en-US" altLang="en-US" sz="2000" b="1" i="1" smtClean="0">
                              <a:solidFill>
                                <a:srgbClr val="C00000"/>
                              </a:solidFill>
                              <a:latin typeface="Cambria Math" panose="02040503050406030204" pitchFamily="18" charset="0"/>
                            </a:rPr>
                            <m:t>𝒔</m:t>
                          </m:r>
                        </m:e>
                        <m:sub>
                          <m:r>
                            <a:rPr lang="en-US" altLang="en-US" sz="2000" b="1" i="1" smtClean="0">
                              <a:solidFill>
                                <a:srgbClr val="C00000"/>
                              </a:solidFill>
                              <a:latin typeface="Cambria Math" panose="02040503050406030204" pitchFamily="18" charset="0"/>
                            </a:rPr>
                            <m:t>𝟑</m:t>
                          </m:r>
                        </m:sub>
                      </m:sSub>
                    </m:oMath>
                  </m:oMathPara>
                </a14:m>
                <a:endParaRPr lang="en-US" altLang="en-US" sz="2000" b="1" dirty="0">
                  <a:solidFill>
                    <a:srgbClr val="C00000"/>
                  </a:solidFill>
                </a:endParaRPr>
              </a:p>
            </p:txBody>
          </p:sp>
        </mc:Choice>
        <mc:Fallback xmlns="">
          <p:sp>
            <p:nvSpPr>
              <p:cNvPr id="39" name="Oval 50">
                <a:extLst>
                  <a:ext uri="{FF2B5EF4-FFF2-40B4-BE49-F238E27FC236}">
                    <a16:creationId xmlns:a16="http://schemas.microsoft.com/office/drawing/2014/main" id="{CFFAD35B-ACDB-1FF4-4620-141CA5A01699}"/>
                  </a:ext>
                </a:extLst>
              </p:cNvPr>
              <p:cNvSpPr>
                <a:spLocks noRot="1" noChangeAspect="1" noMove="1" noResize="1" noEditPoints="1" noAdjustHandles="1" noChangeArrowheads="1" noChangeShapeType="1" noTextEdit="1"/>
              </p:cNvSpPr>
              <p:nvPr/>
            </p:nvSpPr>
            <p:spPr bwMode="auto">
              <a:xfrm>
                <a:off x="10494035" y="4921315"/>
                <a:ext cx="435031" cy="437783"/>
              </a:xfrm>
              <a:prstGeom prst="ellipse">
                <a:avLst/>
              </a:prstGeom>
              <a:blipFill>
                <a:blip r:embed="rId19"/>
                <a:stretch>
                  <a:fillRect/>
                </a:stretch>
              </a:blipFill>
              <a:ln w="9525">
                <a:solidFill>
                  <a:schemeClr val="tx1"/>
                </a:solidFill>
                <a:round/>
                <a:headEnd/>
                <a:tailEnd/>
              </a:ln>
              <a:effec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Oval 50">
                <a:extLst>
                  <a:ext uri="{FF2B5EF4-FFF2-40B4-BE49-F238E27FC236}">
                    <a16:creationId xmlns:a16="http://schemas.microsoft.com/office/drawing/2014/main" id="{B5256A94-031B-0601-3D31-C9A3043D0A3C}"/>
                  </a:ext>
                </a:extLst>
              </p:cNvPr>
              <p:cNvSpPr>
                <a:spLocks noChangeAspect="1" noChangeArrowheads="1"/>
              </p:cNvSpPr>
              <p:nvPr/>
            </p:nvSpPr>
            <p:spPr bwMode="auto">
              <a:xfrm>
                <a:off x="10510222" y="6006569"/>
                <a:ext cx="435031" cy="43778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14:m>
                  <m:oMathPara xmlns:m="http://schemas.openxmlformats.org/officeDocument/2006/math">
                    <m:oMathParaPr>
                      <m:jc m:val="centerGroup"/>
                    </m:oMathParaPr>
                    <m:oMath xmlns:m="http://schemas.openxmlformats.org/officeDocument/2006/math">
                      <m:sSub>
                        <m:sSubPr>
                          <m:ctrlPr>
                            <a:rPr lang="en-US" altLang="en-US" sz="2000" b="1" i="1" smtClean="0">
                              <a:solidFill>
                                <a:srgbClr val="C00000"/>
                              </a:solidFill>
                              <a:latin typeface="Cambria Math" panose="02040503050406030204" pitchFamily="18" charset="0"/>
                            </a:rPr>
                          </m:ctrlPr>
                        </m:sSubPr>
                        <m:e>
                          <m:r>
                            <a:rPr lang="en-US" altLang="en-US" sz="2000" b="1" i="1" smtClean="0">
                              <a:solidFill>
                                <a:srgbClr val="C00000"/>
                              </a:solidFill>
                              <a:latin typeface="Cambria Math" panose="02040503050406030204" pitchFamily="18" charset="0"/>
                            </a:rPr>
                            <m:t>𝒔</m:t>
                          </m:r>
                        </m:e>
                        <m:sub>
                          <m:r>
                            <a:rPr lang="en-US" altLang="en-US" sz="2000" b="1" i="1" smtClean="0">
                              <a:solidFill>
                                <a:srgbClr val="C00000"/>
                              </a:solidFill>
                              <a:latin typeface="Cambria Math" panose="02040503050406030204" pitchFamily="18" charset="0"/>
                            </a:rPr>
                            <m:t>𝒏</m:t>
                          </m:r>
                        </m:sub>
                      </m:sSub>
                    </m:oMath>
                  </m:oMathPara>
                </a14:m>
                <a:endParaRPr lang="en-US" altLang="en-US" sz="2000" b="1" dirty="0">
                  <a:solidFill>
                    <a:srgbClr val="C00000"/>
                  </a:solidFill>
                </a:endParaRPr>
              </a:p>
            </p:txBody>
          </p:sp>
        </mc:Choice>
        <mc:Fallback xmlns="">
          <p:sp>
            <p:nvSpPr>
              <p:cNvPr id="40" name="Oval 50">
                <a:extLst>
                  <a:ext uri="{FF2B5EF4-FFF2-40B4-BE49-F238E27FC236}">
                    <a16:creationId xmlns:a16="http://schemas.microsoft.com/office/drawing/2014/main" id="{B5256A94-031B-0601-3D31-C9A3043D0A3C}"/>
                  </a:ext>
                </a:extLst>
              </p:cNvPr>
              <p:cNvSpPr>
                <a:spLocks noRot="1" noChangeAspect="1" noMove="1" noResize="1" noEditPoints="1" noAdjustHandles="1" noChangeArrowheads="1" noChangeShapeType="1" noTextEdit="1"/>
              </p:cNvSpPr>
              <p:nvPr/>
            </p:nvSpPr>
            <p:spPr bwMode="auto">
              <a:xfrm>
                <a:off x="10510222" y="6006569"/>
                <a:ext cx="435031" cy="437783"/>
              </a:xfrm>
              <a:prstGeom prst="ellipse">
                <a:avLst/>
              </a:prstGeom>
              <a:blipFill>
                <a:blip r:embed="rId20"/>
                <a:stretch>
                  <a:fillRect/>
                </a:stretch>
              </a:blipFill>
              <a:ln w="9525">
                <a:solidFill>
                  <a:schemeClr val="tx1"/>
                </a:solidFill>
                <a:round/>
                <a:headEnd/>
                <a:tailEnd/>
              </a:ln>
              <a:effectLst/>
            </p:spPr>
            <p:txBody>
              <a:bodyPr/>
              <a:lstStyle/>
              <a:p>
                <a:r>
                  <a:rPr lang="en-US">
                    <a:noFill/>
                  </a:rPr>
                  <a:t> </a:t>
                </a:r>
              </a:p>
            </p:txBody>
          </p:sp>
        </mc:Fallback>
      </mc:AlternateContent>
      <p:cxnSp>
        <p:nvCxnSpPr>
          <p:cNvPr id="41" name="Straight Connector 40">
            <a:extLst>
              <a:ext uri="{FF2B5EF4-FFF2-40B4-BE49-F238E27FC236}">
                <a16:creationId xmlns:a16="http://schemas.microsoft.com/office/drawing/2014/main" id="{FC77777B-8D80-3A97-A033-5290AC47992A}"/>
              </a:ext>
            </a:extLst>
          </p:cNvPr>
          <p:cNvCxnSpPr>
            <a:cxnSpLocks/>
            <a:stCxn id="29" idx="6"/>
            <a:endCxn id="37" idx="2"/>
          </p:cNvCxnSpPr>
          <p:nvPr/>
        </p:nvCxnSpPr>
        <p:spPr>
          <a:xfrm>
            <a:off x="7734361" y="2756480"/>
            <a:ext cx="2883278" cy="86724"/>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D2585F54-C03B-B28D-B9C5-B3DDA3565DE8}"/>
              </a:ext>
            </a:extLst>
          </p:cNvPr>
          <p:cNvCxnSpPr>
            <a:cxnSpLocks/>
            <a:stCxn id="29" idx="5"/>
            <a:endCxn id="39" idx="1"/>
          </p:cNvCxnSpPr>
          <p:nvPr/>
        </p:nvCxnSpPr>
        <p:spPr>
          <a:xfrm>
            <a:off x="7670652" y="2911259"/>
            <a:ext cx="2887092" cy="2074168"/>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E3A44036-BB9C-A608-569A-6611E6677310}"/>
              </a:ext>
            </a:extLst>
          </p:cNvPr>
          <p:cNvCxnSpPr>
            <a:cxnSpLocks/>
            <a:stCxn id="29" idx="4"/>
            <a:endCxn id="40" idx="2"/>
          </p:cNvCxnSpPr>
          <p:nvPr/>
        </p:nvCxnSpPr>
        <p:spPr>
          <a:xfrm>
            <a:off x="7516846" y="2975371"/>
            <a:ext cx="2993376" cy="3250090"/>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72E7A4A9-1859-B76E-6CFE-18B74FF54DCD}"/>
              </a:ext>
            </a:extLst>
          </p:cNvPr>
          <p:cNvCxnSpPr>
            <a:cxnSpLocks/>
            <a:stCxn id="34" idx="6"/>
            <a:endCxn id="37" idx="3"/>
          </p:cNvCxnSpPr>
          <p:nvPr/>
        </p:nvCxnSpPr>
        <p:spPr>
          <a:xfrm flipV="1">
            <a:off x="7837730" y="2997983"/>
            <a:ext cx="2843618" cy="1007208"/>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8B934B8D-BAE0-72F7-7077-D0F594324256}"/>
              </a:ext>
            </a:extLst>
          </p:cNvPr>
          <p:cNvCxnSpPr>
            <a:cxnSpLocks/>
            <a:stCxn id="36" idx="6"/>
            <a:endCxn id="39" idx="2"/>
          </p:cNvCxnSpPr>
          <p:nvPr/>
        </p:nvCxnSpPr>
        <p:spPr>
          <a:xfrm flipV="1">
            <a:off x="7620214" y="5140207"/>
            <a:ext cx="2873821" cy="55241"/>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B75677A9-5415-7CD7-1A17-79769C982D74}"/>
              </a:ext>
            </a:extLst>
          </p:cNvPr>
          <p:cNvCxnSpPr>
            <a:cxnSpLocks/>
            <a:stCxn id="36" idx="7"/>
            <a:endCxn id="38" idx="2"/>
          </p:cNvCxnSpPr>
          <p:nvPr/>
        </p:nvCxnSpPr>
        <p:spPr>
          <a:xfrm flipV="1">
            <a:off x="7556505" y="4084906"/>
            <a:ext cx="2843618" cy="955762"/>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6" name="Straight Connector 85">
            <a:extLst>
              <a:ext uri="{FF2B5EF4-FFF2-40B4-BE49-F238E27FC236}">
                <a16:creationId xmlns:a16="http://schemas.microsoft.com/office/drawing/2014/main" id="{EA3040BD-E06E-B5DD-A89F-782C1E31AFA0}"/>
              </a:ext>
            </a:extLst>
          </p:cNvPr>
          <p:cNvCxnSpPr>
            <a:cxnSpLocks/>
            <a:stCxn id="36" idx="5"/>
          </p:cNvCxnSpPr>
          <p:nvPr/>
        </p:nvCxnSpPr>
        <p:spPr>
          <a:xfrm>
            <a:off x="7556505" y="5350227"/>
            <a:ext cx="2861301" cy="316926"/>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9" name="Straight Connector 88">
            <a:extLst>
              <a:ext uri="{FF2B5EF4-FFF2-40B4-BE49-F238E27FC236}">
                <a16:creationId xmlns:a16="http://schemas.microsoft.com/office/drawing/2014/main" id="{D643A97F-A23B-38DF-FA83-1F7C60F0E316}"/>
              </a:ext>
            </a:extLst>
          </p:cNvPr>
          <p:cNvCxnSpPr>
            <a:cxnSpLocks/>
            <a:stCxn id="35" idx="6"/>
            <a:endCxn id="37" idx="4"/>
          </p:cNvCxnSpPr>
          <p:nvPr/>
        </p:nvCxnSpPr>
        <p:spPr>
          <a:xfrm flipV="1">
            <a:off x="7525722" y="3062095"/>
            <a:ext cx="3309433" cy="3257598"/>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2" name="Straight Connector 91">
            <a:extLst>
              <a:ext uri="{FF2B5EF4-FFF2-40B4-BE49-F238E27FC236}">
                <a16:creationId xmlns:a16="http://schemas.microsoft.com/office/drawing/2014/main" id="{3AF043CE-2719-7BA9-6192-55B80ABEEDC5}"/>
              </a:ext>
            </a:extLst>
          </p:cNvPr>
          <p:cNvCxnSpPr>
            <a:cxnSpLocks/>
            <a:stCxn id="35" idx="6"/>
            <a:endCxn id="40" idx="2"/>
          </p:cNvCxnSpPr>
          <p:nvPr/>
        </p:nvCxnSpPr>
        <p:spPr>
          <a:xfrm flipV="1">
            <a:off x="7525722" y="6225461"/>
            <a:ext cx="2984500" cy="94232"/>
          </a:xfrm>
          <a:prstGeom prst="line">
            <a:avLst/>
          </a:prstGeom>
          <a:ln w="381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B6487E15-17B8-CA59-3B73-6BE7A1C720B9}"/>
                  </a:ext>
                </a:extLst>
              </p:cNvPr>
              <p:cNvSpPr txBox="1"/>
              <p:nvPr/>
            </p:nvSpPr>
            <p:spPr>
              <a:xfrm>
                <a:off x="8799028" y="2624312"/>
                <a:ext cx="365805"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95" name="TextBox 94">
                <a:extLst>
                  <a:ext uri="{FF2B5EF4-FFF2-40B4-BE49-F238E27FC236}">
                    <a16:creationId xmlns:a16="http://schemas.microsoft.com/office/drawing/2014/main" id="{B6487E15-17B8-CA59-3B73-6BE7A1C720B9}"/>
                  </a:ext>
                </a:extLst>
              </p:cNvPr>
              <p:cNvSpPr txBox="1">
                <a:spLocks noRot="1" noChangeAspect="1" noMove="1" noResize="1" noEditPoints="1" noAdjustHandles="1" noChangeArrowheads="1" noChangeShapeType="1" noTextEdit="1"/>
              </p:cNvSpPr>
              <p:nvPr/>
            </p:nvSpPr>
            <p:spPr>
              <a:xfrm>
                <a:off x="8799028" y="2624312"/>
                <a:ext cx="365805"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C891AF2F-2B98-E11B-9E69-DAD1299C6A89}"/>
                  </a:ext>
                </a:extLst>
              </p:cNvPr>
              <p:cNvSpPr txBox="1"/>
              <p:nvPr/>
            </p:nvSpPr>
            <p:spPr>
              <a:xfrm>
                <a:off x="9451158" y="3096321"/>
                <a:ext cx="365805"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96" name="TextBox 95">
                <a:extLst>
                  <a:ext uri="{FF2B5EF4-FFF2-40B4-BE49-F238E27FC236}">
                    <a16:creationId xmlns:a16="http://schemas.microsoft.com/office/drawing/2014/main" id="{C891AF2F-2B98-E11B-9E69-DAD1299C6A89}"/>
                  </a:ext>
                </a:extLst>
              </p:cNvPr>
              <p:cNvSpPr txBox="1">
                <a:spLocks noRot="1" noChangeAspect="1" noMove="1" noResize="1" noEditPoints="1" noAdjustHandles="1" noChangeArrowheads="1" noChangeShapeType="1" noTextEdit="1"/>
              </p:cNvSpPr>
              <p:nvPr/>
            </p:nvSpPr>
            <p:spPr>
              <a:xfrm>
                <a:off x="9451158" y="3096321"/>
                <a:ext cx="365805" cy="369332"/>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AB78014B-2D46-6805-AFEF-B0C469B76EBB}"/>
                  </a:ext>
                </a:extLst>
              </p:cNvPr>
              <p:cNvSpPr txBox="1"/>
              <p:nvPr/>
            </p:nvSpPr>
            <p:spPr>
              <a:xfrm>
                <a:off x="8981930" y="3733313"/>
                <a:ext cx="365805"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97" name="TextBox 96">
                <a:extLst>
                  <a:ext uri="{FF2B5EF4-FFF2-40B4-BE49-F238E27FC236}">
                    <a16:creationId xmlns:a16="http://schemas.microsoft.com/office/drawing/2014/main" id="{AB78014B-2D46-6805-AFEF-B0C469B76EBB}"/>
                  </a:ext>
                </a:extLst>
              </p:cNvPr>
              <p:cNvSpPr txBox="1">
                <a:spLocks noRot="1" noChangeAspect="1" noMove="1" noResize="1" noEditPoints="1" noAdjustHandles="1" noChangeArrowheads="1" noChangeShapeType="1" noTextEdit="1"/>
              </p:cNvSpPr>
              <p:nvPr/>
            </p:nvSpPr>
            <p:spPr>
              <a:xfrm>
                <a:off x="8981930" y="3733313"/>
                <a:ext cx="365805" cy="369332"/>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8" name="TextBox 97">
                <a:extLst>
                  <a:ext uri="{FF2B5EF4-FFF2-40B4-BE49-F238E27FC236}">
                    <a16:creationId xmlns:a16="http://schemas.microsoft.com/office/drawing/2014/main" id="{C9240BC4-A9B3-690E-35BF-2CF9123DF6A0}"/>
                  </a:ext>
                </a:extLst>
              </p:cNvPr>
              <p:cNvSpPr txBox="1"/>
              <p:nvPr/>
            </p:nvSpPr>
            <p:spPr>
              <a:xfrm>
                <a:off x="8474094" y="4027377"/>
                <a:ext cx="365805"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98" name="TextBox 97">
                <a:extLst>
                  <a:ext uri="{FF2B5EF4-FFF2-40B4-BE49-F238E27FC236}">
                    <a16:creationId xmlns:a16="http://schemas.microsoft.com/office/drawing/2014/main" id="{C9240BC4-A9B3-690E-35BF-2CF9123DF6A0}"/>
                  </a:ext>
                </a:extLst>
              </p:cNvPr>
              <p:cNvSpPr txBox="1">
                <a:spLocks noRot="1" noChangeAspect="1" noMove="1" noResize="1" noEditPoints="1" noAdjustHandles="1" noChangeArrowheads="1" noChangeShapeType="1" noTextEdit="1"/>
              </p:cNvSpPr>
              <p:nvPr/>
            </p:nvSpPr>
            <p:spPr>
              <a:xfrm>
                <a:off x="8474094" y="4027377"/>
                <a:ext cx="365805" cy="369332"/>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301F7344-5DCA-A66F-0EE7-33243D699AA5}"/>
                  </a:ext>
                </a:extLst>
              </p:cNvPr>
              <p:cNvSpPr txBox="1"/>
              <p:nvPr/>
            </p:nvSpPr>
            <p:spPr>
              <a:xfrm>
                <a:off x="8176968" y="4521104"/>
                <a:ext cx="365805"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99" name="TextBox 98">
                <a:extLst>
                  <a:ext uri="{FF2B5EF4-FFF2-40B4-BE49-F238E27FC236}">
                    <a16:creationId xmlns:a16="http://schemas.microsoft.com/office/drawing/2014/main" id="{301F7344-5DCA-A66F-0EE7-33243D699AA5}"/>
                  </a:ext>
                </a:extLst>
              </p:cNvPr>
              <p:cNvSpPr txBox="1">
                <a:spLocks noRot="1" noChangeAspect="1" noMove="1" noResize="1" noEditPoints="1" noAdjustHandles="1" noChangeArrowheads="1" noChangeShapeType="1" noTextEdit="1"/>
              </p:cNvSpPr>
              <p:nvPr/>
            </p:nvSpPr>
            <p:spPr>
              <a:xfrm>
                <a:off x="8176968" y="4521104"/>
                <a:ext cx="365805"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8328481F-22CF-055C-8ADE-782B70217202}"/>
                  </a:ext>
                </a:extLst>
              </p:cNvPr>
              <p:cNvSpPr txBox="1"/>
              <p:nvPr/>
            </p:nvSpPr>
            <p:spPr>
              <a:xfrm>
                <a:off x="8931295" y="5019653"/>
                <a:ext cx="365805"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100" name="TextBox 99">
                <a:extLst>
                  <a:ext uri="{FF2B5EF4-FFF2-40B4-BE49-F238E27FC236}">
                    <a16:creationId xmlns:a16="http://schemas.microsoft.com/office/drawing/2014/main" id="{8328481F-22CF-055C-8ADE-782B70217202}"/>
                  </a:ext>
                </a:extLst>
              </p:cNvPr>
              <p:cNvSpPr txBox="1">
                <a:spLocks noRot="1" noChangeAspect="1" noMove="1" noResize="1" noEditPoints="1" noAdjustHandles="1" noChangeArrowheads="1" noChangeShapeType="1" noTextEdit="1"/>
              </p:cNvSpPr>
              <p:nvPr/>
            </p:nvSpPr>
            <p:spPr>
              <a:xfrm>
                <a:off x="8931295" y="5019653"/>
                <a:ext cx="365805"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1" name="TextBox 100">
                <a:extLst>
                  <a:ext uri="{FF2B5EF4-FFF2-40B4-BE49-F238E27FC236}">
                    <a16:creationId xmlns:a16="http://schemas.microsoft.com/office/drawing/2014/main" id="{4CF80B24-4762-8424-547A-972875F8C7E6}"/>
                  </a:ext>
                </a:extLst>
              </p:cNvPr>
              <p:cNvSpPr txBox="1"/>
              <p:nvPr/>
            </p:nvSpPr>
            <p:spPr>
              <a:xfrm>
                <a:off x="8871778" y="5360383"/>
                <a:ext cx="365805"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101" name="TextBox 100">
                <a:extLst>
                  <a:ext uri="{FF2B5EF4-FFF2-40B4-BE49-F238E27FC236}">
                    <a16:creationId xmlns:a16="http://schemas.microsoft.com/office/drawing/2014/main" id="{4CF80B24-4762-8424-547A-972875F8C7E6}"/>
                  </a:ext>
                </a:extLst>
              </p:cNvPr>
              <p:cNvSpPr txBox="1">
                <a:spLocks noRot="1" noChangeAspect="1" noMove="1" noResize="1" noEditPoints="1" noAdjustHandles="1" noChangeArrowheads="1" noChangeShapeType="1" noTextEdit="1"/>
              </p:cNvSpPr>
              <p:nvPr/>
            </p:nvSpPr>
            <p:spPr>
              <a:xfrm>
                <a:off x="8871778" y="5360383"/>
                <a:ext cx="365805" cy="369332"/>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0698FE6A-3AA9-BFEA-3ADE-669C0D34AD8B}"/>
                  </a:ext>
                </a:extLst>
              </p:cNvPr>
              <p:cNvSpPr txBox="1"/>
              <p:nvPr/>
            </p:nvSpPr>
            <p:spPr>
              <a:xfrm>
                <a:off x="8993097" y="6072076"/>
                <a:ext cx="365805"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102" name="TextBox 101">
                <a:extLst>
                  <a:ext uri="{FF2B5EF4-FFF2-40B4-BE49-F238E27FC236}">
                    <a16:creationId xmlns:a16="http://schemas.microsoft.com/office/drawing/2014/main" id="{0698FE6A-3AA9-BFEA-3ADE-669C0D34AD8B}"/>
                  </a:ext>
                </a:extLst>
              </p:cNvPr>
              <p:cNvSpPr txBox="1">
                <a:spLocks noRot="1" noChangeAspect="1" noMove="1" noResize="1" noEditPoints="1" noAdjustHandles="1" noChangeArrowheads="1" noChangeShapeType="1" noTextEdit="1"/>
              </p:cNvSpPr>
              <p:nvPr/>
            </p:nvSpPr>
            <p:spPr>
              <a:xfrm>
                <a:off x="8993097" y="6072076"/>
                <a:ext cx="365805" cy="369332"/>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3" name="TextBox 102">
                <a:extLst>
                  <a:ext uri="{FF2B5EF4-FFF2-40B4-BE49-F238E27FC236}">
                    <a16:creationId xmlns:a16="http://schemas.microsoft.com/office/drawing/2014/main" id="{3294AF58-2C0E-4A78-2AEE-0B100FE500EF}"/>
                  </a:ext>
                </a:extLst>
              </p:cNvPr>
              <p:cNvSpPr txBox="1"/>
              <p:nvPr/>
            </p:nvSpPr>
            <p:spPr>
              <a:xfrm>
                <a:off x="7814142" y="5711321"/>
                <a:ext cx="365805" cy="369332"/>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oMath>
                  </m:oMathPara>
                </a14:m>
                <a:endParaRPr lang="en-US" dirty="0"/>
              </a:p>
            </p:txBody>
          </p:sp>
        </mc:Choice>
        <mc:Fallback xmlns="">
          <p:sp>
            <p:nvSpPr>
              <p:cNvPr id="103" name="TextBox 102">
                <a:extLst>
                  <a:ext uri="{FF2B5EF4-FFF2-40B4-BE49-F238E27FC236}">
                    <a16:creationId xmlns:a16="http://schemas.microsoft.com/office/drawing/2014/main" id="{3294AF58-2C0E-4A78-2AEE-0B100FE500EF}"/>
                  </a:ext>
                </a:extLst>
              </p:cNvPr>
              <p:cNvSpPr txBox="1">
                <a:spLocks noRot="1" noChangeAspect="1" noMove="1" noResize="1" noEditPoints="1" noAdjustHandles="1" noChangeArrowheads="1" noChangeShapeType="1" noTextEdit="1"/>
              </p:cNvSpPr>
              <p:nvPr/>
            </p:nvSpPr>
            <p:spPr>
              <a:xfrm>
                <a:off x="7814142" y="5711321"/>
                <a:ext cx="365805" cy="369332"/>
              </a:xfrm>
              <a:prstGeom prst="rect">
                <a:avLst/>
              </a:prstGeom>
              <a:blipFill>
                <a:blip r:embed="rId29"/>
                <a:stretch>
                  <a:fillRect/>
                </a:stretch>
              </a:blipFill>
            </p:spPr>
            <p:txBody>
              <a:bodyPr/>
              <a:lstStyle/>
              <a:p>
                <a:r>
                  <a:rPr lang="en-US">
                    <a:noFill/>
                  </a:rPr>
                  <a:t> </a:t>
                </a:r>
              </a:p>
            </p:txBody>
          </p:sp>
        </mc:Fallback>
      </mc:AlternateContent>
      <p:sp>
        <p:nvSpPr>
          <p:cNvPr id="104" name="TextBox 103">
            <a:extLst>
              <a:ext uri="{FF2B5EF4-FFF2-40B4-BE49-F238E27FC236}">
                <a16:creationId xmlns:a16="http://schemas.microsoft.com/office/drawing/2014/main" id="{205A3AB1-6FD8-81F1-2574-84F5FA77B816}"/>
              </a:ext>
            </a:extLst>
          </p:cNvPr>
          <p:cNvSpPr txBox="1"/>
          <p:nvPr/>
        </p:nvSpPr>
        <p:spPr>
          <a:xfrm>
            <a:off x="7096880" y="5278946"/>
            <a:ext cx="468398" cy="584775"/>
          </a:xfrm>
          <a:prstGeom prst="rect">
            <a:avLst/>
          </a:prstGeom>
          <a:noFill/>
        </p:spPr>
        <p:txBody>
          <a:bodyPr wrap="none" rtlCol="0">
            <a:spAutoFit/>
          </a:bodyPr>
          <a:lstStyle/>
          <a:p>
            <a:r>
              <a:rPr lang="en-US" sz="3200" dirty="0">
                <a:solidFill>
                  <a:srgbClr val="C00000"/>
                </a:solidFill>
              </a:rPr>
              <a:t>…</a:t>
            </a:r>
          </a:p>
        </p:txBody>
      </p:sp>
      <p:sp>
        <p:nvSpPr>
          <p:cNvPr id="106" name="TextBox 105">
            <a:extLst>
              <a:ext uri="{FF2B5EF4-FFF2-40B4-BE49-F238E27FC236}">
                <a16:creationId xmlns:a16="http://schemas.microsoft.com/office/drawing/2014/main" id="{2205E7D0-5404-10FB-A7F7-C3A30F132DC3}"/>
              </a:ext>
            </a:extLst>
          </p:cNvPr>
          <p:cNvSpPr txBox="1"/>
          <p:nvPr/>
        </p:nvSpPr>
        <p:spPr>
          <a:xfrm>
            <a:off x="10438494" y="5270321"/>
            <a:ext cx="468398" cy="584775"/>
          </a:xfrm>
          <a:prstGeom prst="rect">
            <a:avLst/>
          </a:prstGeom>
          <a:noFill/>
        </p:spPr>
        <p:txBody>
          <a:bodyPr wrap="none" rtlCol="0">
            <a:spAutoFit/>
          </a:bodyPr>
          <a:lstStyle/>
          <a:p>
            <a:r>
              <a:rPr lang="en-US" sz="3200" dirty="0">
                <a:solidFill>
                  <a:srgbClr val="C00000"/>
                </a:solidFill>
              </a:rPr>
              <a:t>…</a:t>
            </a:r>
          </a:p>
        </p:txBody>
      </p:sp>
    </p:spTree>
    <p:extLst>
      <p:ext uri="{BB962C8B-B14F-4D97-AF65-F5344CB8AC3E}">
        <p14:creationId xmlns:p14="http://schemas.microsoft.com/office/powerpoint/2010/main" val="198885142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3B8FB8-A42E-343C-CA00-2268D61172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C18431-13F3-D70F-3DDD-4EA0895A7456}"/>
              </a:ext>
            </a:extLst>
          </p:cNvPr>
          <p:cNvSpPr>
            <a:spLocks noGrp="1"/>
          </p:cNvSpPr>
          <p:nvPr>
            <p:ph type="title"/>
          </p:nvPr>
        </p:nvSpPr>
        <p:spPr/>
        <p:txBody>
          <a:bodyPr/>
          <a:lstStyle/>
          <a:p>
            <a:r>
              <a:rPr lang="en-US" dirty="0"/>
              <a:t>Reductions and Correctness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57019B3F-BE41-0298-9BDC-C9E297487AEC}"/>
                  </a:ext>
                </a:extLst>
              </p:cNvPr>
              <p:cNvSpPr>
                <a:spLocks noGrp="1"/>
              </p:cNvSpPr>
              <p:nvPr>
                <p:ph idx="1"/>
              </p:nvPr>
            </p:nvSpPr>
            <p:spPr>
              <a:xfrm>
                <a:off x="113275" y="1435395"/>
                <a:ext cx="5573935" cy="5348177"/>
              </a:xfrm>
            </p:spPr>
            <p:txBody>
              <a:bodyPr>
                <a:normAutofit/>
              </a:bodyPr>
              <a:lstStyle/>
              <a:p>
                <a:r>
                  <a:rPr lang="en-US" dirty="0"/>
                  <a:t>A valid answer to the chosen problem </a:t>
                </a:r>
                <a14:m>
                  <m:oMath xmlns:m="http://schemas.openxmlformats.org/officeDocument/2006/math">
                    <m:r>
                      <a:rPr lang="en-US" b="0" i="1" smtClean="0">
                        <a:latin typeface="Cambria Math" panose="02040503050406030204" pitchFamily="18" charset="0"/>
                      </a:rPr>
                      <m:t>𝐵</m:t>
                    </m:r>
                  </m:oMath>
                </a14:m>
                <a:r>
                  <a:rPr lang="en-US" dirty="0"/>
                  <a:t> input produces a valid answer to the original problem </a:t>
                </a:r>
                <a14:m>
                  <m:oMath xmlns:m="http://schemas.openxmlformats.org/officeDocument/2006/math">
                    <m:r>
                      <a:rPr lang="en-US" b="0" i="1" smtClean="0">
                        <a:latin typeface="Cambria Math" panose="02040503050406030204" pitchFamily="18" charset="0"/>
                      </a:rPr>
                      <m:t>𝐴</m:t>
                    </m:r>
                  </m:oMath>
                </a14:m>
                <a:endParaRPr lang="en-US" dirty="0"/>
              </a:p>
              <a:p>
                <a:pPr lvl="1"/>
                <a:r>
                  <a:rPr lang="en-US" dirty="0"/>
                  <a:t>Our reduction produces a meaningful result</a:t>
                </a:r>
              </a:p>
              <a:p>
                <a:r>
                  <a:rPr lang="en-US" dirty="0"/>
                  <a:t>A valid answer to the original problem </a:t>
                </a:r>
                <a14:m>
                  <m:oMath xmlns:m="http://schemas.openxmlformats.org/officeDocument/2006/math">
                    <m:r>
                      <a:rPr lang="en-US" b="0" i="1" smtClean="0">
                        <a:latin typeface="Cambria Math" panose="02040503050406030204" pitchFamily="18" charset="0"/>
                      </a:rPr>
                      <m:t>𝐴</m:t>
                    </m:r>
                  </m:oMath>
                </a14:m>
                <a:r>
                  <a:rPr lang="en-US" dirty="0"/>
                  <a:t> results in a valid answer to the chosen problem </a:t>
                </a:r>
                <a14:m>
                  <m:oMath xmlns:m="http://schemas.openxmlformats.org/officeDocument/2006/math">
                    <m:r>
                      <a:rPr lang="en-US" b="0" i="1" smtClean="0">
                        <a:latin typeface="Cambria Math" panose="02040503050406030204" pitchFamily="18" charset="0"/>
                      </a:rPr>
                      <m:t>𝐵</m:t>
                    </m:r>
                  </m:oMath>
                </a14:m>
                <a:r>
                  <a:rPr lang="en-US" dirty="0"/>
                  <a:t> input</a:t>
                </a:r>
              </a:p>
              <a:p>
                <a:pPr lvl="1"/>
                <a:r>
                  <a:rPr lang="en-US" dirty="0"/>
                  <a:t>If there was a better answer for </a:t>
                </a:r>
                <a14:m>
                  <m:oMath xmlns:m="http://schemas.openxmlformats.org/officeDocument/2006/math">
                    <m:r>
                      <a:rPr lang="en-US" b="0" i="1" smtClean="0">
                        <a:latin typeface="Cambria Math" panose="02040503050406030204" pitchFamily="18" charset="0"/>
                      </a:rPr>
                      <m:t>𝐴</m:t>
                    </m:r>
                  </m:oMath>
                </a14:m>
                <a:r>
                  <a:rPr lang="en-US" dirty="0"/>
                  <a:t>, then the algorithm for </a:t>
                </a:r>
                <a14:m>
                  <m:oMath xmlns:m="http://schemas.openxmlformats.org/officeDocument/2006/math">
                    <m:r>
                      <a:rPr lang="en-US" b="0" i="1" smtClean="0">
                        <a:latin typeface="Cambria Math" panose="02040503050406030204" pitchFamily="18" charset="0"/>
                      </a:rPr>
                      <m:t>𝐵</m:t>
                    </m:r>
                  </m:oMath>
                </a14:m>
                <a:r>
                  <a:rPr lang="en-US" dirty="0"/>
                  <a:t> would have found it</a:t>
                </a:r>
              </a:p>
            </p:txBody>
          </p:sp>
        </mc:Choice>
        <mc:Fallback>
          <p:sp>
            <p:nvSpPr>
              <p:cNvPr id="3" name="Content Placeholder 2">
                <a:extLst>
                  <a:ext uri="{FF2B5EF4-FFF2-40B4-BE49-F238E27FC236}">
                    <a16:creationId xmlns:a16="http://schemas.microsoft.com/office/drawing/2014/main" id="{57019B3F-BE41-0298-9BDC-C9E297487AEC}"/>
                  </a:ext>
                </a:extLst>
              </p:cNvPr>
              <p:cNvSpPr>
                <a:spLocks noGrp="1" noRot="1" noChangeAspect="1" noMove="1" noResize="1" noEditPoints="1" noAdjustHandles="1" noChangeArrowheads="1" noChangeShapeType="1" noTextEdit="1"/>
              </p:cNvSpPr>
              <p:nvPr>
                <p:ph idx="1"/>
              </p:nvPr>
            </p:nvSpPr>
            <p:spPr>
              <a:xfrm>
                <a:off x="113275" y="1435395"/>
                <a:ext cx="5573935" cy="5348177"/>
              </a:xfrm>
              <a:blipFill>
                <a:blip r:embed="rId2"/>
                <a:stretch>
                  <a:fillRect l="-1969" t="-1822" r="-1860"/>
                </a:stretch>
              </a:blipFill>
            </p:spPr>
            <p:txBody>
              <a:bodyPr/>
              <a:lstStyle/>
              <a:p>
                <a:r>
                  <a:rPr lang="en-US">
                    <a:noFill/>
                  </a:rPr>
                  <a:t> </a:t>
                </a:r>
              </a:p>
            </p:txBody>
          </p:sp>
        </mc:Fallback>
      </mc:AlternateContent>
      <p:grpSp>
        <p:nvGrpSpPr>
          <p:cNvPr id="20" name="Group 19">
            <a:extLst>
              <a:ext uri="{FF2B5EF4-FFF2-40B4-BE49-F238E27FC236}">
                <a16:creationId xmlns:a16="http://schemas.microsoft.com/office/drawing/2014/main" id="{7A79E983-AEFF-ACDF-679F-F79FD76184BC}"/>
              </a:ext>
            </a:extLst>
          </p:cNvPr>
          <p:cNvGrpSpPr/>
          <p:nvPr/>
        </p:nvGrpSpPr>
        <p:grpSpPr>
          <a:xfrm>
            <a:off x="5961121" y="2153163"/>
            <a:ext cx="5598044" cy="3912639"/>
            <a:chOff x="2378525" y="1371600"/>
            <a:chExt cx="7504644" cy="5245218"/>
          </a:xfrm>
        </p:grpSpPr>
        <p:sp>
          <p:nvSpPr>
            <p:cNvPr id="4" name="Rectangle 3">
              <a:extLst>
                <a:ext uri="{FF2B5EF4-FFF2-40B4-BE49-F238E27FC236}">
                  <a16:creationId xmlns:a16="http://schemas.microsoft.com/office/drawing/2014/main" id="{48A3ED52-B9F5-8456-84BC-156761AACD41}"/>
                </a:ext>
              </a:extLst>
            </p:cNvPr>
            <p:cNvSpPr/>
            <p:nvPr/>
          </p:nvSpPr>
          <p:spPr>
            <a:xfrm>
              <a:off x="4488720" y="1773199"/>
              <a:ext cx="3215508" cy="4843619"/>
            </a:xfrm>
            <a:prstGeom prst="rect">
              <a:avLst/>
            </a:prstGeom>
            <a:solidFill>
              <a:srgbClr val="FFA7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7D089FA8-2224-E49C-3D68-73A026DB921B}"/>
                    </a:ext>
                  </a:extLst>
                </p:cNvPr>
                <p:cNvSpPr txBox="1"/>
                <p:nvPr/>
              </p:nvSpPr>
              <p:spPr>
                <a:xfrm>
                  <a:off x="2451585" y="1394360"/>
                  <a:ext cx="956159" cy="30777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rPr>
                    <a:t>Problem </a:t>
                  </a:r>
                  <a14:m>
                    <m:oMath xmlns:m="http://schemas.openxmlformats.org/officeDocument/2006/math">
                      <m:r>
                        <a:rPr kumimoji="0" lang="en-US" sz="1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𝐴</m:t>
                      </m:r>
                    </m:oMath>
                  </a14:m>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p:sp>
              <p:nvSpPr>
                <p:cNvPr id="5" name="TextBox 4">
                  <a:extLst>
                    <a:ext uri="{FF2B5EF4-FFF2-40B4-BE49-F238E27FC236}">
                      <a16:creationId xmlns:a16="http://schemas.microsoft.com/office/drawing/2014/main" id="{7D089FA8-2224-E49C-3D68-73A026DB921B}"/>
                    </a:ext>
                  </a:extLst>
                </p:cNvPr>
                <p:cNvSpPr txBox="1">
                  <a:spLocks noRot="1" noChangeAspect="1" noMove="1" noResize="1" noEditPoints="1" noAdjustHandles="1" noChangeArrowheads="1" noChangeShapeType="1" noTextEdit="1"/>
                </p:cNvSpPr>
                <p:nvPr/>
              </p:nvSpPr>
              <p:spPr>
                <a:xfrm>
                  <a:off x="2451585" y="1394360"/>
                  <a:ext cx="956159" cy="307776"/>
                </a:xfrm>
                <a:prstGeom prst="rect">
                  <a:avLst/>
                </a:prstGeom>
                <a:blipFill>
                  <a:blip r:embed="rId3"/>
                  <a:stretch>
                    <a:fillRect l="-2564" t="-5263" r="-28205" b="-5789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96FF0F89-B822-F630-E120-5FA6F8F8795F}"/>
                    </a:ext>
                  </a:extLst>
                </p:cNvPr>
                <p:cNvSpPr txBox="1"/>
                <p:nvPr/>
              </p:nvSpPr>
              <p:spPr>
                <a:xfrm>
                  <a:off x="7696200" y="1371600"/>
                  <a:ext cx="964046"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rPr>
                    <a:t>Problem </a:t>
                  </a:r>
                  <a14:m>
                    <m:oMath xmlns:m="http://schemas.openxmlformats.org/officeDocument/2006/math">
                      <m:r>
                        <a:rPr kumimoji="0" lang="en-US" sz="1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𝐵</m:t>
                      </m:r>
                    </m:oMath>
                  </a14:m>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p:sp>
              <p:nvSpPr>
                <p:cNvPr id="6" name="TextBox 5">
                  <a:extLst>
                    <a:ext uri="{FF2B5EF4-FFF2-40B4-BE49-F238E27FC236}">
                      <a16:creationId xmlns:a16="http://schemas.microsoft.com/office/drawing/2014/main" id="{96FF0F89-B822-F630-E120-5FA6F8F8795F}"/>
                    </a:ext>
                  </a:extLst>
                </p:cNvPr>
                <p:cNvSpPr txBox="1">
                  <a:spLocks noRot="1" noChangeAspect="1" noMove="1" noResize="1" noEditPoints="1" noAdjustHandles="1" noChangeArrowheads="1" noChangeShapeType="1" noTextEdit="1"/>
                </p:cNvSpPr>
                <p:nvPr/>
              </p:nvSpPr>
              <p:spPr>
                <a:xfrm>
                  <a:off x="7696200" y="1371600"/>
                  <a:ext cx="964046" cy="307777"/>
                </a:xfrm>
                <a:prstGeom prst="rect">
                  <a:avLst/>
                </a:prstGeom>
                <a:blipFill>
                  <a:blip r:embed="rId4"/>
                  <a:stretch>
                    <a:fillRect l="-2542" t="-5263" r="-27966" b="-6052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432C8173-D9BF-C42C-F7F9-81ECD2AEEF93}"/>
                    </a:ext>
                  </a:extLst>
                </p:cNvPr>
                <p:cNvSpPr txBox="1"/>
                <p:nvPr/>
              </p:nvSpPr>
              <p:spPr>
                <a:xfrm>
                  <a:off x="7689425" y="4685000"/>
                  <a:ext cx="2193744" cy="70142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rPr>
                    <a:t>Solution for chosen</a:t>
                  </a:r>
                  <a:r>
                    <a:rPr kumimoji="0" lang="en-US" sz="1400" b="0" i="0" u="none" strike="noStrike" kern="1200" cap="none" spc="0" normalizeH="0" noProof="0" dirty="0">
                      <a:ln>
                        <a:noFill/>
                      </a:ln>
                      <a:solidFill>
                        <a:prstClr val="black"/>
                      </a:solidFill>
                      <a:effectLst/>
                      <a:uLnTx/>
                      <a:uFillTx/>
                      <a:latin typeface="Calibri" panose="020F0502020204030204"/>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noProof="0" dirty="0">
                      <a:ln>
                        <a:noFill/>
                      </a:ln>
                      <a:solidFill>
                        <a:prstClr val="black"/>
                      </a:solidFill>
                      <a:effectLst/>
                      <a:uLnTx/>
                      <a:uFillTx/>
                      <a:latin typeface="Calibri" panose="020F0502020204030204"/>
                      <a:ea typeface="+mn-ea"/>
                      <a:cs typeface="+mn-cs"/>
                    </a:rPr>
                    <a:t>input of</a:t>
                  </a:r>
                  <a:r>
                    <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rPr>
                    <a:t> </a:t>
                  </a:r>
                  <a14:m>
                    <m:oMath xmlns:m="http://schemas.openxmlformats.org/officeDocument/2006/math">
                      <m:r>
                        <a:rPr kumimoji="0" lang="en-US" sz="1400" b="1" i="1" u="none" strike="noStrike" kern="1200" cap="none" spc="0" normalizeH="0" baseline="0" noProof="0" dirty="0">
                          <a:ln>
                            <a:noFill/>
                          </a:ln>
                          <a:solidFill>
                            <a:prstClr val="black"/>
                          </a:solidFill>
                          <a:effectLst/>
                          <a:uLnTx/>
                          <a:uFillTx/>
                          <a:latin typeface="Cambria Math"/>
                          <a:ea typeface="+mn-ea"/>
                          <a:cs typeface="+mn-cs"/>
                        </a:rPr>
                        <m:t>𝑩</m:t>
                      </m:r>
                    </m:oMath>
                  </a14:m>
                  <a:endParaRPr kumimoji="0" lang="en-US" sz="14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p:sp>
              <p:nvSpPr>
                <p:cNvPr id="7" name="TextBox 6">
                  <a:extLst>
                    <a:ext uri="{FF2B5EF4-FFF2-40B4-BE49-F238E27FC236}">
                      <a16:creationId xmlns:a16="http://schemas.microsoft.com/office/drawing/2014/main" id="{432C8173-D9BF-C42C-F7F9-81ECD2AEEF93}"/>
                    </a:ext>
                  </a:extLst>
                </p:cNvPr>
                <p:cNvSpPr txBox="1">
                  <a:spLocks noRot="1" noChangeAspect="1" noMove="1" noResize="1" noEditPoints="1" noAdjustHandles="1" noChangeArrowheads="1" noChangeShapeType="1" noTextEdit="1"/>
                </p:cNvSpPr>
                <p:nvPr/>
              </p:nvSpPr>
              <p:spPr>
                <a:xfrm>
                  <a:off x="7689425" y="4685000"/>
                  <a:ext cx="2193744" cy="701420"/>
                </a:xfrm>
                <a:prstGeom prst="rect">
                  <a:avLst/>
                </a:prstGeom>
                <a:blipFill>
                  <a:blip r:embed="rId5"/>
                  <a:stretch>
                    <a:fillRect l="-1119" t="-2353" b="-1176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Flowchart: Magnetic Disk 7">
                  <a:extLst>
                    <a:ext uri="{FF2B5EF4-FFF2-40B4-BE49-F238E27FC236}">
                      <a16:creationId xmlns:a16="http://schemas.microsoft.com/office/drawing/2014/main" id="{5304D16C-FB6F-003E-D175-EED19BEF0C5A}"/>
                    </a:ext>
                  </a:extLst>
                </p:cNvPr>
                <p:cNvSpPr/>
                <p:nvPr/>
              </p:nvSpPr>
              <p:spPr>
                <a:xfrm>
                  <a:off x="2741659" y="1806836"/>
                  <a:ext cx="625924" cy="1184190"/>
                </a:xfrm>
                <a:prstGeom prst="flowChartMagneticDisk">
                  <a:avLst/>
                </a:prstGeom>
                <a:solidFill>
                  <a:srgbClr val="FF505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3200" b="0" i="1" u="none" strike="noStrike" kern="1200" cap="none" spc="0" normalizeH="0" baseline="0" noProof="0">
                            <a:ln>
                              <a:noFill/>
                            </a:ln>
                            <a:solidFill>
                              <a:prstClr val="black"/>
                            </a:solidFill>
                            <a:effectLst/>
                            <a:uLnTx/>
                            <a:uFillTx/>
                            <a:latin typeface="Cambria Math"/>
                            <a:ea typeface="+mn-ea"/>
                            <a:cs typeface="+mn-cs"/>
                          </a:rPr>
                          <m:t>𝐴</m:t>
                        </m:r>
                      </m:oMath>
                    </m:oMathPara>
                  </a14:m>
                  <a:endParaRPr kumimoji="0" lang="en-US" sz="3200" b="0" i="1"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p:sp>
              <p:nvSpPr>
                <p:cNvPr id="8" name="Flowchart: Magnetic Disk 7">
                  <a:extLst>
                    <a:ext uri="{FF2B5EF4-FFF2-40B4-BE49-F238E27FC236}">
                      <a16:creationId xmlns:a16="http://schemas.microsoft.com/office/drawing/2014/main" id="{5304D16C-FB6F-003E-D175-EED19BEF0C5A}"/>
                    </a:ext>
                  </a:extLst>
                </p:cNvPr>
                <p:cNvSpPr>
                  <a:spLocks noRot="1" noChangeAspect="1" noMove="1" noResize="1" noEditPoints="1" noAdjustHandles="1" noChangeArrowheads="1" noChangeShapeType="1" noTextEdit="1"/>
                </p:cNvSpPr>
                <p:nvPr/>
              </p:nvSpPr>
              <p:spPr>
                <a:xfrm>
                  <a:off x="2741659" y="1806836"/>
                  <a:ext cx="625924" cy="1184190"/>
                </a:xfrm>
                <a:prstGeom prst="flowChartMagneticDisk">
                  <a:avLst/>
                </a:prstGeom>
                <a:blipFill>
                  <a:blip r:embed="rId6"/>
                  <a:stretch>
                    <a:fillRect/>
                  </a:stretch>
                </a:blipFill>
                <a:ln>
                  <a:solidFill>
                    <a:schemeClr val="tx1">
                      <a:lumMod val="95000"/>
                      <a:lumOff val="5000"/>
                    </a:schemeClr>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Rectangle 8">
                  <a:extLst>
                    <a:ext uri="{FF2B5EF4-FFF2-40B4-BE49-F238E27FC236}">
                      <a16:creationId xmlns:a16="http://schemas.microsoft.com/office/drawing/2014/main" id="{60CA89B7-3633-F8E2-6E6E-C9E64FDCBF84}"/>
                    </a:ext>
                  </a:extLst>
                </p:cNvPr>
                <p:cNvSpPr/>
                <p:nvPr/>
              </p:nvSpPr>
              <p:spPr>
                <a:xfrm>
                  <a:off x="8913392" y="1892573"/>
                  <a:ext cx="625924" cy="1004887"/>
                </a:xfrm>
                <a:prstGeom prst="rect">
                  <a:avLst/>
                </a:prstGeom>
                <a:solidFill>
                  <a:srgbClr val="FFFF0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3200" b="0" i="1" u="none" strike="noStrike" kern="1200" cap="none" spc="0" normalizeH="0" baseline="0" noProof="0">
                            <a:ln>
                              <a:noFill/>
                            </a:ln>
                            <a:solidFill>
                              <a:prstClr val="black"/>
                            </a:solidFill>
                            <a:effectLst/>
                            <a:uLnTx/>
                            <a:uFillTx/>
                            <a:latin typeface="Cambria Math"/>
                            <a:ea typeface="+mn-ea"/>
                            <a:cs typeface="+mn-cs"/>
                          </a:rPr>
                          <m:t>𝐵</m:t>
                        </m:r>
                      </m:oMath>
                    </m:oMathPara>
                  </a14:m>
                  <a:endParaRPr kumimoji="0" lang="en-US" sz="3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p:sp>
              <p:nvSpPr>
                <p:cNvPr id="9" name="Rectangle 8">
                  <a:extLst>
                    <a:ext uri="{FF2B5EF4-FFF2-40B4-BE49-F238E27FC236}">
                      <a16:creationId xmlns:a16="http://schemas.microsoft.com/office/drawing/2014/main" id="{60CA89B7-3633-F8E2-6E6E-C9E64FDCBF84}"/>
                    </a:ext>
                  </a:extLst>
                </p:cNvPr>
                <p:cNvSpPr>
                  <a:spLocks noRot="1" noChangeAspect="1" noMove="1" noResize="1" noEditPoints="1" noAdjustHandles="1" noChangeArrowheads="1" noChangeShapeType="1" noTextEdit="1"/>
                </p:cNvSpPr>
                <p:nvPr/>
              </p:nvSpPr>
              <p:spPr>
                <a:xfrm>
                  <a:off x="8913392" y="1892573"/>
                  <a:ext cx="625924" cy="1004887"/>
                </a:xfrm>
                <a:prstGeom prst="rect">
                  <a:avLst/>
                </a:prstGeom>
                <a:blipFill>
                  <a:blip r:embed="rId7"/>
                  <a:stretch>
                    <a:fillRect/>
                  </a:stretch>
                </a:blipFill>
                <a:ln>
                  <a:solidFill>
                    <a:schemeClr val="tx1">
                      <a:lumMod val="95000"/>
                      <a:lumOff val="5000"/>
                    </a:schemeClr>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64BCE103-AEBE-FC60-521E-79D028A38678}"/>
                    </a:ext>
                  </a:extLst>
                </p:cNvPr>
                <p:cNvSpPr txBox="1"/>
                <p:nvPr/>
              </p:nvSpPr>
              <p:spPr>
                <a:xfrm>
                  <a:off x="2378525" y="4727933"/>
                  <a:ext cx="1195584"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rPr>
                    <a:t>Solution for </a:t>
                  </a:r>
                  <a14:m>
                    <m:oMath xmlns:m="http://schemas.openxmlformats.org/officeDocument/2006/math">
                      <m:r>
                        <a:rPr kumimoji="0" lang="en-US" sz="1400" b="1" i="1" u="none" strike="noStrike" kern="1200" cap="none" spc="0" normalizeH="0" baseline="0" noProof="0">
                          <a:ln>
                            <a:noFill/>
                          </a:ln>
                          <a:solidFill>
                            <a:prstClr val="black"/>
                          </a:solidFill>
                          <a:effectLst/>
                          <a:uLnTx/>
                          <a:uFillTx/>
                          <a:latin typeface="Cambria Math"/>
                          <a:ea typeface="+mn-ea"/>
                          <a:cs typeface="+mn-cs"/>
                        </a:rPr>
                        <m:t>𝑨</m:t>
                      </m:r>
                    </m:oMath>
                  </a14:m>
                  <a:endParaRPr kumimoji="0" lang="en-US" sz="14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p:sp>
              <p:nvSpPr>
                <p:cNvPr id="10" name="TextBox 9">
                  <a:extLst>
                    <a:ext uri="{FF2B5EF4-FFF2-40B4-BE49-F238E27FC236}">
                      <a16:creationId xmlns:a16="http://schemas.microsoft.com/office/drawing/2014/main" id="{64BCE103-AEBE-FC60-521E-79D028A38678}"/>
                    </a:ext>
                  </a:extLst>
                </p:cNvPr>
                <p:cNvSpPr txBox="1">
                  <a:spLocks noRot="1" noChangeAspect="1" noMove="1" noResize="1" noEditPoints="1" noAdjustHandles="1" noChangeArrowheads="1" noChangeShapeType="1" noTextEdit="1"/>
                </p:cNvSpPr>
                <p:nvPr/>
              </p:nvSpPr>
              <p:spPr>
                <a:xfrm>
                  <a:off x="2378525" y="4727933"/>
                  <a:ext cx="1195584" cy="307777"/>
                </a:xfrm>
                <a:prstGeom prst="rect">
                  <a:avLst/>
                </a:prstGeom>
                <a:blipFill>
                  <a:blip r:embed="rId8"/>
                  <a:stretch>
                    <a:fillRect l="-2055" t="-5263" r="-29452" b="-57895"/>
                  </a:stretch>
                </a:blipFill>
              </p:spPr>
              <p:txBody>
                <a:bodyPr/>
                <a:lstStyle/>
                <a:p>
                  <a:r>
                    <a:rPr lang="en-US">
                      <a:noFill/>
                    </a:rPr>
                    <a:t> </a:t>
                  </a:r>
                </a:p>
              </p:txBody>
            </p:sp>
          </mc:Fallback>
        </mc:AlternateContent>
        <p:sp>
          <p:nvSpPr>
            <p:cNvPr id="11" name="AutoShape 5">
              <a:extLst>
                <a:ext uri="{FF2B5EF4-FFF2-40B4-BE49-F238E27FC236}">
                  <a16:creationId xmlns:a16="http://schemas.microsoft.com/office/drawing/2014/main" id="{0A6823A3-9C8E-D39D-62C2-6241AFC9B770}"/>
                </a:ext>
              </a:extLst>
            </p:cNvPr>
            <p:cNvSpPr>
              <a:spLocks noChangeArrowheads="1"/>
            </p:cNvSpPr>
            <p:nvPr/>
          </p:nvSpPr>
          <p:spPr bwMode="auto">
            <a:xfrm>
              <a:off x="4627562" y="1919527"/>
              <a:ext cx="2840038" cy="643057"/>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AutoShape 5">
              <a:extLst>
                <a:ext uri="{FF2B5EF4-FFF2-40B4-BE49-F238E27FC236}">
                  <a16:creationId xmlns:a16="http://schemas.microsoft.com/office/drawing/2014/main" id="{40D3C660-37BC-FD99-E875-726BE4162CCA}"/>
                </a:ext>
              </a:extLst>
            </p:cNvPr>
            <p:cNvSpPr>
              <a:spLocks noChangeArrowheads="1"/>
            </p:cNvSpPr>
            <p:nvPr/>
          </p:nvSpPr>
          <p:spPr bwMode="auto">
            <a:xfrm rot="5400000">
              <a:off x="8725391" y="3524764"/>
              <a:ext cx="1086255" cy="584597"/>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AutoShape 5">
              <a:extLst>
                <a:ext uri="{FF2B5EF4-FFF2-40B4-BE49-F238E27FC236}">
                  <a16:creationId xmlns:a16="http://schemas.microsoft.com/office/drawing/2014/main" id="{90E62312-85FA-84E4-206A-3B06238DDCED}"/>
                </a:ext>
              </a:extLst>
            </p:cNvPr>
            <p:cNvSpPr>
              <a:spLocks noChangeArrowheads="1"/>
            </p:cNvSpPr>
            <p:nvPr/>
          </p:nvSpPr>
          <p:spPr bwMode="auto">
            <a:xfrm rot="10800000">
              <a:off x="4641736" y="4956884"/>
              <a:ext cx="2840038" cy="759976"/>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Box 13">
              <a:extLst>
                <a:ext uri="{FF2B5EF4-FFF2-40B4-BE49-F238E27FC236}">
                  <a16:creationId xmlns:a16="http://schemas.microsoft.com/office/drawing/2014/main" id="{285F6696-F47D-5F90-40A9-EF39C439ED7E}"/>
                </a:ext>
              </a:extLst>
            </p:cNvPr>
            <p:cNvSpPr txBox="1"/>
            <p:nvPr/>
          </p:nvSpPr>
          <p:spPr>
            <a:xfrm>
              <a:off x="5479573" y="6215041"/>
              <a:ext cx="925318"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rPr>
                <a:t>Reduction</a:t>
              </a:r>
            </a:p>
          </p:txBody>
        </p:sp>
        <mc:AlternateContent xmlns:mc="http://schemas.openxmlformats.org/markup-compatibility/2006">
          <mc:Choice xmlns:a14="http://schemas.microsoft.com/office/drawing/2010/main" Requires="a14">
            <p:sp>
              <p:nvSpPr>
                <p:cNvPr id="15" name="Rectangle 14">
                  <a:extLst>
                    <a:ext uri="{FF2B5EF4-FFF2-40B4-BE49-F238E27FC236}">
                      <a16:creationId xmlns:a16="http://schemas.microsoft.com/office/drawing/2014/main" id="{01F8E48B-E008-1D60-7EEA-39970DB195CD}"/>
                    </a:ext>
                  </a:extLst>
                </p:cNvPr>
                <p:cNvSpPr/>
                <p:nvPr/>
              </p:nvSpPr>
              <p:spPr>
                <a:xfrm>
                  <a:off x="8937741" y="5242707"/>
                  <a:ext cx="625924" cy="1004887"/>
                </a:xfrm>
                <a:prstGeom prst="rect">
                  <a:avLst/>
                </a:prstGeom>
                <a:solidFill>
                  <a:srgbClr val="FFFF0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3200" b="0" i="1" u="none" strike="noStrike" kern="1200" cap="none" spc="0" normalizeH="0" baseline="0" noProof="0">
                            <a:ln>
                              <a:noFill/>
                            </a:ln>
                            <a:solidFill>
                              <a:prstClr val="black"/>
                            </a:solidFill>
                            <a:effectLst/>
                            <a:uLnTx/>
                            <a:uFillTx/>
                            <a:latin typeface="Cambria Math"/>
                            <a:ea typeface="+mn-ea"/>
                            <a:cs typeface="+mn-cs"/>
                          </a:rPr>
                          <m:t>𝑌</m:t>
                        </m:r>
                      </m:oMath>
                    </m:oMathPara>
                  </a14:m>
                  <a:endParaRPr kumimoji="0" lang="en-US" sz="3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p:sp>
              <p:nvSpPr>
                <p:cNvPr id="15" name="Rectangle 14">
                  <a:extLst>
                    <a:ext uri="{FF2B5EF4-FFF2-40B4-BE49-F238E27FC236}">
                      <a16:creationId xmlns:a16="http://schemas.microsoft.com/office/drawing/2014/main" id="{01F8E48B-E008-1D60-7EEA-39970DB195CD}"/>
                    </a:ext>
                  </a:extLst>
                </p:cNvPr>
                <p:cNvSpPr>
                  <a:spLocks noRot="1" noChangeAspect="1" noMove="1" noResize="1" noEditPoints="1" noAdjustHandles="1" noChangeArrowheads="1" noChangeShapeType="1" noTextEdit="1"/>
                </p:cNvSpPr>
                <p:nvPr/>
              </p:nvSpPr>
              <p:spPr>
                <a:xfrm>
                  <a:off x="8937741" y="5242707"/>
                  <a:ext cx="625924" cy="1004887"/>
                </a:xfrm>
                <a:prstGeom prst="rect">
                  <a:avLst/>
                </a:prstGeom>
                <a:blipFill>
                  <a:blip r:embed="rId9"/>
                  <a:stretch>
                    <a:fillRect/>
                  </a:stretch>
                </a:blipFill>
                <a:ln>
                  <a:solidFill>
                    <a:schemeClr val="tx1">
                      <a:lumMod val="95000"/>
                      <a:lumOff val="5000"/>
                    </a:schemeClr>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6" name="Flowchart: Magnetic Disk 15">
                  <a:extLst>
                    <a:ext uri="{FF2B5EF4-FFF2-40B4-BE49-F238E27FC236}">
                      <a16:creationId xmlns:a16="http://schemas.microsoft.com/office/drawing/2014/main" id="{FA54B50C-BA9B-0C5A-86F4-125520F0BF33}"/>
                    </a:ext>
                  </a:extLst>
                </p:cNvPr>
                <p:cNvSpPr/>
                <p:nvPr/>
              </p:nvSpPr>
              <p:spPr>
                <a:xfrm>
                  <a:off x="2822171" y="5140410"/>
                  <a:ext cx="625924" cy="1184190"/>
                </a:xfrm>
                <a:prstGeom prst="flowChartMagneticDisk">
                  <a:avLst/>
                </a:prstGeom>
                <a:solidFill>
                  <a:srgbClr val="FF505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3200" b="0" i="1" u="none" strike="noStrike" kern="1200" cap="none" spc="0" normalizeH="0" baseline="0" noProof="0">
                            <a:ln>
                              <a:noFill/>
                            </a:ln>
                            <a:solidFill>
                              <a:prstClr val="black"/>
                            </a:solidFill>
                            <a:effectLst/>
                            <a:uLnTx/>
                            <a:uFillTx/>
                            <a:latin typeface="Cambria Math"/>
                            <a:ea typeface="+mn-ea"/>
                            <a:cs typeface="+mn-cs"/>
                          </a:rPr>
                          <m:t>𝑋</m:t>
                        </m:r>
                      </m:oMath>
                    </m:oMathPara>
                  </a14:m>
                  <a:endParaRPr kumimoji="0" lang="en-US" sz="3200" b="0" i="1"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p:sp>
              <p:nvSpPr>
                <p:cNvPr id="16" name="Flowchart: Magnetic Disk 15">
                  <a:extLst>
                    <a:ext uri="{FF2B5EF4-FFF2-40B4-BE49-F238E27FC236}">
                      <a16:creationId xmlns:a16="http://schemas.microsoft.com/office/drawing/2014/main" id="{FA54B50C-BA9B-0C5A-86F4-125520F0BF33}"/>
                    </a:ext>
                  </a:extLst>
                </p:cNvPr>
                <p:cNvSpPr>
                  <a:spLocks noRot="1" noChangeAspect="1" noMove="1" noResize="1" noEditPoints="1" noAdjustHandles="1" noChangeArrowheads="1" noChangeShapeType="1" noTextEdit="1"/>
                </p:cNvSpPr>
                <p:nvPr/>
              </p:nvSpPr>
              <p:spPr>
                <a:xfrm>
                  <a:off x="2822171" y="5140410"/>
                  <a:ext cx="625924" cy="1184190"/>
                </a:xfrm>
                <a:prstGeom prst="flowChartMagneticDisk">
                  <a:avLst/>
                </a:prstGeom>
                <a:blipFill>
                  <a:blip r:embed="rId10"/>
                  <a:stretch>
                    <a:fillRect/>
                  </a:stretch>
                </a:blipFill>
                <a:ln>
                  <a:solidFill>
                    <a:schemeClr val="tx1">
                      <a:lumMod val="95000"/>
                      <a:lumOff val="5000"/>
                    </a:schemeClr>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70C03DB0-E2B2-97A6-E13B-FDACF47B35F8}"/>
                    </a:ext>
                  </a:extLst>
                </p:cNvPr>
                <p:cNvSpPr txBox="1"/>
                <p:nvPr/>
              </p:nvSpPr>
              <p:spPr>
                <a:xfrm>
                  <a:off x="4474144" y="2476596"/>
                  <a:ext cx="3285854"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rPr>
                    <a:t>Procedure for converting instances of </a:t>
                  </a:r>
                  <a14:m>
                    <m:oMath xmlns:m="http://schemas.openxmlformats.org/officeDocument/2006/math">
                      <m:r>
                        <a:rPr kumimoji="0" lang="en-US" sz="1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𝐴</m:t>
                      </m:r>
                    </m:oMath>
                  </a14:m>
                  <a:r>
                    <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rPr>
                    <a:t> into instances of </a:t>
                  </a:r>
                  <a14:m>
                    <m:oMath xmlns:m="http://schemas.openxmlformats.org/officeDocument/2006/math">
                      <m:r>
                        <a:rPr kumimoji="0" lang="en-US" sz="1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𝐵</m:t>
                      </m:r>
                    </m:oMath>
                  </a14:m>
                  <a:r>
                    <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rPr>
                    <a:t> </a:t>
                  </a:r>
                </a:p>
              </p:txBody>
            </p:sp>
          </mc:Choice>
          <mc:Fallback>
            <p:sp>
              <p:nvSpPr>
                <p:cNvPr id="17" name="TextBox 16">
                  <a:extLst>
                    <a:ext uri="{FF2B5EF4-FFF2-40B4-BE49-F238E27FC236}">
                      <a16:creationId xmlns:a16="http://schemas.microsoft.com/office/drawing/2014/main" id="{70C03DB0-E2B2-97A6-E13B-FDACF47B35F8}"/>
                    </a:ext>
                  </a:extLst>
                </p:cNvPr>
                <p:cNvSpPr txBox="1">
                  <a:spLocks noRot="1" noChangeAspect="1" noMove="1" noResize="1" noEditPoints="1" noAdjustHandles="1" noChangeArrowheads="1" noChangeShapeType="1" noTextEdit="1"/>
                </p:cNvSpPr>
                <p:nvPr/>
              </p:nvSpPr>
              <p:spPr>
                <a:xfrm>
                  <a:off x="4474144" y="2476596"/>
                  <a:ext cx="3285854" cy="523220"/>
                </a:xfrm>
                <a:prstGeom prst="rect">
                  <a:avLst/>
                </a:prstGeom>
                <a:blipFill>
                  <a:blip r:embed="rId11"/>
                  <a:stretch>
                    <a:fillRect l="-746" t="-1563" r="-1244" b="-79688"/>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F4FBFBD0-C2B7-4E9B-F761-19627887A762}"/>
                    </a:ext>
                  </a:extLst>
                </p:cNvPr>
                <p:cNvSpPr txBox="1"/>
                <p:nvPr/>
              </p:nvSpPr>
              <p:spPr>
                <a:xfrm>
                  <a:off x="7634461" y="3264103"/>
                  <a:ext cx="1680908" cy="7014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rPr>
                    <a:t>Algorithm for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rPr>
                    <a:t>solving </a:t>
                  </a:r>
                  <a14:m>
                    <m:oMath xmlns:m="http://schemas.openxmlformats.org/officeDocument/2006/math">
                      <m:r>
                        <a:rPr kumimoji="0" lang="en-US" sz="1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𝐵</m:t>
                      </m:r>
                    </m:oMath>
                  </a14:m>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p:sp>
              <p:nvSpPr>
                <p:cNvPr id="18" name="TextBox 17">
                  <a:extLst>
                    <a:ext uri="{FF2B5EF4-FFF2-40B4-BE49-F238E27FC236}">
                      <a16:creationId xmlns:a16="http://schemas.microsoft.com/office/drawing/2014/main" id="{F4FBFBD0-C2B7-4E9B-F761-19627887A762}"/>
                    </a:ext>
                  </a:extLst>
                </p:cNvPr>
                <p:cNvSpPr txBox="1">
                  <a:spLocks noRot="1" noChangeAspect="1" noMove="1" noResize="1" noEditPoints="1" noAdjustHandles="1" noChangeArrowheads="1" noChangeShapeType="1" noTextEdit="1"/>
                </p:cNvSpPr>
                <p:nvPr/>
              </p:nvSpPr>
              <p:spPr>
                <a:xfrm>
                  <a:off x="7634461" y="3264103"/>
                  <a:ext cx="1680908" cy="701420"/>
                </a:xfrm>
                <a:prstGeom prst="rect">
                  <a:avLst/>
                </a:prstGeom>
                <a:blipFill>
                  <a:blip r:embed="rId12"/>
                  <a:stretch>
                    <a:fillRect l="-1456" t="-2326" b="-1046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6F3B6625-08D6-1BC5-5DFA-023E91EEC88C}"/>
                    </a:ext>
                  </a:extLst>
                </p:cNvPr>
                <p:cNvSpPr txBox="1"/>
                <p:nvPr/>
              </p:nvSpPr>
              <p:spPr>
                <a:xfrm>
                  <a:off x="5239751" y="4234212"/>
                  <a:ext cx="2617491"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rPr>
                    <a:t>Procedure for converting possible solutions of </a:t>
                  </a:r>
                  <a14:m>
                    <m:oMath xmlns:m="http://schemas.openxmlformats.org/officeDocument/2006/math">
                      <m:r>
                        <m:rPr>
                          <m:sty m:val="p"/>
                        </m:rPr>
                        <a:rPr kumimoji="0" lang="en-US" sz="1400" b="0" i="0"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m:t>B</m:t>
                      </m:r>
                    </m:oMath>
                  </a14:m>
                  <a:r>
                    <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rPr>
                    <a:t> into solutions of </a:t>
                  </a:r>
                  <a14:m>
                    <m:oMath xmlns:m="http://schemas.openxmlformats.org/officeDocument/2006/math">
                      <m:r>
                        <a:rPr kumimoji="0" lang="en-US" sz="1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𝐴</m:t>
                      </m:r>
                    </m:oMath>
                  </a14:m>
                  <a:r>
                    <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rPr>
                    <a:t> </a:t>
                  </a:r>
                </a:p>
              </p:txBody>
            </p:sp>
          </mc:Choice>
          <mc:Fallback>
            <p:sp>
              <p:nvSpPr>
                <p:cNvPr id="19" name="TextBox 18">
                  <a:extLst>
                    <a:ext uri="{FF2B5EF4-FFF2-40B4-BE49-F238E27FC236}">
                      <a16:creationId xmlns:a16="http://schemas.microsoft.com/office/drawing/2014/main" id="{6F3B6625-08D6-1BC5-5DFA-023E91EEC88C}"/>
                    </a:ext>
                  </a:extLst>
                </p:cNvPr>
                <p:cNvSpPr txBox="1">
                  <a:spLocks noRot="1" noChangeAspect="1" noMove="1" noResize="1" noEditPoints="1" noAdjustHandles="1" noChangeArrowheads="1" noChangeShapeType="1" noTextEdit="1"/>
                </p:cNvSpPr>
                <p:nvPr/>
              </p:nvSpPr>
              <p:spPr>
                <a:xfrm>
                  <a:off x="5239751" y="4234212"/>
                  <a:ext cx="2617491" cy="523220"/>
                </a:xfrm>
                <a:prstGeom prst="rect">
                  <a:avLst/>
                </a:prstGeom>
                <a:blipFill>
                  <a:blip r:embed="rId13"/>
                  <a:stretch>
                    <a:fillRect l="-938" t="-1538" b="-155385"/>
                  </a:stretch>
                </a:blipFill>
              </p:spPr>
              <p:txBody>
                <a:bodyPr/>
                <a:lstStyle/>
                <a:p>
                  <a:r>
                    <a:rPr lang="en-US">
                      <a:noFill/>
                    </a:rPr>
                    <a:t> </a:t>
                  </a:r>
                </a:p>
              </p:txBody>
            </p:sp>
          </mc:Fallback>
        </mc:AlternateContent>
      </p:grpSp>
    </p:spTree>
    <p:extLst>
      <p:ext uri="{BB962C8B-B14F-4D97-AF65-F5344CB8AC3E}">
        <p14:creationId xmlns:p14="http://schemas.microsoft.com/office/powerpoint/2010/main" val="19989566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51616" name="Rectangle 32"/>
              <p:cNvSpPr>
                <a:spLocks noGrp="1" noChangeArrowheads="1"/>
              </p:cNvSpPr>
              <p:nvPr>
                <p:ph type="body" idx="1"/>
              </p:nvPr>
            </p:nvSpPr>
            <p:spPr>
              <a:xfrm>
                <a:off x="254314" y="1521430"/>
                <a:ext cx="11563351" cy="5200045"/>
              </a:xfrm>
            </p:spPr>
            <p:txBody>
              <a:bodyPr>
                <a:normAutofit/>
              </a:bodyPr>
              <a:lstStyle/>
              <a:p>
                <a:pPr marL="0" indent="0">
                  <a:buNone/>
                </a:pPr>
                <a:r>
                  <a:rPr lang="en-US" altLang="en-US" sz="2400" b="1" dirty="0" err="1">
                    <a:solidFill>
                      <a:srgbClr val="695082"/>
                    </a:solidFill>
                  </a:rPr>
                  <a:t>Defn</a:t>
                </a:r>
                <a:r>
                  <a:rPr lang="en-US" altLang="en-US" sz="2400" b="1" dirty="0">
                    <a:solidFill>
                      <a:srgbClr val="695082"/>
                    </a:solidFill>
                  </a:rPr>
                  <a:t>: </a:t>
                </a:r>
                <a:r>
                  <a:rPr lang="en-US" altLang="en-US" sz="2400" dirty="0"/>
                  <a:t>Two paths in a graph are </a:t>
                </a:r>
                <a:r>
                  <a:rPr lang="en-US" altLang="en-US" sz="2400" dirty="0">
                    <a:solidFill>
                      <a:srgbClr val="C00000"/>
                    </a:solidFill>
                  </a:rPr>
                  <a:t>edge-disjoint</a:t>
                </a:r>
                <a:r>
                  <a:rPr lang="en-US" altLang="en-US" sz="2400" dirty="0"/>
                  <a:t> </a:t>
                </a:r>
                <a:r>
                  <a:rPr lang="en-US" altLang="en-US" sz="2400" dirty="0" err="1"/>
                  <a:t>iff</a:t>
                </a:r>
                <a:r>
                  <a:rPr lang="en-US" altLang="en-US" sz="2400" dirty="0"/>
                  <a:t> they have no edge in common.</a:t>
                </a:r>
              </a:p>
              <a:p>
                <a:pPr marL="0" indent="0">
                  <a:buNone/>
                </a:pPr>
                <a:endParaRPr lang="en-US" altLang="en-US" sz="500" dirty="0"/>
              </a:p>
              <a:p>
                <a:pPr marL="0" indent="0">
                  <a:buNone/>
                </a:pPr>
                <a:r>
                  <a:rPr lang="en-US" altLang="en-US" sz="2400" b="1" dirty="0">
                    <a:solidFill>
                      <a:srgbClr val="695082"/>
                    </a:solidFill>
                  </a:rPr>
                  <a:t>Edge disjoint path problem:</a:t>
                </a:r>
                <a:r>
                  <a:rPr lang="en-US" altLang="en-US" sz="2000" dirty="0"/>
                  <a:t> </a:t>
                </a:r>
                <a:r>
                  <a:rPr lang="en-US" altLang="en-US" sz="2400" dirty="0"/>
                  <a:t> </a:t>
                </a:r>
                <a:r>
                  <a:rPr lang="en-US" altLang="en-US" sz="2400" b="1" dirty="0">
                    <a:solidFill>
                      <a:srgbClr val="0066CC"/>
                    </a:solidFill>
                  </a:rPr>
                  <a:t>Given:</a:t>
                </a:r>
                <a:r>
                  <a:rPr lang="en-US" altLang="en-US" sz="2400" dirty="0"/>
                  <a:t> a directed graph </a:t>
                </a:r>
                <a14:m>
                  <m:oMath xmlns:m="http://schemas.openxmlformats.org/officeDocument/2006/math">
                    <m:r>
                      <a:rPr lang="en-US" altLang="en-US" sz="2400" b="1" i="1" dirty="0">
                        <a:solidFill>
                          <a:srgbClr val="0066CC"/>
                        </a:solidFill>
                        <a:latin typeface="Cambria Math" panose="02040503050406030204" pitchFamily="18" charset="0"/>
                      </a:rPr>
                      <m:t>𝑮</m:t>
                    </m:r>
                    <m:r>
                      <a:rPr lang="en-US" altLang="en-US" sz="2400" b="1" i="1" dirty="0">
                        <a:solidFill>
                          <a:srgbClr val="0066CC"/>
                        </a:solidFill>
                        <a:latin typeface="Cambria Math" panose="02040503050406030204" pitchFamily="18" charset="0"/>
                      </a:rPr>
                      <m:t>=(</m:t>
                    </m:r>
                    <m:r>
                      <a:rPr lang="en-US" altLang="en-US" sz="2400" b="1" i="1" dirty="0">
                        <a:solidFill>
                          <a:srgbClr val="0066CC"/>
                        </a:solidFill>
                        <a:latin typeface="Cambria Math" panose="02040503050406030204" pitchFamily="18" charset="0"/>
                      </a:rPr>
                      <m:t>𝑽</m:t>
                    </m:r>
                    <m:r>
                      <a:rPr lang="en-US" altLang="en-US" sz="2400" b="1" i="1" dirty="0">
                        <a:solidFill>
                          <a:srgbClr val="0066CC"/>
                        </a:solidFill>
                        <a:latin typeface="Cambria Math" panose="02040503050406030204" pitchFamily="18" charset="0"/>
                      </a:rPr>
                      <m:t>,</m:t>
                    </m:r>
                    <m:r>
                      <a:rPr lang="en-US" altLang="en-US" sz="2400" b="1" i="1" dirty="0">
                        <a:solidFill>
                          <a:srgbClr val="0066CC"/>
                        </a:solidFill>
                        <a:latin typeface="Cambria Math" panose="02040503050406030204" pitchFamily="18" charset="0"/>
                      </a:rPr>
                      <m:t>𝑬</m:t>
                    </m:r>
                    <m:r>
                      <a:rPr lang="en-US" altLang="en-US" sz="2400" b="1" i="1" dirty="0">
                        <a:solidFill>
                          <a:srgbClr val="0066CC"/>
                        </a:solidFill>
                        <a:latin typeface="Cambria Math" panose="02040503050406030204" pitchFamily="18" charset="0"/>
                      </a:rPr>
                      <m:t>)</m:t>
                    </m:r>
                  </m:oMath>
                </a14:m>
                <a:r>
                  <a:rPr lang="en-US" altLang="en-US" sz="2400" dirty="0"/>
                  <a:t> and two vertices </a:t>
                </a:r>
                <a14:m>
                  <m:oMath xmlns:m="http://schemas.openxmlformats.org/officeDocument/2006/math">
                    <m:r>
                      <a:rPr lang="en-US" altLang="en-US" sz="2400" b="1" i="1" dirty="0">
                        <a:solidFill>
                          <a:srgbClr val="0066CC"/>
                        </a:solidFill>
                        <a:latin typeface="Cambria Math" panose="02040503050406030204" pitchFamily="18" charset="0"/>
                      </a:rPr>
                      <m:t>𝒔</m:t>
                    </m:r>
                  </m:oMath>
                </a14:m>
                <a:r>
                  <a:rPr lang="en-US" altLang="en-US" sz="2400" dirty="0"/>
                  <a:t> and </a:t>
                </a:r>
                <a14:m>
                  <m:oMath xmlns:m="http://schemas.openxmlformats.org/officeDocument/2006/math">
                    <m:r>
                      <a:rPr lang="en-US" altLang="en-US" sz="2400" b="1" i="1" dirty="0">
                        <a:solidFill>
                          <a:srgbClr val="0066CC"/>
                        </a:solidFill>
                        <a:latin typeface="Cambria Math" panose="02040503050406030204" pitchFamily="18" charset="0"/>
                      </a:rPr>
                      <m:t>𝒕</m:t>
                    </m:r>
                  </m:oMath>
                </a14:m>
                <a:r>
                  <a:rPr lang="en-US" altLang="en-US" sz="2400" dirty="0"/>
                  <a:t>. 			             </a:t>
                </a:r>
                <a:r>
                  <a:rPr lang="en-US" altLang="en-US" sz="2400" b="1" dirty="0">
                    <a:solidFill>
                      <a:srgbClr val="006600"/>
                    </a:solidFill>
                  </a:rPr>
                  <a:t>Find:</a:t>
                </a:r>
                <a:r>
                  <a:rPr lang="en-US" altLang="en-US" sz="2400" dirty="0"/>
                  <a:t> the maximum # of edge-disjoint simple </a:t>
                </a:r>
                <a14:m>
                  <m:oMath xmlns:m="http://schemas.openxmlformats.org/officeDocument/2006/math">
                    <m:r>
                      <a:rPr lang="en-US" altLang="en-US" sz="2400" b="1" i="1" dirty="0">
                        <a:solidFill>
                          <a:srgbClr val="0066CC"/>
                        </a:solidFill>
                        <a:latin typeface="Cambria Math" panose="02040503050406030204" pitchFamily="18" charset="0"/>
                      </a:rPr>
                      <m:t>𝒔</m:t>
                    </m:r>
                  </m:oMath>
                </a14:m>
                <a:r>
                  <a:rPr lang="en-US" altLang="en-US" sz="2400" dirty="0"/>
                  <a:t>-</a:t>
                </a:r>
                <a14:m>
                  <m:oMath xmlns:m="http://schemas.openxmlformats.org/officeDocument/2006/math">
                    <m:r>
                      <a:rPr lang="en-US" altLang="en-US" sz="2400" b="1" i="1" dirty="0">
                        <a:solidFill>
                          <a:srgbClr val="0066CC"/>
                        </a:solidFill>
                        <a:latin typeface="Cambria Math" panose="02040503050406030204" pitchFamily="18" charset="0"/>
                      </a:rPr>
                      <m:t>𝒕</m:t>
                    </m:r>
                  </m:oMath>
                </a14:m>
                <a:r>
                  <a:rPr lang="en-US" altLang="en-US" sz="2400" dirty="0"/>
                  <a:t> paths in </a:t>
                </a:r>
                <a14:m>
                  <m:oMath xmlns:m="http://schemas.openxmlformats.org/officeDocument/2006/math">
                    <m:r>
                      <a:rPr lang="en-US" altLang="en-US" sz="2400" b="1" i="1" dirty="0">
                        <a:solidFill>
                          <a:srgbClr val="006600"/>
                        </a:solidFill>
                        <a:latin typeface="Cambria Math" panose="02040503050406030204" pitchFamily="18" charset="0"/>
                      </a:rPr>
                      <m:t>𝑮</m:t>
                    </m:r>
                  </m:oMath>
                </a14:m>
                <a:r>
                  <a:rPr lang="en-US" altLang="en-US" sz="2400" dirty="0">
                    <a:solidFill>
                      <a:schemeClr val="tx1"/>
                    </a:solidFill>
                  </a:rPr>
                  <a:t>.</a:t>
                </a:r>
              </a:p>
              <a:p>
                <a:pPr marL="0" indent="0">
                  <a:buNone/>
                </a:pPr>
                <a:endParaRPr lang="en-US" altLang="en-US" sz="500" dirty="0"/>
              </a:p>
              <a:p>
                <a:pPr marL="0" indent="0">
                  <a:buNone/>
                </a:pPr>
                <a:endParaRPr lang="en-US" altLang="en-US" sz="2400" dirty="0">
                  <a:solidFill>
                    <a:schemeClr val="tx1"/>
                  </a:solidFill>
                </a:endParaRPr>
              </a:p>
            </p:txBody>
          </p:sp>
        </mc:Choice>
        <mc:Fallback xmlns="">
          <p:sp>
            <p:nvSpPr>
              <p:cNvPr id="451616" name="Rectangle 32"/>
              <p:cNvSpPr>
                <a:spLocks noGrp="1" noRot="1" noChangeAspect="1" noMove="1" noResize="1" noEditPoints="1" noAdjustHandles="1" noChangeArrowheads="1" noChangeShapeType="1" noTextEdit="1"/>
              </p:cNvSpPr>
              <p:nvPr>
                <p:ph type="body" idx="1"/>
              </p:nvPr>
            </p:nvSpPr>
            <p:spPr>
              <a:xfrm>
                <a:off x="254314" y="1521430"/>
                <a:ext cx="11563351" cy="5200045"/>
              </a:xfrm>
              <a:blipFill>
                <a:blip r:embed="rId3"/>
                <a:stretch>
                  <a:fillRect l="-843" t="-1641"/>
                </a:stretch>
              </a:blipFill>
            </p:spPr>
            <p:txBody>
              <a:bodyPr/>
              <a:lstStyle/>
              <a:p>
                <a:r>
                  <a:rPr lang="en-US">
                    <a:noFill/>
                  </a:rPr>
                  <a:t> </a:t>
                </a:r>
              </a:p>
            </p:txBody>
          </p:sp>
        </mc:Fallback>
      </mc:AlternateContent>
      <p:sp>
        <p:nvSpPr>
          <p:cNvPr id="451615" name="Rectangle 31"/>
          <p:cNvSpPr>
            <a:spLocks noGrp="1" noChangeArrowheads="1"/>
          </p:cNvSpPr>
          <p:nvPr>
            <p:ph type="title"/>
          </p:nvPr>
        </p:nvSpPr>
        <p:spPr/>
        <p:txBody>
          <a:bodyPr/>
          <a:lstStyle/>
          <a:p>
            <a:r>
              <a:rPr lang="en-US" altLang="en-US" dirty="0"/>
              <a:t>Edge-Disjoint Paths</a:t>
            </a:r>
          </a:p>
        </p:txBody>
      </p:sp>
      <p:grpSp>
        <p:nvGrpSpPr>
          <p:cNvPr id="2" name="Group 1">
            <a:extLst>
              <a:ext uri="{FF2B5EF4-FFF2-40B4-BE49-F238E27FC236}">
                <a16:creationId xmlns:a16="http://schemas.microsoft.com/office/drawing/2014/main" id="{C6C09534-F151-4A0E-B05D-1533EC404540}"/>
              </a:ext>
            </a:extLst>
          </p:cNvPr>
          <p:cNvGrpSpPr>
            <a:grpSpLocks/>
          </p:cNvGrpSpPr>
          <p:nvPr/>
        </p:nvGrpSpPr>
        <p:grpSpPr>
          <a:xfrm>
            <a:off x="1463040" y="3429000"/>
            <a:ext cx="5303520" cy="2286000"/>
            <a:chOff x="2438401" y="3540126"/>
            <a:chExt cx="6784975" cy="2597150"/>
          </a:xfrm>
        </p:grpSpPr>
        <p:sp>
          <p:nvSpPr>
            <p:cNvPr id="451588" name="Oval 4"/>
            <p:cNvSpPr>
              <a:spLocks noChangeAspect="1" noChangeArrowheads="1"/>
            </p:cNvSpPr>
            <p:nvPr/>
          </p:nvSpPr>
          <p:spPr bwMode="auto">
            <a:xfrm>
              <a:off x="2438401" y="46482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s</a:t>
              </a:r>
            </a:p>
          </p:txBody>
        </p:sp>
        <p:sp>
          <p:nvSpPr>
            <p:cNvPr id="451591" name="Oval 7"/>
            <p:cNvSpPr>
              <a:spLocks noChangeAspect="1" noChangeArrowheads="1"/>
            </p:cNvSpPr>
            <p:nvPr/>
          </p:nvSpPr>
          <p:spPr bwMode="auto">
            <a:xfrm>
              <a:off x="4572001" y="3540126"/>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a</a:t>
              </a:r>
            </a:p>
          </p:txBody>
        </p:sp>
        <p:sp>
          <p:nvSpPr>
            <p:cNvPr id="451592" name="Oval 8"/>
            <p:cNvSpPr>
              <a:spLocks noChangeAspect="1" noChangeArrowheads="1"/>
            </p:cNvSpPr>
            <p:nvPr/>
          </p:nvSpPr>
          <p:spPr bwMode="auto">
            <a:xfrm>
              <a:off x="4572001" y="46482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b</a:t>
              </a:r>
            </a:p>
          </p:txBody>
        </p:sp>
        <p:sp>
          <p:nvSpPr>
            <p:cNvPr id="451593" name="Oval 9"/>
            <p:cNvSpPr>
              <a:spLocks noChangeAspect="1" noChangeArrowheads="1"/>
            </p:cNvSpPr>
            <p:nvPr/>
          </p:nvSpPr>
          <p:spPr bwMode="auto">
            <a:xfrm>
              <a:off x="4572001" y="58674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c</a:t>
              </a:r>
            </a:p>
          </p:txBody>
        </p:sp>
        <p:cxnSp>
          <p:nvCxnSpPr>
            <p:cNvPr id="451596" name="AutoShape 12"/>
            <p:cNvCxnSpPr>
              <a:cxnSpLocks noChangeShapeType="1"/>
              <a:stCxn id="451588" idx="7"/>
              <a:endCxn id="451591" idx="3"/>
            </p:cNvCxnSpPr>
            <p:nvPr/>
          </p:nvCxnSpPr>
          <p:spPr bwMode="auto">
            <a:xfrm flipV="1">
              <a:off x="2668588" y="3770314"/>
              <a:ext cx="1943100" cy="91757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597" name="AutoShape 13"/>
            <p:cNvCxnSpPr>
              <a:cxnSpLocks noChangeShapeType="1"/>
              <a:stCxn id="451588" idx="6"/>
              <a:endCxn id="451592" idx="2"/>
            </p:cNvCxnSpPr>
            <p:nvPr/>
          </p:nvCxnSpPr>
          <p:spPr bwMode="auto">
            <a:xfrm>
              <a:off x="2708276" y="4783138"/>
              <a:ext cx="1863725" cy="0"/>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598" name="AutoShape 14"/>
            <p:cNvCxnSpPr>
              <a:cxnSpLocks noChangeShapeType="1"/>
              <a:stCxn id="451588" idx="5"/>
              <a:endCxn id="451593" idx="1"/>
            </p:cNvCxnSpPr>
            <p:nvPr/>
          </p:nvCxnSpPr>
          <p:spPr bwMode="auto">
            <a:xfrm>
              <a:off x="2668588" y="4878388"/>
              <a:ext cx="1943100" cy="1028700"/>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606" name="AutoShape 22"/>
            <p:cNvCxnSpPr>
              <a:cxnSpLocks noChangeShapeType="1"/>
              <a:stCxn id="451592" idx="4"/>
              <a:endCxn id="451593" idx="0"/>
            </p:cNvCxnSpPr>
            <p:nvPr/>
          </p:nvCxnSpPr>
          <p:spPr bwMode="auto">
            <a:xfrm>
              <a:off x="4706938" y="4918076"/>
              <a:ext cx="0" cy="94932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608" name="AutoShape 24"/>
            <p:cNvCxnSpPr>
              <a:cxnSpLocks noChangeShapeType="1"/>
              <a:stCxn id="451592" idx="6"/>
              <a:endCxn id="451624" idx="1"/>
            </p:cNvCxnSpPr>
            <p:nvPr/>
          </p:nvCxnSpPr>
          <p:spPr bwMode="auto">
            <a:xfrm>
              <a:off x="4841876" y="4783138"/>
              <a:ext cx="2055813" cy="1123950"/>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609" name="AutoShape 25"/>
            <p:cNvCxnSpPr>
              <a:cxnSpLocks noChangeShapeType="1"/>
              <a:stCxn id="451593" idx="6"/>
              <a:endCxn id="451624" idx="2"/>
            </p:cNvCxnSpPr>
            <p:nvPr/>
          </p:nvCxnSpPr>
          <p:spPr bwMode="auto">
            <a:xfrm>
              <a:off x="4841876" y="6002338"/>
              <a:ext cx="2016125" cy="0"/>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618" name="AutoShape 34"/>
            <p:cNvCxnSpPr>
              <a:cxnSpLocks noChangeShapeType="1"/>
              <a:stCxn id="451591" idx="4"/>
              <a:endCxn id="451592" idx="0"/>
            </p:cNvCxnSpPr>
            <p:nvPr/>
          </p:nvCxnSpPr>
          <p:spPr bwMode="auto">
            <a:xfrm>
              <a:off x="4706938" y="3810000"/>
              <a:ext cx="0" cy="838200"/>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51622" name="Oval 38"/>
            <p:cNvSpPr>
              <a:spLocks noChangeAspect="1" noChangeArrowheads="1"/>
            </p:cNvSpPr>
            <p:nvPr/>
          </p:nvSpPr>
          <p:spPr bwMode="auto">
            <a:xfrm>
              <a:off x="6858001" y="3540126"/>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d</a:t>
              </a:r>
            </a:p>
          </p:txBody>
        </p:sp>
        <p:sp>
          <p:nvSpPr>
            <p:cNvPr id="451623" name="Oval 39"/>
            <p:cNvSpPr>
              <a:spLocks noChangeAspect="1" noChangeArrowheads="1"/>
            </p:cNvSpPr>
            <p:nvPr/>
          </p:nvSpPr>
          <p:spPr bwMode="auto">
            <a:xfrm>
              <a:off x="6858001" y="46482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e</a:t>
              </a:r>
            </a:p>
          </p:txBody>
        </p:sp>
        <p:sp>
          <p:nvSpPr>
            <p:cNvPr id="451624" name="Oval 40"/>
            <p:cNvSpPr>
              <a:spLocks noChangeAspect="1" noChangeArrowheads="1"/>
            </p:cNvSpPr>
            <p:nvPr/>
          </p:nvSpPr>
          <p:spPr bwMode="auto">
            <a:xfrm>
              <a:off x="6858001" y="58674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f</a:t>
              </a:r>
            </a:p>
          </p:txBody>
        </p:sp>
        <p:cxnSp>
          <p:nvCxnSpPr>
            <p:cNvPr id="451625" name="AutoShape 41"/>
            <p:cNvCxnSpPr>
              <a:cxnSpLocks noChangeShapeType="1"/>
              <a:stCxn id="451623" idx="4"/>
              <a:endCxn id="451624" idx="0"/>
            </p:cNvCxnSpPr>
            <p:nvPr/>
          </p:nvCxnSpPr>
          <p:spPr bwMode="auto">
            <a:xfrm>
              <a:off x="6992938" y="4918076"/>
              <a:ext cx="0" cy="949325"/>
            </a:xfrm>
            <a:prstGeom prst="straightConnector1">
              <a:avLst/>
            </a:prstGeom>
            <a:noFill/>
            <a:ln w="19050">
              <a:solidFill>
                <a:schemeClr val="tx1"/>
              </a:solidFill>
              <a:round/>
              <a:headEnd type="triangle" w="lg" len="med"/>
              <a:tailEnd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626" name="AutoShape 42"/>
            <p:cNvCxnSpPr>
              <a:cxnSpLocks noChangeShapeType="1"/>
              <a:stCxn id="451622" idx="4"/>
              <a:endCxn id="451623" idx="0"/>
            </p:cNvCxnSpPr>
            <p:nvPr/>
          </p:nvCxnSpPr>
          <p:spPr bwMode="auto">
            <a:xfrm>
              <a:off x="6992938" y="3810000"/>
              <a:ext cx="0" cy="838200"/>
            </a:xfrm>
            <a:prstGeom prst="straightConnector1">
              <a:avLst/>
            </a:prstGeom>
            <a:noFill/>
            <a:ln w="19050">
              <a:solidFill>
                <a:schemeClr val="tx1"/>
              </a:solidFill>
              <a:round/>
              <a:headEnd type="triangle" w="lg" len="med"/>
              <a:tailEnd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51628" name="Oval 44"/>
            <p:cNvSpPr>
              <a:spLocks noChangeAspect="1" noChangeArrowheads="1"/>
            </p:cNvSpPr>
            <p:nvPr/>
          </p:nvSpPr>
          <p:spPr bwMode="auto">
            <a:xfrm>
              <a:off x="8953501" y="46482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t</a:t>
              </a:r>
            </a:p>
          </p:txBody>
        </p:sp>
        <p:cxnSp>
          <p:nvCxnSpPr>
            <p:cNvPr id="451629" name="AutoShape 45"/>
            <p:cNvCxnSpPr>
              <a:cxnSpLocks noChangeShapeType="1"/>
              <a:stCxn id="451622" idx="6"/>
              <a:endCxn id="451628" idx="1"/>
            </p:cNvCxnSpPr>
            <p:nvPr/>
          </p:nvCxnSpPr>
          <p:spPr bwMode="auto">
            <a:xfrm>
              <a:off x="7127876" y="3675064"/>
              <a:ext cx="1865313" cy="101282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630" name="AutoShape 46"/>
            <p:cNvCxnSpPr>
              <a:cxnSpLocks noChangeShapeType="1"/>
              <a:stCxn id="451623" idx="6"/>
              <a:endCxn id="451628" idx="2"/>
            </p:cNvCxnSpPr>
            <p:nvPr/>
          </p:nvCxnSpPr>
          <p:spPr bwMode="auto">
            <a:xfrm>
              <a:off x="7127876" y="4783138"/>
              <a:ext cx="1825625" cy="0"/>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631" name="AutoShape 47"/>
            <p:cNvCxnSpPr>
              <a:cxnSpLocks noChangeShapeType="1"/>
              <a:stCxn id="451624" idx="7"/>
              <a:endCxn id="451628" idx="4"/>
            </p:cNvCxnSpPr>
            <p:nvPr/>
          </p:nvCxnSpPr>
          <p:spPr bwMode="auto">
            <a:xfrm flipV="1">
              <a:off x="7088188" y="4918076"/>
              <a:ext cx="2000250" cy="989013"/>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647" name="AutoShape 63"/>
            <p:cNvCxnSpPr>
              <a:cxnSpLocks noChangeShapeType="1"/>
              <a:stCxn id="451623" idx="2"/>
              <a:endCxn id="451591" idx="6"/>
            </p:cNvCxnSpPr>
            <p:nvPr/>
          </p:nvCxnSpPr>
          <p:spPr bwMode="auto">
            <a:xfrm flipH="1" flipV="1">
              <a:off x="4841876" y="3675064"/>
              <a:ext cx="2016125" cy="110807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648" name="AutoShape 64"/>
            <p:cNvCxnSpPr>
              <a:cxnSpLocks noChangeShapeType="1"/>
              <a:stCxn id="451622" idx="2"/>
              <a:endCxn id="451592" idx="7"/>
            </p:cNvCxnSpPr>
            <p:nvPr/>
          </p:nvCxnSpPr>
          <p:spPr bwMode="auto">
            <a:xfrm flipH="1">
              <a:off x="4802188" y="3675064"/>
              <a:ext cx="2055812" cy="101282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grpSp>
      <p:sp>
        <p:nvSpPr>
          <p:cNvPr id="28" name="Slide Number Placeholder 3">
            <a:extLst>
              <a:ext uri="{FF2B5EF4-FFF2-40B4-BE49-F238E27FC236}">
                <a16:creationId xmlns:a16="http://schemas.microsoft.com/office/drawing/2014/main" id="{6A47648C-C7EB-4E94-8225-B615C025B0BC}"/>
              </a:ext>
            </a:extLst>
          </p:cNvPr>
          <p:cNvSpPr>
            <a:spLocks noGrp="1"/>
          </p:cNvSpPr>
          <p:nvPr>
            <p:ph type="sldNum" sz="quarter" idx="12"/>
          </p:nvPr>
        </p:nvSpPr>
        <p:spPr>
          <a:xfrm>
            <a:off x="9880286" y="6336770"/>
            <a:ext cx="2057400" cy="365125"/>
          </a:xfrm>
        </p:spPr>
        <p:txBody>
          <a:bodyPr/>
          <a:lstStyle/>
          <a:p>
            <a:fld id="{859767C1-1CFC-4BF3-A3D8-E4104FCBBC17}" type="slidenum">
              <a:rPr lang="en-US" smtClean="0"/>
              <a:pPr/>
              <a:t>29</a:t>
            </a:fld>
            <a:endParaRPr lang="en-US" dirty="0"/>
          </a:p>
        </p:txBody>
      </p:sp>
    </p:spTree>
    <p:extLst>
      <p:ext uri="{BB962C8B-B14F-4D97-AF65-F5344CB8AC3E}">
        <p14:creationId xmlns:p14="http://schemas.microsoft.com/office/powerpoint/2010/main" val="36832079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1615" name="Rectangle 31"/>
          <p:cNvSpPr>
            <a:spLocks noGrp="1" noChangeArrowheads="1"/>
          </p:cNvSpPr>
          <p:nvPr>
            <p:ph type="title"/>
          </p:nvPr>
        </p:nvSpPr>
        <p:spPr/>
        <p:txBody>
          <a:bodyPr/>
          <a:lstStyle/>
          <a:p>
            <a:r>
              <a:rPr lang="en-US" altLang="en-US" dirty="0"/>
              <a:t>Edge-Disjoint Paths – Example of size 2</a:t>
            </a:r>
          </a:p>
        </p:txBody>
      </p:sp>
      <p:grpSp>
        <p:nvGrpSpPr>
          <p:cNvPr id="2" name="Group 1">
            <a:extLst>
              <a:ext uri="{FF2B5EF4-FFF2-40B4-BE49-F238E27FC236}">
                <a16:creationId xmlns:a16="http://schemas.microsoft.com/office/drawing/2014/main" id="{C6C09534-F151-4A0E-B05D-1533EC404540}"/>
              </a:ext>
            </a:extLst>
          </p:cNvPr>
          <p:cNvGrpSpPr>
            <a:grpSpLocks/>
          </p:cNvGrpSpPr>
          <p:nvPr/>
        </p:nvGrpSpPr>
        <p:grpSpPr>
          <a:xfrm>
            <a:off x="1463040" y="3429000"/>
            <a:ext cx="5303520" cy="2286000"/>
            <a:chOff x="2438401" y="3540126"/>
            <a:chExt cx="6784975" cy="2597150"/>
          </a:xfrm>
        </p:grpSpPr>
        <p:sp>
          <p:nvSpPr>
            <p:cNvPr id="451588" name="Oval 4"/>
            <p:cNvSpPr>
              <a:spLocks noChangeAspect="1" noChangeArrowheads="1"/>
            </p:cNvSpPr>
            <p:nvPr/>
          </p:nvSpPr>
          <p:spPr bwMode="auto">
            <a:xfrm>
              <a:off x="2438401" y="46482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s</a:t>
              </a:r>
            </a:p>
          </p:txBody>
        </p:sp>
        <p:sp>
          <p:nvSpPr>
            <p:cNvPr id="451591" name="Oval 7"/>
            <p:cNvSpPr>
              <a:spLocks noChangeAspect="1" noChangeArrowheads="1"/>
            </p:cNvSpPr>
            <p:nvPr/>
          </p:nvSpPr>
          <p:spPr bwMode="auto">
            <a:xfrm>
              <a:off x="4572001" y="3540126"/>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a</a:t>
              </a:r>
            </a:p>
          </p:txBody>
        </p:sp>
        <p:sp>
          <p:nvSpPr>
            <p:cNvPr id="451592" name="Oval 8"/>
            <p:cNvSpPr>
              <a:spLocks noChangeAspect="1" noChangeArrowheads="1"/>
            </p:cNvSpPr>
            <p:nvPr/>
          </p:nvSpPr>
          <p:spPr bwMode="auto">
            <a:xfrm>
              <a:off x="4572001" y="46482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b</a:t>
              </a:r>
            </a:p>
          </p:txBody>
        </p:sp>
        <p:sp>
          <p:nvSpPr>
            <p:cNvPr id="451593" name="Oval 9"/>
            <p:cNvSpPr>
              <a:spLocks noChangeAspect="1" noChangeArrowheads="1"/>
            </p:cNvSpPr>
            <p:nvPr/>
          </p:nvSpPr>
          <p:spPr bwMode="auto">
            <a:xfrm>
              <a:off x="4572001" y="58674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c</a:t>
              </a:r>
            </a:p>
          </p:txBody>
        </p:sp>
        <p:cxnSp>
          <p:nvCxnSpPr>
            <p:cNvPr id="451596" name="AutoShape 12"/>
            <p:cNvCxnSpPr>
              <a:cxnSpLocks noChangeShapeType="1"/>
              <a:stCxn id="451588" idx="7"/>
              <a:endCxn id="451591" idx="3"/>
            </p:cNvCxnSpPr>
            <p:nvPr/>
          </p:nvCxnSpPr>
          <p:spPr bwMode="auto">
            <a:xfrm flipV="1">
              <a:off x="2668588" y="3770314"/>
              <a:ext cx="1943100" cy="917575"/>
            </a:xfrm>
            <a:prstGeom prst="straightConnector1">
              <a:avLst/>
            </a:prstGeom>
            <a:noFill/>
            <a:ln w="38100">
              <a:solidFill>
                <a:srgbClr val="0066CC"/>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597" name="AutoShape 13"/>
            <p:cNvCxnSpPr>
              <a:cxnSpLocks noChangeShapeType="1"/>
              <a:stCxn id="451588" idx="6"/>
              <a:endCxn id="451592" idx="2"/>
            </p:cNvCxnSpPr>
            <p:nvPr/>
          </p:nvCxnSpPr>
          <p:spPr bwMode="auto">
            <a:xfrm>
              <a:off x="2708276" y="4783138"/>
              <a:ext cx="1863725" cy="0"/>
            </a:xfrm>
            <a:prstGeom prst="straightConnector1">
              <a:avLst/>
            </a:prstGeom>
            <a:noFill/>
            <a:ln w="38100">
              <a:solidFill>
                <a:srgbClr val="FF000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598" name="AutoShape 14"/>
            <p:cNvCxnSpPr>
              <a:cxnSpLocks noChangeShapeType="1"/>
              <a:stCxn id="451588" idx="5"/>
              <a:endCxn id="451593" idx="1"/>
            </p:cNvCxnSpPr>
            <p:nvPr/>
          </p:nvCxnSpPr>
          <p:spPr bwMode="auto">
            <a:xfrm>
              <a:off x="2668588" y="4878388"/>
              <a:ext cx="1943100" cy="1028700"/>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606" name="AutoShape 22"/>
            <p:cNvCxnSpPr>
              <a:cxnSpLocks noChangeShapeType="1"/>
              <a:stCxn id="451592" idx="4"/>
              <a:endCxn id="451593" idx="0"/>
            </p:cNvCxnSpPr>
            <p:nvPr/>
          </p:nvCxnSpPr>
          <p:spPr bwMode="auto">
            <a:xfrm>
              <a:off x="4706938" y="4918076"/>
              <a:ext cx="0" cy="949325"/>
            </a:xfrm>
            <a:prstGeom prst="straightConnector1">
              <a:avLst/>
            </a:prstGeom>
            <a:noFill/>
            <a:ln w="38100">
              <a:solidFill>
                <a:srgbClr val="0066CC"/>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608" name="AutoShape 24"/>
            <p:cNvCxnSpPr>
              <a:cxnSpLocks noChangeShapeType="1"/>
              <a:stCxn id="451592" idx="6"/>
              <a:endCxn id="451624" idx="1"/>
            </p:cNvCxnSpPr>
            <p:nvPr/>
          </p:nvCxnSpPr>
          <p:spPr bwMode="auto">
            <a:xfrm>
              <a:off x="4841876" y="4783138"/>
              <a:ext cx="2055813" cy="1123950"/>
            </a:xfrm>
            <a:prstGeom prst="straightConnector1">
              <a:avLst/>
            </a:prstGeom>
            <a:noFill/>
            <a:ln w="38100">
              <a:solidFill>
                <a:srgbClr val="FF000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609" name="AutoShape 25"/>
            <p:cNvCxnSpPr>
              <a:cxnSpLocks noChangeShapeType="1"/>
              <a:stCxn id="451593" idx="6"/>
              <a:endCxn id="451624" idx="2"/>
            </p:cNvCxnSpPr>
            <p:nvPr/>
          </p:nvCxnSpPr>
          <p:spPr bwMode="auto">
            <a:xfrm>
              <a:off x="4841876" y="6002338"/>
              <a:ext cx="2016125" cy="0"/>
            </a:xfrm>
            <a:prstGeom prst="straightConnector1">
              <a:avLst/>
            </a:prstGeom>
            <a:noFill/>
            <a:ln w="38100">
              <a:solidFill>
                <a:srgbClr val="0066CC"/>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618" name="AutoShape 34"/>
            <p:cNvCxnSpPr>
              <a:cxnSpLocks noChangeShapeType="1"/>
              <a:stCxn id="451591" idx="4"/>
              <a:endCxn id="451592" idx="0"/>
            </p:cNvCxnSpPr>
            <p:nvPr/>
          </p:nvCxnSpPr>
          <p:spPr bwMode="auto">
            <a:xfrm>
              <a:off x="4706938" y="3810000"/>
              <a:ext cx="0" cy="838200"/>
            </a:xfrm>
            <a:prstGeom prst="straightConnector1">
              <a:avLst/>
            </a:prstGeom>
            <a:noFill/>
            <a:ln w="38100">
              <a:solidFill>
                <a:srgbClr val="0066CC"/>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51622" name="Oval 38"/>
            <p:cNvSpPr>
              <a:spLocks noChangeAspect="1" noChangeArrowheads="1"/>
            </p:cNvSpPr>
            <p:nvPr/>
          </p:nvSpPr>
          <p:spPr bwMode="auto">
            <a:xfrm>
              <a:off x="6858001" y="3540126"/>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d</a:t>
              </a:r>
            </a:p>
          </p:txBody>
        </p:sp>
        <p:sp>
          <p:nvSpPr>
            <p:cNvPr id="451623" name="Oval 39"/>
            <p:cNvSpPr>
              <a:spLocks noChangeAspect="1" noChangeArrowheads="1"/>
            </p:cNvSpPr>
            <p:nvPr/>
          </p:nvSpPr>
          <p:spPr bwMode="auto">
            <a:xfrm>
              <a:off x="6858001" y="46482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e</a:t>
              </a:r>
            </a:p>
          </p:txBody>
        </p:sp>
        <p:sp>
          <p:nvSpPr>
            <p:cNvPr id="451624" name="Oval 40"/>
            <p:cNvSpPr>
              <a:spLocks noChangeAspect="1" noChangeArrowheads="1"/>
            </p:cNvSpPr>
            <p:nvPr/>
          </p:nvSpPr>
          <p:spPr bwMode="auto">
            <a:xfrm>
              <a:off x="6858001" y="58674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f</a:t>
              </a:r>
            </a:p>
          </p:txBody>
        </p:sp>
        <p:cxnSp>
          <p:nvCxnSpPr>
            <p:cNvPr id="451625" name="AutoShape 41"/>
            <p:cNvCxnSpPr>
              <a:cxnSpLocks noChangeShapeType="1"/>
              <a:stCxn id="451623" idx="4"/>
              <a:endCxn id="451624" idx="0"/>
            </p:cNvCxnSpPr>
            <p:nvPr/>
          </p:nvCxnSpPr>
          <p:spPr bwMode="auto">
            <a:xfrm>
              <a:off x="6992938" y="4918076"/>
              <a:ext cx="0" cy="949325"/>
            </a:xfrm>
            <a:prstGeom prst="straightConnector1">
              <a:avLst/>
            </a:prstGeom>
            <a:noFill/>
            <a:ln w="38100">
              <a:solidFill>
                <a:srgbClr val="FF0000"/>
              </a:solidFill>
              <a:round/>
              <a:headEnd type="triangle" w="lg" len="med"/>
              <a:tailEnd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626" name="AutoShape 42"/>
            <p:cNvCxnSpPr>
              <a:cxnSpLocks noChangeShapeType="1"/>
              <a:stCxn id="451622" idx="4"/>
              <a:endCxn id="451623" idx="0"/>
            </p:cNvCxnSpPr>
            <p:nvPr/>
          </p:nvCxnSpPr>
          <p:spPr bwMode="auto">
            <a:xfrm>
              <a:off x="6992938" y="3810000"/>
              <a:ext cx="0" cy="838200"/>
            </a:xfrm>
            <a:prstGeom prst="straightConnector1">
              <a:avLst/>
            </a:prstGeom>
            <a:noFill/>
            <a:ln w="19050">
              <a:solidFill>
                <a:schemeClr val="tx1"/>
              </a:solidFill>
              <a:round/>
              <a:headEnd type="triangle" w="lg" len="med"/>
              <a:tailEnd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51628" name="Oval 44"/>
            <p:cNvSpPr>
              <a:spLocks noChangeAspect="1" noChangeArrowheads="1"/>
            </p:cNvSpPr>
            <p:nvPr/>
          </p:nvSpPr>
          <p:spPr bwMode="auto">
            <a:xfrm>
              <a:off x="8953501" y="46482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t</a:t>
              </a:r>
            </a:p>
          </p:txBody>
        </p:sp>
        <p:cxnSp>
          <p:nvCxnSpPr>
            <p:cNvPr id="451629" name="AutoShape 45"/>
            <p:cNvCxnSpPr>
              <a:cxnSpLocks noChangeShapeType="1"/>
              <a:stCxn id="451622" idx="6"/>
              <a:endCxn id="451628" idx="1"/>
            </p:cNvCxnSpPr>
            <p:nvPr/>
          </p:nvCxnSpPr>
          <p:spPr bwMode="auto">
            <a:xfrm>
              <a:off x="7127876" y="3675064"/>
              <a:ext cx="1865313" cy="101282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630" name="AutoShape 46"/>
            <p:cNvCxnSpPr>
              <a:cxnSpLocks noChangeShapeType="1"/>
              <a:stCxn id="451623" idx="6"/>
              <a:endCxn id="451628" idx="2"/>
            </p:cNvCxnSpPr>
            <p:nvPr/>
          </p:nvCxnSpPr>
          <p:spPr bwMode="auto">
            <a:xfrm>
              <a:off x="7127876" y="4783138"/>
              <a:ext cx="1825625" cy="0"/>
            </a:xfrm>
            <a:prstGeom prst="straightConnector1">
              <a:avLst/>
            </a:prstGeom>
            <a:noFill/>
            <a:ln w="38100">
              <a:solidFill>
                <a:srgbClr val="FF000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631" name="AutoShape 47"/>
            <p:cNvCxnSpPr>
              <a:cxnSpLocks noChangeShapeType="1"/>
              <a:stCxn id="451624" idx="7"/>
              <a:endCxn id="451628" idx="4"/>
            </p:cNvCxnSpPr>
            <p:nvPr/>
          </p:nvCxnSpPr>
          <p:spPr bwMode="auto">
            <a:xfrm flipV="1">
              <a:off x="7088188" y="4918076"/>
              <a:ext cx="2000250" cy="989013"/>
            </a:xfrm>
            <a:prstGeom prst="straightConnector1">
              <a:avLst/>
            </a:prstGeom>
            <a:noFill/>
            <a:ln w="38100">
              <a:solidFill>
                <a:srgbClr val="0066CC"/>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647" name="AutoShape 63"/>
            <p:cNvCxnSpPr>
              <a:cxnSpLocks noChangeShapeType="1"/>
              <a:stCxn id="451623" idx="2"/>
              <a:endCxn id="451591" idx="6"/>
            </p:cNvCxnSpPr>
            <p:nvPr/>
          </p:nvCxnSpPr>
          <p:spPr bwMode="auto">
            <a:xfrm flipH="1" flipV="1">
              <a:off x="4841876" y="3675064"/>
              <a:ext cx="2016125" cy="110807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648" name="AutoShape 64"/>
            <p:cNvCxnSpPr>
              <a:cxnSpLocks noChangeShapeType="1"/>
              <a:stCxn id="451622" idx="2"/>
              <a:endCxn id="451592" idx="7"/>
            </p:cNvCxnSpPr>
            <p:nvPr/>
          </p:nvCxnSpPr>
          <p:spPr bwMode="auto">
            <a:xfrm flipH="1">
              <a:off x="4802188" y="3675064"/>
              <a:ext cx="2055812" cy="101282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grpSp>
      <p:sp>
        <p:nvSpPr>
          <p:cNvPr id="28" name="Slide Number Placeholder 3">
            <a:extLst>
              <a:ext uri="{FF2B5EF4-FFF2-40B4-BE49-F238E27FC236}">
                <a16:creationId xmlns:a16="http://schemas.microsoft.com/office/drawing/2014/main" id="{890D4E2D-F1F8-4E3A-B353-8B094D5424D4}"/>
              </a:ext>
            </a:extLst>
          </p:cNvPr>
          <p:cNvSpPr>
            <a:spLocks noGrp="1"/>
          </p:cNvSpPr>
          <p:nvPr>
            <p:ph type="sldNum" sz="quarter" idx="12"/>
          </p:nvPr>
        </p:nvSpPr>
        <p:spPr>
          <a:xfrm>
            <a:off x="9880286" y="6336770"/>
            <a:ext cx="2057400" cy="365125"/>
          </a:xfrm>
        </p:spPr>
        <p:txBody>
          <a:bodyPr/>
          <a:lstStyle/>
          <a:p>
            <a:fld id="{859767C1-1CFC-4BF3-A3D8-E4104FCBBC17}" type="slidenum">
              <a:rPr lang="en-US" smtClean="0"/>
              <a:pPr/>
              <a:t>30</a:t>
            </a:fld>
            <a:endParaRPr lang="en-US" dirty="0"/>
          </a:p>
        </p:txBody>
      </p:sp>
      <mc:AlternateContent xmlns:mc="http://schemas.openxmlformats.org/markup-compatibility/2006" xmlns:a14="http://schemas.microsoft.com/office/drawing/2010/main">
        <mc:Choice Requires="a14">
          <p:sp>
            <p:nvSpPr>
              <p:cNvPr id="5" name="Rectangle 32">
                <a:extLst>
                  <a:ext uri="{FF2B5EF4-FFF2-40B4-BE49-F238E27FC236}">
                    <a16:creationId xmlns:a16="http://schemas.microsoft.com/office/drawing/2014/main" id="{F24832DE-A48D-CE0B-BAC2-7D69053DBDC2}"/>
                  </a:ext>
                </a:extLst>
              </p:cNvPr>
              <p:cNvSpPr txBox="1">
                <a:spLocks noChangeArrowheads="1"/>
              </p:cNvSpPr>
              <p:nvPr/>
            </p:nvSpPr>
            <p:spPr>
              <a:xfrm>
                <a:off x="254314" y="1530574"/>
                <a:ext cx="11563351" cy="520004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en-US" sz="2400" b="1" dirty="0">
                    <a:solidFill>
                      <a:srgbClr val="695082"/>
                    </a:solidFill>
                  </a:rPr>
                  <a:t>Defn: </a:t>
                </a:r>
                <a:r>
                  <a:rPr lang="en-US" altLang="en-US" sz="2400" dirty="0"/>
                  <a:t>Two paths in a graph are </a:t>
                </a:r>
                <a:r>
                  <a:rPr lang="en-US" altLang="en-US" sz="2400" dirty="0">
                    <a:solidFill>
                      <a:srgbClr val="C00000"/>
                    </a:solidFill>
                  </a:rPr>
                  <a:t>edge-disjoint</a:t>
                </a:r>
                <a:r>
                  <a:rPr lang="en-US" altLang="en-US" sz="2400" dirty="0"/>
                  <a:t> </a:t>
                </a:r>
                <a:r>
                  <a:rPr lang="en-US" altLang="en-US" sz="2400" dirty="0" err="1"/>
                  <a:t>iff</a:t>
                </a:r>
                <a:r>
                  <a:rPr lang="en-US" altLang="en-US" sz="2400" dirty="0"/>
                  <a:t> they have no edge in common.</a:t>
                </a:r>
              </a:p>
              <a:p>
                <a:pPr marL="0" indent="0">
                  <a:buFont typeface="Arial" panose="020B0604020202020204" pitchFamily="34" charset="0"/>
                  <a:buNone/>
                </a:pPr>
                <a:endParaRPr lang="en-US" altLang="en-US" sz="500" dirty="0"/>
              </a:p>
              <a:p>
                <a:pPr marL="0" indent="0">
                  <a:buFont typeface="Arial" panose="020B0604020202020204" pitchFamily="34" charset="0"/>
                  <a:buNone/>
                </a:pPr>
                <a:r>
                  <a:rPr lang="en-US" altLang="en-US" sz="2400" b="1" dirty="0">
                    <a:solidFill>
                      <a:srgbClr val="695082"/>
                    </a:solidFill>
                  </a:rPr>
                  <a:t>Edge disjoint path problem:</a:t>
                </a:r>
                <a:r>
                  <a:rPr lang="en-US" altLang="en-US" sz="2000" dirty="0"/>
                  <a:t> </a:t>
                </a:r>
                <a:r>
                  <a:rPr lang="en-US" altLang="en-US" sz="2400" dirty="0"/>
                  <a:t> </a:t>
                </a:r>
                <a:r>
                  <a:rPr lang="en-US" altLang="en-US" sz="2400" b="1" dirty="0">
                    <a:solidFill>
                      <a:srgbClr val="0066CC"/>
                    </a:solidFill>
                  </a:rPr>
                  <a:t>Given:</a:t>
                </a:r>
                <a:r>
                  <a:rPr lang="en-US" altLang="en-US" sz="2400" dirty="0"/>
                  <a:t> a directed graph </a:t>
                </a:r>
                <a14:m>
                  <m:oMath xmlns:m="http://schemas.openxmlformats.org/officeDocument/2006/math">
                    <m:r>
                      <a:rPr lang="en-US" altLang="en-US" sz="2400" b="1" i="1" dirty="0">
                        <a:solidFill>
                          <a:srgbClr val="0066CC"/>
                        </a:solidFill>
                        <a:latin typeface="Cambria Math" panose="02040503050406030204" pitchFamily="18" charset="0"/>
                      </a:rPr>
                      <m:t>𝑮</m:t>
                    </m:r>
                    <m:r>
                      <a:rPr lang="en-US" altLang="en-US" sz="2400" b="1" i="1" dirty="0">
                        <a:solidFill>
                          <a:srgbClr val="0066CC"/>
                        </a:solidFill>
                        <a:latin typeface="Cambria Math" panose="02040503050406030204" pitchFamily="18" charset="0"/>
                      </a:rPr>
                      <m:t>=(</m:t>
                    </m:r>
                    <m:r>
                      <a:rPr lang="en-US" altLang="en-US" sz="2400" b="1" i="1" dirty="0">
                        <a:solidFill>
                          <a:srgbClr val="0066CC"/>
                        </a:solidFill>
                        <a:latin typeface="Cambria Math" panose="02040503050406030204" pitchFamily="18" charset="0"/>
                      </a:rPr>
                      <m:t>𝑽</m:t>
                    </m:r>
                    <m:r>
                      <a:rPr lang="en-US" altLang="en-US" sz="2400" b="1" i="1" dirty="0">
                        <a:solidFill>
                          <a:srgbClr val="0066CC"/>
                        </a:solidFill>
                        <a:latin typeface="Cambria Math" panose="02040503050406030204" pitchFamily="18" charset="0"/>
                      </a:rPr>
                      <m:t>,</m:t>
                    </m:r>
                    <m:r>
                      <a:rPr lang="en-US" altLang="en-US" sz="2400" b="1" i="1" dirty="0">
                        <a:solidFill>
                          <a:srgbClr val="0066CC"/>
                        </a:solidFill>
                        <a:latin typeface="Cambria Math" panose="02040503050406030204" pitchFamily="18" charset="0"/>
                      </a:rPr>
                      <m:t>𝑬</m:t>
                    </m:r>
                    <m:r>
                      <a:rPr lang="en-US" altLang="en-US" sz="2400" b="1" i="1" dirty="0">
                        <a:solidFill>
                          <a:srgbClr val="0066CC"/>
                        </a:solidFill>
                        <a:latin typeface="Cambria Math" panose="02040503050406030204" pitchFamily="18" charset="0"/>
                      </a:rPr>
                      <m:t>)</m:t>
                    </m:r>
                  </m:oMath>
                </a14:m>
                <a:r>
                  <a:rPr lang="en-US" altLang="en-US" sz="2400" dirty="0"/>
                  <a:t> and two vertices </a:t>
                </a:r>
                <a14:m>
                  <m:oMath xmlns:m="http://schemas.openxmlformats.org/officeDocument/2006/math">
                    <m:r>
                      <a:rPr lang="en-US" altLang="en-US" sz="2400" b="1" i="1" dirty="0">
                        <a:solidFill>
                          <a:srgbClr val="0066CC"/>
                        </a:solidFill>
                        <a:latin typeface="Cambria Math" panose="02040503050406030204" pitchFamily="18" charset="0"/>
                      </a:rPr>
                      <m:t>𝒔</m:t>
                    </m:r>
                  </m:oMath>
                </a14:m>
                <a:r>
                  <a:rPr lang="en-US" altLang="en-US" sz="2400" dirty="0"/>
                  <a:t> and </a:t>
                </a:r>
                <a14:m>
                  <m:oMath xmlns:m="http://schemas.openxmlformats.org/officeDocument/2006/math">
                    <m:r>
                      <a:rPr lang="en-US" altLang="en-US" sz="2400" b="1" i="1" dirty="0">
                        <a:solidFill>
                          <a:srgbClr val="0066CC"/>
                        </a:solidFill>
                        <a:latin typeface="Cambria Math" panose="02040503050406030204" pitchFamily="18" charset="0"/>
                      </a:rPr>
                      <m:t>𝒕</m:t>
                    </m:r>
                  </m:oMath>
                </a14:m>
                <a:r>
                  <a:rPr lang="en-US" altLang="en-US" sz="2400" dirty="0"/>
                  <a:t>. 			             </a:t>
                </a:r>
                <a:r>
                  <a:rPr lang="en-US" altLang="en-US" sz="2400" b="1" dirty="0">
                    <a:solidFill>
                      <a:srgbClr val="006600"/>
                    </a:solidFill>
                  </a:rPr>
                  <a:t>Find:</a:t>
                </a:r>
                <a:r>
                  <a:rPr lang="en-US" altLang="en-US" sz="2400" dirty="0"/>
                  <a:t> the maximum # of edge-disjoint simple </a:t>
                </a:r>
                <a14:m>
                  <m:oMath xmlns:m="http://schemas.openxmlformats.org/officeDocument/2006/math">
                    <m:r>
                      <a:rPr lang="en-US" altLang="en-US" sz="2400" b="1" i="1" dirty="0">
                        <a:solidFill>
                          <a:srgbClr val="0066CC"/>
                        </a:solidFill>
                        <a:latin typeface="Cambria Math" panose="02040503050406030204" pitchFamily="18" charset="0"/>
                      </a:rPr>
                      <m:t>𝒔</m:t>
                    </m:r>
                  </m:oMath>
                </a14:m>
                <a:r>
                  <a:rPr lang="en-US" altLang="en-US" sz="2400" dirty="0"/>
                  <a:t>-</a:t>
                </a:r>
                <a14:m>
                  <m:oMath xmlns:m="http://schemas.openxmlformats.org/officeDocument/2006/math">
                    <m:r>
                      <a:rPr lang="en-US" altLang="en-US" sz="2400" b="1" i="1" dirty="0">
                        <a:solidFill>
                          <a:srgbClr val="0066CC"/>
                        </a:solidFill>
                        <a:latin typeface="Cambria Math" panose="02040503050406030204" pitchFamily="18" charset="0"/>
                      </a:rPr>
                      <m:t>𝒕</m:t>
                    </m:r>
                  </m:oMath>
                </a14:m>
                <a:r>
                  <a:rPr lang="en-US" altLang="en-US" sz="2400" dirty="0"/>
                  <a:t> paths in </a:t>
                </a:r>
                <a14:m>
                  <m:oMath xmlns:m="http://schemas.openxmlformats.org/officeDocument/2006/math">
                    <m:r>
                      <a:rPr lang="en-US" altLang="en-US" sz="2400" b="1" i="1" dirty="0">
                        <a:solidFill>
                          <a:srgbClr val="006600"/>
                        </a:solidFill>
                        <a:latin typeface="Cambria Math" panose="02040503050406030204" pitchFamily="18" charset="0"/>
                      </a:rPr>
                      <m:t>𝑮</m:t>
                    </m:r>
                  </m:oMath>
                </a14:m>
                <a:r>
                  <a:rPr lang="en-US" altLang="en-US" sz="2400" dirty="0"/>
                  <a:t>.</a:t>
                </a:r>
              </a:p>
              <a:p>
                <a:pPr marL="0" indent="0">
                  <a:buFont typeface="Arial" panose="020B0604020202020204" pitchFamily="34" charset="0"/>
                  <a:buNone/>
                </a:pPr>
                <a:endParaRPr lang="en-US" altLang="en-US" sz="500" dirty="0"/>
              </a:p>
              <a:p>
                <a:pPr marL="0" indent="0">
                  <a:buFont typeface="Arial" panose="020B0604020202020204" pitchFamily="34" charset="0"/>
                  <a:buNone/>
                </a:pPr>
                <a:endParaRPr lang="en-US" altLang="en-US" sz="2400" dirty="0"/>
              </a:p>
            </p:txBody>
          </p:sp>
        </mc:Choice>
        <mc:Fallback xmlns="">
          <p:sp>
            <p:nvSpPr>
              <p:cNvPr id="5" name="Rectangle 32">
                <a:extLst>
                  <a:ext uri="{FF2B5EF4-FFF2-40B4-BE49-F238E27FC236}">
                    <a16:creationId xmlns:a16="http://schemas.microsoft.com/office/drawing/2014/main" id="{F24832DE-A48D-CE0B-BAC2-7D69053DBDC2}"/>
                  </a:ext>
                </a:extLst>
              </p:cNvPr>
              <p:cNvSpPr txBox="1">
                <a:spLocks noRot="1" noChangeAspect="1" noMove="1" noResize="1" noEditPoints="1" noAdjustHandles="1" noChangeArrowheads="1" noChangeShapeType="1" noTextEdit="1"/>
              </p:cNvSpPr>
              <p:nvPr/>
            </p:nvSpPr>
            <p:spPr>
              <a:xfrm>
                <a:off x="254314" y="1530574"/>
                <a:ext cx="11563351" cy="5200045"/>
              </a:xfrm>
              <a:prstGeom prst="rect">
                <a:avLst/>
              </a:prstGeom>
              <a:blipFill>
                <a:blip r:embed="rId3"/>
                <a:stretch>
                  <a:fillRect l="-843" t="-1641"/>
                </a:stretch>
              </a:blipFill>
            </p:spPr>
            <p:txBody>
              <a:bodyPr/>
              <a:lstStyle/>
              <a:p>
                <a:r>
                  <a:rPr lang="en-US">
                    <a:noFill/>
                  </a:rPr>
                  <a:t> </a:t>
                </a:r>
              </a:p>
            </p:txBody>
          </p:sp>
        </mc:Fallback>
      </mc:AlternateContent>
    </p:spTree>
    <p:extLst>
      <p:ext uri="{BB962C8B-B14F-4D97-AF65-F5344CB8AC3E}">
        <p14:creationId xmlns:p14="http://schemas.microsoft.com/office/powerpoint/2010/main" val="255668374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1615" name="Rectangle 31"/>
          <p:cNvSpPr>
            <a:spLocks noGrp="1" noChangeArrowheads="1"/>
          </p:cNvSpPr>
          <p:nvPr>
            <p:ph type="title"/>
          </p:nvPr>
        </p:nvSpPr>
        <p:spPr/>
        <p:txBody>
          <a:bodyPr/>
          <a:lstStyle/>
          <a:p>
            <a:r>
              <a:rPr lang="en-US" altLang="en-US" dirty="0"/>
              <a:t>Edge-Disjoint Paths</a:t>
            </a:r>
          </a:p>
        </p:txBody>
      </p:sp>
      <mc:AlternateContent xmlns:mc="http://schemas.openxmlformats.org/markup-compatibility/2006">
        <mc:Choice xmlns:a14="http://schemas.microsoft.com/office/drawing/2010/main" Requires="a14">
          <p:sp>
            <p:nvSpPr>
              <p:cNvPr id="451616" name="Rectangle 32"/>
              <p:cNvSpPr>
                <a:spLocks noGrp="1" noChangeArrowheads="1"/>
              </p:cNvSpPr>
              <p:nvPr>
                <p:ph sz="half" idx="1"/>
              </p:nvPr>
            </p:nvSpPr>
            <p:spPr>
              <a:xfrm>
                <a:off x="254314" y="1446797"/>
                <a:ext cx="5678218" cy="4351338"/>
              </a:xfrm>
            </p:spPr>
            <p:txBody>
              <a:bodyPr>
                <a:noAutofit/>
              </a:bodyPr>
              <a:lstStyle/>
              <a:p>
                <a:pPr marL="0" indent="0">
                  <a:buNone/>
                </a:pPr>
                <a:r>
                  <a:rPr lang="en-US" altLang="en-US" sz="2400" dirty="0">
                    <a:solidFill>
                      <a:schemeClr val="tx1"/>
                    </a:solidFill>
                  </a:rPr>
                  <a:t>MaxFlow for edge-disjoint paths</a:t>
                </a:r>
              </a:p>
              <a:p>
                <a:pPr lvl="1"/>
                <a:r>
                  <a:rPr lang="en-US" altLang="en-US" sz="2400" dirty="0"/>
                  <a:t>Assign capacity </a:t>
                </a:r>
                <a14:m>
                  <m:oMath xmlns:m="http://schemas.openxmlformats.org/officeDocument/2006/math">
                    <m:r>
                      <a:rPr lang="en-US" altLang="en-US" sz="2400" b="1" i="1" dirty="0" smtClean="0">
                        <a:solidFill>
                          <a:srgbClr val="0066CC"/>
                        </a:solidFill>
                        <a:latin typeface="Cambria Math" panose="02040503050406030204" pitchFamily="18" charset="0"/>
                      </a:rPr>
                      <m:t>𝟏</m:t>
                    </m:r>
                  </m:oMath>
                </a14:m>
                <a:r>
                  <a:rPr lang="en-US" altLang="en-US" sz="2400" dirty="0"/>
                  <a:t> to every edge</a:t>
                </a:r>
              </a:p>
              <a:p>
                <a:pPr lvl="1"/>
                <a:r>
                  <a:rPr lang="en-US" altLang="en-US" sz="2400" dirty="0"/>
                  <a:t>Add a source </a:t>
                </a:r>
                <a14:m>
                  <m:oMath xmlns:m="http://schemas.openxmlformats.org/officeDocument/2006/math">
                    <m:r>
                      <a:rPr lang="en-US" altLang="en-US" sz="2400" b="1" i="1" dirty="0" smtClean="0">
                        <a:solidFill>
                          <a:srgbClr val="0066CC"/>
                        </a:solidFill>
                        <a:latin typeface="Cambria Math" panose="02040503050406030204" pitchFamily="18" charset="0"/>
                      </a:rPr>
                      <m:t>𝒔</m:t>
                    </m:r>
                    <m:r>
                      <a:rPr lang="en-US" altLang="en-US" sz="2400" b="1" i="1" dirty="0" smtClean="0">
                        <a:solidFill>
                          <a:srgbClr val="0066CC"/>
                        </a:solidFill>
                        <a:latin typeface="Cambria Math" panose="02040503050406030204" pitchFamily="18" charset="0"/>
                      </a:rPr>
                      <m:t>′</m:t>
                    </m:r>
                  </m:oMath>
                </a14:m>
                <a:r>
                  <a:rPr lang="en-US" altLang="en-US" sz="2400" dirty="0"/>
                  <a:t> </a:t>
                </a:r>
                <a:r>
                  <a:rPr lang="en-US" altLang="en-US" dirty="0"/>
                  <a:t>and a sink</a:t>
                </a:r>
                <a:r>
                  <a:rPr lang="en-US" altLang="en-US" sz="2400" dirty="0"/>
                  <a:t> </a:t>
                </a:r>
                <a14:m>
                  <m:oMath xmlns:m="http://schemas.openxmlformats.org/officeDocument/2006/math">
                    <m:r>
                      <a:rPr lang="en-US" altLang="en-US" sz="2400" b="1" i="1" dirty="0" smtClean="0">
                        <a:solidFill>
                          <a:srgbClr val="0066CC"/>
                        </a:solidFill>
                        <a:latin typeface="Cambria Math" panose="02040503050406030204" pitchFamily="18" charset="0"/>
                      </a:rPr>
                      <m:t>𝒕</m:t>
                    </m:r>
                    <m:r>
                      <a:rPr lang="en-US" altLang="en-US" sz="2400" b="1" i="1" dirty="0" smtClean="0">
                        <a:solidFill>
                          <a:srgbClr val="0066CC"/>
                        </a:solidFill>
                        <a:latin typeface="Cambria Math" panose="02040503050406030204" pitchFamily="18" charset="0"/>
                      </a:rPr>
                      <m:t>′</m:t>
                    </m:r>
                  </m:oMath>
                </a14:m>
                <a:endParaRPr lang="en-US" altLang="en-US" sz="2400" b="1" dirty="0">
                  <a:solidFill>
                    <a:srgbClr val="0066CC"/>
                  </a:solidFill>
                </a:endParaRPr>
              </a:p>
              <a:p>
                <a:pPr lvl="1"/>
                <a:r>
                  <a:rPr lang="en-US" altLang="en-US" sz="2400" dirty="0">
                    <a:solidFill>
                      <a:schemeClr val="tx1"/>
                    </a:solidFill>
                  </a:rPr>
                  <a:t>Connect</a:t>
                </a:r>
                <a:r>
                  <a:rPr lang="en-US" altLang="en-US" b="1" dirty="0">
                    <a:solidFill>
                      <a:srgbClr val="0066CC"/>
                    </a:solidFill>
                  </a:rPr>
                  <a:t> </a:t>
                </a:r>
                <a14:m>
                  <m:oMath xmlns:m="http://schemas.openxmlformats.org/officeDocument/2006/math">
                    <m:r>
                      <a:rPr lang="en-US" altLang="en-US" b="1" i="1" smtClean="0">
                        <a:solidFill>
                          <a:srgbClr val="0066CC"/>
                        </a:solidFill>
                        <a:latin typeface="Cambria Math" panose="02040503050406030204" pitchFamily="18" charset="0"/>
                      </a:rPr>
                      <m:t>𝒔</m:t>
                    </m:r>
                    <m:r>
                      <a:rPr lang="en-US" altLang="en-US" b="1" i="1" smtClean="0">
                        <a:solidFill>
                          <a:srgbClr val="0066CC"/>
                        </a:solidFill>
                        <a:latin typeface="Cambria Math" panose="02040503050406030204" pitchFamily="18" charset="0"/>
                      </a:rPr>
                      <m:t>′</m:t>
                    </m:r>
                  </m:oMath>
                </a14:m>
                <a:r>
                  <a:rPr lang="en-US" altLang="en-US" sz="2400" dirty="0"/>
                  <a:t> </a:t>
                </a:r>
                <a:r>
                  <a:rPr lang="en-US" altLang="en-US" dirty="0"/>
                  <a:t>to </a:t>
                </a:r>
                <a14:m>
                  <m:oMath xmlns:m="http://schemas.openxmlformats.org/officeDocument/2006/math">
                    <m:r>
                      <a:rPr lang="en-US" altLang="en-US" b="1" i="1" dirty="0">
                        <a:solidFill>
                          <a:srgbClr val="0066CC"/>
                        </a:solidFill>
                        <a:latin typeface="Cambria Math" panose="02040503050406030204" pitchFamily="18" charset="0"/>
                      </a:rPr>
                      <m:t>𝒔</m:t>
                    </m:r>
                  </m:oMath>
                </a14:m>
                <a:r>
                  <a:rPr lang="en-US" altLang="en-US" sz="2400" dirty="0"/>
                  <a:t> and </a:t>
                </a:r>
                <a14:m>
                  <m:oMath xmlns:m="http://schemas.openxmlformats.org/officeDocument/2006/math">
                    <m:r>
                      <a:rPr lang="en-US" altLang="en-US" b="1" i="1" dirty="0" smtClean="0">
                        <a:solidFill>
                          <a:srgbClr val="0066CC"/>
                        </a:solidFill>
                        <a:latin typeface="Cambria Math" panose="02040503050406030204" pitchFamily="18" charset="0"/>
                      </a:rPr>
                      <m:t>𝒕</m:t>
                    </m:r>
                    <m:r>
                      <a:rPr lang="en-US" altLang="en-US" b="1" i="1" dirty="0" smtClean="0">
                        <a:solidFill>
                          <a:srgbClr val="0066CC"/>
                        </a:solidFill>
                        <a:latin typeface="Cambria Math" panose="02040503050406030204" pitchFamily="18" charset="0"/>
                      </a:rPr>
                      <m:t>′ </m:t>
                    </m:r>
                  </m:oMath>
                </a14:m>
                <a:r>
                  <a:rPr lang="en-US" altLang="en-US" sz="2400" dirty="0"/>
                  <a:t> to </a:t>
                </a:r>
                <a14:m>
                  <m:oMath xmlns:m="http://schemas.openxmlformats.org/officeDocument/2006/math">
                    <m:r>
                      <a:rPr lang="en-US" altLang="en-US" b="1" i="1" dirty="0" smtClean="0">
                        <a:solidFill>
                          <a:srgbClr val="0066CC"/>
                        </a:solidFill>
                        <a:latin typeface="Cambria Math" panose="02040503050406030204" pitchFamily="18" charset="0"/>
                      </a:rPr>
                      <m:t>𝒕</m:t>
                    </m:r>
                  </m:oMath>
                </a14:m>
                <a:r>
                  <a:rPr lang="en-US" altLang="en-US" sz="2400" dirty="0"/>
                  <a:t> with capacity </a:t>
                </a:r>
                <a14:m>
                  <m:oMath xmlns:m="http://schemas.openxmlformats.org/officeDocument/2006/math">
                    <m:r>
                      <a:rPr lang="en-US" altLang="en-US" sz="2400" b="0" i="1" smtClean="0">
                        <a:latin typeface="Cambria Math" panose="02040503050406030204" pitchFamily="18" charset="0"/>
                      </a:rPr>
                      <m:t>𝑚</m:t>
                    </m:r>
                  </m:oMath>
                </a14:m>
                <a:r>
                  <a:rPr lang="en-US" altLang="en-US" sz="2400" dirty="0">
                    <a:solidFill>
                      <a:schemeClr val="tx1"/>
                    </a:solidFill>
                  </a:rPr>
                  <a:t> (number of edges)</a:t>
                </a:r>
              </a:p>
              <a:p>
                <a:pPr lvl="2"/>
                <a:r>
                  <a:rPr lang="en-US" altLang="en-US" dirty="0">
                    <a:solidFill>
                      <a:schemeClr val="tx1"/>
                    </a:solidFill>
                  </a:rPr>
                  <a:t>At most every edge is its own path</a:t>
                </a:r>
              </a:p>
              <a:p>
                <a:pPr lvl="1"/>
                <a:r>
                  <a:rPr lang="en-US" altLang="en-US" dirty="0"/>
                  <a:t>Compute max flow</a:t>
                </a:r>
              </a:p>
              <a:p>
                <a:pPr lvl="1"/>
                <a:r>
                  <a:rPr lang="en-US" altLang="en-US" dirty="0"/>
                  <a:t>Use all edges with flow</a:t>
                </a:r>
              </a:p>
              <a:p>
                <a:pPr lvl="1"/>
                <a:endParaRPr lang="en-US" altLang="en-US" sz="2400" dirty="0">
                  <a:solidFill>
                    <a:schemeClr val="tx1"/>
                  </a:solidFill>
                </a:endParaRPr>
              </a:p>
            </p:txBody>
          </p:sp>
        </mc:Choice>
        <mc:Fallback>
          <p:sp>
            <p:nvSpPr>
              <p:cNvPr id="451616" name="Rectangle 32"/>
              <p:cNvSpPr>
                <a:spLocks noGrp="1" noRot="1" noChangeAspect="1" noMove="1" noResize="1" noEditPoints="1" noAdjustHandles="1" noChangeArrowheads="1" noChangeShapeType="1" noTextEdit="1"/>
              </p:cNvSpPr>
              <p:nvPr>
                <p:ph sz="half" idx="1"/>
              </p:nvPr>
            </p:nvSpPr>
            <p:spPr>
              <a:xfrm>
                <a:off x="254314" y="1446797"/>
                <a:ext cx="5678218" cy="4351338"/>
              </a:xfrm>
              <a:blipFill>
                <a:blip r:embed="rId3"/>
                <a:stretch>
                  <a:fillRect l="-1719" t="-196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5A75882B-1F06-49D4-8E7E-EFB2F30980D3}"/>
                  </a:ext>
                </a:extLst>
              </p:cNvPr>
              <p:cNvSpPr>
                <a:spLocks noGrp="1"/>
              </p:cNvSpPr>
              <p:nvPr>
                <p:ph sz="half" idx="2"/>
              </p:nvPr>
            </p:nvSpPr>
            <p:spPr>
              <a:xfrm>
                <a:off x="6004726" y="1399665"/>
                <a:ext cx="5765486" cy="3422956"/>
              </a:xfrm>
            </p:spPr>
            <p:txBody>
              <a:bodyPr>
                <a:noAutofit/>
              </a:bodyPr>
              <a:lstStyle/>
              <a:p>
                <a:pPr marL="0" indent="0">
                  <a:buNone/>
                </a:pPr>
                <a:r>
                  <a:rPr lang="en-US" sz="2000" dirty="0"/>
                  <a:t>Running Time:</a:t>
                </a:r>
              </a:p>
              <a:p>
                <a:pPr marL="0" indent="0">
                  <a:buNone/>
                </a:pPr>
                <a:r>
                  <a:rPr lang="en-US" sz="2000" dirty="0"/>
                  <a:t>Constructing the flow network: </a:t>
                </a:r>
                <a14:m>
                  <m:oMath xmlns:m="http://schemas.openxmlformats.org/officeDocument/2006/math">
                    <m:r>
                      <a:rPr lang="en-US" sz="2000" b="0" i="1" smtClean="0">
                        <a:latin typeface="Cambria Math" panose="02040503050406030204" pitchFamily="18" charset="0"/>
                      </a:rPr>
                      <m:t>𝑂</m:t>
                    </m:r>
                    <m:r>
                      <a:rPr lang="en-US" sz="2000" b="0" i="1" smtClean="0">
                        <a:latin typeface="Cambria Math" panose="02040503050406030204" pitchFamily="18" charset="0"/>
                      </a:rPr>
                      <m:t>(</m:t>
                    </m:r>
                    <m:r>
                      <a:rPr lang="en-US" sz="2000" b="0" i="1" smtClean="0">
                        <a:latin typeface="Cambria Math" panose="02040503050406030204" pitchFamily="18" charset="0"/>
                      </a:rPr>
                      <m:t>𝑛</m:t>
                    </m:r>
                    <m:r>
                      <a:rPr lang="en-US" sz="2000" b="0" i="1" smtClean="0">
                        <a:latin typeface="Cambria Math" panose="02040503050406030204" pitchFamily="18" charset="0"/>
                      </a:rPr>
                      <m:t>+</m:t>
                    </m:r>
                    <m:r>
                      <a:rPr lang="en-US" sz="2000" b="0" i="1" smtClean="0">
                        <a:latin typeface="Cambria Math" panose="02040503050406030204" pitchFamily="18" charset="0"/>
                      </a:rPr>
                      <m:t>𝑚</m:t>
                    </m:r>
                    <m:r>
                      <a:rPr lang="en-US" sz="2000" b="0" i="1" smtClean="0">
                        <a:latin typeface="Cambria Math" panose="02040503050406030204" pitchFamily="18" charset="0"/>
                      </a:rPr>
                      <m:t>)</m:t>
                    </m:r>
                  </m:oMath>
                </a14:m>
                <a:endParaRPr lang="en-US" sz="2000" dirty="0"/>
              </a:p>
              <a:p>
                <a:pPr marL="0" indent="0">
                  <a:buNone/>
                </a:pPr>
                <a:r>
                  <a:rPr lang="en-US" sz="2000" dirty="0"/>
                  <a:t>Computing Max Flow: </a:t>
                </a:r>
                <a14:m>
                  <m:oMath xmlns:m="http://schemas.openxmlformats.org/officeDocument/2006/math">
                    <m:r>
                      <a:rPr lang="en-US" sz="2000" b="0" i="1" smtClean="0">
                        <a:latin typeface="Cambria Math" panose="02040503050406030204" pitchFamily="18" charset="0"/>
                      </a:rPr>
                      <m:t>𝑂</m:t>
                    </m:r>
                    <m:r>
                      <a:rPr lang="en-US" sz="2000" b="0" i="1" smtClean="0">
                        <a:latin typeface="Cambria Math" panose="02040503050406030204" pitchFamily="18" charset="0"/>
                      </a:rPr>
                      <m:t>(</m:t>
                    </m:r>
                    <m:r>
                      <a:rPr lang="en-US" sz="2000" b="0" i="1" smtClean="0">
                        <a:latin typeface="Cambria Math" panose="02040503050406030204" pitchFamily="18" charset="0"/>
                      </a:rPr>
                      <m:t>𝑛</m:t>
                    </m:r>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𝑚</m:t>
                        </m:r>
                      </m:e>
                      <m:sup>
                        <m:r>
                          <a:rPr lang="en-US" sz="2000" b="0" i="1" smtClean="0">
                            <a:latin typeface="Cambria Math" panose="02040503050406030204" pitchFamily="18" charset="0"/>
                          </a:rPr>
                          <m:t>2</m:t>
                        </m:r>
                      </m:sup>
                    </m:sSup>
                    <m:r>
                      <a:rPr lang="en-US" sz="2000" b="0" i="1" smtClean="0">
                        <a:latin typeface="Cambria Math" panose="02040503050406030204" pitchFamily="18" charset="0"/>
                      </a:rPr>
                      <m:t>)</m:t>
                    </m:r>
                  </m:oMath>
                </a14:m>
                <a:endParaRPr lang="en-US" sz="2000" dirty="0"/>
              </a:p>
              <a:p>
                <a:pPr marL="0" indent="0">
                  <a:buNone/>
                </a:pPr>
                <a:r>
                  <a:rPr lang="en-US" sz="2000" dirty="0"/>
                  <a:t>Overall: </a:t>
                </a:r>
                <a14:m>
                  <m:oMath xmlns:m="http://schemas.openxmlformats.org/officeDocument/2006/math">
                    <m:r>
                      <m:rPr>
                        <m:sty m:val="p"/>
                      </m:rPr>
                      <a:rPr lang="en-US" sz="2000" b="0" i="0" smtClean="0">
                        <a:latin typeface="Cambria Math" panose="02040503050406030204" pitchFamily="18" charset="0"/>
                      </a:rPr>
                      <m:t>Θ</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𝑛</m:t>
                        </m:r>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𝑚</m:t>
                            </m:r>
                          </m:e>
                          <m:sup>
                            <m:r>
                              <a:rPr lang="en-US" sz="2000" b="0" i="1" smtClean="0">
                                <a:latin typeface="Cambria Math" panose="02040503050406030204" pitchFamily="18" charset="0"/>
                              </a:rPr>
                              <m:t>2</m:t>
                            </m:r>
                          </m:sup>
                        </m:sSup>
                      </m:e>
                    </m:d>
                  </m:oMath>
                </a14:m>
                <a:endParaRPr lang="en-US" sz="2000" dirty="0"/>
              </a:p>
            </p:txBody>
          </p:sp>
        </mc:Choice>
        <mc:Fallback>
          <p:sp>
            <p:nvSpPr>
              <p:cNvPr id="3" name="Content Placeholder 2">
                <a:extLst>
                  <a:ext uri="{FF2B5EF4-FFF2-40B4-BE49-F238E27FC236}">
                    <a16:creationId xmlns:a16="http://schemas.microsoft.com/office/drawing/2014/main" id="{5A75882B-1F06-49D4-8E7E-EFB2F30980D3}"/>
                  </a:ext>
                </a:extLst>
              </p:cNvPr>
              <p:cNvSpPr>
                <a:spLocks noGrp="1" noRot="1" noChangeAspect="1" noMove="1" noResize="1" noEditPoints="1" noAdjustHandles="1" noChangeArrowheads="1" noChangeShapeType="1" noTextEdit="1"/>
              </p:cNvSpPr>
              <p:nvPr>
                <p:ph sz="half" idx="2"/>
              </p:nvPr>
            </p:nvSpPr>
            <p:spPr>
              <a:xfrm>
                <a:off x="6004726" y="1399665"/>
                <a:ext cx="5765486" cy="3422956"/>
              </a:xfrm>
              <a:blipFill>
                <a:blip r:embed="rId4"/>
                <a:stretch>
                  <a:fillRect l="-1057" t="-1961"/>
                </a:stretch>
              </a:blipFill>
            </p:spPr>
            <p:txBody>
              <a:bodyPr/>
              <a:lstStyle/>
              <a:p>
                <a:r>
                  <a:rPr lang="en-US">
                    <a:noFill/>
                  </a:rPr>
                  <a:t> </a:t>
                </a:r>
              </a:p>
            </p:txBody>
          </p:sp>
        </mc:Fallback>
      </mc:AlternateContent>
      <p:sp>
        <p:nvSpPr>
          <p:cNvPr id="26" name="Slide Number Placeholder 3"/>
          <p:cNvSpPr>
            <a:spLocks noGrp="1"/>
          </p:cNvSpPr>
          <p:nvPr>
            <p:ph type="sldNum" sz="quarter" idx="12"/>
          </p:nvPr>
        </p:nvSpPr>
        <p:spPr/>
        <p:txBody>
          <a:bodyPr/>
          <a:lstStyle/>
          <a:p>
            <a:fld id="{7171D143-95A6-4EFE-B529-5DD58A85D94A}" type="slidenum">
              <a:rPr lang="en-US" altLang="en-US"/>
              <a:pPr/>
              <a:t>31</a:t>
            </a:fld>
            <a:endParaRPr lang="en-US" altLang="en-US" sz="1400"/>
          </a:p>
        </p:txBody>
      </p:sp>
      <p:grpSp>
        <p:nvGrpSpPr>
          <p:cNvPr id="16" name="Group 15">
            <a:extLst>
              <a:ext uri="{FF2B5EF4-FFF2-40B4-BE49-F238E27FC236}">
                <a16:creationId xmlns:a16="http://schemas.microsoft.com/office/drawing/2014/main" id="{A4C06EAD-8527-82B3-F1C3-DE03CC0A7690}"/>
              </a:ext>
            </a:extLst>
          </p:cNvPr>
          <p:cNvGrpSpPr/>
          <p:nvPr/>
        </p:nvGrpSpPr>
        <p:grpSpPr>
          <a:xfrm>
            <a:off x="85793" y="4453128"/>
            <a:ext cx="7224366" cy="2323747"/>
            <a:chOff x="85793" y="4142232"/>
            <a:chExt cx="7224366" cy="2323747"/>
          </a:xfrm>
        </p:grpSpPr>
        <p:grpSp>
          <p:nvGrpSpPr>
            <p:cNvPr id="4" name="Group 3">
              <a:extLst>
                <a:ext uri="{FF2B5EF4-FFF2-40B4-BE49-F238E27FC236}">
                  <a16:creationId xmlns:a16="http://schemas.microsoft.com/office/drawing/2014/main" id="{4BEA164E-9012-4A5E-8A1C-BA8A1F037878}"/>
                </a:ext>
              </a:extLst>
            </p:cNvPr>
            <p:cNvGrpSpPr/>
            <p:nvPr/>
          </p:nvGrpSpPr>
          <p:grpSpPr>
            <a:xfrm>
              <a:off x="1024128" y="4142232"/>
              <a:ext cx="5303520" cy="2323747"/>
              <a:chOff x="1463040" y="3429000"/>
              <a:chExt cx="5303520" cy="2323747"/>
            </a:xfrm>
          </p:grpSpPr>
          <p:grpSp>
            <p:nvGrpSpPr>
              <p:cNvPr id="2" name="Group 1">
                <a:extLst>
                  <a:ext uri="{FF2B5EF4-FFF2-40B4-BE49-F238E27FC236}">
                    <a16:creationId xmlns:a16="http://schemas.microsoft.com/office/drawing/2014/main" id="{C6C09534-F151-4A0E-B05D-1533EC404540}"/>
                  </a:ext>
                </a:extLst>
              </p:cNvPr>
              <p:cNvGrpSpPr>
                <a:grpSpLocks/>
              </p:cNvGrpSpPr>
              <p:nvPr/>
            </p:nvGrpSpPr>
            <p:grpSpPr>
              <a:xfrm>
                <a:off x="1463040" y="3429000"/>
                <a:ext cx="5303520" cy="2286000"/>
                <a:chOff x="2438401" y="3540126"/>
                <a:chExt cx="6784975" cy="2597150"/>
              </a:xfrm>
            </p:grpSpPr>
            <p:sp>
              <p:nvSpPr>
                <p:cNvPr id="451588" name="Oval 4"/>
                <p:cNvSpPr>
                  <a:spLocks noChangeAspect="1" noChangeArrowheads="1"/>
                </p:cNvSpPr>
                <p:nvPr/>
              </p:nvSpPr>
              <p:spPr bwMode="auto">
                <a:xfrm>
                  <a:off x="2438401" y="46482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s</a:t>
                  </a:r>
                </a:p>
              </p:txBody>
            </p:sp>
            <p:sp>
              <p:nvSpPr>
                <p:cNvPr id="451591" name="Oval 7"/>
                <p:cNvSpPr>
                  <a:spLocks noChangeAspect="1" noChangeArrowheads="1"/>
                </p:cNvSpPr>
                <p:nvPr/>
              </p:nvSpPr>
              <p:spPr bwMode="auto">
                <a:xfrm>
                  <a:off x="4572001" y="3540126"/>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a</a:t>
                  </a:r>
                </a:p>
              </p:txBody>
            </p:sp>
            <p:sp>
              <p:nvSpPr>
                <p:cNvPr id="451592" name="Oval 8"/>
                <p:cNvSpPr>
                  <a:spLocks noChangeAspect="1" noChangeArrowheads="1"/>
                </p:cNvSpPr>
                <p:nvPr/>
              </p:nvSpPr>
              <p:spPr bwMode="auto">
                <a:xfrm>
                  <a:off x="4572001" y="46482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b</a:t>
                  </a:r>
                </a:p>
              </p:txBody>
            </p:sp>
            <p:sp>
              <p:nvSpPr>
                <p:cNvPr id="451593" name="Oval 9"/>
                <p:cNvSpPr>
                  <a:spLocks noChangeAspect="1" noChangeArrowheads="1"/>
                </p:cNvSpPr>
                <p:nvPr/>
              </p:nvSpPr>
              <p:spPr bwMode="auto">
                <a:xfrm>
                  <a:off x="4572001" y="58674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c</a:t>
                  </a:r>
                </a:p>
              </p:txBody>
            </p:sp>
            <p:cxnSp>
              <p:nvCxnSpPr>
                <p:cNvPr id="451596" name="AutoShape 12"/>
                <p:cNvCxnSpPr>
                  <a:cxnSpLocks noChangeShapeType="1"/>
                  <a:stCxn id="451588" idx="7"/>
                  <a:endCxn id="451591" idx="3"/>
                </p:cNvCxnSpPr>
                <p:nvPr/>
              </p:nvCxnSpPr>
              <p:spPr bwMode="auto">
                <a:xfrm flipV="1">
                  <a:off x="2668588" y="3770314"/>
                  <a:ext cx="1943100" cy="91757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597" name="AutoShape 13"/>
                <p:cNvCxnSpPr>
                  <a:cxnSpLocks noChangeShapeType="1"/>
                  <a:stCxn id="451588" idx="6"/>
                  <a:endCxn id="451592" idx="2"/>
                </p:cNvCxnSpPr>
                <p:nvPr/>
              </p:nvCxnSpPr>
              <p:spPr bwMode="auto">
                <a:xfrm>
                  <a:off x="2708276" y="4783138"/>
                  <a:ext cx="1863725" cy="0"/>
                </a:xfrm>
                <a:prstGeom prst="straightConnector1">
                  <a:avLst/>
                </a:prstGeom>
                <a:noFill/>
                <a:ln w="38100">
                  <a:solidFill>
                    <a:srgbClr val="FF000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598" name="AutoShape 14"/>
                <p:cNvCxnSpPr>
                  <a:cxnSpLocks noChangeShapeType="1"/>
                  <a:stCxn id="451588" idx="5"/>
                  <a:endCxn id="451593" idx="1"/>
                </p:cNvCxnSpPr>
                <p:nvPr/>
              </p:nvCxnSpPr>
              <p:spPr bwMode="auto">
                <a:xfrm>
                  <a:off x="2668588" y="4878388"/>
                  <a:ext cx="1943100" cy="1028700"/>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606" name="AutoShape 22"/>
                <p:cNvCxnSpPr>
                  <a:cxnSpLocks noChangeShapeType="1"/>
                  <a:stCxn id="451592" idx="4"/>
                  <a:endCxn id="451593" idx="0"/>
                </p:cNvCxnSpPr>
                <p:nvPr/>
              </p:nvCxnSpPr>
              <p:spPr bwMode="auto">
                <a:xfrm>
                  <a:off x="4706938" y="4918076"/>
                  <a:ext cx="0" cy="94932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608" name="AutoShape 24"/>
                <p:cNvCxnSpPr>
                  <a:cxnSpLocks noChangeShapeType="1"/>
                  <a:stCxn id="451592" idx="6"/>
                  <a:endCxn id="451624" idx="1"/>
                </p:cNvCxnSpPr>
                <p:nvPr/>
              </p:nvCxnSpPr>
              <p:spPr bwMode="auto">
                <a:xfrm>
                  <a:off x="4841876" y="4783138"/>
                  <a:ext cx="2055813" cy="1123950"/>
                </a:xfrm>
                <a:prstGeom prst="straightConnector1">
                  <a:avLst/>
                </a:prstGeom>
                <a:noFill/>
                <a:ln w="38100">
                  <a:solidFill>
                    <a:srgbClr val="FF000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609" name="AutoShape 25"/>
                <p:cNvCxnSpPr>
                  <a:cxnSpLocks noChangeShapeType="1"/>
                  <a:stCxn id="451593" idx="6"/>
                  <a:endCxn id="451624" idx="2"/>
                </p:cNvCxnSpPr>
                <p:nvPr/>
              </p:nvCxnSpPr>
              <p:spPr bwMode="auto">
                <a:xfrm>
                  <a:off x="4841876" y="6002338"/>
                  <a:ext cx="2016125" cy="0"/>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618" name="AutoShape 34"/>
                <p:cNvCxnSpPr>
                  <a:cxnSpLocks noChangeShapeType="1"/>
                  <a:stCxn id="451591" idx="4"/>
                  <a:endCxn id="451592" idx="0"/>
                </p:cNvCxnSpPr>
                <p:nvPr/>
              </p:nvCxnSpPr>
              <p:spPr bwMode="auto">
                <a:xfrm>
                  <a:off x="4706938" y="3810000"/>
                  <a:ext cx="0" cy="838200"/>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51622" name="Oval 38"/>
                <p:cNvSpPr>
                  <a:spLocks noChangeAspect="1" noChangeArrowheads="1"/>
                </p:cNvSpPr>
                <p:nvPr/>
              </p:nvSpPr>
              <p:spPr bwMode="auto">
                <a:xfrm>
                  <a:off x="6858001" y="3540126"/>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d</a:t>
                  </a:r>
                </a:p>
              </p:txBody>
            </p:sp>
            <p:sp>
              <p:nvSpPr>
                <p:cNvPr id="451623" name="Oval 39"/>
                <p:cNvSpPr>
                  <a:spLocks noChangeAspect="1" noChangeArrowheads="1"/>
                </p:cNvSpPr>
                <p:nvPr/>
              </p:nvSpPr>
              <p:spPr bwMode="auto">
                <a:xfrm>
                  <a:off x="6858001" y="46482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e</a:t>
                  </a:r>
                </a:p>
              </p:txBody>
            </p:sp>
            <p:sp>
              <p:nvSpPr>
                <p:cNvPr id="451624" name="Oval 40"/>
                <p:cNvSpPr>
                  <a:spLocks noChangeAspect="1" noChangeArrowheads="1"/>
                </p:cNvSpPr>
                <p:nvPr/>
              </p:nvSpPr>
              <p:spPr bwMode="auto">
                <a:xfrm>
                  <a:off x="6858001" y="58674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f</a:t>
                  </a:r>
                </a:p>
              </p:txBody>
            </p:sp>
            <p:cxnSp>
              <p:nvCxnSpPr>
                <p:cNvPr id="451625" name="AutoShape 41"/>
                <p:cNvCxnSpPr>
                  <a:cxnSpLocks noChangeShapeType="1"/>
                  <a:stCxn id="451623" idx="4"/>
                  <a:endCxn id="451624" idx="0"/>
                </p:cNvCxnSpPr>
                <p:nvPr/>
              </p:nvCxnSpPr>
              <p:spPr bwMode="auto">
                <a:xfrm>
                  <a:off x="6992938" y="4918076"/>
                  <a:ext cx="0" cy="949325"/>
                </a:xfrm>
                <a:prstGeom prst="straightConnector1">
                  <a:avLst/>
                </a:prstGeom>
                <a:noFill/>
                <a:ln w="38100">
                  <a:solidFill>
                    <a:srgbClr val="FF0000"/>
                  </a:solidFill>
                  <a:round/>
                  <a:headEnd type="triangle" w="lg" len="med"/>
                  <a:tailEnd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626" name="AutoShape 42"/>
                <p:cNvCxnSpPr>
                  <a:cxnSpLocks noChangeShapeType="1"/>
                  <a:stCxn id="451622" idx="4"/>
                  <a:endCxn id="451623" idx="0"/>
                </p:cNvCxnSpPr>
                <p:nvPr/>
              </p:nvCxnSpPr>
              <p:spPr bwMode="auto">
                <a:xfrm>
                  <a:off x="6992938" y="3810000"/>
                  <a:ext cx="0" cy="838200"/>
                </a:xfrm>
                <a:prstGeom prst="straightConnector1">
                  <a:avLst/>
                </a:prstGeom>
                <a:noFill/>
                <a:ln w="19050">
                  <a:solidFill>
                    <a:schemeClr val="tx1"/>
                  </a:solidFill>
                  <a:round/>
                  <a:headEnd type="triangle" w="lg" len="med"/>
                  <a:tailEnd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51628" name="Oval 44"/>
                <p:cNvSpPr>
                  <a:spLocks noChangeAspect="1" noChangeArrowheads="1"/>
                </p:cNvSpPr>
                <p:nvPr/>
              </p:nvSpPr>
              <p:spPr bwMode="auto">
                <a:xfrm>
                  <a:off x="8953501" y="46482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t</a:t>
                  </a:r>
                </a:p>
              </p:txBody>
            </p:sp>
            <p:cxnSp>
              <p:nvCxnSpPr>
                <p:cNvPr id="451629" name="AutoShape 45"/>
                <p:cNvCxnSpPr>
                  <a:cxnSpLocks noChangeShapeType="1"/>
                  <a:stCxn id="451622" idx="6"/>
                  <a:endCxn id="451628" idx="1"/>
                </p:cNvCxnSpPr>
                <p:nvPr/>
              </p:nvCxnSpPr>
              <p:spPr bwMode="auto">
                <a:xfrm>
                  <a:off x="7127876" y="3675064"/>
                  <a:ext cx="1865313" cy="101282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630" name="AutoShape 46"/>
                <p:cNvCxnSpPr>
                  <a:cxnSpLocks noChangeShapeType="1"/>
                  <a:stCxn id="451623" idx="6"/>
                  <a:endCxn id="451628" idx="2"/>
                </p:cNvCxnSpPr>
                <p:nvPr/>
              </p:nvCxnSpPr>
              <p:spPr bwMode="auto">
                <a:xfrm>
                  <a:off x="7127876" y="4783138"/>
                  <a:ext cx="1825625" cy="0"/>
                </a:xfrm>
                <a:prstGeom prst="straightConnector1">
                  <a:avLst/>
                </a:prstGeom>
                <a:noFill/>
                <a:ln w="38100">
                  <a:solidFill>
                    <a:srgbClr val="FF000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631" name="AutoShape 47"/>
                <p:cNvCxnSpPr>
                  <a:cxnSpLocks noChangeShapeType="1"/>
                  <a:stCxn id="451624" idx="7"/>
                  <a:endCxn id="451628" idx="4"/>
                </p:cNvCxnSpPr>
                <p:nvPr/>
              </p:nvCxnSpPr>
              <p:spPr bwMode="auto">
                <a:xfrm flipV="1">
                  <a:off x="7088188" y="4918076"/>
                  <a:ext cx="2000250" cy="989013"/>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647" name="AutoShape 63"/>
                <p:cNvCxnSpPr>
                  <a:cxnSpLocks noChangeShapeType="1"/>
                  <a:stCxn id="451623" idx="2"/>
                  <a:endCxn id="451591" idx="6"/>
                </p:cNvCxnSpPr>
                <p:nvPr/>
              </p:nvCxnSpPr>
              <p:spPr bwMode="auto">
                <a:xfrm flipH="1" flipV="1">
                  <a:off x="4841876" y="3675064"/>
                  <a:ext cx="2016125" cy="110807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648" name="AutoShape 64"/>
                <p:cNvCxnSpPr>
                  <a:cxnSpLocks noChangeShapeType="1"/>
                  <a:stCxn id="451622" idx="2"/>
                  <a:endCxn id="451592" idx="7"/>
                </p:cNvCxnSpPr>
                <p:nvPr/>
              </p:nvCxnSpPr>
              <p:spPr bwMode="auto">
                <a:xfrm flipH="1">
                  <a:off x="4802188" y="3675064"/>
                  <a:ext cx="2055812" cy="101282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grpSp>
          <p:sp>
            <p:nvSpPr>
              <p:cNvPr id="29" name="Text Box 17">
                <a:extLst>
                  <a:ext uri="{FF2B5EF4-FFF2-40B4-BE49-F238E27FC236}">
                    <a16:creationId xmlns:a16="http://schemas.microsoft.com/office/drawing/2014/main" id="{95F0253E-FE4E-4E2C-9146-355CD4850D9A}"/>
                  </a:ext>
                </a:extLst>
              </p:cNvPr>
              <p:cNvSpPr txBox="1">
                <a:spLocks noChangeArrowheads="1"/>
              </p:cNvSpPr>
              <p:nvPr/>
            </p:nvSpPr>
            <p:spPr bwMode="auto">
              <a:xfrm>
                <a:off x="2355196" y="3666542"/>
                <a:ext cx="325438" cy="396875"/>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dirty="0"/>
                  <a:t>1</a:t>
                </a:r>
              </a:p>
            </p:txBody>
          </p:sp>
          <p:sp>
            <p:nvSpPr>
              <p:cNvPr id="30" name="Text Box 17">
                <a:extLst>
                  <a:ext uri="{FF2B5EF4-FFF2-40B4-BE49-F238E27FC236}">
                    <a16:creationId xmlns:a16="http://schemas.microsoft.com/office/drawing/2014/main" id="{55DF9BEC-21FB-49FD-8D06-40191CAF292B}"/>
                  </a:ext>
                </a:extLst>
              </p:cNvPr>
              <p:cNvSpPr txBox="1">
                <a:spLocks noChangeArrowheads="1"/>
              </p:cNvSpPr>
              <p:nvPr/>
            </p:nvSpPr>
            <p:spPr bwMode="auto">
              <a:xfrm>
                <a:off x="2345663" y="4264043"/>
                <a:ext cx="325438" cy="396875"/>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dirty="0"/>
                  <a:t>1</a:t>
                </a:r>
              </a:p>
            </p:txBody>
          </p:sp>
          <p:sp>
            <p:nvSpPr>
              <p:cNvPr id="31" name="Text Box 17">
                <a:extLst>
                  <a:ext uri="{FF2B5EF4-FFF2-40B4-BE49-F238E27FC236}">
                    <a16:creationId xmlns:a16="http://schemas.microsoft.com/office/drawing/2014/main" id="{78042F39-8638-4DB0-A3FA-2ADC1EDE97BC}"/>
                  </a:ext>
                </a:extLst>
              </p:cNvPr>
              <p:cNvSpPr txBox="1">
                <a:spLocks noChangeArrowheads="1"/>
              </p:cNvSpPr>
              <p:nvPr/>
            </p:nvSpPr>
            <p:spPr bwMode="auto">
              <a:xfrm>
                <a:off x="2355196" y="4896476"/>
                <a:ext cx="325438" cy="396875"/>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dirty="0"/>
                  <a:t>1</a:t>
                </a:r>
              </a:p>
            </p:txBody>
          </p:sp>
          <p:sp>
            <p:nvSpPr>
              <p:cNvPr id="32" name="Text Box 17">
                <a:extLst>
                  <a:ext uri="{FF2B5EF4-FFF2-40B4-BE49-F238E27FC236}">
                    <a16:creationId xmlns:a16="http://schemas.microsoft.com/office/drawing/2014/main" id="{09751821-6A08-4215-A791-3E910403C953}"/>
                  </a:ext>
                </a:extLst>
              </p:cNvPr>
              <p:cNvSpPr txBox="1">
                <a:spLocks noChangeArrowheads="1"/>
              </p:cNvSpPr>
              <p:nvPr/>
            </p:nvSpPr>
            <p:spPr bwMode="auto">
              <a:xfrm>
                <a:off x="4355039" y="4042381"/>
                <a:ext cx="325438" cy="396875"/>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dirty="0"/>
                  <a:t>1</a:t>
                </a:r>
              </a:p>
            </p:txBody>
          </p:sp>
          <p:sp>
            <p:nvSpPr>
              <p:cNvPr id="33" name="Text Box 17">
                <a:extLst>
                  <a:ext uri="{FF2B5EF4-FFF2-40B4-BE49-F238E27FC236}">
                    <a16:creationId xmlns:a16="http://schemas.microsoft.com/office/drawing/2014/main" id="{5C9A63F3-87EB-49B3-96E6-199AB29095B8}"/>
                  </a:ext>
                </a:extLst>
              </p:cNvPr>
              <p:cNvSpPr txBox="1">
                <a:spLocks noChangeArrowheads="1"/>
              </p:cNvSpPr>
              <p:nvPr/>
            </p:nvSpPr>
            <p:spPr bwMode="auto">
              <a:xfrm>
                <a:off x="4324017" y="3526735"/>
                <a:ext cx="325438" cy="396875"/>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dirty="0"/>
                  <a:t>1</a:t>
                </a:r>
              </a:p>
            </p:txBody>
          </p:sp>
          <p:sp>
            <p:nvSpPr>
              <p:cNvPr id="34" name="Text Box 17">
                <a:extLst>
                  <a:ext uri="{FF2B5EF4-FFF2-40B4-BE49-F238E27FC236}">
                    <a16:creationId xmlns:a16="http://schemas.microsoft.com/office/drawing/2014/main" id="{29AF24B8-FF06-4188-B625-BEB728E4419C}"/>
                  </a:ext>
                </a:extLst>
              </p:cNvPr>
              <p:cNvSpPr txBox="1">
                <a:spLocks noChangeArrowheads="1"/>
              </p:cNvSpPr>
              <p:nvPr/>
            </p:nvSpPr>
            <p:spPr bwMode="auto">
              <a:xfrm>
                <a:off x="3073537" y="3798492"/>
                <a:ext cx="325438" cy="396875"/>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dirty="0"/>
                  <a:t>1</a:t>
                </a:r>
              </a:p>
            </p:txBody>
          </p:sp>
          <p:sp>
            <p:nvSpPr>
              <p:cNvPr id="35" name="Text Box 17">
                <a:extLst>
                  <a:ext uri="{FF2B5EF4-FFF2-40B4-BE49-F238E27FC236}">
                    <a16:creationId xmlns:a16="http://schemas.microsoft.com/office/drawing/2014/main" id="{1B7B7C48-204D-4F17-9BB8-F6FC603D902F}"/>
                  </a:ext>
                </a:extLst>
              </p:cNvPr>
              <p:cNvSpPr txBox="1">
                <a:spLocks noChangeArrowheads="1"/>
              </p:cNvSpPr>
              <p:nvPr/>
            </p:nvSpPr>
            <p:spPr bwMode="auto">
              <a:xfrm>
                <a:off x="3073537" y="4788451"/>
                <a:ext cx="325438" cy="396875"/>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dirty="0"/>
                  <a:t>1</a:t>
                </a:r>
              </a:p>
            </p:txBody>
          </p:sp>
          <p:sp>
            <p:nvSpPr>
              <p:cNvPr id="36" name="Text Box 17">
                <a:extLst>
                  <a:ext uri="{FF2B5EF4-FFF2-40B4-BE49-F238E27FC236}">
                    <a16:creationId xmlns:a16="http://schemas.microsoft.com/office/drawing/2014/main" id="{6D778995-E258-4600-845B-10F95653CD1A}"/>
                  </a:ext>
                </a:extLst>
              </p:cNvPr>
              <p:cNvSpPr txBox="1">
                <a:spLocks noChangeArrowheads="1"/>
              </p:cNvSpPr>
              <p:nvPr/>
            </p:nvSpPr>
            <p:spPr bwMode="auto">
              <a:xfrm>
                <a:off x="3951172" y="5355872"/>
                <a:ext cx="325438" cy="396875"/>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dirty="0"/>
                  <a:t>1</a:t>
                </a:r>
              </a:p>
            </p:txBody>
          </p:sp>
          <p:sp>
            <p:nvSpPr>
              <p:cNvPr id="37" name="Text Box 17">
                <a:extLst>
                  <a:ext uri="{FF2B5EF4-FFF2-40B4-BE49-F238E27FC236}">
                    <a16:creationId xmlns:a16="http://schemas.microsoft.com/office/drawing/2014/main" id="{0448DED6-FAAB-4CC3-8755-DF1D1E0D54DF}"/>
                  </a:ext>
                </a:extLst>
              </p:cNvPr>
              <p:cNvSpPr txBox="1">
                <a:spLocks noChangeArrowheads="1"/>
              </p:cNvSpPr>
              <p:nvPr/>
            </p:nvSpPr>
            <p:spPr bwMode="auto">
              <a:xfrm>
                <a:off x="3948485" y="4788450"/>
                <a:ext cx="325438" cy="396875"/>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dirty="0"/>
                  <a:t>1</a:t>
                </a:r>
              </a:p>
            </p:txBody>
          </p:sp>
          <p:sp>
            <p:nvSpPr>
              <p:cNvPr id="38" name="Text Box 17">
                <a:extLst>
                  <a:ext uri="{FF2B5EF4-FFF2-40B4-BE49-F238E27FC236}">
                    <a16:creationId xmlns:a16="http://schemas.microsoft.com/office/drawing/2014/main" id="{5CFC0812-2CC6-430B-BBDA-DD9E45F833FC}"/>
                  </a:ext>
                </a:extLst>
              </p:cNvPr>
              <p:cNvSpPr txBox="1">
                <a:spLocks noChangeArrowheads="1"/>
              </p:cNvSpPr>
              <p:nvPr/>
            </p:nvSpPr>
            <p:spPr bwMode="auto">
              <a:xfrm>
                <a:off x="4857385" y="4828815"/>
                <a:ext cx="325438" cy="396875"/>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dirty="0"/>
                  <a:t>1</a:t>
                </a:r>
              </a:p>
            </p:txBody>
          </p:sp>
          <p:sp>
            <p:nvSpPr>
              <p:cNvPr id="39" name="Text Box 17">
                <a:extLst>
                  <a:ext uri="{FF2B5EF4-FFF2-40B4-BE49-F238E27FC236}">
                    <a16:creationId xmlns:a16="http://schemas.microsoft.com/office/drawing/2014/main" id="{B768D9D5-BC59-43CC-B6B4-716DE6AF850A}"/>
                  </a:ext>
                </a:extLst>
              </p:cNvPr>
              <p:cNvSpPr txBox="1">
                <a:spLocks noChangeArrowheads="1"/>
              </p:cNvSpPr>
              <p:nvPr/>
            </p:nvSpPr>
            <p:spPr bwMode="auto">
              <a:xfrm>
                <a:off x="4857385" y="3818113"/>
                <a:ext cx="325438" cy="396875"/>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dirty="0"/>
                  <a:t>1</a:t>
                </a:r>
              </a:p>
            </p:txBody>
          </p:sp>
          <p:sp>
            <p:nvSpPr>
              <p:cNvPr id="40" name="Text Box 17">
                <a:extLst>
                  <a:ext uri="{FF2B5EF4-FFF2-40B4-BE49-F238E27FC236}">
                    <a16:creationId xmlns:a16="http://schemas.microsoft.com/office/drawing/2014/main" id="{F8565115-1B1F-4BC5-8214-68FCFA6ACE51}"/>
                  </a:ext>
                </a:extLst>
              </p:cNvPr>
              <p:cNvSpPr txBox="1">
                <a:spLocks noChangeArrowheads="1"/>
              </p:cNvSpPr>
              <p:nvPr/>
            </p:nvSpPr>
            <p:spPr bwMode="auto">
              <a:xfrm>
                <a:off x="5574496" y="3666542"/>
                <a:ext cx="325438" cy="396875"/>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dirty="0"/>
                  <a:t>1</a:t>
                </a:r>
              </a:p>
            </p:txBody>
          </p:sp>
          <p:sp>
            <p:nvSpPr>
              <p:cNvPr id="41" name="Text Box 17">
                <a:extLst>
                  <a:ext uri="{FF2B5EF4-FFF2-40B4-BE49-F238E27FC236}">
                    <a16:creationId xmlns:a16="http://schemas.microsoft.com/office/drawing/2014/main" id="{A346F05B-B44B-4B42-A6DA-D0A7F269FEE0}"/>
                  </a:ext>
                </a:extLst>
              </p:cNvPr>
              <p:cNvSpPr txBox="1">
                <a:spLocks noChangeArrowheads="1"/>
              </p:cNvSpPr>
              <p:nvPr/>
            </p:nvSpPr>
            <p:spPr bwMode="auto">
              <a:xfrm>
                <a:off x="5574496" y="4299301"/>
                <a:ext cx="325438" cy="396875"/>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dirty="0"/>
                  <a:t>1</a:t>
                </a:r>
              </a:p>
            </p:txBody>
          </p:sp>
          <p:sp>
            <p:nvSpPr>
              <p:cNvPr id="42" name="Text Box 17">
                <a:extLst>
                  <a:ext uri="{FF2B5EF4-FFF2-40B4-BE49-F238E27FC236}">
                    <a16:creationId xmlns:a16="http://schemas.microsoft.com/office/drawing/2014/main" id="{8607153E-90C3-4757-99A4-CDA8B07C9DC4}"/>
                  </a:ext>
                </a:extLst>
              </p:cNvPr>
              <p:cNvSpPr txBox="1">
                <a:spLocks noChangeArrowheads="1"/>
              </p:cNvSpPr>
              <p:nvPr/>
            </p:nvSpPr>
            <p:spPr bwMode="auto">
              <a:xfrm>
                <a:off x="5574496" y="4932060"/>
                <a:ext cx="325438" cy="396875"/>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dirty="0"/>
                  <a:t>1</a:t>
                </a:r>
              </a:p>
            </p:txBody>
          </p:sp>
        </p:grpSp>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A777BE4E-822A-6FA0-50CF-F7152995DD3F}"/>
                    </a:ext>
                  </a:extLst>
                </p:cNvPr>
                <p:cNvSpPr>
                  <a:spLocks noChangeAspect="1" noChangeArrowheads="1"/>
                </p:cNvSpPr>
                <p:nvPr/>
              </p:nvSpPr>
              <p:spPr bwMode="auto">
                <a:xfrm>
                  <a:off x="85793" y="5100796"/>
                  <a:ext cx="240715" cy="271060"/>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a:effectLst>
                        <a:outerShdw dist="35921" dir="2700000" algn="ctr" rotWithShape="0">
                          <a:srgbClr val="808080"/>
                        </a:outerShdw>
                      </a:effectLst>
                    </a14:hiddenEffects>
                  </a:ext>
                </a:extLst>
              </p:spPr>
              <p:txBody>
                <a:bodyPr wrap="none" lIns="92075" tIns="46038" rIns="92075" bIns="46038" anchor="ctr"/>
                <a:lstStyle/>
                <a:p>
                  <a:pPr algn="ctr"/>
                  <a14:m>
                    <m:oMathPara xmlns:m="http://schemas.openxmlformats.org/officeDocument/2006/math">
                      <m:oMathParaPr>
                        <m:jc m:val="centerGroup"/>
                      </m:oMathParaPr>
                      <m:oMath xmlns:m="http://schemas.openxmlformats.org/officeDocument/2006/math">
                        <m:r>
                          <a:rPr lang="en-US" altLang="en-US" b="1" i="1" smtClean="0">
                            <a:latin typeface="Cambria Math" panose="02040503050406030204" pitchFamily="18" charset="0"/>
                          </a:rPr>
                          <m:t>𝒔</m:t>
                        </m:r>
                        <m:r>
                          <a:rPr lang="en-US" altLang="en-US" b="1" i="1" smtClean="0">
                            <a:latin typeface="Cambria Math" panose="02040503050406030204" pitchFamily="18" charset="0"/>
                          </a:rPr>
                          <m:t>′</m:t>
                        </m:r>
                      </m:oMath>
                    </m:oMathPara>
                  </a14:m>
                  <a:endParaRPr lang="en-US" altLang="en-US" b="1" dirty="0"/>
                </a:p>
              </p:txBody>
            </p:sp>
          </mc:Choice>
          <mc:Fallback xmlns="">
            <p:sp>
              <p:nvSpPr>
                <p:cNvPr id="5" name="Oval 4">
                  <a:extLst>
                    <a:ext uri="{FF2B5EF4-FFF2-40B4-BE49-F238E27FC236}">
                      <a16:creationId xmlns:a16="http://schemas.microsoft.com/office/drawing/2014/main" id="{A777BE4E-822A-6FA0-50CF-F7152995DD3F}"/>
                    </a:ext>
                  </a:extLst>
                </p:cNvPr>
                <p:cNvSpPr>
                  <a:spLocks noRot="1" noChangeAspect="1" noMove="1" noResize="1" noEditPoints="1" noAdjustHandles="1" noChangeArrowheads="1" noChangeShapeType="1" noTextEdit="1"/>
                </p:cNvSpPr>
                <p:nvPr/>
              </p:nvSpPr>
              <p:spPr bwMode="auto">
                <a:xfrm>
                  <a:off x="85793" y="5100796"/>
                  <a:ext cx="240715" cy="271060"/>
                </a:xfrm>
                <a:prstGeom prst="ellipse">
                  <a:avLst/>
                </a:prstGeom>
                <a:blipFill>
                  <a:blip r:embed="rId5"/>
                  <a:stretch>
                    <a:fillRect l="-30952" t="-2174" r="-9524" b="-8696"/>
                  </a:stretch>
                </a:blip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4">
                  <a:extLst>
                    <a:ext uri="{FF2B5EF4-FFF2-40B4-BE49-F238E27FC236}">
                      <a16:creationId xmlns:a16="http://schemas.microsoft.com/office/drawing/2014/main" id="{FF4F5FA9-699C-A712-4BAC-A71BEEAD5C1A}"/>
                    </a:ext>
                  </a:extLst>
                </p:cNvPr>
                <p:cNvSpPr>
                  <a:spLocks noChangeAspect="1" noChangeArrowheads="1"/>
                </p:cNvSpPr>
                <p:nvPr/>
              </p:nvSpPr>
              <p:spPr bwMode="auto">
                <a:xfrm>
                  <a:off x="7081655" y="5114546"/>
                  <a:ext cx="228504" cy="257310"/>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a:effectLst>
                        <a:outerShdw dist="35921" dir="2700000" algn="ctr" rotWithShape="0">
                          <a:srgbClr val="808080"/>
                        </a:outerShdw>
                      </a:effectLst>
                    </a14:hiddenEffects>
                  </a:ext>
                </a:extLst>
              </p:spPr>
              <p:txBody>
                <a:bodyPr wrap="none" lIns="92075" tIns="46038" rIns="92075" bIns="46038" anchor="ctr"/>
                <a:lstStyle/>
                <a:p>
                  <a:pPr algn="ctr"/>
                  <a14:m>
                    <m:oMathPara xmlns:m="http://schemas.openxmlformats.org/officeDocument/2006/math">
                      <m:oMathParaPr>
                        <m:jc m:val="centerGroup"/>
                      </m:oMathParaPr>
                      <m:oMath xmlns:m="http://schemas.openxmlformats.org/officeDocument/2006/math">
                        <m:r>
                          <a:rPr lang="en-US" altLang="en-US" b="1" i="1" smtClean="0">
                            <a:latin typeface="Cambria Math" panose="02040503050406030204" pitchFamily="18" charset="0"/>
                          </a:rPr>
                          <m:t>𝒕</m:t>
                        </m:r>
                        <m:r>
                          <a:rPr lang="en-US" altLang="en-US" b="1" i="1" smtClean="0">
                            <a:latin typeface="Cambria Math" panose="02040503050406030204" pitchFamily="18" charset="0"/>
                          </a:rPr>
                          <m:t>′</m:t>
                        </m:r>
                      </m:oMath>
                    </m:oMathPara>
                  </a14:m>
                  <a:endParaRPr lang="en-US" altLang="en-US" b="1" dirty="0"/>
                </a:p>
              </p:txBody>
            </p:sp>
          </mc:Choice>
          <mc:Fallback xmlns="">
            <p:sp>
              <p:nvSpPr>
                <p:cNvPr id="6" name="Oval 4">
                  <a:extLst>
                    <a:ext uri="{FF2B5EF4-FFF2-40B4-BE49-F238E27FC236}">
                      <a16:creationId xmlns:a16="http://schemas.microsoft.com/office/drawing/2014/main" id="{FF4F5FA9-699C-A712-4BAC-A71BEEAD5C1A}"/>
                    </a:ext>
                  </a:extLst>
                </p:cNvPr>
                <p:cNvSpPr>
                  <a:spLocks noRot="1" noChangeAspect="1" noMove="1" noResize="1" noEditPoints="1" noAdjustHandles="1" noChangeArrowheads="1" noChangeShapeType="1" noTextEdit="1"/>
                </p:cNvSpPr>
                <p:nvPr/>
              </p:nvSpPr>
              <p:spPr bwMode="auto">
                <a:xfrm>
                  <a:off x="7081655" y="5114546"/>
                  <a:ext cx="228504" cy="257310"/>
                </a:xfrm>
                <a:prstGeom prst="ellipse">
                  <a:avLst/>
                </a:prstGeom>
                <a:blipFill>
                  <a:blip r:embed="rId6"/>
                  <a:stretch>
                    <a:fillRect l="-30769" t="-4545" r="-12821" b="-13636"/>
                  </a:stretch>
                </a:blip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r>
                    <a:rPr lang="en-US">
                      <a:noFill/>
                    </a:rPr>
                    <a:t> </a:t>
                  </a:r>
                </a:p>
              </p:txBody>
            </p:sp>
          </mc:Fallback>
        </mc:AlternateContent>
        <p:cxnSp>
          <p:nvCxnSpPr>
            <p:cNvPr id="7" name="AutoShape 12">
              <a:extLst>
                <a:ext uri="{FF2B5EF4-FFF2-40B4-BE49-F238E27FC236}">
                  <a16:creationId xmlns:a16="http://schemas.microsoft.com/office/drawing/2014/main" id="{6717C5A3-1755-5062-4A12-917F5F26B33A}"/>
                </a:ext>
              </a:extLst>
            </p:cNvPr>
            <p:cNvCxnSpPr>
              <a:cxnSpLocks noChangeShapeType="1"/>
              <a:stCxn id="5" idx="6"/>
              <a:endCxn id="451588" idx="2"/>
            </p:cNvCxnSpPr>
            <p:nvPr/>
          </p:nvCxnSpPr>
          <p:spPr bwMode="auto">
            <a:xfrm>
              <a:off x="326508" y="5236326"/>
              <a:ext cx="697620" cy="1"/>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10" name="AutoShape 12">
              <a:extLst>
                <a:ext uri="{FF2B5EF4-FFF2-40B4-BE49-F238E27FC236}">
                  <a16:creationId xmlns:a16="http://schemas.microsoft.com/office/drawing/2014/main" id="{588D16F5-376A-8E9C-4C58-A2FE4864A547}"/>
                </a:ext>
              </a:extLst>
            </p:cNvPr>
            <p:cNvCxnSpPr>
              <a:cxnSpLocks noChangeShapeType="1"/>
              <a:stCxn id="451628" idx="6"/>
              <a:endCxn id="6" idx="2"/>
            </p:cNvCxnSpPr>
            <p:nvPr/>
          </p:nvCxnSpPr>
          <p:spPr bwMode="auto">
            <a:xfrm>
              <a:off x="6327648" y="5236327"/>
              <a:ext cx="754007" cy="6874"/>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mc:AlternateContent xmlns:mc="http://schemas.openxmlformats.org/markup-compatibility/2006">
          <mc:Choice xmlns:a14="http://schemas.microsoft.com/office/drawing/2010/main" Requires="a14">
            <p:sp>
              <p:nvSpPr>
                <p:cNvPr id="14" name="Text Box 17">
                  <a:extLst>
                    <a:ext uri="{FF2B5EF4-FFF2-40B4-BE49-F238E27FC236}">
                      <a16:creationId xmlns:a16="http://schemas.microsoft.com/office/drawing/2014/main" id="{9255971B-4CBE-98E1-77CE-CB6B2B7F822B}"/>
                    </a:ext>
                  </a:extLst>
                </p:cNvPr>
                <p:cNvSpPr txBox="1">
                  <a:spLocks noChangeArrowheads="1"/>
                </p:cNvSpPr>
                <p:nvPr/>
              </p:nvSpPr>
              <p:spPr bwMode="auto">
                <a:xfrm>
                  <a:off x="413952" y="5012533"/>
                  <a:ext cx="474361" cy="400110"/>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14:m>
                    <m:oMathPara xmlns:m="http://schemas.openxmlformats.org/officeDocument/2006/math">
                      <m:oMathParaPr>
                        <m:jc m:val="centerGroup"/>
                      </m:oMathParaPr>
                      <m:oMath xmlns:m="http://schemas.openxmlformats.org/officeDocument/2006/math">
                        <m:r>
                          <a:rPr lang="en-US" altLang="en-US" b="0" i="1" smtClean="0">
                            <a:latin typeface="Cambria Math" panose="02040503050406030204" pitchFamily="18" charset="0"/>
                          </a:rPr>
                          <m:t>𝑚</m:t>
                        </m:r>
                      </m:oMath>
                    </m:oMathPara>
                  </a14:m>
                  <a:endParaRPr lang="en-US" altLang="en-US" dirty="0"/>
                </a:p>
              </p:txBody>
            </p:sp>
          </mc:Choice>
          <mc:Fallback>
            <p:sp>
              <p:nvSpPr>
                <p:cNvPr id="14" name="Text Box 17">
                  <a:extLst>
                    <a:ext uri="{FF2B5EF4-FFF2-40B4-BE49-F238E27FC236}">
                      <a16:creationId xmlns:a16="http://schemas.microsoft.com/office/drawing/2014/main" id="{9255971B-4CBE-98E1-77CE-CB6B2B7F822B}"/>
                    </a:ext>
                  </a:extLst>
                </p:cNvPr>
                <p:cNvSpPr txBox="1">
                  <a:spLocks noRot="1" noChangeAspect="1" noMove="1" noResize="1" noEditPoints="1" noAdjustHandles="1" noChangeArrowheads="1" noChangeShapeType="1" noTextEdit="1"/>
                </p:cNvSpPr>
                <p:nvPr/>
              </p:nvSpPr>
              <p:spPr bwMode="auto">
                <a:xfrm>
                  <a:off x="413952" y="5012533"/>
                  <a:ext cx="474361" cy="400110"/>
                </a:xfrm>
                <a:prstGeom prst="rect">
                  <a:avLst/>
                </a:prstGeom>
                <a:blipFill>
                  <a:blip r:embed="rId7"/>
                  <a:stretch>
                    <a:fillRect/>
                  </a:stretch>
                </a:blipFill>
                <a:ln>
                  <a:noFill/>
                </a:ln>
                <a:effec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5" name="Text Box 17">
                  <a:extLst>
                    <a:ext uri="{FF2B5EF4-FFF2-40B4-BE49-F238E27FC236}">
                      <a16:creationId xmlns:a16="http://schemas.microsoft.com/office/drawing/2014/main" id="{8F378038-FD52-BE48-481F-9010A7364956}"/>
                    </a:ext>
                  </a:extLst>
                </p:cNvPr>
                <p:cNvSpPr txBox="1">
                  <a:spLocks noChangeArrowheads="1"/>
                </p:cNvSpPr>
                <p:nvPr/>
              </p:nvSpPr>
              <p:spPr bwMode="auto">
                <a:xfrm>
                  <a:off x="6451303" y="5024580"/>
                  <a:ext cx="474361" cy="400110"/>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14:m>
                    <m:oMathPara xmlns:m="http://schemas.openxmlformats.org/officeDocument/2006/math">
                      <m:oMathParaPr>
                        <m:jc m:val="centerGroup"/>
                      </m:oMathParaPr>
                      <m:oMath xmlns:m="http://schemas.openxmlformats.org/officeDocument/2006/math">
                        <m:r>
                          <a:rPr lang="en-US" altLang="en-US" b="0" i="1" smtClean="0">
                            <a:latin typeface="Cambria Math" panose="02040503050406030204" pitchFamily="18" charset="0"/>
                          </a:rPr>
                          <m:t>𝑚</m:t>
                        </m:r>
                      </m:oMath>
                    </m:oMathPara>
                  </a14:m>
                  <a:endParaRPr lang="en-US" altLang="en-US" dirty="0"/>
                </a:p>
              </p:txBody>
            </p:sp>
          </mc:Choice>
          <mc:Fallback>
            <p:sp>
              <p:nvSpPr>
                <p:cNvPr id="15" name="Text Box 17">
                  <a:extLst>
                    <a:ext uri="{FF2B5EF4-FFF2-40B4-BE49-F238E27FC236}">
                      <a16:creationId xmlns:a16="http://schemas.microsoft.com/office/drawing/2014/main" id="{8F378038-FD52-BE48-481F-9010A7364956}"/>
                    </a:ext>
                  </a:extLst>
                </p:cNvPr>
                <p:cNvSpPr txBox="1">
                  <a:spLocks noRot="1" noChangeAspect="1" noMove="1" noResize="1" noEditPoints="1" noAdjustHandles="1" noChangeArrowheads="1" noChangeShapeType="1" noTextEdit="1"/>
                </p:cNvSpPr>
                <p:nvPr/>
              </p:nvSpPr>
              <p:spPr bwMode="auto">
                <a:xfrm>
                  <a:off x="6451303" y="5024580"/>
                  <a:ext cx="474361" cy="400110"/>
                </a:xfrm>
                <a:prstGeom prst="rect">
                  <a:avLst/>
                </a:prstGeom>
                <a:blipFill>
                  <a:blip r:embed="rId8"/>
                  <a:stretch>
                    <a:fillRect/>
                  </a:stretch>
                </a:blipFill>
                <a:ln>
                  <a:noFill/>
                </a:ln>
                <a:effectLst/>
              </p:spPr>
              <p:txBody>
                <a:bodyPr/>
                <a:lstStyle/>
                <a:p>
                  <a:r>
                    <a:rPr lang="en-US">
                      <a:noFill/>
                    </a:rPr>
                    <a:t> </a:t>
                  </a:r>
                </a:p>
              </p:txBody>
            </p:sp>
          </mc:Fallback>
        </mc:AlternateContent>
      </p:grpSp>
    </p:spTree>
    <p:extLst>
      <p:ext uri="{BB962C8B-B14F-4D97-AF65-F5344CB8AC3E}">
        <p14:creationId xmlns:p14="http://schemas.microsoft.com/office/powerpoint/2010/main" val="103590014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A79F10-5938-8697-45A9-E5CD30EFFE8A}"/>
            </a:ext>
          </a:extLst>
        </p:cNvPr>
        <p:cNvGrpSpPr/>
        <p:nvPr/>
      </p:nvGrpSpPr>
      <p:grpSpPr>
        <a:xfrm>
          <a:off x="0" y="0"/>
          <a:ext cx="0" cy="0"/>
          <a:chOff x="0" y="0"/>
          <a:chExt cx="0" cy="0"/>
        </a:xfrm>
      </p:grpSpPr>
      <p:sp>
        <p:nvSpPr>
          <p:cNvPr id="34" name="Rectangle 33">
            <a:extLst>
              <a:ext uri="{FF2B5EF4-FFF2-40B4-BE49-F238E27FC236}">
                <a16:creationId xmlns:a16="http://schemas.microsoft.com/office/drawing/2014/main" id="{BDB5EE42-248C-7860-FBFA-082E8B77CA66}"/>
              </a:ext>
            </a:extLst>
          </p:cNvPr>
          <p:cNvSpPr/>
          <p:nvPr/>
        </p:nvSpPr>
        <p:spPr>
          <a:xfrm>
            <a:off x="4488720" y="1773199"/>
            <a:ext cx="3215508" cy="4843619"/>
          </a:xfrm>
          <a:prstGeom prst="rect">
            <a:avLst/>
          </a:prstGeom>
          <a:solidFill>
            <a:srgbClr val="FFA7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318E3FC-79BD-59E0-537C-BE8D0381D2C4}"/>
              </a:ext>
            </a:extLst>
          </p:cNvPr>
          <p:cNvSpPr>
            <a:spLocks noGrp="1"/>
          </p:cNvSpPr>
          <p:nvPr>
            <p:ph type="title"/>
          </p:nvPr>
        </p:nvSpPr>
        <p:spPr>
          <a:xfrm>
            <a:off x="353085" y="-171592"/>
            <a:ext cx="10515600" cy="1325563"/>
          </a:xfrm>
        </p:spPr>
        <p:txBody>
          <a:bodyPr/>
          <a:lstStyle/>
          <a:p>
            <a:r>
              <a:rPr lang="en-US" dirty="0"/>
              <a:t>Edge Disjoint Paths Reduction to Max Flow</a:t>
            </a:r>
          </a:p>
        </p:txBody>
      </p:sp>
      <p:sp>
        <p:nvSpPr>
          <p:cNvPr id="4" name="Slide Number Placeholder 3">
            <a:extLst>
              <a:ext uri="{FF2B5EF4-FFF2-40B4-BE49-F238E27FC236}">
                <a16:creationId xmlns:a16="http://schemas.microsoft.com/office/drawing/2014/main" id="{97222153-8676-C14F-C8AA-5D22D8E649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BADE50-950A-4D58-BFB2-FA2C6A8B385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2" name="TextBox 11">
            <a:extLst>
              <a:ext uri="{FF2B5EF4-FFF2-40B4-BE49-F238E27FC236}">
                <a16:creationId xmlns:a16="http://schemas.microsoft.com/office/drawing/2014/main" id="{5AC295D9-FCEF-4F28-DC06-D3C0CDA7CE86}"/>
              </a:ext>
            </a:extLst>
          </p:cNvPr>
          <p:cNvSpPr txBox="1"/>
          <p:nvPr/>
        </p:nvSpPr>
        <p:spPr>
          <a:xfrm>
            <a:off x="1615701" y="1403866"/>
            <a:ext cx="1965538"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Edge Disjoint Paths</a:t>
            </a:r>
          </a:p>
        </p:txBody>
      </p:sp>
      <p:sp>
        <p:nvSpPr>
          <p:cNvPr id="16" name="TextBox 15">
            <a:extLst>
              <a:ext uri="{FF2B5EF4-FFF2-40B4-BE49-F238E27FC236}">
                <a16:creationId xmlns:a16="http://schemas.microsoft.com/office/drawing/2014/main" id="{046B9254-CEB1-BFB1-AA01-548275A9CBE0}"/>
              </a:ext>
            </a:extLst>
          </p:cNvPr>
          <p:cNvSpPr txBox="1"/>
          <p:nvPr/>
        </p:nvSpPr>
        <p:spPr>
          <a:xfrm>
            <a:off x="7808995" y="1034039"/>
            <a:ext cx="193161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Max Flow Problem</a:t>
            </a:r>
          </a:p>
        </p:txBody>
      </p:sp>
      <p:sp>
        <p:nvSpPr>
          <p:cNvPr id="21" name="TextBox 20">
            <a:extLst>
              <a:ext uri="{FF2B5EF4-FFF2-40B4-BE49-F238E27FC236}">
                <a16:creationId xmlns:a16="http://schemas.microsoft.com/office/drawing/2014/main" id="{23BDBADA-5F45-A646-749B-8ADFB5652277}"/>
              </a:ext>
            </a:extLst>
          </p:cNvPr>
          <p:cNvSpPr txBox="1"/>
          <p:nvPr/>
        </p:nvSpPr>
        <p:spPr>
          <a:xfrm>
            <a:off x="7808995" y="4298946"/>
            <a:ext cx="3810210"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A maximal flow graph for that network</a:t>
            </a:r>
            <a:endPar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AutoShape 5">
            <a:extLst>
              <a:ext uri="{FF2B5EF4-FFF2-40B4-BE49-F238E27FC236}">
                <a16:creationId xmlns:a16="http://schemas.microsoft.com/office/drawing/2014/main" id="{C3972578-EDA2-5DBB-9D42-47B49D1662CE}"/>
              </a:ext>
            </a:extLst>
          </p:cNvPr>
          <p:cNvSpPr>
            <a:spLocks noChangeArrowheads="1"/>
          </p:cNvSpPr>
          <p:nvPr/>
        </p:nvSpPr>
        <p:spPr bwMode="auto">
          <a:xfrm>
            <a:off x="4627562" y="1861068"/>
            <a:ext cx="2840038" cy="759976"/>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AutoShape 5">
            <a:extLst>
              <a:ext uri="{FF2B5EF4-FFF2-40B4-BE49-F238E27FC236}">
                <a16:creationId xmlns:a16="http://schemas.microsoft.com/office/drawing/2014/main" id="{2B592B81-CB96-15C0-A5ED-3B6279EEB5A2}"/>
              </a:ext>
            </a:extLst>
          </p:cNvPr>
          <p:cNvSpPr>
            <a:spLocks noChangeArrowheads="1"/>
          </p:cNvSpPr>
          <p:nvPr/>
        </p:nvSpPr>
        <p:spPr bwMode="auto">
          <a:xfrm rot="5400000">
            <a:off x="8725391" y="3466305"/>
            <a:ext cx="1086255" cy="701516"/>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AutoShape 5">
            <a:extLst>
              <a:ext uri="{FF2B5EF4-FFF2-40B4-BE49-F238E27FC236}">
                <a16:creationId xmlns:a16="http://schemas.microsoft.com/office/drawing/2014/main" id="{F8E00A6E-EFC3-66C3-BF97-957A8809D2AB}"/>
              </a:ext>
            </a:extLst>
          </p:cNvPr>
          <p:cNvSpPr>
            <a:spLocks noChangeArrowheads="1"/>
          </p:cNvSpPr>
          <p:nvPr/>
        </p:nvSpPr>
        <p:spPr bwMode="auto">
          <a:xfrm rot="10800000">
            <a:off x="4641736" y="5283308"/>
            <a:ext cx="2840038" cy="993815"/>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Box 34">
            <a:extLst>
              <a:ext uri="{FF2B5EF4-FFF2-40B4-BE49-F238E27FC236}">
                <a16:creationId xmlns:a16="http://schemas.microsoft.com/office/drawing/2014/main" id="{6F3167A6-7C76-003E-2858-86255510876D}"/>
              </a:ext>
            </a:extLst>
          </p:cNvPr>
          <p:cNvSpPr txBox="1"/>
          <p:nvPr/>
        </p:nvSpPr>
        <p:spPr>
          <a:xfrm>
            <a:off x="5479573" y="6215041"/>
            <a:ext cx="113601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Reduction</a:t>
            </a:r>
          </a:p>
        </p:txBody>
      </p: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7064A37C-0351-22EE-2888-0992AA4C2A7C}"/>
                  </a:ext>
                </a:extLst>
              </p:cNvPr>
              <p:cNvSpPr txBox="1"/>
              <p:nvPr/>
            </p:nvSpPr>
            <p:spPr>
              <a:xfrm>
                <a:off x="4474144" y="2476596"/>
                <a:ext cx="3285854" cy="147732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Add a new source and sink, add edge from new source to S with capacity </a:t>
                </a:r>
                <a14:m>
                  <m:oMath xmlns:m="http://schemas.openxmlformats.org/officeDocument/2006/math">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𝑚</m:t>
                    </m:r>
                  </m:oMath>
                </a14:m>
                <a:r>
                  <a:rPr lang="en-US" dirty="0">
                    <a:solidFill>
                      <a:prstClr val="black"/>
                    </a:solidFill>
                    <a:latin typeface="Calibri" panose="020F0502020204030204"/>
                  </a:rPr>
                  <a:t>, edge from </a:t>
                </a:r>
                <a14:m>
                  <m:oMath xmlns:m="http://schemas.openxmlformats.org/officeDocument/2006/math">
                    <m:r>
                      <a:rPr lang="en-US" b="0" i="1" smtClean="0">
                        <a:solidFill>
                          <a:prstClr val="black"/>
                        </a:solidFill>
                        <a:latin typeface="Cambria Math" panose="02040503050406030204" pitchFamily="18" charset="0"/>
                      </a:rPr>
                      <m:t>𝑡</m:t>
                    </m:r>
                  </m:oMath>
                </a14:m>
                <a:r>
                  <a:rPr lang="en-US" dirty="0">
                    <a:solidFill>
                      <a:prstClr val="black"/>
                    </a:solidFill>
                    <a:latin typeface="Calibri" panose="020F0502020204030204"/>
                  </a:rPr>
                  <a:t> to new sink with capacity </a:t>
                </a:r>
                <a14:m>
                  <m:oMath xmlns:m="http://schemas.openxmlformats.org/officeDocument/2006/math">
                    <m:r>
                      <a:rPr lang="en-US" b="0" i="1" smtClean="0">
                        <a:solidFill>
                          <a:prstClr val="black"/>
                        </a:solidFill>
                        <a:latin typeface="Cambria Math" panose="02040503050406030204" pitchFamily="18" charset="0"/>
                      </a:rPr>
                      <m:t>𝑚</m:t>
                    </m:r>
                  </m:oMath>
                </a14:m>
                <a:r>
                  <a:rPr lang="en-US" dirty="0">
                    <a:solidFill>
                      <a:prstClr val="black"/>
                    </a:solidFill>
                    <a:latin typeface="Calibri" panose="020F0502020204030204"/>
                  </a:rPr>
                  <a:t>, add capacity 1 to all original edges</a:t>
                </a:r>
              </a:p>
            </p:txBody>
          </p:sp>
        </mc:Choice>
        <mc:Fallback>
          <p:sp>
            <p:nvSpPr>
              <p:cNvPr id="3" name="TextBox 2">
                <a:extLst>
                  <a:ext uri="{FF2B5EF4-FFF2-40B4-BE49-F238E27FC236}">
                    <a16:creationId xmlns:a16="http://schemas.microsoft.com/office/drawing/2014/main" id="{7064A37C-0351-22EE-2888-0992AA4C2A7C}"/>
                  </a:ext>
                </a:extLst>
              </p:cNvPr>
              <p:cNvSpPr txBox="1">
                <a:spLocks noRot="1" noChangeAspect="1" noMove="1" noResize="1" noEditPoints="1" noAdjustHandles="1" noChangeArrowheads="1" noChangeShapeType="1" noTextEdit="1"/>
              </p:cNvSpPr>
              <p:nvPr/>
            </p:nvSpPr>
            <p:spPr>
              <a:xfrm>
                <a:off x="4474144" y="2476596"/>
                <a:ext cx="3285854" cy="1477328"/>
              </a:xfrm>
              <a:prstGeom prst="rect">
                <a:avLst/>
              </a:prstGeom>
              <a:blipFill>
                <a:blip r:embed="rId2"/>
                <a:stretch>
                  <a:fillRect l="-1670" t="-2058" b="-5350"/>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A798DF48-A3E7-EE89-A905-31B3CA9A6F3A}"/>
              </a:ext>
            </a:extLst>
          </p:cNvPr>
          <p:cNvSpPr txBox="1"/>
          <p:nvPr/>
        </p:nvSpPr>
        <p:spPr>
          <a:xfrm>
            <a:off x="9714100" y="3680214"/>
            <a:ext cx="2743200"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Ford-Fulkerson</a:t>
            </a:r>
          </a:p>
        </p:txBody>
      </p:sp>
      <p:sp>
        <p:nvSpPr>
          <p:cNvPr id="6" name="TextBox 5">
            <a:extLst>
              <a:ext uri="{FF2B5EF4-FFF2-40B4-BE49-F238E27FC236}">
                <a16:creationId xmlns:a16="http://schemas.microsoft.com/office/drawing/2014/main" id="{7185DC78-40CD-25D7-3DCA-A97F0A9C15D9}"/>
              </a:ext>
            </a:extLst>
          </p:cNvPr>
          <p:cNvSpPr txBox="1"/>
          <p:nvPr/>
        </p:nvSpPr>
        <p:spPr>
          <a:xfrm>
            <a:off x="5243990" y="4593289"/>
            <a:ext cx="2743200" cy="92333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Calibri" panose="020F0502020204030204"/>
              </a:rPr>
              <a:t>If an employee-shift edge has flow, assign the employee to that shift</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40" name="Group 39">
            <a:extLst>
              <a:ext uri="{FF2B5EF4-FFF2-40B4-BE49-F238E27FC236}">
                <a16:creationId xmlns:a16="http://schemas.microsoft.com/office/drawing/2014/main" id="{E1994E1B-1DCC-AF93-65B3-CFFB7A699FAA}"/>
              </a:ext>
            </a:extLst>
          </p:cNvPr>
          <p:cNvGrpSpPr>
            <a:grpSpLocks/>
          </p:cNvGrpSpPr>
          <p:nvPr/>
        </p:nvGrpSpPr>
        <p:grpSpPr>
          <a:xfrm>
            <a:off x="91201" y="1871843"/>
            <a:ext cx="4097348" cy="1766098"/>
            <a:chOff x="2438401" y="3540126"/>
            <a:chExt cx="6784975" cy="2597150"/>
          </a:xfrm>
        </p:grpSpPr>
        <p:sp>
          <p:nvSpPr>
            <p:cNvPr id="41" name="Oval 4">
              <a:extLst>
                <a:ext uri="{FF2B5EF4-FFF2-40B4-BE49-F238E27FC236}">
                  <a16:creationId xmlns:a16="http://schemas.microsoft.com/office/drawing/2014/main" id="{DB278C22-07E9-EE5F-6D57-544476F567DC}"/>
                </a:ext>
              </a:extLst>
            </p:cNvPr>
            <p:cNvSpPr>
              <a:spLocks noChangeAspect="1" noChangeArrowheads="1"/>
            </p:cNvSpPr>
            <p:nvPr/>
          </p:nvSpPr>
          <p:spPr bwMode="auto">
            <a:xfrm>
              <a:off x="2438401" y="46482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s</a:t>
              </a:r>
            </a:p>
          </p:txBody>
        </p:sp>
        <p:sp>
          <p:nvSpPr>
            <p:cNvPr id="42" name="Oval 7">
              <a:extLst>
                <a:ext uri="{FF2B5EF4-FFF2-40B4-BE49-F238E27FC236}">
                  <a16:creationId xmlns:a16="http://schemas.microsoft.com/office/drawing/2014/main" id="{D2965E88-D87A-8112-652A-85F72BA67D8B}"/>
                </a:ext>
              </a:extLst>
            </p:cNvPr>
            <p:cNvSpPr>
              <a:spLocks noChangeAspect="1" noChangeArrowheads="1"/>
            </p:cNvSpPr>
            <p:nvPr/>
          </p:nvSpPr>
          <p:spPr bwMode="auto">
            <a:xfrm>
              <a:off x="4572001" y="3540126"/>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a</a:t>
              </a:r>
            </a:p>
          </p:txBody>
        </p:sp>
        <p:sp>
          <p:nvSpPr>
            <p:cNvPr id="43" name="Oval 8">
              <a:extLst>
                <a:ext uri="{FF2B5EF4-FFF2-40B4-BE49-F238E27FC236}">
                  <a16:creationId xmlns:a16="http://schemas.microsoft.com/office/drawing/2014/main" id="{B1DDC188-B97D-04E1-D8DF-B61904E397AF}"/>
                </a:ext>
              </a:extLst>
            </p:cNvPr>
            <p:cNvSpPr>
              <a:spLocks noChangeAspect="1" noChangeArrowheads="1"/>
            </p:cNvSpPr>
            <p:nvPr/>
          </p:nvSpPr>
          <p:spPr bwMode="auto">
            <a:xfrm>
              <a:off x="4572001" y="46482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b</a:t>
              </a:r>
            </a:p>
          </p:txBody>
        </p:sp>
        <p:sp>
          <p:nvSpPr>
            <p:cNvPr id="44" name="Oval 9">
              <a:extLst>
                <a:ext uri="{FF2B5EF4-FFF2-40B4-BE49-F238E27FC236}">
                  <a16:creationId xmlns:a16="http://schemas.microsoft.com/office/drawing/2014/main" id="{56DACB4E-E196-75D1-182E-536689C887D3}"/>
                </a:ext>
              </a:extLst>
            </p:cNvPr>
            <p:cNvSpPr>
              <a:spLocks noChangeAspect="1" noChangeArrowheads="1"/>
            </p:cNvSpPr>
            <p:nvPr/>
          </p:nvSpPr>
          <p:spPr bwMode="auto">
            <a:xfrm>
              <a:off x="4572001" y="58674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c</a:t>
              </a:r>
            </a:p>
          </p:txBody>
        </p:sp>
        <p:cxnSp>
          <p:nvCxnSpPr>
            <p:cNvPr id="45" name="AutoShape 12">
              <a:extLst>
                <a:ext uri="{FF2B5EF4-FFF2-40B4-BE49-F238E27FC236}">
                  <a16:creationId xmlns:a16="http://schemas.microsoft.com/office/drawing/2014/main" id="{00E2ADBD-C392-DE60-0FEA-133C54AAC965}"/>
                </a:ext>
              </a:extLst>
            </p:cNvPr>
            <p:cNvCxnSpPr>
              <a:cxnSpLocks noChangeShapeType="1"/>
              <a:stCxn id="41" idx="7"/>
              <a:endCxn id="42" idx="3"/>
            </p:cNvCxnSpPr>
            <p:nvPr/>
          </p:nvCxnSpPr>
          <p:spPr bwMode="auto">
            <a:xfrm flipV="1">
              <a:off x="2668588" y="3770314"/>
              <a:ext cx="1943100" cy="91757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6" name="AutoShape 13">
              <a:extLst>
                <a:ext uri="{FF2B5EF4-FFF2-40B4-BE49-F238E27FC236}">
                  <a16:creationId xmlns:a16="http://schemas.microsoft.com/office/drawing/2014/main" id="{4C97C76B-2487-3C43-B522-7C21121D0E54}"/>
                </a:ext>
              </a:extLst>
            </p:cNvPr>
            <p:cNvCxnSpPr>
              <a:cxnSpLocks noChangeShapeType="1"/>
              <a:stCxn id="41" idx="6"/>
              <a:endCxn id="43" idx="2"/>
            </p:cNvCxnSpPr>
            <p:nvPr/>
          </p:nvCxnSpPr>
          <p:spPr bwMode="auto">
            <a:xfrm>
              <a:off x="2708276" y="4783138"/>
              <a:ext cx="1863725" cy="0"/>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7" name="AutoShape 14">
              <a:extLst>
                <a:ext uri="{FF2B5EF4-FFF2-40B4-BE49-F238E27FC236}">
                  <a16:creationId xmlns:a16="http://schemas.microsoft.com/office/drawing/2014/main" id="{F9EE4707-04EC-1CCB-B853-723AE7874B6E}"/>
                </a:ext>
              </a:extLst>
            </p:cNvPr>
            <p:cNvCxnSpPr>
              <a:cxnSpLocks noChangeShapeType="1"/>
              <a:stCxn id="41" idx="5"/>
              <a:endCxn id="44" idx="1"/>
            </p:cNvCxnSpPr>
            <p:nvPr/>
          </p:nvCxnSpPr>
          <p:spPr bwMode="auto">
            <a:xfrm>
              <a:off x="2668588" y="4878388"/>
              <a:ext cx="1943100" cy="1028700"/>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 name="AutoShape 22">
              <a:extLst>
                <a:ext uri="{FF2B5EF4-FFF2-40B4-BE49-F238E27FC236}">
                  <a16:creationId xmlns:a16="http://schemas.microsoft.com/office/drawing/2014/main" id="{4F745BB2-97A7-58E2-6C68-7B0D94DB41C2}"/>
                </a:ext>
              </a:extLst>
            </p:cNvPr>
            <p:cNvCxnSpPr>
              <a:cxnSpLocks noChangeShapeType="1"/>
              <a:stCxn id="43" idx="4"/>
              <a:endCxn id="44" idx="0"/>
            </p:cNvCxnSpPr>
            <p:nvPr/>
          </p:nvCxnSpPr>
          <p:spPr bwMode="auto">
            <a:xfrm>
              <a:off x="4706938" y="4918076"/>
              <a:ext cx="0" cy="94932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9" name="AutoShape 24">
              <a:extLst>
                <a:ext uri="{FF2B5EF4-FFF2-40B4-BE49-F238E27FC236}">
                  <a16:creationId xmlns:a16="http://schemas.microsoft.com/office/drawing/2014/main" id="{CBAE2B5F-7D3F-9445-0AA3-457A26148D4F}"/>
                </a:ext>
              </a:extLst>
            </p:cNvPr>
            <p:cNvCxnSpPr>
              <a:cxnSpLocks noChangeShapeType="1"/>
              <a:stCxn id="43" idx="6"/>
              <a:endCxn id="54" idx="1"/>
            </p:cNvCxnSpPr>
            <p:nvPr/>
          </p:nvCxnSpPr>
          <p:spPr bwMode="auto">
            <a:xfrm>
              <a:off x="4841876" y="4783138"/>
              <a:ext cx="2055813" cy="1123950"/>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50" name="AutoShape 25">
              <a:extLst>
                <a:ext uri="{FF2B5EF4-FFF2-40B4-BE49-F238E27FC236}">
                  <a16:creationId xmlns:a16="http://schemas.microsoft.com/office/drawing/2014/main" id="{5EEF61C8-FD9B-F89F-A787-F01AF1BCB97A}"/>
                </a:ext>
              </a:extLst>
            </p:cNvPr>
            <p:cNvCxnSpPr>
              <a:cxnSpLocks noChangeShapeType="1"/>
              <a:stCxn id="44" idx="6"/>
              <a:endCxn id="54" idx="2"/>
            </p:cNvCxnSpPr>
            <p:nvPr/>
          </p:nvCxnSpPr>
          <p:spPr bwMode="auto">
            <a:xfrm>
              <a:off x="4841876" y="6002338"/>
              <a:ext cx="2016125" cy="0"/>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51" name="AutoShape 34">
              <a:extLst>
                <a:ext uri="{FF2B5EF4-FFF2-40B4-BE49-F238E27FC236}">
                  <a16:creationId xmlns:a16="http://schemas.microsoft.com/office/drawing/2014/main" id="{AF66E618-BE67-5232-46CC-37B515D3361A}"/>
                </a:ext>
              </a:extLst>
            </p:cNvPr>
            <p:cNvCxnSpPr>
              <a:cxnSpLocks noChangeShapeType="1"/>
              <a:stCxn id="42" idx="4"/>
              <a:endCxn id="43" idx="0"/>
            </p:cNvCxnSpPr>
            <p:nvPr/>
          </p:nvCxnSpPr>
          <p:spPr bwMode="auto">
            <a:xfrm>
              <a:off x="4706938" y="3810000"/>
              <a:ext cx="0" cy="838200"/>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52" name="Oval 38">
              <a:extLst>
                <a:ext uri="{FF2B5EF4-FFF2-40B4-BE49-F238E27FC236}">
                  <a16:creationId xmlns:a16="http://schemas.microsoft.com/office/drawing/2014/main" id="{567E15CA-C04E-5A65-14FD-065B1592F79A}"/>
                </a:ext>
              </a:extLst>
            </p:cNvPr>
            <p:cNvSpPr>
              <a:spLocks noChangeAspect="1" noChangeArrowheads="1"/>
            </p:cNvSpPr>
            <p:nvPr/>
          </p:nvSpPr>
          <p:spPr bwMode="auto">
            <a:xfrm>
              <a:off x="6858001" y="3540126"/>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d</a:t>
              </a:r>
            </a:p>
          </p:txBody>
        </p:sp>
        <p:sp>
          <p:nvSpPr>
            <p:cNvPr id="53" name="Oval 39">
              <a:extLst>
                <a:ext uri="{FF2B5EF4-FFF2-40B4-BE49-F238E27FC236}">
                  <a16:creationId xmlns:a16="http://schemas.microsoft.com/office/drawing/2014/main" id="{D2FE396A-E818-B021-FAC1-5742A1E4A61D}"/>
                </a:ext>
              </a:extLst>
            </p:cNvPr>
            <p:cNvSpPr>
              <a:spLocks noChangeAspect="1" noChangeArrowheads="1"/>
            </p:cNvSpPr>
            <p:nvPr/>
          </p:nvSpPr>
          <p:spPr bwMode="auto">
            <a:xfrm>
              <a:off x="6858001" y="46482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e</a:t>
              </a:r>
            </a:p>
          </p:txBody>
        </p:sp>
        <p:sp>
          <p:nvSpPr>
            <p:cNvPr id="54" name="Oval 40">
              <a:extLst>
                <a:ext uri="{FF2B5EF4-FFF2-40B4-BE49-F238E27FC236}">
                  <a16:creationId xmlns:a16="http://schemas.microsoft.com/office/drawing/2014/main" id="{4763253B-099B-9E8A-4DD1-DCED1AB6AB18}"/>
                </a:ext>
              </a:extLst>
            </p:cNvPr>
            <p:cNvSpPr>
              <a:spLocks noChangeAspect="1" noChangeArrowheads="1"/>
            </p:cNvSpPr>
            <p:nvPr/>
          </p:nvSpPr>
          <p:spPr bwMode="auto">
            <a:xfrm>
              <a:off x="6858001" y="58674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f</a:t>
              </a:r>
            </a:p>
          </p:txBody>
        </p:sp>
        <p:cxnSp>
          <p:nvCxnSpPr>
            <p:cNvPr id="55" name="AutoShape 41">
              <a:extLst>
                <a:ext uri="{FF2B5EF4-FFF2-40B4-BE49-F238E27FC236}">
                  <a16:creationId xmlns:a16="http://schemas.microsoft.com/office/drawing/2014/main" id="{A48FF196-D831-71CA-BA8E-988C485E5180}"/>
                </a:ext>
              </a:extLst>
            </p:cNvPr>
            <p:cNvCxnSpPr>
              <a:cxnSpLocks noChangeShapeType="1"/>
              <a:stCxn id="53" idx="4"/>
              <a:endCxn id="54" idx="0"/>
            </p:cNvCxnSpPr>
            <p:nvPr/>
          </p:nvCxnSpPr>
          <p:spPr bwMode="auto">
            <a:xfrm>
              <a:off x="6992938" y="4918076"/>
              <a:ext cx="0" cy="949325"/>
            </a:xfrm>
            <a:prstGeom prst="straightConnector1">
              <a:avLst/>
            </a:prstGeom>
            <a:noFill/>
            <a:ln w="19050">
              <a:solidFill>
                <a:schemeClr val="tx1"/>
              </a:solidFill>
              <a:round/>
              <a:headEnd type="triangle" w="lg" len="med"/>
              <a:tailEnd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56" name="AutoShape 42">
              <a:extLst>
                <a:ext uri="{FF2B5EF4-FFF2-40B4-BE49-F238E27FC236}">
                  <a16:creationId xmlns:a16="http://schemas.microsoft.com/office/drawing/2014/main" id="{93FCA86B-51B4-5295-E153-0934F343F651}"/>
                </a:ext>
              </a:extLst>
            </p:cNvPr>
            <p:cNvCxnSpPr>
              <a:cxnSpLocks noChangeShapeType="1"/>
              <a:stCxn id="52" idx="4"/>
              <a:endCxn id="53" idx="0"/>
            </p:cNvCxnSpPr>
            <p:nvPr/>
          </p:nvCxnSpPr>
          <p:spPr bwMode="auto">
            <a:xfrm>
              <a:off x="6992938" y="3810000"/>
              <a:ext cx="0" cy="838200"/>
            </a:xfrm>
            <a:prstGeom prst="straightConnector1">
              <a:avLst/>
            </a:prstGeom>
            <a:noFill/>
            <a:ln w="19050">
              <a:solidFill>
                <a:schemeClr val="tx1"/>
              </a:solidFill>
              <a:round/>
              <a:headEnd type="triangle" w="lg" len="med"/>
              <a:tailEnd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57" name="Oval 44">
              <a:extLst>
                <a:ext uri="{FF2B5EF4-FFF2-40B4-BE49-F238E27FC236}">
                  <a16:creationId xmlns:a16="http://schemas.microsoft.com/office/drawing/2014/main" id="{B70B5961-F935-1D5F-AB35-FAEF85D73D7E}"/>
                </a:ext>
              </a:extLst>
            </p:cNvPr>
            <p:cNvSpPr>
              <a:spLocks noChangeAspect="1" noChangeArrowheads="1"/>
            </p:cNvSpPr>
            <p:nvPr/>
          </p:nvSpPr>
          <p:spPr bwMode="auto">
            <a:xfrm>
              <a:off x="8953501" y="46482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t</a:t>
              </a:r>
            </a:p>
          </p:txBody>
        </p:sp>
        <p:cxnSp>
          <p:nvCxnSpPr>
            <p:cNvPr id="58" name="AutoShape 45">
              <a:extLst>
                <a:ext uri="{FF2B5EF4-FFF2-40B4-BE49-F238E27FC236}">
                  <a16:creationId xmlns:a16="http://schemas.microsoft.com/office/drawing/2014/main" id="{A074D5B2-9962-E6F6-A2E5-11502A589D6F}"/>
                </a:ext>
              </a:extLst>
            </p:cNvPr>
            <p:cNvCxnSpPr>
              <a:cxnSpLocks noChangeShapeType="1"/>
              <a:stCxn id="52" idx="6"/>
              <a:endCxn id="57" idx="1"/>
            </p:cNvCxnSpPr>
            <p:nvPr/>
          </p:nvCxnSpPr>
          <p:spPr bwMode="auto">
            <a:xfrm>
              <a:off x="7127876" y="3675064"/>
              <a:ext cx="1865313" cy="101282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59" name="AutoShape 46">
              <a:extLst>
                <a:ext uri="{FF2B5EF4-FFF2-40B4-BE49-F238E27FC236}">
                  <a16:creationId xmlns:a16="http://schemas.microsoft.com/office/drawing/2014/main" id="{2CDD3BA7-4088-BCDC-D1D0-85A3EDF22CD9}"/>
                </a:ext>
              </a:extLst>
            </p:cNvPr>
            <p:cNvCxnSpPr>
              <a:cxnSpLocks noChangeShapeType="1"/>
              <a:stCxn id="53" idx="6"/>
              <a:endCxn id="57" idx="2"/>
            </p:cNvCxnSpPr>
            <p:nvPr/>
          </p:nvCxnSpPr>
          <p:spPr bwMode="auto">
            <a:xfrm>
              <a:off x="7127876" y="4783138"/>
              <a:ext cx="1825625" cy="0"/>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60" name="AutoShape 47">
              <a:extLst>
                <a:ext uri="{FF2B5EF4-FFF2-40B4-BE49-F238E27FC236}">
                  <a16:creationId xmlns:a16="http://schemas.microsoft.com/office/drawing/2014/main" id="{6EBB11F8-4016-263C-3325-58E54F965E1F}"/>
                </a:ext>
              </a:extLst>
            </p:cNvPr>
            <p:cNvCxnSpPr>
              <a:cxnSpLocks noChangeShapeType="1"/>
              <a:stCxn id="54" idx="7"/>
              <a:endCxn id="57" idx="4"/>
            </p:cNvCxnSpPr>
            <p:nvPr/>
          </p:nvCxnSpPr>
          <p:spPr bwMode="auto">
            <a:xfrm flipV="1">
              <a:off x="7088188" y="4918076"/>
              <a:ext cx="2000250" cy="989013"/>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61" name="AutoShape 63">
              <a:extLst>
                <a:ext uri="{FF2B5EF4-FFF2-40B4-BE49-F238E27FC236}">
                  <a16:creationId xmlns:a16="http://schemas.microsoft.com/office/drawing/2014/main" id="{00D24401-5C8B-13C0-D05F-B08A8F5EEA1D}"/>
                </a:ext>
              </a:extLst>
            </p:cNvPr>
            <p:cNvCxnSpPr>
              <a:cxnSpLocks noChangeShapeType="1"/>
              <a:stCxn id="53" idx="2"/>
              <a:endCxn id="42" idx="6"/>
            </p:cNvCxnSpPr>
            <p:nvPr/>
          </p:nvCxnSpPr>
          <p:spPr bwMode="auto">
            <a:xfrm flipH="1" flipV="1">
              <a:off x="4841876" y="3675064"/>
              <a:ext cx="2016125" cy="110807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62" name="AutoShape 64">
              <a:extLst>
                <a:ext uri="{FF2B5EF4-FFF2-40B4-BE49-F238E27FC236}">
                  <a16:creationId xmlns:a16="http://schemas.microsoft.com/office/drawing/2014/main" id="{C71108AC-F44E-D862-3C24-2FE05D420096}"/>
                </a:ext>
              </a:extLst>
            </p:cNvPr>
            <p:cNvCxnSpPr>
              <a:cxnSpLocks noChangeShapeType="1"/>
              <a:stCxn id="52" idx="2"/>
              <a:endCxn id="43" idx="7"/>
            </p:cNvCxnSpPr>
            <p:nvPr/>
          </p:nvCxnSpPr>
          <p:spPr bwMode="auto">
            <a:xfrm flipH="1">
              <a:off x="4802188" y="3675064"/>
              <a:ext cx="2055812" cy="101282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grpSp>
      <p:grpSp>
        <p:nvGrpSpPr>
          <p:cNvPr id="63" name="Group 62">
            <a:extLst>
              <a:ext uri="{FF2B5EF4-FFF2-40B4-BE49-F238E27FC236}">
                <a16:creationId xmlns:a16="http://schemas.microsoft.com/office/drawing/2014/main" id="{723EFF8D-5D10-9882-B059-4C9BAC87DD53}"/>
              </a:ext>
            </a:extLst>
          </p:cNvPr>
          <p:cNvGrpSpPr/>
          <p:nvPr/>
        </p:nvGrpSpPr>
        <p:grpSpPr>
          <a:xfrm>
            <a:off x="7978748" y="1516826"/>
            <a:ext cx="4113936" cy="1301769"/>
            <a:chOff x="85793" y="4142232"/>
            <a:chExt cx="7224366" cy="2286000"/>
          </a:xfrm>
        </p:grpSpPr>
        <p:grpSp>
          <p:nvGrpSpPr>
            <p:cNvPr id="256" name="Group 255">
              <a:extLst>
                <a:ext uri="{FF2B5EF4-FFF2-40B4-BE49-F238E27FC236}">
                  <a16:creationId xmlns:a16="http://schemas.microsoft.com/office/drawing/2014/main" id="{9163AD01-80CA-14DC-CF9E-22D75180747F}"/>
                </a:ext>
              </a:extLst>
            </p:cNvPr>
            <p:cNvGrpSpPr/>
            <p:nvPr/>
          </p:nvGrpSpPr>
          <p:grpSpPr>
            <a:xfrm>
              <a:off x="1024128" y="4142232"/>
              <a:ext cx="5303520" cy="2286000"/>
              <a:chOff x="1463040" y="3429000"/>
              <a:chExt cx="5303520" cy="2286000"/>
            </a:xfrm>
          </p:grpSpPr>
          <p:grpSp>
            <p:nvGrpSpPr>
              <p:cNvPr id="263" name="Group 262">
                <a:extLst>
                  <a:ext uri="{FF2B5EF4-FFF2-40B4-BE49-F238E27FC236}">
                    <a16:creationId xmlns:a16="http://schemas.microsoft.com/office/drawing/2014/main" id="{CC0CC3A8-BCD8-5A9F-D6C7-7804275714F1}"/>
                  </a:ext>
                </a:extLst>
              </p:cNvPr>
              <p:cNvGrpSpPr>
                <a:grpSpLocks/>
              </p:cNvGrpSpPr>
              <p:nvPr/>
            </p:nvGrpSpPr>
            <p:grpSpPr>
              <a:xfrm>
                <a:off x="1463040" y="3429000"/>
                <a:ext cx="5303520" cy="2286000"/>
                <a:chOff x="2438401" y="3540126"/>
                <a:chExt cx="6784975" cy="2597150"/>
              </a:xfrm>
            </p:grpSpPr>
            <p:sp>
              <p:nvSpPr>
                <p:cNvPr id="278" name="Oval 4">
                  <a:extLst>
                    <a:ext uri="{FF2B5EF4-FFF2-40B4-BE49-F238E27FC236}">
                      <a16:creationId xmlns:a16="http://schemas.microsoft.com/office/drawing/2014/main" id="{872E6CAE-6B3C-4EFE-02D4-B0AE7370C9E0}"/>
                    </a:ext>
                  </a:extLst>
                </p:cNvPr>
                <p:cNvSpPr>
                  <a:spLocks noChangeAspect="1" noChangeArrowheads="1"/>
                </p:cNvSpPr>
                <p:nvPr/>
              </p:nvSpPr>
              <p:spPr bwMode="auto">
                <a:xfrm>
                  <a:off x="2438401" y="46482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200" b="1" dirty="0"/>
                    <a:t>s</a:t>
                  </a:r>
                </a:p>
              </p:txBody>
            </p:sp>
            <p:sp>
              <p:nvSpPr>
                <p:cNvPr id="280" name="Oval 7">
                  <a:extLst>
                    <a:ext uri="{FF2B5EF4-FFF2-40B4-BE49-F238E27FC236}">
                      <a16:creationId xmlns:a16="http://schemas.microsoft.com/office/drawing/2014/main" id="{727606F3-CD8F-ED3E-0808-97170119303A}"/>
                    </a:ext>
                  </a:extLst>
                </p:cNvPr>
                <p:cNvSpPr>
                  <a:spLocks noChangeAspect="1" noChangeArrowheads="1"/>
                </p:cNvSpPr>
                <p:nvPr/>
              </p:nvSpPr>
              <p:spPr bwMode="auto">
                <a:xfrm>
                  <a:off x="4572001" y="3540126"/>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200" b="1" dirty="0"/>
                    <a:t>a</a:t>
                  </a:r>
                </a:p>
              </p:txBody>
            </p:sp>
            <p:sp>
              <p:nvSpPr>
                <p:cNvPr id="281" name="Oval 8">
                  <a:extLst>
                    <a:ext uri="{FF2B5EF4-FFF2-40B4-BE49-F238E27FC236}">
                      <a16:creationId xmlns:a16="http://schemas.microsoft.com/office/drawing/2014/main" id="{A6360759-5B37-0839-680C-4DD40CBEE336}"/>
                    </a:ext>
                  </a:extLst>
                </p:cNvPr>
                <p:cNvSpPr>
                  <a:spLocks noChangeAspect="1" noChangeArrowheads="1"/>
                </p:cNvSpPr>
                <p:nvPr/>
              </p:nvSpPr>
              <p:spPr bwMode="auto">
                <a:xfrm>
                  <a:off x="4572001" y="46482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200" b="1" dirty="0"/>
                    <a:t>b</a:t>
                  </a:r>
                </a:p>
              </p:txBody>
            </p:sp>
            <p:sp>
              <p:nvSpPr>
                <p:cNvPr id="282" name="Oval 9">
                  <a:extLst>
                    <a:ext uri="{FF2B5EF4-FFF2-40B4-BE49-F238E27FC236}">
                      <a16:creationId xmlns:a16="http://schemas.microsoft.com/office/drawing/2014/main" id="{83AE28B9-1BC7-D9A0-14CD-D8EE27404A98}"/>
                    </a:ext>
                  </a:extLst>
                </p:cNvPr>
                <p:cNvSpPr>
                  <a:spLocks noChangeAspect="1" noChangeArrowheads="1"/>
                </p:cNvSpPr>
                <p:nvPr/>
              </p:nvSpPr>
              <p:spPr bwMode="auto">
                <a:xfrm>
                  <a:off x="4572001" y="58674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200" b="1" dirty="0"/>
                    <a:t>c</a:t>
                  </a:r>
                </a:p>
              </p:txBody>
            </p:sp>
            <p:cxnSp>
              <p:nvCxnSpPr>
                <p:cNvPr id="283" name="AutoShape 12">
                  <a:extLst>
                    <a:ext uri="{FF2B5EF4-FFF2-40B4-BE49-F238E27FC236}">
                      <a16:creationId xmlns:a16="http://schemas.microsoft.com/office/drawing/2014/main" id="{0C8435E5-105C-F9FA-F57C-0F06BD8D12ED}"/>
                    </a:ext>
                  </a:extLst>
                </p:cNvPr>
                <p:cNvCxnSpPr>
                  <a:cxnSpLocks noChangeShapeType="1"/>
                  <a:stCxn id="278" idx="7"/>
                  <a:endCxn id="280" idx="3"/>
                </p:cNvCxnSpPr>
                <p:nvPr/>
              </p:nvCxnSpPr>
              <p:spPr bwMode="auto">
                <a:xfrm flipV="1">
                  <a:off x="2668588" y="3770314"/>
                  <a:ext cx="1943100" cy="91757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284" name="AutoShape 13">
                  <a:extLst>
                    <a:ext uri="{FF2B5EF4-FFF2-40B4-BE49-F238E27FC236}">
                      <a16:creationId xmlns:a16="http://schemas.microsoft.com/office/drawing/2014/main" id="{ACE5CBAC-8304-4229-EE42-CDB2C1F250BF}"/>
                    </a:ext>
                  </a:extLst>
                </p:cNvPr>
                <p:cNvCxnSpPr>
                  <a:cxnSpLocks noChangeShapeType="1"/>
                  <a:stCxn id="278" idx="6"/>
                  <a:endCxn id="281" idx="2"/>
                </p:cNvCxnSpPr>
                <p:nvPr/>
              </p:nvCxnSpPr>
              <p:spPr bwMode="auto">
                <a:xfrm>
                  <a:off x="2708276" y="4783138"/>
                  <a:ext cx="1863725" cy="0"/>
                </a:xfrm>
                <a:prstGeom prst="straightConnector1">
                  <a:avLst/>
                </a:prstGeom>
                <a:noFill/>
                <a:ln w="3810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285" name="AutoShape 14">
                  <a:extLst>
                    <a:ext uri="{FF2B5EF4-FFF2-40B4-BE49-F238E27FC236}">
                      <a16:creationId xmlns:a16="http://schemas.microsoft.com/office/drawing/2014/main" id="{AD572F55-7FF6-5A9B-CD64-0BAFFBD8849A}"/>
                    </a:ext>
                  </a:extLst>
                </p:cNvPr>
                <p:cNvCxnSpPr>
                  <a:cxnSpLocks noChangeShapeType="1"/>
                  <a:stCxn id="278" idx="5"/>
                  <a:endCxn id="282" idx="1"/>
                </p:cNvCxnSpPr>
                <p:nvPr/>
              </p:nvCxnSpPr>
              <p:spPr bwMode="auto">
                <a:xfrm>
                  <a:off x="2668588" y="4878388"/>
                  <a:ext cx="1943100" cy="1028700"/>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286" name="AutoShape 22">
                  <a:extLst>
                    <a:ext uri="{FF2B5EF4-FFF2-40B4-BE49-F238E27FC236}">
                      <a16:creationId xmlns:a16="http://schemas.microsoft.com/office/drawing/2014/main" id="{61CCD804-D89E-A1BA-7F0F-0B47D7BC5407}"/>
                    </a:ext>
                  </a:extLst>
                </p:cNvPr>
                <p:cNvCxnSpPr>
                  <a:cxnSpLocks noChangeShapeType="1"/>
                  <a:stCxn id="281" idx="4"/>
                  <a:endCxn id="282" idx="0"/>
                </p:cNvCxnSpPr>
                <p:nvPr/>
              </p:nvCxnSpPr>
              <p:spPr bwMode="auto">
                <a:xfrm>
                  <a:off x="4706938" y="4918076"/>
                  <a:ext cx="0" cy="94932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287" name="AutoShape 24">
                  <a:extLst>
                    <a:ext uri="{FF2B5EF4-FFF2-40B4-BE49-F238E27FC236}">
                      <a16:creationId xmlns:a16="http://schemas.microsoft.com/office/drawing/2014/main" id="{EAFC6BB8-6E1A-92F2-6F86-EA3FADEE69B0}"/>
                    </a:ext>
                  </a:extLst>
                </p:cNvPr>
                <p:cNvCxnSpPr>
                  <a:cxnSpLocks noChangeShapeType="1"/>
                  <a:stCxn id="281" idx="6"/>
                  <a:endCxn id="372" idx="1"/>
                </p:cNvCxnSpPr>
                <p:nvPr/>
              </p:nvCxnSpPr>
              <p:spPr bwMode="auto">
                <a:xfrm>
                  <a:off x="4841876" y="4783138"/>
                  <a:ext cx="2055813" cy="1123950"/>
                </a:xfrm>
                <a:prstGeom prst="straightConnector1">
                  <a:avLst/>
                </a:prstGeom>
                <a:noFill/>
                <a:ln w="3810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288" name="AutoShape 25">
                  <a:extLst>
                    <a:ext uri="{FF2B5EF4-FFF2-40B4-BE49-F238E27FC236}">
                      <a16:creationId xmlns:a16="http://schemas.microsoft.com/office/drawing/2014/main" id="{B497D7EC-4987-9357-A67C-559243DC35DD}"/>
                    </a:ext>
                  </a:extLst>
                </p:cNvPr>
                <p:cNvCxnSpPr>
                  <a:cxnSpLocks noChangeShapeType="1"/>
                  <a:stCxn id="282" idx="6"/>
                  <a:endCxn id="372" idx="2"/>
                </p:cNvCxnSpPr>
                <p:nvPr/>
              </p:nvCxnSpPr>
              <p:spPr bwMode="auto">
                <a:xfrm>
                  <a:off x="4841876" y="6002338"/>
                  <a:ext cx="2016125" cy="0"/>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289" name="AutoShape 34">
                  <a:extLst>
                    <a:ext uri="{FF2B5EF4-FFF2-40B4-BE49-F238E27FC236}">
                      <a16:creationId xmlns:a16="http://schemas.microsoft.com/office/drawing/2014/main" id="{0A927B71-181E-91C3-5793-792772218669}"/>
                    </a:ext>
                  </a:extLst>
                </p:cNvPr>
                <p:cNvCxnSpPr>
                  <a:cxnSpLocks noChangeShapeType="1"/>
                  <a:stCxn id="280" idx="4"/>
                  <a:endCxn id="281" idx="0"/>
                </p:cNvCxnSpPr>
                <p:nvPr/>
              </p:nvCxnSpPr>
              <p:spPr bwMode="auto">
                <a:xfrm>
                  <a:off x="4706938" y="3810000"/>
                  <a:ext cx="0" cy="838200"/>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370" name="Oval 38">
                  <a:extLst>
                    <a:ext uri="{FF2B5EF4-FFF2-40B4-BE49-F238E27FC236}">
                      <a16:creationId xmlns:a16="http://schemas.microsoft.com/office/drawing/2014/main" id="{D2230805-1A9C-C296-B516-255F63E1EC8E}"/>
                    </a:ext>
                  </a:extLst>
                </p:cNvPr>
                <p:cNvSpPr>
                  <a:spLocks noChangeAspect="1" noChangeArrowheads="1"/>
                </p:cNvSpPr>
                <p:nvPr/>
              </p:nvSpPr>
              <p:spPr bwMode="auto">
                <a:xfrm>
                  <a:off x="6858001" y="3540126"/>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200" b="1" dirty="0"/>
                    <a:t>d</a:t>
                  </a:r>
                </a:p>
              </p:txBody>
            </p:sp>
            <p:sp>
              <p:nvSpPr>
                <p:cNvPr id="371" name="Oval 39">
                  <a:extLst>
                    <a:ext uri="{FF2B5EF4-FFF2-40B4-BE49-F238E27FC236}">
                      <a16:creationId xmlns:a16="http://schemas.microsoft.com/office/drawing/2014/main" id="{FD42ADAD-B8AA-A17C-EC15-3D2ECD8C22EF}"/>
                    </a:ext>
                  </a:extLst>
                </p:cNvPr>
                <p:cNvSpPr>
                  <a:spLocks noChangeAspect="1" noChangeArrowheads="1"/>
                </p:cNvSpPr>
                <p:nvPr/>
              </p:nvSpPr>
              <p:spPr bwMode="auto">
                <a:xfrm>
                  <a:off x="6858001" y="46482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200" b="1" dirty="0"/>
                    <a:t>e</a:t>
                  </a:r>
                </a:p>
              </p:txBody>
            </p:sp>
            <p:sp>
              <p:nvSpPr>
                <p:cNvPr id="372" name="Oval 40">
                  <a:extLst>
                    <a:ext uri="{FF2B5EF4-FFF2-40B4-BE49-F238E27FC236}">
                      <a16:creationId xmlns:a16="http://schemas.microsoft.com/office/drawing/2014/main" id="{9B6A984F-01DE-B7C1-96E6-6405C163C7D3}"/>
                    </a:ext>
                  </a:extLst>
                </p:cNvPr>
                <p:cNvSpPr>
                  <a:spLocks noChangeAspect="1" noChangeArrowheads="1"/>
                </p:cNvSpPr>
                <p:nvPr/>
              </p:nvSpPr>
              <p:spPr bwMode="auto">
                <a:xfrm>
                  <a:off x="6858001" y="58674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200" b="1" dirty="0"/>
                    <a:t>f</a:t>
                  </a:r>
                </a:p>
              </p:txBody>
            </p:sp>
            <p:cxnSp>
              <p:nvCxnSpPr>
                <p:cNvPr id="373" name="AutoShape 41">
                  <a:extLst>
                    <a:ext uri="{FF2B5EF4-FFF2-40B4-BE49-F238E27FC236}">
                      <a16:creationId xmlns:a16="http://schemas.microsoft.com/office/drawing/2014/main" id="{03947842-46E9-F644-7717-B9F6B2D7F920}"/>
                    </a:ext>
                  </a:extLst>
                </p:cNvPr>
                <p:cNvCxnSpPr>
                  <a:cxnSpLocks noChangeShapeType="1"/>
                  <a:stCxn id="371" idx="4"/>
                  <a:endCxn id="372" idx="0"/>
                </p:cNvCxnSpPr>
                <p:nvPr/>
              </p:nvCxnSpPr>
              <p:spPr bwMode="auto">
                <a:xfrm>
                  <a:off x="6992938" y="4918076"/>
                  <a:ext cx="0" cy="949325"/>
                </a:xfrm>
                <a:prstGeom prst="straightConnector1">
                  <a:avLst/>
                </a:prstGeom>
                <a:noFill/>
                <a:ln w="38100">
                  <a:solidFill>
                    <a:schemeClr val="tx1"/>
                  </a:solidFill>
                  <a:round/>
                  <a:headEnd type="triangle" w="lg" len="med"/>
                  <a:tailEnd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374" name="AutoShape 42">
                  <a:extLst>
                    <a:ext uri="{FF2B5EF4-FFF2-40B4-BE49-F238E27FC236}">
                      <a16:creationId xmlns:a16="http://schemas.microsoft.com/office/drawing/2014/main" id="{67A4702F-60C7-3949-234C-7193238F91A1}"/>
                    </a:ext>
                  </a:extLst>
                </p:cNvPr>
                <p:cNvCxnSpPr>
                  <a:cxnSpLocks noChangeShapeType="1"/>
                  <a:stCxn id="370" idx="4"/>
                  <a:endCxn id="371" idx="0"/>
                </p:cNvCxnSpPr>
                <p:nvPr/>
              </p:nvCxnSpPr>
              <p:spPr bwMode="auto">
                <a:xfrm>
                  <a:off x="6992938" y="3810000"/>
                  <a:ext cx="0" cy="838200"/>
                </a:xfrm>
                <a:prstGeom prst="straightConnector1">
                  <a:avLst/>
                </a:prstGeom>
                <a:noFill/>
                <a:ln w="19050">
                  <a:solidFill>
                    <a:schemeClr val="tx1"/>
                  </a:solidFill>
                  <a:round/>
                  <a:headEnd type="triangle" w="lg" len="med"/>
                  <a:tailEnd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375" name="Oval 44">
                  <a:extLst>
                    <a:ext uri="{FF2B5EF4-FFF2-40B4-BE49-F238E27FC236}">
                      <a16:creationId xmlns:a16="http://schemas.microsoft.com/office/drawing/2014/main" id="{35E8AEBA-C0C2-0D07-5D8A-3112123C2906}"/>
                    </a:ext>
                  </a:extLst>
                </p:cNvPr>
                <p:cNvSpPr>
                  <a:spLocks noChangeAspect="1" noChangeArrowheads="1"/>
                </p:cNvSpPr>
                <p:nvPr/>
              </p:nvSpPr>
              <p:spPr bwMode="auto">
                <a:xfrm>
                  <a:off x="8953501" y="46482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200" b="1"/>
                    <a:t>t</a:t>
                  </a:r>
                </a:p>
              </p:txBody>
            </p:sp>
            <p:cxnSp>
              <p:nvCxnSpPr>
                <p:cNvPr id="376" name="AutoShape 45">
                  <a:extLst>
                    <a:ext uri="{FF2B5EF4-FFF2-40B4-BE49-F238E27FC236}">
                      <a16:creationId xmlns:a16="http://schemas.microsoft.com/office/drawing/2014/main" id="{687CACBE-6607-6229-3A5D-74FB96682C9B}"/>
                    </a:ext>
                  </a:extLst>
                </p:cNvPr>
                <p:cNvCxnSpPr>
                  <a:cxnSpLocks noChangeShapeType="1"/>
                  <a:stCxn id="370" idx="6"/>
                  <a:endCxn id="375" idx="1"/>
                </p:cNvCxnSpPr>
                <p:nvPr/>
              </p:nvCxnSpPr>
              <p:spPr bwMode="auto">
                <a:xfrm>
                  <a:off x="7127876" y="3675064"/>
                  <a:ext cx="1865313" cy="101282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377" name="AutoShape 46">
                  <a:extLst>
                    <a:ext uri="{FF2B5EF4-FFF2-40B4-BE49-F238E27FC236}">
                      <a16:creationId xmlns:a16="http://schemas.microsoft.com/office/drawing/2014/main" id="{F7F6EF43-ED60-1F60-CAD8-083CDE087411}"/>
                    </a:ext>
                  </a:extLst>
                </p:cNvPr>
                <p:cNvCxnSpPr>
                  <a:cxnSpLocks noChangeShapeType="1"/>
                  <a:stCxn id="371" idx="6"/>
                  <a:endCxn id="375" idx="2"/>
                </p:cNvCxnSpPr>
                <p:nvPr/>
              </p:nvCxnSpPr>
              <p:spPr bwMode="auto">
                <a:xfrm>
                  <a:off x="7127876" y="4783138"/>
                  <a:ext cx="1825625" cy="0"/>
                </a:xfrm>
                <a:prstGeom prst="straightConnector1">
                  <a:avLst/>
                </a:prstGeom>
                <a:noFill/>
                <a:ln w="3810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378" name="AutoShape 47">
                  <a:extLst>
                    <a:ext uri="{FF2B5EF4-FFF2-40B4-BE49-F238E27FC236}">
                      <a16:creationId xmlns:a16="http://schemas.microsoft.com/office/drawing/2014/main" id="{A2D0DFB9-6C0C-3446-6290-64C55C8AC1F3}"/>
                    </a:ext>
                  </a:extLst>
                </p:cNvPr>
                <p:cNvCxnSpPr>
                  <a:cxnSpLocks noChangeShapeType="1"/>
                  <a:stCxn id="372" idx="7"/>
                  <a:endCxn id="375" idx="4"/>
                </p:cNvCxnSpPr>
                <p:nvPr/>
              </p:nvCxnSpPr>
              <p:spPr bwMode="auto">
                <a:xfrm flipV="1">
                  <a:off x="7088188" y="4918076"/>
                  <a:ext cx="2000250" cy="989013"/>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379" name="AutoShape 63">
                  <a:extLst>
                    <a:ext uri="{FF2B5EF4-FFF2-40B4-BE49-F238E27FC236}">
                      <a16:creationId xmlns:a16="http://schemas.microsoft.com/office/drawing/2014/main" id="{77B9F2A2-975B-66F6-FDB3-AC954D681471}"/>
                    </a:ext>
                  </a:extLst>
                </p:cNvPr>
                <p:cNvCxnSpPr>
                  <a:cxnSpLocks noChangeShapeType="1"/>
                  <a:stCxn id="371" idx="2"/>
                  <a:endCxn id="280" idx="6"/>
                </p:cNvCxnSpPr>
                <p:nvPr/>
              </p:nvCxnSpPr>
              <p:spPr bwMode="auto">
                <a:xfrm flipH="1" flipV="1">
                  <a:off x="4841876" y="3675064"/>
                  <a:ext cx="2016125" cy="110807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380" name="AutoShape 64">
                  <a:extLst>
                    <a:ext uri="{FF2B5EF4-FFF2-40B4-BE49-F238E27FC236}">
                      <a16:creationId xmlns:a16="http://schemas.microsoft.com/office/drawing/2014/main" id="{6D0A2F5B-8E84-1237-5443-3EEED0C90D0F}"/>
                    </a:ext>
                  </a:extLst>
                </p:cNvPr>
                <p:cNvCxnSpPr>
                  <a:cxnSpLocks noChangeShapeType="1"/>
                  <a:stCxn id="370" idx="2"/>
                  <a:endCxn id="281" idx="7"/>
                </p:cNvCxnSpPr>
                <p:nvPr/>
              </p:nvCxnSpPr>
              <p:spPr bwMode="auto">
                <a:xfrm flipH="1">
                  <a:off x="4802188" y="3675064"/>
                  <a:ext cx="2055812" cy="101282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grpSp>
          <p:sp>
            <p:nvSpPr>
              <p:cNvPr id="264" name="Text Box 17">
                <a:extLst>
                  <a:ext uri="{FF2B5EF4-FFF2-40B4-BE49-F238E27FC236}">
                    <a16:creationId xmlns:a16="http://schemas.microsoft.com/office/drawing/2014/main" id="{9003D965-5F79-5FEA-41A2-62E1CE7D7449}"/>
                  </a:ext>
                </a:extLst>
              </p:cNvPr>
              <p:cNvSpPr txBox="1">
                <a:spLocks noChangeArrowheads="1"/>
              </p:cNvSpPr>
              <p:nvPr/>
            </p:nvSpPr>
            <p:spPr bwMode="auto">
              <a:xfrm>
                <a:off x="2355196" y="3666542"/>
                <a:ext cx="284052" cy="307777"/>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sz="1400" dirty="0"/>
                  <a:t>1</a:t>
                </a:r>
              </a:p>
            </p:txBody>
          </p:sp>
          <p:sp>
            <p:nvSpPr>
              <p:cNvPr id="265" name="Text Box 17">
                <a:extLst>
                  <a:ext uri="{FF2B5EF4-FFF2-40B4-BE49-F238E27FC236}">
                    <a16:creationId xmlns:a16="http://schemas.microsoft.com/office/drawing/2014/main" id="{9651A339-6CBF-943D-EDE3-9323B7F2F929}"/>
                  </a:ext>
                </a:extLst>
              </p:cNvPr>
              <p:cNvSpPr txBox="1">
                <a:spLocks noChangeArrowheads="1"/>
              </p:cNvSpPr>
              <p:nvPr/>
            </p:nvSpPr>
            <p:spPr bwMode="auto">
              <a:xfrm>
                <a:off x="2345663" y="4264043"/>
                <a:ext cx="284052" cy="307777"/>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sz="1400" dirty="0"/>
                  <a:t>1</a:t>
                </a:r>
              </a:p>
            </p:txBody>
          </p:sp>
          <p:sp>
            <p:nvSpPr>
              <p:cNvPr id="266" name="Text Box 17">
                <a:extLst>
                  <a:ext uri="{FF2B5EF4-FFF2-40B4-BE49-F238E27FC236}">
                    <a16:creationId xmlns:a16="http://schemas.microsoft.com/office/drawing/2014/main" id="{6671A4E4-E529-6CCA-E79B-6D4E72674B79}"/>
                  </a:ext>
                </a:extLst>
              </p:cNvPr>
              <p:cNvSpPr txBox="1">
                <a:spLocks noChangeArrowheads="1"/>
              </p:cNvSpPr>
              <p:nvPr/>
            </p:nvSpPr>
            <p:spPr bwMode="auto">
              <a:xfrm>
                <a:off x="2355196" y="4896476"/>
                <a:ext cx="284052" cy="307777"/>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sz="1400" dirty="0"/>
                  <a:t>1</a:t>
                </a:r>
              </a:p>
            </p:txBody>
          </p:sp>
          <p:sp>
            <p:nvSpPr>
              <p:cNvPr id="267" name="Text Box 17">
                <a:extLst>
                  <a:ext uri="{FF2B5EF4-FFF2-40B4-BE49-F238E27FC236}">
                    <a16:creationId xmlns:a16="http://schemas.microsoft.com/office/drawing/2014/main" id="{FC4628CC-1D82-307B-3B27-CF32DA1F94DA}"/>
                  </a:ext>
                </a:extLst>
              </p:cNvPr>
              <p:cNvSpPr txBox="1">
                <a:spLocks noChangeArrowheads="1"/>
              </p:cNvSpPr>
              <p:nvPr/>
            </p:nvSpPr>
            <p:spPr bwMode="auto">
              <a:xfrm>
                <a:off x="4355039" y="4042381"/>
                <a:ext cx="284052" cy="307777"/>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sz="1400" dirty="0"/>
                  <a:t>1</a:t>
                </a:r>
              </a:p>
            </p:txBody>
          </p:sp>
          <p:sp>
            <p:nvSpPr>
              <p:cNvPr id="268" name="Text Box 17">
                <a:extLst>
                  <a:ext uri="{FF2B5EF4-FFF2-40B4-BE49-F238E27FC236}">
                    <a16:creationId xmlns:a16="http://schemas.microsoft.com/office/drawing/2014/main" id="{FE67B4EF-F2C3-91AC-BA0B-173E06845EDC}"/>
                  </a:ext>
                </a:extLst>
              </p:cNvPr>
              <p:cNvSpPr txBox="1">
                <a:spLocks noChangeArrowheads="1"/>
              </p:cNvSpPr>
              <p:nvPr/>
            </p:nvSpPr>
            <p:spPr bwMode="auto">
              <a:xfrm>
                <a:off x="4324017" y="3526735"/>
                <a:ext cx="284052" cy="307777"/>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sz="1400" dirty="0"/>
                  <a:t>1</a:t>
                </a:r>
              </a:p>
            </p:txBody>
          </p:sp>
          <p:sp>
            <p:nvSpPr>
              <p:cNvPr id="269" name="Text Box 17">
                <a:extLst>
                  <a:ext uri="{FF2B5EF4-FFF2-40B4-BE49-F238E27FC236}">
                    <a16:creationId xmlns:a16="http://schemas.microsoft.com/office/drawing/2014/main" id="{118E4175-EE78-2C93-A30A-5E967759155D}"/>
                  </a:ext>
                </a:extLst>
              </p:cNvPr>
              <p:cNvSpPr txBox="1">
                <a:spLocks noChangeArrowheads="1"/>
              </p:cNvSpPr>
              <p:nvPr/>
            </p:nvSpPr>
            <p:spPr bwMode="auto">
              <a:xfrm>
                <a:off x="3073537" y="3798492"/>
                <a:ext cx="284052" cy="307777"/>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sz="1400" dirty="0"/>
                  <a:t>1</a:t>
                </a:r>
              </a:p>
            </p:txBody>
          </p:sp>
          <p:sp>
            <p:nvSpPr>
              <p:cNvPr id="270" name="Text Box 17">
                <a:extLst>
                  <a:ext uri="{FF2B5EF4-FFF2-40B4-BE49-F238E27FC236}">
                    <a16:creationId xmlns:a16="http://schemas.microsoft.com/office/drawing/2014/main" id="{0D60F6E3-5E02-2D8F-62CC-C83AF66BD8EA}"/>
                  </a:ext>
                </a:extLst>
              </p:cNvPr>
              <p:cNvSpPr txBox="1">
                <a:spLocks noChangeArrowheads="1"/>
              </p:cNvSpPr>
              <p:nvPr/>
            </p:nvSpPr>
            <p:spPr bwMode="auto">
              <a:xfrm>
                <a:off x="3073537" y="4788451"/>
                <a:ext cx="284052" cy="307777"/>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sz="1400" dirty="0"/>
                  <a:t>1</a:t>
                </a:r>
              </a:p>
            </p:txBody>
          </p:sp>
          <p:sp>
            <p:nvSpPr>
              <p:cNvPr id="271" name="Text Box 17">
                <a:extLst>
                  <a:ext uri="{FF2B5EF4-FFF2-40B4-BE49-F238E27FC236}">
                    <a16:creationId xmlns:a16="http://schemas.microsoft.com/office/drawing/2014/main" id="{FF75A881-D275-0EBC-B08F-F8655945E9E2}"/>
                  </a:ext>
                </a:extLst>
              </p:cNvPr>
              <p:cNvSpPr txBox="1">
                <a:spLocks noChangeArrowheads="1"/>
              </p:cNvSpPr>
              <p:nvPr/>
            </p:nvSpPr>
            <p:spPr bwMode="auto">
              <a:xfrm>
                <a:off x="3951172" y="5355872"/>
                <a:ext cx="284052" cy="307777"/>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sz="1400" dirty="0"/>
                  <a:t>1</a:t>
                </a:r>
              </a:p>
            </p:txBody>
          </p:sp>
          <p:sp>
            <p:nvSpPr>
              <p:cNvPr id="272" name="Text Box 17">
                <a:extLst>
                  <a:ext uri="{FF2B5EF4-FFF2-40B4-BE49-F238E27FC236}">
                    <a16:creationId xmlns:a16="http://schemas.microsoft.com/office/drawing/2014/main" id="{F20ABB3D-C5D4-9E3E-1C2F-6ADFB903B001}"/>
                  </a:ext>
                </a:extLst>
              </p:cNvPr>
              <p:cNvSpPr txBox="1">
                <a:spLocks noChangeArrowheads="1"/>
              </p:cNvSpPr>
              <p:nvPr/>
            </p:nvSpPr>
            <p:spPr bwMode="auto">
              <a:xfrm>
                <a:off x="3948485" y="4788450"/>
                <a:ext cx="284052" cy="307777"/>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sz="1400" dirty="0"/>
                  <a:t>1</a:t>
                </a:r>
              </a:p>
            </p:txBody>
          </p:sp>
          <p:sp>
            <p:nvSpPr>
              <p:cNvPr id="273" name="Text Box 17">
                <a:extLst>
                  <a:ext uri="{FF2B5EF4-FFF2-40B4-BE49-F238E27FC236}">
                    <a16:creationId xmlns:a16="http://schemas.microsoft.com/office/drawing/2014/main" id="{CDF81F40-1407-014F-9543-C87F35EC63C2}"/>
                  </a:ext>
                </a:extLst>
              </p:cNvPr>
              <p:cNvSpPr txBox="1">
                <a:spLocks noChangeArrowheads="1"/>
              </p:cNvSpPr>
              <p:nvPr/>
            </p:nvSpPr>
            <p:spPr bwMode="auto">
              <a:xfrm>
                <a:off x="4857385" y="4828815"/>
                <a:ext cx="284052" cy="307777"/>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sz="1400" dirty="0"/>
                  <a:t>1</a:t>
                </a:r>
              </a:p>
            </p:txBody>
          </p:sp>
          <p:sp>
            <p:nvSpPr>
              <p:cNvPr id="274" name="Text Box 17">
                <a:extLst>
                  <a:ext uri="{FF2B5EF4-FFF2-40B4-BE49-F238E27FC236}">
                    <a16:creationId xmlns:a16="http://schemas.microsoft.com/office/drawing/2014/main" id="{721E7479-C8E8-F136-F1FC-97D282D84EE6}"/>
                  </a:ext>
                </a:extLst>
              </p:cNvPr>
              <p:cNvSpPr txBox="1">
                <a:spLocks noChangeArrowheads="1"/>
              </p:cNvSpPr>
              <p:nvPr/>
            </p:nvSpPr>
            <p:spPr bwMode="auto">
              <a:xfrm>
                <a:off x="4857385" y="3818113"/>
                <a:ext cx="284052" cy="307777"/>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sz="1400" dirty="0"/>
                  <a:t>1</a:t>
                </a:r>
              </a:p>
            </p:txBody>
          </p:sp>
          <p:sp>
            <p:nvSpPr>
              <p:cNvPr id="275" name="Text Box 17">
                <a:extLst>
                  <a:ext uri="{FF2B5EF4-FFF2-40B4-BE49-F238E27FC236}">
                    <a16:creationId xmlns:a16="http://schemas.microsoft.com/office/drawing/2014/main" id="{3E876322-7346-19B5-2C8F-36643DF63107}"/>
                  </a:ext>
                </a:extLst>
              </p:cNvPr>
              <p:cNvSpPr txBox="1">
                <a:spLocks noChangeArrowheads="1"/>
              </p:cNvSpPr>
              <p:nvPr/>
            </p:nvSpPr>
            <p:spPr bwMode="auto">
              <a:xfrm>
                <a:off x="5574496" y="3666542"/>
                <a:ext cx="284052" cy="307777"/>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sz="1400" dirty="0"/>
                  <a:t>1</a:t>
                </a:r>
              </a:p>
            </p:txBody>
          </p:sp>
          <p:sp>
            <p:nvSpPr>
              <p:cNvPr id="276" name="Text Box 17">
                <a:extLst>
                  <a:ext uri="{FF2B5EF4-FFF2-40B4-BE49-F238E27FC236}">
                    <a16:creationId xmlns:a16="http://schemas.microsoft.com/office/drawing/2014/main" id="{626151DA-5D8B-E510-E3F6-F0A547E53B3F}"/>
                  </a:ext>
                </a:extLst>
              </p:cNvPr>
              <p:cNvSpPr txBox="1">
                <a:spLocks noChangeArrowheads="1"/>
              </p:cNvSpPr>
              <p:nvPr/>
            </p:nvSpPr>
            <p:spPr bwMode="auto">
              <a:xfrm>
                <a:off x="5574496" y="4299301"/>
                <a:ext cx="284052" cy="307777"/>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sz="1400" dirty="0"/>
                  <a:t>1</a:t>
                </a:r>
              </a:p>
            </p:txBody>
          </p:sp>
          <p:sp>
            <p:nvSpPr>
              <p:cNvPr id="277" name="Text Box 17">
                <a:extLst>
                  <a:ext uri="{FF2B5EF4-FFF2-40B4-BE49-F238E27FC236}">
                    <a16:creationId xmlns:a16="http://schemas.microsoft.com/office/drawing/2014/main" id="{D2D0E60A-95BE-CABE-C3A3-6A0BEC6F2EFF}"/>
                  </a:ext>
                </a:extLst>
              </p:cNvPr>
              <p:cNvSpPr txBox="1">
                <a:spLocks noChangeArrowheads="1"/>
              </p:cNvSpPr>
              <p:nvPr/>
            </p:nvSpPr>
            <p:spPr bwMode="auto">
              <a:xfrm>
                <a:off x="5574496" y="4932060"/>
                <a:ext cx="284052" cy="307777"/>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sz="1400" dirty="0"/>
                  <a:t>1</a:t>
                </a:r>
              </a:p>
            </p:txBody>
          </p:sp>
        </p:grpSp>
        <mc:AlternateContent xmlns:mc="http://schemas.openxmlformats.org/markup-compatibility/2006">
          <mc:Choice xmlns:a14="http://schemas.microsoft.com/office/drawing/2010/main" Requires="a14">
            <p:sp>
              <p:nvSpPr>
                <p:cNvPr id="257" name="Oval 256">
                  <a:extLst>
                    <a:ext uri="{FF2B5EF4-FFF2-40B4-BE49-F238E27FC236}">
                      <a16:creationId xmlns:a16="http://schemas.microsoft.com/office/drawing/2014/main" id="{38D7837C-05BB-F70A-F8F0-57BFED8DC793}"/>
                    </a:ext>
                  </a:extLst>
                </p:cNvPr>
                <p:cNvSpPr>
                  <a:spLocks noChangeAspect="1" noChangeArrowheads="1"/>
                </p:cNvSpPr>
                <p:nvPr/>
              </p:nvSpPr>
              <p:spPr bwMode="auto">
                <a:xfrm>
                  <a:off x="85793" y="5100796"/>
                  <a:ext cx="240715" cy="271060"/>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a:effectLst>
                        <a:outerShdw dist="35921" dir="2700000" algn="ctr" rotWithShape="0">
                          <a:srgbClr val="808080"/>
                        </a:outerShdw>
                      </a:effectLst>
                    </a14:hiddenEffects>
                  </a:ext>
                </a:extLst>
              </p:spPr>
              <p:txBody>
                <a:bodyPr wrap="none" lIns="92075" tIns="46038" rIns="92075" bIns="46038" anchor="ctr"/>
                <a:lstStyle/>
                <a:p>
                  <a:pPr algn="ctr"/>
                  <a14:m>
                    <m:oMathPara xmlns:m="http://schemas.openxmlformats.org/officeDocument/2006/math">
                      <m:oMathParaPr>
                        <m:jc m:val="centerGroup"/>
                      </m:oMathParaPr>
                      <m:oMath xmlns:m="http://schemas.openxmlformats.org/officeDocument/2006/math">
                        <m:r>
                          <a:rPr lang="en-US" altLang="en-US" sz="1200" b="1" i="1" smtClean="0">
                            <a:latin typeface="Cambria Math" panose="02040503050406030204" pitchFamily="18" charset="0"/>
                          </a:rPr>
                          <m:t>𝒔</m:t>
                        </m:r>
                        <m:r>
                          <a:rPr lang="en-US" altLang="en-US" sz="1200" b="1" i="1" smtClean="0">
                            <a:latin typeface="Cambria Math" panose="02040503050406030204" pitchFamily="18" charset="0"/>
                          </a:rPr>
                          <m:t>′</m:t>
                        </m:r>
                      </m:oMath>
                    </m:oMathPara>
                  </a14:m>
                  <a:endParaRPr lang="en-US" altLang="en-US" sz="1200" b="1" dirty="0"/>
                </a:p>
              </p:txBody>
            </p:sp>
          </mc:Choice>
          <mc:Fallback>
            <p:sp>
              <p:nvSpPr>
                <p:cNvPr id="257" name="Oval 256">
                  <a:extLst>
                    <a:ext uri="{FF2B5EF4-FFF2-40B4-BE49-F238E27FC236}">
                      <a16:creationId xmlns:a16="http://schemas.microsoft.com/office/drawing/2014/main" id="{38D7837C-05BB-F70A-F8F0-57BFED8DC793}"/>
                    </a:ext>
                  </a:extLst>
                </p:cNvPr>
                <p:cNvSpPr>
                  <a:spLocks noRot="1" noChangeAspect="1" noMove="1" noResize="1" noEditPoints="1" noAdjustHandles="1" noChangeArrowheads="1" noChangeShapeType="1" noTextEdit="1"/>
                </p:cNvSpPr>
                <p:nvPr/>
              </p:nvSpPr>
              <p:spPr bwMode="auto">
                <a:xfrm>
                  <a:off x="85793" y="5100796"/>
                  <a:ext cx="240715" cy="271060"/>
                </a:xfrm>
                <a:prstGeom prst="ellipse">
                  <a:avLst/>
                </a:prstGeom>
                <a:blipFill>
                  <a:blip r:embed="rId3"/>
                  <a:stretch>
                    <a:fillRect l="-41667" t="-7143" r="-20833" b="-14286"/>
                  </a:stretch>
                </a:blip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58" name="Oval 4">
                  <a:extLst>
                    <a:ext uri="{FF2B5EF4-FFF2-40B4-BE49-F238E27FC236}">
                      <a16:creationId xmlns:a16="http://schemas.microsoft.com/office/drawing/2014/main" id="{FA775040-C5A1-3B87-504F-265B24A4E92A}"/>
                    </a:ext>
                  </a:extLst>
                </p:cNvPr>
                <p:cNvSpPr>
                  <a:spLocks noChangeAspect="1" noChangeArrowheads="1"/>
                </p:cNvSpPr>
                <p:nvPr/>
              </p:nvSpPr>
              <p:spPr bwMode="auto">
                <a:xfrm>
                  <a:off x="7081655" y="5114546"/>
                  <a:ext cx="228504" cy="257310"/>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a:effectLst>
                        <a:outerShdw dist="35921" dir="2700000" algn="ctr" rotWithShape="0">
                          <a:srgbClr val="808080"/>
                        </a:outerShdw>
                      </a:effectLst>
                    </a14:hiddenEffects>
                  </a:ext>
                </a:extLst>
              </p:spPr>
              <p:txBody>
                <a:bodyPr wrap="none" lIns="92075" tIns="46038" rIns="92075" bIns="46038" anchor="ctr"/>
                <a:lstStyle/>
                <a:p>
                  <a:pPr algn="ctr"/>
                  <a14:m>
                    <m:oMathPara xmlns:m="http://schemas.openxmlformats.org/officeDocument/2006/math">
                      <m:oMathParaPr>
                        <m:jc m:val="centerGroup"/>
                      </m:oMathParaPr>
                      <m:oMath xmlns:m="http://schemas.openxmlformats.org/officeDocument/2006/math">
                        <m:r>
                          <a:rPr lang="en-US" altLang="en-US" sz="1200" b="1" i="1" smtClean="0">
                            <a:latin typeface="Cambria Math" panose="02040503050406030204" pitchFamily="18" charset="0"/>
                          </a:rPr>
                          <m:t>𝒕</m:t>
                        </m:r>
                        <m:r>
                          <a:rPr lang="en-US" altLang="en-US" sz="1200" b="1" i="1" smtClean="0">
                            <a:latin typeface="Cambria Math" panose="02040503050406030204" pitchFamily="18" charset="0"/>
                          </a:rPr>
                          <m:t>′</m:t>
                        </m:r>
                      </m:oMath>
                    </m:oMathPara>
                  </a14:m>
                  <a:endParaRPr lang="en-US" altLang="en-US" sz="1200" b="1" dirty="0"/>
                </a:p>
              </p:txBody>
            </p:sp>
          </mc:Choice>
          <mc:Fallback>
            <p:sp>
              <p:nvSpPr>
                <p:cNvPr id="258" name="Oval 4">
                  <a:extLst>
                    <a:ext uri="{FF2B5EF4-FFF2-40B4-BE49-F238E27FC236}">
                      <a16:creationId xmlns:a16="http://schemas.microsoft.com/office/drawing/2014/main" id="{FA775040-C5A1-3B87-504F-265B24A4E92A}"/>
                    </a:ext>
                  </a:extLst>
                </p:cNvPr>
                <p:cNvSpPr>
                  <a:spLocks noRot="1" noChangeAspect="1" noMove="1" noResize="1" noEditPoints="1" noAdjustHandles="1" noChangeArrowheads="1" noChangeShapeType="1" noTextEdit="1"/>
                </p:cNvSpPr>
                <p:nvPr/>
              </p:nvSpPr>
              <p:spPr bwMode="auto">
                <a:xfrm>
                  <a:off x="7081655" y="5114546"/>
                  <a:ext cx="228504" cy="257310"/>
                </a:xfrm>
                <a:prstGeom prst="ellipse">
                  <a:avLst/>
                </a:prstGeom>
                <a:blipFill>
                  <a:blip r:embed="rId4"/>
                  <a:stretch>
                    <a:fillRect l="-37500" t="-15385" r="-12500" b="-19231"/>
                  </a:stretch>
                </a:blip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r>
                    <a:rPr lang="en-US">
                      <a:noFill/>
                    </a:rPr>
                    <a:t> </a:t>
                  </a:r>
                </a:p>
              </p:txBody>
            </p:sp>
          </mc:Fallback>
        </mc:AlternateContent>
        <p:cxnSp>
          <p:nvCxnSpPr>
            <p:cNvPr id="259" name="AutoShape 12">
              <a:extLst>
                <a:ext uri="{FF2B5EF4-FFF2-40B4-BE49-F238E27FC236}">
                  <a16:creationId xmlns:a16="http://schemas.microsoft.com/office/drawing/2014/main" id="{218DF9A8-2636-19CC-7A3E-DFAA5CB17808}"/>
                </a:ext>
              </a:extLst>
            </p:cNvPr>
            <p:cNvCxnSpPr>
              <a:cxnSpLocks noChangeShapeType="1"/>
              <a:stCxn id="257" idx="6"/>
              <a:endCxn id="278" idx="2"/>
            </p:cNvCxnSpPr>
            <p:nvPr/>
          </p:nvCxnSpPr>
          <p:spPr bwMode="auto">
            <a:xfrm>
              <a:off x="326508" y="5236326"/>
              <a:ext cx="697620" cy="1"/>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260" name="AutoShape 12">
              <a:extLst>
                <a:ext uri="{FF2B5EF4-FFF2-40B4-BE49-F238E27FC236}">
                  <a16:creationId xmlns:a16="http://schemas.microsoft.com/office/drawing/2014/main" id="{D21A3568-A910-34D6-B1BA-F47CA295CB01}"/>
                </a:ext>
              </a:extLst>
            </p:cNvPr>
            <p:cNvCxnSpPr>
              <a:cxnSpLocks noChangeShapeType="1"/>
              <a:stCxn id="375" idx="6"/>
              <a:endCxn id="258" idx="2"/>
            </p:cNvCxnSpPr>
            <p:nvPr/>
          </p:nvCxnSpPr>
          <p:spPr bwMode="auto">
            <a:xfrm>
              <a:off x="6327648" y="5236327"/>
              <a:ext cx="754007" cy="6874"/>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mc:AlternateContent xmlns:mc="http://schemas.openxmlformats.org/markup-compatibility/2006">
          <mc:Choice xmlns:a14="http://schemas.microsoft.com/office/drawing/2010/main" Requires="a14">
            <p:sp>
              <p:nvSpPr>
                <p:cNvPr id="261" name="Text Box 17">
                  <a:extLst>
                    <a:ext uri="{FF2B5EF4-FFF2-40B4-BE49-F238E27FC236}">
                      <a16:creationId xmlns:a16="http://schemas.microsoft.com/office/drawing/2014/main" id="{108D7CB0-0779-BEAD-4CED-4ECA9BD9D595}"/>
                    </a:ext>
                  </a:extLst>
                </p:cNvPr>
                <p:cNvSpPr txBox="1">
                  <a:spLocks noChangeArrowheads="1"/>
                </p:cNvSpPr>
                <p:nvPr/>
              </p:nvSpPr>
              <p:spPr bwMode="auto">
                <a:xfrm>
                  <a:off x="413952" y="5012533"/>
                  <a:ext cx="388120" cy="307777"/>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14:m>
                    <m:oMathPara xmlns:m="http://schemas.openxmlformats.org/officeDocument/2006/math">
                      <m:oMathParaPr>
                        <m:jc m:val="centerGroup"/>
                      </m:oMathParaPr>
                      <m:oMath xmlns:m="http://schemas.openxmlformats.org/officeDocument/2006/math">
                        <m:r>
                          <a:rPr lang="en-US" altLang="en-US" sz="1400" b="0" i="1" smtClean="0">
                            <a:latin typeface="Cambria Math" panose="02040503050406030204" pitchFamily="18" charset="0"/>
                          </a:rPr>
                          <m:t>𝑚</m:t>
                        </m:r>
                      </m:oMath>
                    </m:oMathPara>
                  </a14:m>
                  <a:endParaRPr lang="en-US" altLang="en-US" sz="1400" dirty="0"/>
                </a:p>
              </p:txBody>
            </p:sp>
          </mc:Choice>
          <mc:Fallback>
            <p:sp>
              <p:nvSpPr>
                <p:cNvPr id="261" name="Text Box 17">
                  <a:extLst>
                    <a:ext uri="{FF2B5EF4-FFF2-40B4-BE49-F238E27FC236}">
                      <a16:creationId xmlns:a16="http://schemas.microsoft.com/office/drawing/2014/main" id="{108D7CB0-0779-BEAD-4CED-4ECA9BD9D595}"/>
                    </a:ext>
                  </a:extLst>
                </p:cNvPr>
                <p:cNvSpPr txBox="1">
                  <a:spLocks noRot="1" noChangeAspect="1" noMove="1" noResize="1" noEditPoints="1" noAdjustHandles="1" noChangeArrowheads="1" noChangeShapeType="1" noTextEdit="1"/>
                </p:cNvSpPr>
                <p:nvPr/>
              </p:nvSpPr>
              <p:spPr bwMode="auto">
                <a:xfrm>
                  <a:off x="413952" y="5012533"/>
                  <a:ext cx="388120" cy="307777"/>
                </a:xfrm>
                <a:prstGeom prst="rect">
                  <a:avLst/>
                </a:prstGeom>
                <a:blipFill>
                  <a:blip r:embed="rId5"/>
                  <a:stretch>
                    <a:fillRect r="-27778" b="-48276"/>
                  </a:stretch>
                </a:blipFill>
                <a:ln>
                  <a:noFill/>
                </a:ln>
                <a:effec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62" name="Text Box 17">
                  <a:extLst>
                    <a:ext uri="{FF2B5EF4-FFF2-40B4-BE49-F238E27FC236}">
                      <a16:creationId xmlns:a16="http://schemas.microsoft.com/office/drawing/2014/main" id="{7A7657FD-5E1A-5A9E-1B70-EB7E4B5E3455}"/>
                    </a:ext>
                  </a:extLst>
                </p:cNvPr>
                <p:cNvSpPr txBox="1">
                  <a:spLocks noChangeArrowheads="1"/>
                </p:cNvSpPr>
                <p:nvPr/>
              </p:nvSpPr>
              <p:spPr bwMode="auto">
                <a:xfrm>
                  <a:off x="6451303" y="5024580"/>
                  <a:ext cx="388120" cy="307777"/>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14:m>
                    <m:oMathPara xmlns:m="http://schemas.openxmlformats.org/officeDocument/2006/math">
                      <m:oMathParaPr>
                        <m:jc m:val="centerGroup"/>
                      </m:oMathParaPr>
                      <m:oMath xmlns:m="http://schemas.openxmlformats.org/officeDocument/2006/math">
                        <m:r>
                          <a:rPr lang="en-US" altLang="en-US" sz="1400" b="0" i="1" smtClean="0">
                            <a:latin typeface="Cambria Math" panose="02040503050406030204" pitchFamily="18" charset="0"/>
                          </a:rPr>
                          <m:t>𝑚</m:t>
                        </m:r>
                      </m:oMath>
                    </m:oMathPara>
                  </a14:m>
                  <a:endParaRPr lang="en-US" altLang="en-US" sz="1400" dirty="0"/>
                </a:p>
              </p:txBody>
            </p:sp>
          </mc:Choice>
          <mc:Fallback>
            <p:sp>
              <p:nvSpPr>
                <p:cNvPr id="262" name="Text Box 17">
                  <a:extLst>
                    <a:ext uri="{FF2B5EF4-FFF2-40B4-BE49-F238E27FC236}">
                      <a16:creationId xmlns:a16="http://schemas.microsoft.com/office/drawing/2014/main" id="{7A7657FD-5E1A-5A9E-1B70-EB7E4B5E3455}"/>
                    </a:ext>
                  </a:extLst>
                </p:cNvPr>
                <p:cNvSpPr txBox="1">
                  <a:spLocks noRot="1" noChangeAspect="1" noMove="1" noResize="1" noEditPoints="1" noAdjustHandles="1" noChangeArrowheads="1" noChangeShapeType="1" noTextEdit="1"/>
                </p:cNvSpPr>
                <p:nvPr/>
              </p:nvSpPr>
              <p:spPr bwMode="auto">
                <a:xfrm>
                  <a:off x="6451303" y="5024580"/>
                  <a:ext cx="388120" cy="307777"/>
                </a:xfrm>
                <a:prstGeom prst="rect">
                  <a:avLst/>
                </a:prstGeom>
                <a:blipFill>
                  <a:blip r:embed="rId6"/>
                  <a:stretch>
                    <a:fillRect r="-27027" b="-48276"/>
                  </a:stretch>
                </a:blipFill>
                <a:ln>
                  <a:noFill/>
                </a:ln>
                <a:effectLst/>
              </p:spPr>
              <p:txBody>
                <a:bodyPr/>
                <a:lstStyle/>
                <a:p>
                  <a:r>
                    <a:rPr lang="en-US">
                      <a:noFill/>
                    </a:rPr>
                    <a:t> </a:t>
                  </a:r>
                </a:p>
              </p:txBody>
            </p:sp>
          </mc:Fallback>
        </mc:AlternateContent>
      </p:grpSp>
      <p:grpSp>
        <p:nvGrpSpPr>
          <p:cNvPr id="381" name="Group 380">
            <a:extLst>
              <a:ext uri="{FF2B5EF4-FFF2-40B4-BE49-F238E27FC236}">
                <a16:creationId xmlns:a16="http://schemas.microsoft.com/office/drawing/2014/main" id="{268521AC-A672-16F8-5133-AD198B2B2778}"/>
              </a:ext>
            </a:extLst>
          </p:cNvPr>
          <p:cNvGrpSpPr>
            <a:grpSpLocks/>
          </p:cNvGrpSpPr>
          <p:nvPr/>
        </p:nvGrpSpPr>
        <p:grpSpPr>
          <a:xfrm>
            <a:off x="91201" y="4609703"/>
            <a:ext cx="4208087" cy="1813831"/>
            <a:chOff x="2438401" y="3540126"/>
            <a:chExt cx="6784975" cy="2597150"/>
          </a:xfrm>
        </p:grpSpPr>
        <p:sp>
          <p:nvSpPr>
            <p:cNvPr id="382" name="Oval 4">
              <a:extLst>
                <a:ext uri="{FF2B5EF4-FFF2-40B4-BE49-F238E27FC236}">
                  <a16:creationId xmlns:a16="http://schemas.microsoft.com/office/drawing/2014/main" id="{2EF7F07E-D9F6-AC26-76C9-D45C9244950F}"/>
                </a:ext>
              </a:extLst>
            </p:cNvPr>
            <p:cNvSpPr>
              <a:spLocks noChangeAspect="1" noChangeArrowheads="1"/>
            </p:cNvSpPr>
            <p:nvPr/>
          </p:nvSpPr>
          <p:spPr bwMode="auto">
            <a:xfrm>
              <a:off x="2438401" y="46482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s</a:t>
              </a:r>
            </a:p>
          </p:txBody>
        </p:sp>
        <p:sp>
          <p:nvSpPr>
            <p:cNvPr id="383" name="Oval 7">
              <a:extLst>
                <a:ext uri="{FF2B5EF4-FFF2-40B4-BE49-F238E27FC236}">
                  <a16:creationId xmlns:a16="http://schemas.microsoft.com/office/drawing/2014/main" id="{1AB8C48B-A427-1A2A-5231-7CB5A6E3033C}"/>
                </a:ext>
              </a:extLst>
            </p:cNvPr>
            <p:cNvSpPr>
              <a:spLocks noChangeAspect="1" noChangeArrowheads="1"/>
            </p:cNvSpPr>
            <p:nvPr/>
          </p:nvSpPr>
          <p:spPr bwMode="auto">
            <a:xfrm>
              <a:off x="4572001" y="3540126"/>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a</a:t>
              </a:r>
            </a:p>
          </p:txBody>
        </p:sp>
        <p:sp>
          <p:nvSpPr>
            <p:cNvPr id="384" name="Oval 8">
              <a:extLst>
                <a:ext uri="{FF2B5EF4-FFF2-40B4-BE49-F238E27FC236}">
                  <a16:creationId xmlns:a16="http://schemas.microsoft.com/office/drawing/2014/main" id="{907F3EE9-B267-2CD2-9A50-0807ED3C5AD3}"/>
                </a:ext>
              </a:extLst>
            </p:cNvPr>
            <p:cNvSpPr>
              <a:spLocks noChangeAspect="1" noChangeArrowheads="1"/>
            </p:cNvSpPr>
            <p:nvPr/>
          </p:nvSpPr>
          <p:spPr bwMode="auto">
            <a:xfrm>
              <a:off x="4572001" y="46482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b</a:t>
              </a:r>
            </a:p>
          </p:txBody>
        </p:sp>
        <p:sp>
          <p:nvSpPr>
            <p:cNvPr id="385" name="Oval 9">
              <a:extLst>
                <a:ext uri="{FF2B5EF4-FFF2-40B4-BE49-F238E27FC236}">
                  <a16:creationId xmlns:a16="http://schemas.microsoft.com/office/drawing/2014/main" id="{EE96CB3F-0F40-CFED-2E01-FE5A27849B37}"/>
                </a:ext>
              </a:extLst>
            </p:cNvPr>
            <p:cNvSpPr>
              <a:spLocks noChangeAspect="1" noChangeArrowheads="1"/>
            </p:cNvSpPr>
            <p:nvPr/>
          </p:nvSpPr>
          <p:spPr bwMode="auto">
            <a:xfrm>
              <a:off x="4572001" y="58674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c</a:t>
              </a:r>
            </a:p>
          </p:txBody>
        </p:sp>
        <p:cxnSp>
          <p:nvCxnSpPr>
            <p:cNvPr id="386" name="AutoShape 12">
              <a:extLst>
                <a:ext uri="{FF2B5EF4-FFF2-40B4-BE49-F238E27FC236}">
                  <a16:creationId xmlns:a16="http://schemas.microsoft.com/office/drawing/2014/main" id="{25CAA476-357C-E26B-C69E-EA385F55C30A}"/>
                </a:ext>
              </a:extLst>
            </p:cNvPr>
            <p:cNvCxnSpPr>
              <a:cxnSpLocks noChangeShapeType="1"/>
              <a:stCxn id="382" idx="7"/>
              <a:endCxn id="383" idx="3"/>
            </p:cNvCxnSpPr>
            <p:nvPr/>
          </p:nvCxnSpPr>
          <p:spPr bwMode="auto">
            <a:xfrm flipV="1">
              <a:off x="2668588" y="3770314"/>
              <a:ext cx="1943100" cy="917575"/>
            </a:xfrm>
            <a:prstGeom prst="straightConnector1">
              <a:avLst/>
            </a:prstGeom>
            <a:noFill/>
            <a:ln w="38100">
              <a:solidFill>
                <a:srgbClr val="0066CC"/>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387" name="AutoShape 13">
              <a:extLst>
                <a:ext uri="{FF2B5EF4-FFF2-40B4-BE49-F238E27FC236}">
                  <a16:creationId xmlns:a16="http://schemas.microsoft.com/office/drawing/2014/main" id="{DD81F4DF-A3D1-DC00-556A-3F1E49C20919}"/>
                </a:ext>
              </a:extLst>
            </p:cNvPr>
            <p:cNvCxnSpPr>
              <a:cxnSpLocks noChangeShapeType="1"/>
              <a:stCxn id="382" idx="6"/>
              <a:endCxn id="384" idx="2"/>
            </p:cNvCxnSpPr>
            <p:nvPr/>
          </p:nvCxnSpPr>
          <p:spPr bwMode="auto">
            <a:xfrm>
              <a:off x="2708276" y="4783138"/>
              <a:ext cx="1863725" cy="0"/>
            </a:xfrm>
            <a:prstGeom prst="straightConnector1">
              <a:avLst/>
            </a:prstGeom>
            <a:noFill/>
            <a:ln w="38100">
              <a:solidFill>
                <a:srgbClr val="FF000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388" name="AutoShape 14">
              <a:extLst>
                <a:ext uri="{FF2B5EF4-FFF2-40B4-BE49-F238E27FC236}">
                  <a16:creationId xmlns:a16="http://schemas.microsoft.com/office/drawing/2014/main" id="{43F02FF4-52F2-A47C-7E72-ACBDEEFE60AF}"/>
                </a:ext>
              </a:extLst>
            </p:cNvPr>
            <p:cNvCxnSpPr>
              <a:cxnSpLocks noChangeShapeType="1"/>
              <a:stCxn id="382" idx="5"/>
              <a:endCxn id="385" idx="1"/>
            </p:cNvCxnSpPr>
            <p:nvPr/>
          </p:nvCxnSpPr>
          <p:spPr bwMode="auto">
            <a:xfrm>
              <a:off x="2668588" y="4878388"/>
              <a:ext cx="1943100" cy="1028700"/>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389" name="AutoShape 22">
              <a:extLst>
                <a:ext uri="{FF2B5EF4-FFF2-40B4-BE49-F238E27FC236}">
                  <a16:creationId xmlns:a16="http://schemas.microsoft.com/office/drawing/2014/main" id="{E4C2CFD4-D103-22B0-D21B-581F14C3DF10}"/>
                </a:ext>
              </a:extLst>
            </p:cNvPr>
            <p:cNvCxnSpPr>
              <a:cxnSpLocks noChangeShapeType="1"/>
              <a:stCxn id="384" idx="4"/>
              <a:endCxn id="385" idx="0"/>
            </p:cNvCxnSpPr>
            <p:nvPr/>
          </p:nvCxnSpPr>
          <p:spPr bwMode="auto">
            <a:xfrm>
              <a:off x="4706938" y="4918076"/>
              <a:ext cx="0" cy="949325"/>
            </a:xfrm>
            <a:prstGeom prst="straightConnector1">
              <a:avLst/>
            </a:prstGeom>
            <a:noFill/>
            <a:ln w="38100">
              <a:solidFill>
                <a:srgbClr val="0066CC"/>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390" name="AutoShape 24">
              <a:extLst>
                <a:ext uri="{FF2B5EF4-FFF2-40B4-BE49-F238E27FC236}">
                  <a16:creationId xmlns:a16="http://schemas.microsoft.com/office/drawing/2014/main" id="{7C3247A3-0084-3CFE-260F-1BC31CFF1F32}"/>
                </a:ext>
              </a:extLst>
            </p:cNvPr>
            <p:cNvCxnSpPr>
              <a:cxnSpLocks noChangeShapeType="1"/>
              <a:stCxn id="384" idx="6"/>
              <a:endCxn id="395" idx="1"/>
            </p:cNvCxnSpPr>
            <p:nvPr/>
          </p:nvCxnSpPr>
          <p:spPr bwMode="auto">
            <a:xfrm>
              <a:off x="4841876" y="4783138"/>
              <a:ext cx="2055813" cy="1123950"/>
            </a:xfrm>
            <a:prstGeom prst="straightConnector1">
              <a:avLst/>
            </a:prstGeom>
            <a:noFill/>
            <a:ln w="38100">
              <a:solidFill>
                <a:srgbClr val="FF000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391" name="AutoShape 25">
              <a:extLst>
                <a:ext uri="{FF2B5EF4-FFF2-40B4-BE49-F238E27FC236}">
                  <a16:creationId xmlns:a16="http://schemas.microsoft.com/office/drawing/2014/main" id="{8DE36A4B-69A8-FB27-C6B5-DD9CC1A0F8BC}"/>
                </a:ext>
              </a:extLst>
            </p:cNvPr>
            <p:cNvCxnSpPr>
              <a:cxnSpLocks noChangeShapeType="1"/>
              <a:stCxn id="385" idx="6"/>
              <a:endCxn id="395" idx="2"/>
            </p:cNvCxnSpPr>
            <p:nvPr/>
          </p:nvCxnSpPr>
          <p:spPr bwMode="auto">
            <a:xfrm>
              <a:off x="4841876" y="6002338"/>
              <a:ext cx="2016125" cy="0"/>
            </a:xfrm>
            <a:prstGeom prst="straightConnector1">
              <a:avLst/>
            </a:prstGeom>
            <a:noFill/>
            <a:ln w="38100">
              <a:solidFill>
                <a:srgbClr val="0066CC"/>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392" name="AutoShape 34">
              <a:extLst>
                <a:ext uri="{FF2B5EF4-FFF2-40B4-BE49-F238E27FC236}">
                  <a16:creationId xmlns:a16="http://schemas.microsoft.com/office/drawing/2014/main" id="{FC5F5347-34A5-CAE8-0B10-FD6D1F0385CE}"/>
                </a:ext>
              </a:extLst>
            </p:cNvPr>
            <p:cNvCxnSpPr>
              <a:cxnSpLocks noChangeShapeType="1"/>
              <a:stCxn id="383" idx="4"/>
              <a:endCxn id="384" idx="0"/>
            </p:cNvCxnSpPr>
            <p:nvPr/>
          </p:nvCxnSpPr>
          <p:spPr bwMode="auto">
            <a:xfrm>
              <a:off x="4706938" y="3810000"/>
              <a:ext cx="0" cy="838200"/>
            </a:xfrm>
            <a:prstGeom prst="straightConnector1">
              <a:avLst/>
            </a:prstGeom>
            <a:noFill/>
            <a:ln w="38100">
              <a:solidFill>
                <a:srgbClr val="0066CC"/>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393" name="Oval 38">
              <a:extLst>
                <a:ext uri="{FF2B5EF4-FFF2-40B4-BE49-F238E27FC236}">
                  <a16:creationId xmlns:a16="http://schemas.microsoft.com/office/drawing/2014/main" id="{E918CCF6-68D3-2C46-64A0-3F2766EC4981}"/>
                </a:ext>
              </a:extLst>
            </p:cNvPr>
            <p:cNvSpPr>
              <a:spLocks noChangeAspect="1" noChangeArrowheads="1"/>
            </p:cNvSpPr>
            <p:nvPr/>
          </p:nvSpPr>
          <p:spPr bwMode="auto">
            <a:xfrm>
              <a:off x="6858001" y="3540126"/>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d</a:t>
              </a:r>
            </a:p>
          </p:txBody>
        </p:sp>
        <p:sp>
          <p:nvSpPr>
            <p:cNvPr id="394" name="Oval 39">
              <a:extLst>
                <a:ext uri="{FF2B5EF4-FFF2-40B4-BE49-F238E27FC236}">
                  <a16:creationId xmlns:a16="http://schemas.microsoft.com/office/drawing/2014/main" id="{6D2BD899-2BC2-6132-FFF3-9DB4B664FF25}"/>
                </a:ext>
              </a:extLst>
            </p:cNvPr>
            <p:cNvSpPr>
              <a:spLocks noChangeAspect="1" noChangeArrowheads="1"/>
            </p:cNvSpPr>
            <p:nvPr/>
          </p:nvSpPr>
          <p:spPr bwMode="auto">
            <a:xfrm>
              <a:off x="6858001" y="46482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e</a:t>
              </a:r>
            </a:p>
          </p:txBody>
        </p:sp>
        <p:sp>
          <p:nvSpPr>
            <p:cNvPr id="395" name="Oval 40">
              <a:extLst>
                <a:ext uri="{FF2B5EF4-FFF2-40B4-BE49-F238E27FC236}">
                  <a16:creationId xmlns:a16="http://schemas.microsoft.com/office/drawing/2014/main" id="{A180CF75-5AF9-BB6C-DC70-BA84FAC31381}"/>
                </a:ext>
              </a:extLst>
            </p:cNvPr>
            <p:cNvSpPr>
              <a:spLocks noChangeAspect="1" noChangeArrowheads="1"/>
            </p:cNvSpPr>
            <p:nvPr/>
          </p:nvSpPr>
          <p:spPr bwMode="auto">
            <a:xfrm>
              <a:off x="6858001" y="58674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f</a:t>
              </a:r>
            </a:p>
          </p:txBody>
        </p:sp>
        <p:cxnSp>
          <p:nvCxnSpPr>
            <p:cNvPr id="396" name="AutoShape 41">
              <a:extLst>
                <a:ext uri="{FF2B5EF4-FFF2-40B4-BE49-F238E27FC236}">
                  <a16:creationId xmlns:a16="http://schemas.microsoft.com/office/drawing/2014/main" id="{2E4DFC49-70C2-58CD-EB89-0CC8A39EFB6B}"/>
                </a:ext>
              </a:extLst>
            </p:cNvPr>
            <p:cNvCxnSpPr>
              <a:cxnSpLocks noChangeShapeType="1"/>
              <a:stCxn id="394" idx="4"/>
              <a:endCxn id="395" idx="0"/>
            </p:cNvCxnSpPr>
            <p:nvPr/>
          </p:nvCxnSpPr>
          <p:spPr bwMode="auto">
            <a:xfrm>
              <a:off x="6992938" y="4918076"/>
              <a:ext cx="0" cy="949325"/>
            </a:xfrm>
            <a:prstGeom prst="straightConnector1">
              <a:avLst/>
            </a:prstGeom>
            <a:noFill/>
            <a:ln w="38100">
              <a:solidFill>
                <a:srgbClr val="FF0000"/>
              </a:solidFill>
              <a:round/>
              <a:headEnd type="triangle" w="lg" len="med"/>
              <a:tailEnd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397" name="AutoShape 42">
              <a:extLst>
                <a:ext uri="{FF2B5EF4-FFF2-40B4-BE49-F238E27FC236}">
                  <a16:creationId xmlns:a16="http://schemas.microsoft.com/office/drawing/2014/main" id="{6061463E-E435-5B00-7BB1-1CB9AE6CC725}"/>
                </a:ext>
              </a:extLst>
            </p:cNvPr>
            <p:cNvCxnSpPr>
              <a:cxnSpLocks noChangeShapeType="1"/>
              <a:stCxn id="393" idx="4"/>
              <a:endCxn id="394" idx="0"/>
            </p:cNvCxnSpPr>
            <p:nvPr/>
          </p:nvCxnSpPr>
          <p:spPr bwMode="auto">
            <a:xfrm>
              <a:off x="6992938" y="3810000"/>
              <a:ext cx="0" cy="838200"/>
            </a:xfrm>
            <a:prstGeom prst="straightConnector1">
              <a:avLst/>
            </a:prstGeom>
            <a:noFill/>
            <a:ln w="19050">
              <a:solidFill>
                <a:schemeClr val="tx1"/>
              </a:solidFill>
              <a:round/>
              <a:headEnd type="triangle" w="lg" len="med"/>
              <a:tailEnd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398" name="Oval 44">
              <a:extLst>
                <a:ext uri="{FF2B5EF4-FFF2-40B4-BE49-F238E27FC236}">
                  <a16:creationId xmlns:a16="http://schemas.microsoft.com/office/drawing/2014/main" id="{F423EDB1-A65D-F4F8-46B4-5C96509FDC0F}"/>
                </a:ext>
              </a:extLst>
            </p:cNvPr>
            <p:cNvSpPr>
              <a:spLocks noChangeAspect="1" noChangeArrowheads="1"/>
            </p:cNvSpPr>
            <p:nvPr/>
          </p:nvSpPr>
          <p:spPr bwMode="auto">
            <a:xfrm>
              <a:off x="8953501" y="46482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t</a:t>
              </a:r>
            </a:p>
          </p:txBody>
        </p:sp>
        <p:cxnSp>
          <p:nvCxnSpPr>
            <p:cNvPr id="399" name="AutoShape 45">
              <a:extLst>
                <a:ext uri="{FF2B5EF4-FFF2-40B4-BE49-F238E27FC236}">
                  <a16:creationId xmlns:a16="http://schemas.microsoft.com/office/drawing/2014/main" id="{A3BB9F36-2777-27E0-5C09-754B6DD62C7D}"/>
                </a:ext>
              </a:extLst>
            </p:cNvPr>
            <p:cNvCxnSpPr>
              <a:cxnSpLocks noChangeShapeType="1"/>
              <a:stCxn id="393" idx="6"/>
              <a:endCxn id="398" idx="1"/>
            </p:cNvCxnSpPr>
            <p:nvPr/>
          </p:nvCxnSpPr>
          <p:spPr bwMode="auto">
            <a:xfrm>
              <a:off x="7127876" y="3675064"/>
              <a:ext cx="1865313" cy="101282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00" name="AutoShape 46">
              <a:extLst>
                <a:ext uri="{FF2B5EF4-FFF2-40B4-BE49-F238E27FC236}">
                  <a16:creationId xmlns:a16="http://schemas.microsoft.com/office/drawing/2014/main" id="{D43ADF3F-2818-3E56-A483-D5C5511DEDC4}"/>
                </a:ext>
              </a:extLst>
            </p:cNvPr>
            <p:cNvCxnSpPr>
              <a:cxnSpLocks noChangeShapeType="1"/>
              <a:stCxn id="394" idx="6"/>
              <a:endCxn id="398" idx="2"/>
            </p:cNvCxnSpPr>
            <p:nvPr/>
          </p:nvCxnSpPr>
          <p:spPr bwMode="auto">
            <a:xfrm>
              <a:off x="7127876" y="4783138"/>
              <a:ext cx="1825625" cy="0"/>
            </a:xfrm>
            <a:prstGeom prst="straightConnector1">
              <a:avLst/>
            </a:prstGeom>
            <a:noFill/>
            <a:ln w="38100">
              <a:solidFill>
                <a:srgbClr val="FF000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01" name="AutoShape 47">
              <a:extLst>
                <a:ext uri="{FF2B5EF4-FFF2-40B4-BE49-F238E27FC236}">
                  <a16:creationId xmlns:a16="http://schemas.microsoft.com/office/drawing/2014/main" id="{7877700C-9319-30B6-28FF-BB2C55C19FF0}"/>
                </a:ext>
              </a:extLst>
            </p:cNvPr>
            <p:cNvCxnSpPr>
              <a:cxnSpLocks noChangeShapeType="1"/>
              <a:stCxn id="395" idx="7"/>
              <a:endCxn id="398" idx="4"/>
            </p:cNvCxnSpPr>
            <p:nvPr/>
          </p:nvCxnSpPr>
          <p:spPr bwMode="auto">
            <a:xfrm flipV="1">
              <a:off x="7088188" y="4918076"/>
              <a:ext cx="2000250" cy="989013"/>
            </a:xfrm>
            <a:prstGeom prst="straightConnector1">
              <a:avLst/>
            </a:prstGeom>
            <a:noFill/>
            <a:ln w="38100">
              <a:solidFill>
                <a:srgbClr val="0066CC"/>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02" name="AutoShape 63">
              <a:extLst>
                <a:ext uri="{FF2B5EF4-FFF2-40B4-BE49-F238E27FC236}">
                  <a16:creationId xmlns:a16="http://schemas.microsoft.com/office/drawing/2014/main" id="{DBC2E29D-F2EF-9D5D-313B-7564B37D351B}"/>
                </a:ext>
              </a:extLst>
            </p:cNvPr>
            <p:cNvCxnSpPr>
              <a:cxnSpLocks noChangeShapeType="1"/>
              <a:stCxn id="394" idx="2"/>
              <a:endCxn id="383" idx="6"/>
            </p:cNvCxnSpPr>
            <p:nvPr/>
          </p:nvCxnSpPr>
          <p:spPr bwMode="auto">
            <a:xfrm flipH="1" flipV="1">
              <a:off x="4841876" y="3675064"/>
              <a:ext cx="2016125" cy="110807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03" name="AutoShape 64">
              <a:extLst>
                <a:ext uri="{FF2B5EF4-FFF2-40B4-BE49-F238E27FC236}">
                  <a16:creationId xmlns:a16="http://schemas.microsoft.com/office/drawing/2014/main" id="{7056670E-7F50-9981-AB18-644695230338}"/>
                </a:ext>
              </a:extLst>
            </p:cNvPr>
            <p:cNvCxnSpPr>
              <a:cxnSpLocks noChangeShapeType="1"/>
              <a:stCxn id="393" idx="2"/>
              <a:endCxn id="384" idx="7"/>
            </p:cNvCxnSpPr>
            <p:nvPr/>
          </p:nvCxnSpPr>
          <p:spPr bwMode="auto">
            <a:xfrm flipH="1">
              <a:off x="4802188" y="3675064"/>
              <a:ext cx="2055812" cy="101282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grpSp>
      <p:grpSp>
        <p:nvGrpSpPr>
          <p:cNvPr id="404" name="Group 403">
            <a:extLst>
              <a:ext uri="{FF2B5EF4-FFF2-40B4-BE49-F238E27FC236}">
                <a16:creationId xmlns:a16="http://schemas.microsoft.com/office/drawing/2014/main" id="{945A234D-ECBE-8159-5A0A-52A5B2D800E8}"/>
              </a:ext>
            </a:extLst>
          </p:cNvPr>
          <p:cNvGrpSpPr/>
          <p:nvPr/>
        </p:nvGrpSpPr>
        <p:grpSpPr>
          <a:xfrm>
            <a:off x="7857243" y="4876112"/>
            <a:ext cx="4113936" cy="1404649"/>
            <a:chOff x="85793" y="4142232"/>
            <a:chExt cx="7224366" cy="2466666"/>
          </a:xfrm>
        </p:grpSpPr>
        <p:grpSp>
          <p:nvGrpSpPr>
            <p:cNvPr id="405" name="Group 404">
              <a:extLst>
                <a:ext uri="{FF2B5EF4-FFF2-40B4-BE49-F238E27FC236}">
                  <a16:creationId xmlns:a16="http://schemas.microsoft.com/office/drawing/2014/main" id="{448B4D1E-FD6E-5289-5215-F3CB2294161B}"/>
                </a:ext>
              </a:extLst>
            </p:cNvPr>
            <p:cNvGrpSpPr/>
            <p:nvPr/>
          </p:nvGrpSpPr>
          <p:grpSpPr>
            <a:xfrm>
              <a:off x="1024128" y="4142232"/>
              <a:ext cx="5303520" cy="2466666"/>
              <a:chOff x="1463040" y="3429000"/>
              <a:chExt cx="5303520" cy="2466666"/>
            </a:xfrm>
          </p:grpSpPr>
          <p:grpSp>
            <p:nvGrpSpPr>
              <p:cNvPr id="412" name="Group 411">
                <a:extLst>
                  <a:ext uri="{FF2B5EF4-FFF2-40B4-BE49-F238E27FC236}">
                    <a16:creationId xmlns:a16="http://schemas.microsoft.com/office/drawing/2014/main" id="{2C73DC6A-EFFE-50F3-6946-C644730BFEE7}"/>
                  </a:ext>
                </a:extLst>
              </p:cNvPr>
              <p:cNvGrpSpPr>
                <a:grpSpLocks/>
              </p:cNvGrpSpPr>
              <p:nvPr/>
            </p:nvGrpSpPr>
            <p:grpSpPr>
              <a:xfrm>
                <a:off x="1463040" y="3429000"/>
                <a:ext cx="5303520" cy="2286000"/>
                <a:chOff x="2438401" y="3540126"/>
                <a:chExt cx="6784975" cy="2597150"/>
              </a:xfrm>
            </p:grpSpPr>
            <p:sp>
              <p:nvSpPr>
                <p:cNvPr id="427" name="Oval 4">
                  <a:extLst>
                    <a:ext uri="{FF2B5EF4-FFF2-40B4-BE49-F238E27FC236}">
                      <a16:creationId xmlns:a16="http://schemas.microsoft.com/office/drawing/2014/main" id="{22217466-02C6-28D4-27B9-F69BEBC1ED98}"/>
                    </a:ext>
                  </a:extLst>
                </p:cNvPr>
                <p:cNvSpPr>
                  <a:spLocks noChangeAspect="1" noChangeArrowheads="1"/>
                </p:cNvSpPr>
                <p:nvPr/>
              </p:nvSpPr>
              <p:spPr bwMode="auto">
                <a:xfrm>
                  <a:off x="2438401" y="46482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200" b="1" dirty="0"/>
                    <a:t>s</a:t>
                  </a:r>
                </a:p>
              </p:txBody>
            </p:sp>
            <p:sp>
              <p:nvSpPr>
                <p:cNvPr id="428" name="Oval 7">
                  <a:extLst>
                    <a:ext uri="{FF2B5EF4-FFF2-40B4-BE49-F238E27FC236}">
                      <a16:creationId xmlns:a16="http://schemas.microsoft.com/office/drawing/2014/main" id="{1D4BA4A5-78F0-9DFC-AF78-93DFACE89998}"/>
                    </a:ext>
                  </a:extLst>
                </p:cNvPr>
                <p:cNvSpPr>
                  <a:spLocks noChangeAspect="1" noChangeArrowheads="1"/>
                </p:cNvSpPr>
                <p:nvPr/>
              </p:nvSpPr>
              <p:spPr bwMode="auto">
                <a:xfrm>
                  <a:off x="4572001" y="3540126"/>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200" b="1" dirty="0"/>
                    <a:t>a</a:t>
                  </a:r>
                </a:p>
              </p:txBody>
            </p:sp>
            <p:sp>
              <p:nvSpPr>
                <p:cNvPr id="429" name="Oval 8">
                  <a:extLst>
                    <a:ext uri="{FF2B5EF4-FFF2-40B4-BE49-F238E27FC236}">
                      <a16:creationId xmlns:a16="http://schemas.microsoft.com/office/drawing/2014/main" id="{8180D370-5067-2DFD-F2C9-AC92DFA8F811}"/>
                    </a:ext>
                  </a:extLst>
                </p:cNvPr>
                <p:cNvSpPr>
                  <a:spLocks noChangeAspect="1" noChangeArrowheads="1"/>
                </p:cNvSpPr>
                <p:nvPr/>
              </p:nvSpPr>
              <p:spPr bwMode="auto">
                <a:xfrm>
                  <a:off x="4572001" y="46482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200" b="1" dirty="0"/>
                    <a:t>b</a:t>
                  </a:r>
                </a:p>
              </p:txBody>
            </p:sp>
            <p:sp>
              <p:nvSpPr>
                <p:cNvPr id="430" name="Oval 9">
                  <a:extLst>
                    <a:ext uri="{FF2B5EF4-FFF2-40B4-BE49-F238E27FC236}">
                      <a16:creationId xmlns:a16="http://schemas.microsoft.com/office/drawing/2014/main" id="{78CB24C9-5AF8-28BE-5E05-3F32FDA7AB18}"/>
                    </a:ext>
                  </a:extLst>
                </p:cNvPr>
                <p:cNvSpPr>
                  <a:spLocks noChangeAspect="1" noChangeArrowheads="1"/>
                </p:cNvSpPr>
                <p:nvPr/>
              </p:nvSpPr>
              <p:spPr bwMode="auto">
                <a:xfrm>
                  <a:off x="4572001" y="58674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200" b="1" dirty="0"/>
                    <a:t>c</a:t>
                  </a:r>
                </a:p>
              </p:txBody>
            </p:sp>
            <p:cxnSp>
              <p:nvCxnSpPr>
                <p:cNvPr id="431" name="AutoShape 12">
                  <a:extLst>
                    <a:ext uri="{FF2B5EF4-FFF2-40B4-BE49-F238E27FC236}">
                      <a16:creationId xmlns:a16="http://schemas.microsoft.com/office/drawing/2014/main" id="{59683611-4A77-24B9-B4B0-8B28C03CA2F5}"/>
                    </a:ext>
                  </a:extLst>
                </p:cNvPr>
                <p:cNvCxnSpPr>
                  <a:cxnSpLocks noChangeShapeType="1"/>
                  <a:stCxn id="427" idx="7"/>
                  <a:endCxn id="428" idx="3"/>
                </p:cNvCxnSpPr>
                <p:nvPr/>
              </p:nvCxnSpPr>
              <p:spPr bwMode="auto">
                <a:xfrm flipV="1">
                  <a:off x="2668588" y="3770314"/>
                  <a:ext cx="1943100" cy="91757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32" name="AutoShape 13">
                  <a:extLst>
                    <a:ext uri="{FF2B5EF4-FFF2-40B4-BE49-F238E27FC236}">
                      <a16:creationId xmlns:a16="http://schemas.microsoft.com/office/drawing/2014/main" id="{503DC3F6-000D-0224-E326-CA61C3191F03}"/>
                    </a:ext>
                  </a:extLst>
                </p:cNvPr>
                <p:cNvCxnSpPr>
                  <a:cxnSpLocks noChangeShapeType="1"/>
                  <a:stCxn id="427" idx="6"/>
                  <a:endCxn id="429" idx="2"/>
                </p:cNvCxnSpPr>
                <p:nvPr/>
              </p:nvCxnSpPr>
              <p:spPr bwMode="auto">
                <a:xfrm>
                  <a:off x="2708276" y="4783138"/>
                  <a:ext cx="1863725" cy="0"/>
                </a:xfrm>
                <a:prstGeom prst="straightConnector1">
                  <a:avLst/>
                </a:prstGeom>
                <a:noFill/>
                <a:ln w="3810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33" name="AutoShape 14">
                  <a:extLst>
                    <a:ext uri="{FF2B5EF4-FFF2-40B4-BE49-F238E27FC236}">
                      <a16:creationId xmlns:a16="http://schemas.microsoft.com/office/drawing/2014/main" id="{66FCFFDB-6AED-3F0C-6D76-FEE6FC79DA75}"/>
                    </a:ext>
                  </a:extLst>
                </p:cNvPr>
                <p:cNvCxnSpPr>
                  <a:cxnSpLocks noChangeShapeType="1"/>
                  <a:stCxn id="427" idx="5"/>
                  <a:endCxn id="430" idx="1"/>
                </p:cNvCxnSpPr>
                <p:nvPr/>
              </p:nvCxnSpPr>
              <p:spPr bwMode="auto">
                <a:xfrm>
                  <a:off x="2668588" y="4878388"/>
                  <a:ext cx="1943100" cy="1028700"/>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34" name="AutoShape 22">
                  <a:extLst>
                    <a:ext uri="{FF2B5EF4-FFF2-40B4-BE49-F238E27FC236}">
                      <a16:creationId xmlns:a16="http://schemas.microsoft.com/office/drawing/2014/main" id="{46FDE5B5-A917-2C66-781A-F0DCEEB05EFB}"/>
                    </a:ext>
                  </a:extLst>
                </p:cNvPr>
                <p:cNvCxnSpPr>
                  <a:cxnSpLocks noChangeShapeType="1"/>
                  <a:stCxn id="429" idx="4"/>
                  <a:endCxn id="430" idx="0"/>
                </p:cNvCxnSpPr>
                <p:nvPr/>
              </p:nvCxnSpPr>
              <p:spPr bwMode="auto">
                <a:xfrm>
                  <a:off x="4706938" y="4918076"/>
                  <a:ext cx="0" cy="94932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35" name="AutoShape 24">
                  <a:extLst>
                    <a:ext uri="{FF2B5EF4-FFF2-40B4-BE49-F238E27FC236}">
                      <a16:creationId xmlns:a16="http://schemas.microsoft.com/office/drawing/2014/main" id="{368DA115-953B-84C9-C8A6-A0F0D23D5C72}"/>
                    </a:ext>
                  </a:extLst>
                </p:cNvPr>
                <p:cNvCxnSpPr>
                  <a:cxnSpLocks noChangeShapeType="1"/>
                  <a:stCxn id="429" idx="6"/>
                  <a:endCxn id="440" idx="1"/>
                </p:cNvCxnSpPr>
                <p:nvPr/>
              </p:nvCxnSpPr>
              <p:spPr bwMode="auto">
                <a:xfrm>
                  <a:off x="4841876" y="4783138"/>
                  <a:ext cx="2055813" cy="1123950"/>
                </a:xfrm>
                <a:prstGeom prst="straightConnector1">
                  <a:avLst/>
                </a:prstGeom>
                <a:noFill/>
                <a:ln w="3810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36" name="AutoShape 25">
                  <a:extLst>
                    <a:ext uri="{FF2B5EF4-FFF2-40B4-BE49-F238E27FC236}">
                      <a16:creationId xmlns:a16="http://schemas.microsoft.com/office/drawing/2014/main" id="{69C27ABF-25B4-657C-C0F8-09A70A810B97}"/>
                    </a:ext>
                  </a:extLst>
                </p:cNvPr>
                <p:cNvCxnSpPr>
                  <a:cxnSpLocks noChangeShapeType="1"/>
                  <a:stCxn id="430" idx="6"/>
                  <a:endCxn id="440" idx="2"/>
                </p:cNvCxnSpPr>
                <p:nvPr/>
              </p:nvCxnSpPr>
              <p:spPr bwMode="auto">
                <a:xfrm>
                  <a:off x="4841876" y="6002338"/>
                  <a:ext cx="2016125" cy="0"/>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37" name="AutoShape 34">
                  <a:extLst>
                    <a:ext uri="{FF2B5EF4-FFF2-40B4-BE49-F238E27FC236}">
                      <a16:creationId xmlns:a16="http://schemas.microsoft.com/office/drawing/2014/main" id="{3B83501C-0666-1E9B-6249-13531CE79FC6}"/>
                    </a:ext>
                  </a:extLst>
                </p:cNvPr>
                <p:cNvCxnSpPr>
                  <a:cxnSpLocks noChangeShapeType="1"/>
                  <a:stCxn id="428" idx="4"/>
                  <a:endCxn id="429" idx="0"/>
                </p:cNvCxnSpPr>
                <p:nvPr/>
              </p:nvCxnSpPr>
              <p:spPr bwMode="auto">
                <a:xfrm>
                  <a:off x="4706938" y="3810000"/>
                  <a:ext cx="0" cy="838200"/>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38" name="Oval 38">
                  <a:extLst>
                    <a:ext uri="{FF2B5EF4-FFF2-40B4-BE49-F238E27FC236}">
                      <a16:creationId xmlns:a16="http://schemas.microsoft.com/office/drawing/2014/main" id="{2F2CA353-7911-F79A-84B3-055CD2467DFF}"/>
                    </a:ext>
                  </a:extLst>
                </p:cNvPr>
                <p:cNvSpPr>
                  <a:spLocks noChangeAspect="1" noChangeArrowheads="1"/>
                </p:cNvSpPr>
                <p:nvPr/>
              </p:nvSpPr>
              <p:spPr bwMode="auto">
                <a:xfrm>
                  <a:off x="6858001" y="3540126"/>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200" b="1" dirty="0"/>
                    <a:t>d</a:t>
                  </a:r>
                </a:p>
              </p:txBody>
            </p:sp>
            <p:sp>
              <p:nvSpPr>
                <p:cNvPr id="439" name="Oval 39">
                  <a:extLst>
                    <a:ext uri="{FF2B5EF4-FFF2-40B4-BE49-F238E27FC236}">
                      <a16:creationId xmlns:a16="http://schemas.microsoft.com/office/drawing/2014/main" id="{9270FF56-0789-0B6B-A756-7FC5458139EC}"/>
                    </a:ext>
                  </a:extLst>
                </p:cNvPr>
                <p:cNvSpPr>
                  <a:spLocks noChangeAspect="1" noChangeArrowheads="1"/>
                </p:cNvSpPr>
                <p:nvPr/>
              </p:nvSpPr>
              <p:spPr bwMode="auto">
                <a:xfrm>
                  <a:off x="6858001" y="46482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200" b="1" dirty="0"/>
                    <a:t>e</a:t>
                  </a:r>
                </a:p>
              </p:txBody>
            </p:sp>
            <p:sp>
              <p:nvSpPr>
                <p:cNvPr id="440" name="Oval 40">
                  <a:extLst>
                    <a:ext uri="{FF2B5EF4-FFF2-40B4-BE49-F238E27FC236}">
                      <a16:creationId xmlns:a16="http://schemas.microsoft.com/office/drawing/2014/main" id="{ADBAF064-187C-47DD-6790-7ABC184CD7F6}"/>
                    </a:ext>
                  </a:extLst>
                </p:cNvPr>
                <p:cNvSpPr>
                  <a:spLocks noChangeAspect="1" noChangeArrowheads="1"/>
                </p:cNvSpPr>
                <p:nvPr/>
              </p:nvSpPr>
              <p:spPr bwMode="auto">
                <a:xfrm>
                  <a:off x="6858001" y="58674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200" b="1" dirty="0"/>
                    <a:t>f</a:t>
                  </a:r>
                </a:p>
              </p:txBody>
            </p:sp>
            <p:cxnSp>
              <p:nvCxnSpPr>
                <p:cNvPr id="441" name="AutoShape 41">
                  <a:extLst>
                    <a:ext uri="{FF2B5EF4-FFF2-40B4-BE49-F238E27FC236}">
                      <a16:creationId xmlns:a16="http://schemas.microsoft.com/office/drawing/2014/main" id="{28B5D4CE-847D-D6FC-7CB4-8EBC4AD1AC00}"/>
                    </a:ext>
                  </a:extLst>
                </p:cNvPr>
                <p:cNvCxnSpPr>
                  <a:cxnSpLocks noChangeShapeType="1"/>
                  <a:stCxn id="439" idx="4"/>
                  <a:endCxn id="440" idx="0"/>
                </p:cNvCxnSpPr>
                <p:nvPr/>
              </p:nvCxnSpPr>
              <p:spPr bwMode="auto">
                <a:xfrm>
                  <a:off x="6992938" y="4918076"/>
                  <a:ext cx="0" cy="949325"/>
                </a:xfrm>
                <a:prstGeom prst="straightConnector1">
                  <a:avLst/>
                </a:prstGeom>
                <a:noFill/>
                <a:ln w="38100">
                  <a:solidFill>
                    <a:schemeClr val="tx1"/>
                  </a:solidFill>
                  <a:round/>
                  <a:headEnd type="triangle" w="lg" len="med"/>
                  <a:tailEnd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42" name="AutoShape 42">
                  <a:extLst>
                    <a:ext uri="{FF2B5EF4-FFF2-40B4-BE49-F238E27FC236}">
                      <a16:creationId xmlns:a16="http://schemas.microsoft.com/office/drawing/2014/main" id="{43A504E1-20E3-6B04-C9FD-D706C872AF13}"/>
                    </a:ext>
                  </a:extLst>
                </p:cNvPr>
                <p:cNvCxnSpPr>
                  <a:cxnSpLocks noChangeShapeType="1"/>
                  <a:stCxn id="438" idx="4"/>
                  <a:endCxn id="439" idx="0"/>
                </p:cNvCxnSpPr>
                <p:nvPr/>
              </p:nvCxnSpPr>
              <p:spPr bwMode="auto">
                <a:xfrm>
                  <a:off x="6992938" y="3810000"/>
                  <a:ext cx="0" cy="838200"/>
                </a:xfrm>
                <a:prstGeom prst="straightConnector1">
                  <a:avLst/>
                </a:prstGeom>
                <a:noFill/>
                <a:ln w="19050">
                  <a:solidFill>
                    <a:schemeClr val="tx1"/>
                  </a:solidFill>
                  <a:round/>
                  <a:headEnd type="triangle" w="lg" len="med"/>
                  <a:tailEnd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43" name="Oval 44">
                  <a:extLst>
                    <a:ext uri="{FF2B5EF4-FFF2-40B4-BE49-F238E27FC236}">
                      <a16:creationId xmlns:a16="http://schemas.microsoft.com/office/drawing/2014/main" id="{DE333CA1-2904-B771-8CC7-8C2121A0731B}"/>
                    </a:ext>
                  </a:extLst>
                </p:cNvPr>
                <p:cNvSpPr>
                  <a:spLocks noChangeAspect="1" noChangeArrowheads="1"/>
                </p:cNvSpPr>
                <p:nvPr/>
              </p:nvSpPr>
              <p:spPr bwMode="auto">
                <a:xfrm>
                  <a:off x="8953501" y="46482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200" b="1"/>
                    <a:t>t</a:t>
                  </a:r>
                </a:p>
              </p:txBody>
            </p:sp>
            <p:cxnSp>
              <p:nvCxnSpPr>
                <p:cNvPr id="444" name="AutoShape 45">
                  <a:extLst>
                    <a:ext uri="{FF2B5EF4-FFF2-40B4-BE49-F238E27FC236}">
                      <a16:creationId xmlns:a16="http://schemas.microsoft.com/office/drawing/2014/main" id="{1BEAD604-046F-4863-8746-DDF42CF9C630}"/>
                    </a:ext>
                  </a:extLst>
                </p:cNvPr>
                <p:cNvCxnSpPr>
                  <a:cxnSpLocks noChangeShapeType="1"/>
                  <a:stCxn id="438" idx="6"/>
                  <a:endCxn id="443" idx="1"/>
                </p:cNvCxnSpPr>
                <p:nvPr/>
              </p:nvCxnSpPr>
              <p:spPr bwMode="auto">
                <a:xfrm>
                  <a:off x="7127876" y="3675064"/>
                  <a:ext cx="1865313" cy="101282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45" name="AutoShape 46">
                  <a:extLst>
                    <a:ext uri="{FF2B5EF4-FFF2-40B4-BE49-F238E27FC236}">
                      <a16:creationId xmlns:a16="http://schemas.microsoft.com/office/drawing/2014/main" id="{E746ED6A-70D5-AE15-7F03-2884887E63F4}"/>
                    </a:ext>
                  </a:extLst>
                </p:cNvPr>
                <p:cNvCxnSpPr>
                  <a:cxnSpLocks noChangeShapeType="1"/>
                  <a:stCxn id="439" idx="6"/>
                  <a:endCxn id="443" idx="2"/>
                </p:cNvCxnSpPr>
                <p:nvPr/>
              </p:nvCxnSpPr>
              <p:spPr bwMode="auto">
                <a:xfrm>
                  <a:off x="7127876" y="4783138"/>
                  <a:ext cx="1825625" cy="0"/>
                </a:xfrm>
                <a:prstGeom prst="straightConnector1">
                  <a:avLst/>
                </a:prstGeom>
                <a:noFill/>
                <a:ln w="3810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46" name="AutoShape 47">
                  <a:extLst>
                    <a:ext uri="{FF2B5EF4-FFF2-40B4-BE49-F238E27FC236}">
                      <a16:creationId xmlns:a16="http://schemas.microsoft.com/office/drawing/2014/main" id="{435E4C07-9F57-F286-8AF1-B3B1D98A9F07}"/>
                    </a:ext>
                  </a:extLst>
                </p:cNvPr>
                <p:cNvCxnSpPr>
                  <a:cxnSpLocks noChangeShapeType="1"/>
                  <a:stCxn id="440" idx="7"/>
                  <a:endCxn id="443" idx="4"/>
                </p:cNvCxnSpPr>
                <p:nvPr/>
              </p:nvCxnSpPr>
              <p:spPr bwMode="auto">
                <a:xfrm flipV="1">
                  <a:off x="7088188" y="4918076"/>
                  <a:ext cx="2000250" cy="989013"/>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47" name="AutoShape 63">
                  <a:extLst>
                    <a:ext uri="{FF2B5EF4-FFF2-40B4-BE49-F238E27FC236}">
                      <a16:creationId xmlns:a16="http://schemas.microsoft.com/office/drawing/2014/main" id="{AC610A30-C5F5-B6BD-B4A8-14C711E9543D}"/>
                    </a:ext>
                  </a:extLst>
                </p:cNvPr>
                <p:cNvCxnSpPr>
                  <a:cxnSpLocks noChangeShapeType="1"/>
                  <a:stCxn id="439" idx="2"/>
                  <a:endCxn id="428" idx="6"/>
                </p:cNvCxnSpPr>
                <p:nvPr/>
              </p:nvCxnSpPr>
              <p:spPr bwMode="auto">
                <a:xfrm flipH="1" flipV="1">
                  <a:off x="4841876" y="3675064"/>
                  <a:ext cx="2016125" cy="110807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48" name="AutoShape 64">
                  <a:extLst>
                    <a:ext uri="{FF2B5EF4-FFF2-40B4-BE49-F238E27FC236}">
                      <a16:creationId xmlns:a16="http://schemas.microsoft.com/office/drawing/2014/main" id="{EAB6246F-BA8E-4646-5122-575012882B77}"/>
                    </a:ext>
                  </a:extLst>
                </p:cNvPr>
                <p:cNvCxnSpPr>
                  <a:cxnSpLocks noChangeShapeType="1"/>
                  <a:stCxn id="438" idx="2"/>
                  <a:endCxn id="429" idx="7"/>
                </p:cNvCxnSpPr>
                <p:nvPr/>
              </p:nvCxnSpPr>
              <p:spPr bwMode="auto">
                <a:xfrm flipH="1">
                  <a:off x="4802188" y="3675064"/>
                  <a:ext cx="2055812" cy="101282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grpSp>
          <p:sp>
            <p:nvSpPr>
              <p:cNvPr id="413" name="Text Box 17">
                <a:extLst>
                  <a:ext uri="{FF2B5EF4-FFF2-40B4-BE49-F238E27FC236}">
                    <a16:creationId xmlns:a16="http://schemas.microsoft.com/office/drawing/2014/main" id="{E7CE848C-C387-9443-6872-09B6C18F61E1}"/>
                  </a:ext>
                </a:extLst>
              </p:cNvPr>
              <p:cNvSpPr txBox="1">
                <a:spLocks noChangeArrowheads="1"/>
              </p:cNvSpPr>
              <p:nvPr/>
            </p:nvSpPr>
            <p:spPr bwMode="auto">
              <a:xfrm>
                <a:off x="2006743" y="3603583"/>
                <a:ext cx="760611" cy="540479"/>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sz="1400" dirty="0"/>
                  <a:t>1/1</a:t>
                </a:r>
              </a:p>
            </p:txBody>
          </p:sp>
          <p:sp>
            <p:nvSpPr>
              <p:cNvPr id="414" name="Text Box 17">
                <a:extLst>
                  <a:ext uri="{FF2B5EF4-FFF2-40B4-BE49-F238E27FC236}">
                    <a16:creationId xmlns:a16="http://schemas.microsoft.com/office/drawing/2014/main" id="{0FAB7302-B50A-A9B6-B563-5F303E4BB639}"/>
                  </a:ext>
                </a:extLst>
              </p:cNvPr>
              <p:cNvSpPr txBox="1">
                <a:spLocks noChangeArrowheads="1"/>
              </p:cNvSpPr>
              <p:nvPr/>
            </p:nvSpPr>
            <p:spPr bwMode="auto">
              <a:xfrm>
                <a:off x="2115652" y="4283533"/>
                <a:ext cx="760611" cy="540479"/>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sz="1400" dirty="0"/>
                  <a:t>1/1</a:t>
                </a:r>
              </a:p>
            </p:txBody>
          </p:sp>
          <p:sp>
            <p:nvSpPr>
              <p:cNvPr id="415" name="Text Box 17">
                <a:extLst>
                  <a:ext uri="{FF2B5EF4-FFF2-40B4-BE49-F238E27FC236}">
                    <a16:creationId xmlns:a16="http://schemas.microsoft.com/office/drawing/2014/main" id="{04043388-4214-6FB6-40F4-4D3A7882A3F4}"/>
                  </a:ext>
                </a:extLst>
              </p:cNvPr>
              <p:cNvSpPr txBox="1">
                <a:spLocks noChangeArrowheads="1"/>
              </p:cNvSpPr>
              <p:nvPr/>
            </p:nvSpPr>
            <p:spPr bwMode="auto">
              <a:xfrm>
                <a:off x="2355196" y="4896476"/>
                <a:ext cx="284052" cy="307777"/>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sz="1400" dirty="0"/>
                  <a:t>1</a:t>
                </a:r>
              </a:p>
            </p:txBody>
          </p:sp>
          <p:sp>
            <p:nvSpPr>
              <p:cNvPr id="416" name="Text Box 17">
                <a:extLst>
                  <a:ext uri="{FF2B5EF4-FFF2-40B4-BE49-F238E27FC236}">
                    <a16:creationId xmlns:a16="http://schemas.microsoft.com/office/drawing/2014/main" id="{0980054C-F4C0-1A66-0747-E2EEDB2782DF}"/>
                  </a:ext>
                </a:extLst>
              </p:cNvPr>
              <p:cNvSpPr txBox="1">
                <a:spLocks noChangeArrowheads="1"/>
              </p:cNvSpPr>
              <p:nvPr/>
            </p:nvSpPr>
            <p:spPr bwMode="auto">
              <a:xfrm>
                <a:off x="4355039" y="4042381"/>
                <a:ext cx="284052" cy="307777"/>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sz="1400" dirty="0"/>
                  <a:t>1</a:t>
                </a:r>
              </a:p>
            </p:txBody>
          </p:sp>
          <p:sp>
            <p:nvSpPr>
              <p:cNvPr id="417" name="Text Box 17">
                <a:extLst>
                  <a:ext uri="{FF2B5EF4-FFF2-40B4-BE49-F238E27FC236}">
                    <a16:creationId xmlns:a16="http://schemas.microsoft.com/office/drawing/2014/main" id="{6AB304EA-AEAB-E43E-C697-33E4DFA67A90}"/>
                  </a:ext>
                </a:extLst>
              </p:cNvPr>
              <p:cNvSpPr txBox="1">
                <a:spLocks noChangeArrowheads="1"/>
              </p:cNvSpPr>
              <p:nvPr/>
            </p:nvSpPr>
            <p:spPr bwMode="auto">
              <a:xfrm>
                <a:off x="4324017" y="3526735"/>
                <a:ext cx="284052" cy="307777"/>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sz="1400" dirty="0"/>
                  <a:t>1</a:t>
                </a:r>
              </a:p>
            </p:txBody>
          </p:sp>
          <p:sp>
            <p:nvSpPr>
              <p:cNvPr id="418" name="Text Box 17">
                <a:extLst>
                  <a:ext uri="{FF2B5EF4-FFF2-40B4-BE49-F238E27FC236}">
                    <a16:creationId xmlns:a16="http://schemas.microsoft.com/office/drawing/2014/main" id="{EB0B2436-13C8-42A4-95E8-04E1E628E6E3}"/>
                  </a:ext>
                </a:extLst>
              </p:cNvPr>
              <p:cNvSpPr txBox="1">
                <a:spLocks noChangeArrowheads="1"/>
              </p:cNvSpPr>
              <p:nvPr/>
            </p:nvSpPr>
            <p:spPr bwMode="auto">
              <a:xfrm>
                <a:off x="2699843" y="3747734"/>
                <a:ext cx="760611" cy="540479"/>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sz="1400" dirty="0"/>
                  <a:t>1/1</a:t>
                </a:r>
              </a:p>
            </p:txBody>
          </p:sp>
          <p:sp>
            <p:nvSpPr>
              <p:cNvPr id="419" name="Text Box 17">
                <a:extLst>
                  <a:ext uri="{FF2B5EF4-FFF2-40B4-BE49-F238E27FC236}">
                    <a16:creationId xmlns:a16="http://schemas.microsoft.com/office/drawing/2014/main" id="{DABAB8CB-7D28-7229-8CF7-40D9BB1E0DAF}"/>
                  </a:ext>
                </a:extLst>
              </p:cNvPr>
              <p:cNvSpPr txBox="1">
                <a:spLocks noChangeArrowheads="1"/>
              </p:cNvSpPr>
              <p:nvPr/>
            </p:nvSpPr>
            <p:spPr bwMode="auto">
              <a:xfrm>
                <a:off x="2854052" y="4681970"/>
                <a:ext cx="760611" cy="540479"/>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sz="1400" dirty="0"/>
                  <a:t>1/1</a:t>
                </a:r>
              </a:p>
            </p:txBody>
          </p:sp>
          <p:sp>
            <p:nvSpPr>
              <p:cNvPr id="420" name="Text Box 17">
                <a:extLst>
                  <a:ext uri="{FF2B5EF4-FFF2-40B4-BE49-F238E27FC236}">
                    <a16:creationId xmlns:a16="http://schemas.microsoft.com/office/drawing/2014/main" id="{DB9FE13A-63A6-4BA3-1C58-F97031A001CB}"/>
                  </a:ext>
                </a:extLst>
              </p:cNvPr>
              <p:cNvSpPr txBox="1">
                <a:spLocks noChangeArrowheads="1"/>
              </p:cNvSpPr>
              <p:nvPr/>
            </p:nvSpPr>
            <p:spPr bwMode="auto">
              <a:xfrm>
                <a:off x="3614663" y="5355187"/>
                <a:ext cx="760611" cy="540479"/>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sz="1400" dirty="0"/>
                  <a:t>1/1</a:t>
                </a:r>
              </a:p>
            </p:txBody>
          </p:sp>
          <p:sp>
            <p:nvSpPr>
              <p:cNvPr id="421" name="Text Box 17">
                <a:extLst>
                  <a:ext uri="{FF2B5EF4-FFF2-40B4-BE49-F238E27FC236}">
                    <a16:creationId xmlns:a16="http://schemas.microsoft.com/office/drawing/2014/main" id="{9FF5D636-9AE2-5A40-C562-5948BFF4EF33}"/>
                  </a:ext>
                </a:extLst>
              </p:cNvPr>
              <p:cNvSpPr txBox="1">
                <a:spLocks noChangeArrowheads="1"/>
              </p:cNvSpPr>
              <p:nvPr/>
            </p:nvSpPr>
            <p:spPr bwMode="auto">
              <a:xfrm>
                <a:off x="3717098" y="4793654"/>
                <a:ext cx="760611" cy="540479"/>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sz="1400" dirty="0"/>
                  <a:t>1/1</a:t>
                </a:r>
              </a:p>
            </p:txBody>
          </p:sp>
          <p:sp>
            <p:nvSpPr>
              <p:cNvPr id="422" name="Text Box 17">
                <a:extLst>
                  <a:ext uri="{FF2B5EF4-FFF2-40B4-BE49-F238E27FC236}">
                    <a16:creationId xmlns:a16="http://schemas.microsoft.com/office/drawing/2014/main" id="{039B71E8-4BB1-BA0E-16D9-2BA5E15A459B}"/>
                  </a:ext>
                </a:extLst>
              </p:cNvPr>
              <p:cNvSpPr txBox="1">
                <a:spLocks noChangeArrowheads="1"/>
              </p:cNvSpPr>
              <p:nvPr/>
            </p:nvSpPr>
            <p:spPr bwMode="auto">
              <a:xfrm>
                <a:off x="4668941" y="4671623"/>
                <a:ext cx="760611" cy="540479"/>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sz="1400" dirty="0"/>
                  <a:t>1/1</a:t>
                </a:r>
              </a:p>
            </p:txBody>
          </p:sp>
          <p:sp>
            <p:nvSpPr>
              <p:cNvPr id="423" name="Text Box 17">
                <a:extLst>
                  <a:ext uri="{FF2B5EF4-FFF2-40B4-BE49-F238E27FC236}">
                    <a16:creationId xmlns:a16="http://schemas.microsoft.com/office/drawing/2014/main" id="{47941BC8-70F5-405D-57C0-DA4A1F1C41A2}"/>
                  </a:ext>
                </a:extLst>
              </p:cNvPr>
              <p:cNvSpPr txBox="1">
                <a:spLocks noChangeArrowheads="1"/>
              </p:cNvSpPr>
              <p:nvPr/>
            </p:nvSpPr>
            <p:spPr bwMode="auto">
              <a:xfrm>
                <a:off x="4857385" y="3818113"/>
                <a:ext cx="284052" cy="307777"/>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sz="1400" dirty="0"/>
                  <a:t>1</a:t>
                </a:r>
              </a:p>
            </p:txBody>
          </p:sp>
          <p:sp>
            <p:nvSpPr>
              <p:cNvPr id="424" name="Text Box 17">
                <a:extLst>
                  <a:ext uri="{FF2B5EF4-FFF2-40B4-BE49-F238E27FC236}">
                    <a16:creationId xmlns:a16="http://schemas.microsoft.com/office/drawing/2014/main" id="{A7FEDFA3-1E74-ADBE-5F9D-232009EDAEE5}"/>
                  </a:ext>
                </a:extLst>
              </p:cNvPr>
              <p:cNvSpPr txBox="1">
                <a:spLocks noChangeArrowheads="1"/>
              </p:cNvSpPr>
              <p:nvPr/>
            </p:nvSpPr>
            <p:spPr bwMode="auto">
              <a:xfrm>
                <a:off x="5574496" y="3666542"/>
                <a:ext cx="284052" cy="307777"/>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sz="1400" dirty="0"/>
                  <a:t>1</a:t>
                </a:r>
              </a:p>
            </p:txBody>
          </p:sp>
          <p:sp>
            <p:nvSpPr>
              <p:cNvPr id="425" name="Text Box 17">
                <a:extLst>
                  <a:ext uri="{FF2B5EF4-FFF2-40B4-BE49-F238E27FC236}">
                    <a16:creationId xmlns:a16="http://schemas.microsoft.com/office/drawing/2014/main" id="{4AB9CDAC-79E2-4408-6433-558D699050A8}"/>
                  </a:ext>
                </a:extLst>
              </p:cNvPr>
              <p:cNvSpPr txBox="1">
                <a:spLocks noChangeArrowheads="1"/>
              </p:cNvSpPr>
              <p:nvPr/>
            </p:nvSpPr>
            <p:spPr bwMode="auto">
              <a:xfrm>
                <a:off x="5380419" y="4276688"/>
                <a:ext cx="760611" cy="540479"/>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sz="1400" dirty="0"/>
                  <a:t>1/1</a:t>
                </a:r>
              </a:p>
            </p:txBody>
          </p:sp>
          <p:sp>
            <p:nvSpPr>
              <p:cNvPr id="426" name="Text Box 17">
                <a:extLst>
                  <a:ext uri="{FF2B5EF4-FFF2-40B4-BE49-F238E27FC236}">
                    <a16:creationId xmlns:a16="http://schemas.microsoft.com/office/drawing/2014/main" id="{406ED1E7-D2B6-CC30-EEB7-1751323C318B}"/>
                  </a:ext>
                </a:extLst>
              </p:cNvPr>
              <p:cNvSpPr txBox="1">
                <a:spLocks noChangeArrowheads="1"/>
              </p:cNvSpPr>
              <p:nvPr/>
            </p:nvSpPr>
            <p:spPr bwMode="auto">
              <a:xfrm>
                <a:off x="5574497" y="4932060"/>
                <a:ext cx="760611" cy="540479"/>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sz="1400" dirty="0"/>
                  <a:t>1/1</a:t>
                </a:r>
              </a:p>
            </p:txBody>
          </p:sp>
        </p:grpSp>
        <mc:AlternateContent xmlns:mc="http://schemas.openxmlformats.org/markup-compatibility/2006">
          <mc:Choice xmlns:a14="http://schemas.microsoft.com/office/drawing/2010/main" Requires="a14">
            <p:sp>
              <p:nvSpPr>
                <p:cNvPr id="406" name="Oval 405">
                  <a:extLst>
                    <a:ext uri="{FF2B5EF4-FFF2-40B4-BE49-F238E27FC236}">
                      <a16:creationId xmlns:a16="http://schemas.microsoft.com/office/drawing/2014/main" id="{92656BB9-E0E8-C656-388F-4E4E4B4BA5CE}"/>
                    </a:ext>
                  </a:extLst>
                </p:cNvPr>
                <p:cNvSpPr>
                  <a:spLocks noChangeAspect="1" noChangeArrowheads="1"/>
                </p:cNvSpPr>
                <p:nvPr/>
              </p:nvSpPr>
              <p:spPr bwMode="auto">
                <a:xfrm>
                  <a:off x="85793" y="5100796"/>
                  <a:ext cx="240715" cy="271060"/>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a:effectLst>
                        <a:outerShdw dist="35921" dir="2700000" algn="ctr" rotWithShape="0">
                          <a:srgbClr val="808080"/>
                        </a:outerShdw>
                      </a:effectLst>
                    </a14:hiddenEffects>
                  </a:ext>
                </a:extLst>
              </p:spPr>
              <p:txBody>
                <a:bodyPr wrap="none" lIns="92075" tIns="46038" rIns="92075" bIns="46038" anchor="ctr"/>
                <a:lstStyle/>
                <a:p>
                  <a:pPr algn="ctr"/>
                  <a14:m>
                    <m:oMathPara xmlns:m="http://schemas.openxmlformats.org/officeDocument/2006/math">
                      <m:oMathParaPr>
                        <m:jc m:val="centerGroup"/>
                      </m:oMathParaPr>
                      <m:oMath xmlns:m="http://schemas.openxmlformats.org/officeDocument/2006/math">
                        <m:r>
                          <a:rPr lang="en-US" altLang="en-US" sz="1200" b="1" i="1" smtClean="0">
                            <a:latin typeface="Cambria Math" panose="02040503050406030204" pitchFamily="18" charset="0"/>
                          </a:rPr>
                          <m:t>𝒔</m:t>
                        </m:r>
                        <m:r>
                          <a:rPr lang="en-US" altLang="en-US" sz="1200" b="1" i="1" smtClean="0">
                            <a:latin typeface="Cambria Math" panose="02040503050406030204" pitchFamily="18" charset="0"/>
                          </a:rPr>
                          <m:t>′</m:t>
                        </m:r>
                      </m:oMath>
                    </m:oMathPara>
                  </a14:m>
                  <a:endParaRPr lang="en-US" altLang="en-US" sz="1200" b="1" dirty="0"/>
                </a:p>
              </p:txBody>
            </p:sp>
          </mc:Choice>
          <mc:Fallback>
            <p:sp>
              <p:nvSpPr>
                <p:cNvPr id="406" name="Oval 405">
                  <a:extLst>
                    <a:ext uri="{FF2B5EF4-FFF2-40B4-BE49-F238E27FC236}">
                      <a16:creationId xmlns:a16="http://schemas.microsoft.com/office/drawing/2014/main" id="{92656BB9-E0E8-C656-388F-4E4E4B4BA5CE}"/>
                    </a:ext>
                  </a:extLst>
                </p:cNvPr>
                <p:cNvSpPr>
                  <a:spLocks noRot="1" noChangeAspect="1" noMove="1" noResize="1" noEditPoints="1" noAdjustHandles="1" noChangeArrowheads="1" noChangeShapeType="1" noTextEdit="1"/>
                </p:cNvSpPr>
                <p:nvPr/>
              </p:nvSpPr>
              <p:spPr bwMode="auto">
                <a:xfrm>
                  <a:off x="85793" y="5100796"/>
                  <a:ext cx="240715" cy="271060"/>
                </a:xfrm>
                <a:prstGeom prst="ellipse">
                  <a:avLst/>
                </a:prstGeom>
                <a:blipFill>
                  <a:blip r:embed="rId3"/>
                  <a:stretch>
                    <a:fillRect l="-41667" t="-7143" r="-20833" b="-14286"/>
                  </a:stretch>
                </a:blip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07" name="Oval 4">
                  <a:extLst>
                    <a:ext uri="{FF2B5EF4-FFF2-40B4-BE49-F238E27FC236}">
                      <a16:creationId xmlns:a16="http://schemas.microsoft.com/office/drawing/2014/main" id="{E8552C0F-0121-7DB6-0B88-68C39DE2BCA8}"/>
                    </a:ext>
                  </a:extLst>
                </p:cNvPr>
                <p:cNvSpPr>
                  <a:spLocks noChangeAspect="1" noChangeArrowheads="1"/>
                </p:cNvSpPr>
                <p:nvPr/>
              </p:nvSpPr>
              <p:spPr bwMode="auto">
                <a:xfrm>
                  <a:off x="7081655" y="5114546"/>
                  <a:ext cx="228504" cy="257310"/>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a:effectLst>
                        <a:outerShdw dist="35921" dir="2700000" algn="ctr" rotWithShape="0">
                          <a:srgbClr val="808080"/>
                        </a:outerShdw>
                      </a:effectLst>
                    </a14:hiddenEffects>
                  </a:ext>
                </a:extLst>
              </p:spPr>
              <p:txBody>
                <a:bodyPr wrap="none" lIns="92075" tIns="46038" rIns="92075" bIns="46038" anchor="ctr"/>
                <a:lstStyle/>
                <a:p>
                  <a:pPr algn="ctr"/>
                  <a14:m>
                    <m:oMathPara xmlns:m="http://schemas.openxmlformats.org/officeDocument/2006/math">
                      <m:oMathParaPr>
                        <m:jc m:val="centerGroup"/>
                      </m:oMathParaPr>
                      <m:oMath xmlns:m="http://schemas.openxmlformats.org/officeDocument/2006/math">
                        <m:r>
                          <a:rPr lang="en-US" altLang="en-US" sz="1200" b="1" i="1" smtClean="0">
                            <a:latin typeface="Cambria Math" panose="02040503050406030204" pitchFamily="18" charset="0"/>
                          </a:rPr>
                          <m:t>𝒕</m:t>
                        </m:r>
                        <m:r>
                          <a:rPr lang="en-US" altLang="en-US" sz="1200" b="1" i="1" smtClean="0">
                            <a:latin typeface="Cambria Math" panose="02040503050406030204" pitchFamily="18" charset="0"/>
                          </a:rPr>
                          <m:t>′</m:t>
                        </m:r>
                      </m:oMath>
                    </m:oMathPara>
                  </a14:m>
                  <a:endParaRPr lang="en-US" altLang="en-US" sz="1200" b="1" dirty="0"/>
                </a:p>
              </p:txBody>
            </p:sp>
          </mc:Choice>
          <mc:Fallback>
            <p:sp>
              <p:nvSpPr>
                <p:cNvPr id="407" name="Oval 4">
                  <a:extLst>
                    <a:ext uri="{FF2B5EF4-FFF2-40B4-BE49-F238E27FC236}">
                      <a16:creationId xmlns:a16="http://schemas.microsoft.com/office/drawing/2014/main" id="{E8552C0F-0121-7DB6-0B88-68C39DE2BCA8}"/>
                    </a:ext>
                  </a:extLst>
                </p:cNvPr>
                <p:cNvSpPr>
                  <a:spLocks noRot="1" noChangeAspect="1" noMove="1" noResize="1" noEditPoints="1" noAdjustHandles="1" noChangeArrowheads="1" noChangeShapeType="1" noTextEdit="1"/>
                </p:cNvSpPr>
                <p:nvPr/>
              </p:nvSpPr>
              <p:spPr bwMode="auto">
                <a:xfrm>
                  <a:off x="7081655" y="5114546"/>
                  <a:ext cx="228504" cy="257310"/>
                </a:xfrm>
                <a:prstGeom prst="ellipse">
                  <a:avLst/>
                </a:prstGeom>
                <a:blipFill>
                  <a:blip r:embed="rId4"/>
                  <a:stretch>
                    <a:fillRect l="-37500" t="-15385" r="-12500" b="-19231"/>
                  </a:stretch>
                </a:blip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r>
                    <a:rPr lang="en-US">
                      <a:noFill/>
                    </a:rPr>
                    <a:t> </a:t>
                  </a:r>
                </a:p>
              </p:txBody>
            </p:sp>
          </mc:Fallback>
        </mc:AlternateContent>
        <p:cxnSp>
          <p:nvCxnSpPr>
            <p:cNvPr id="408" name="AutoShape 12">
              <a:extLst>
                <a:ext uri="{FF2B5EF4-FFF2-40B4-BE49-F238E27FC236}">
                  <a16:creationId xmlns:a16="http://schemas.microsoft.com/office/drawing/2014/main" id="{4A3DF050-582C-D8EB-7AB3-8F453D7A3FA3}"/>
                </a:ext>
              </a:extLst>
            </p:cNvPr>
            <p:cNvCxnSpPr>
              <a:cxnSpLocks noChangeShapeType="1"/>
              <a:stCxn id="406" idx="6"/>
              <a:endCxn id="427" idx="2"/>
            </p:cNvCxnSpPr>
            <p:nvPr/>
          </p:nvCxnSpPr>
          <p:spPr bwMode="auto">
            <a:xfrm>
              <a:off x="326508" y="5236326"/>
              <a:ext cx="697620" cy="1"/>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09" name="AutoShape 12">
              <a:extLst>
                <a:ext uri="{FF2B5EF4-FFF2-40B4-BE49-F238E27FC236}">
                  <a16:creationId xmlns:a16="http://schemas.microsoft.com/office/drawing/2014/main" id="{0541F135-2A57-F2EB-1E85-B90FAD9EB925}"/>
                </a:ext>
              </a:extLst>
            </p:cNvPr>
            <p:cNvCxnSpPr>
              <a:cxnSpLocks noChangeShapeType="1"/>
              <a:stCxn id="443" idx="6"/>
              <a:endCxn id="407" idx="2"/>
            </p:cNvCxnSpPr>
            <p:nvPr/>
          </p:nvCxnSpPr>
          <p:spPr bwMode="auto">
            <a:xfrm>
              <a:off x="6327648" y="5236327"/>
              <a:ext cx="754007" cy="6874"/>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mc:AlternateContent xmlns:mc="http://schemas.openxmlformats.org/markup-compatibility/2006">
          <mc:Choice xmlns:a14="http://schemas.microsoft.com/office/drawing/2010/main" Requires="a14">
            <p:sp>
              <p:nvSpPr>
                <p:cNvPr id="410" name="Text Box 17">
                  <a:extLst>
                    <a:ext uri="{FF2B5EF4-FFF2-40B4-BE49-F238E27FC236}">
                      <a16:creationId xmlns:a16="http://schemas.microsoft.com/office/drawing/2014/main" id="{F1405852-6BC1-98BE-ECA3-2DE68F85DA45}"/>
                    </a:ext>
                  </a:extLst>
                </p:cNvPr>
                <p:cNvSpPr txBox="1">
                  <a:spLocks noChangeArrowheads="1"/>
                </p:cNvSpPr>
                <p:nvPr/>
              </p:nvSpPr>
              <p:spPr bwMode="auto">
                <a:xfrm>
                  <a:off x="163657" y="5364351"/>
                  <a:ext cx="927332" cy="540479"/>
                </a:xfrm>
                <a:prstGeom prst="rect">
                  <a:avLst/>
                </a:prstGeom>
                <a:solidFill>
                  <a:schemeClr val="bg1"/>
                </a:solidFill>
                <a:ln>
                  <a:noFill/>
                </a:ln>
                <a:effectLst/>
              </p:spPr>
              <p:txBody>
                <a:bodyPr wrap="squar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14:m>
                    <m:oMathPara xmlns:m="http://schemas.openxmlformats.org/officeDocument/2006/math">
                      <m:oMathParaPr>
                        <m:jc m:val="centerGroup"/>
                      </m:oMathParaPr>
                      <m:oMath xmlns:m="http://schemas.openxmlformats.org/officeDocument/2006/math">
                        <m:r>
                          <a:rPr lang="en-US" altLang="en-US" sz="1400" b="0" i="1" smtClean="0">
                            <a:latin typeface="Cambria Math" panose="02040503050406030204" pitchFamily="18" charset="0"/>
                          </a:rPr>
                          <m:t>2/</m:t>
                        </m:r>
                        <m:r>
                          <a:rPr lang="en-US" altLang="en-US" sz="1400" b="0" i="1" smtClean="0">
                            <a:latin typeface="Cambria Math" panose="02040503050406030204" pitchFamily="18" charset="0"/>
                          </a:rPr>
                          <m:t>𝑚</m:t>
                        </m:r>
                      </m:oMath>
                    </m:oMathPara>
                  </a14:m>
                  <a:endParaRPr lang="en-US" altLang="en-US" sz="1400" dirty="0"/>
                </a:p>
              </p:txBody>
            </p:sp>
          </mc:Choice>
          <mc:Fallback>
            <p:sp>
              <p:nvSpPr>
                <p:cNvPr id="410" name="Text Box 17">
                  <a:extLst>
                    <a:ext uri="{FF2B5EF4-FFF2-40B4-BE49-F238E27FC236}">
                      <a16:creationId xmlns:a16="http://schemas.microsoft.com/office/drawing/2014/main" id="{F1405852-6BC1-98BE-ECA3-2DE68F85DA45}"/>
                    </a:ext>
                  </a:extLst>
                </p:cNvPr>
                <p:cNvSpPr txBox="1">
                  <a:spLocks noRot="1" noChangeAspect="1" noMove="1" noResize="1" noEditPoints="1" noAdjustHandles="1" noChangeArrowheads="1" noChangeShapeType="1" noTextEdit="1"/>
                </p:cNvSpPr>
                <p:nvPr/>
              </p:nvSpPr>
              <p:spPr bwMode="auto">
                <a:xfrm>
                  <a:off x="163657" y="5364351"/>
                  <a:ext cx="927332" cy="540479"/>
                </a:xfrm>
                <a:prstGeom prst="rect">
                  <a:avLst/>
                </a:prstGeom>
                <a:blipFill>
                  <a:blip r:embed="rId7"/>
                  <a:stretch>
                    <a:fillRect b="-7843"/>
                  </a:stretch>
                </a:blipFill>
                <a:ln>
                  <a:noFill/>
                </a:ln>
                <a:effec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11" name="Text Box 17">
                  <a:extLst>
                    <a:ext uri="{FF2B5EF4-FFF2-40B4-BE49-F238E27FC236}">
                      <a16:creationId xmlns:a16="http://schemas.microsoft.com/office/drawing/2014/main" id="{13656C2C-88FA-F188-E6ED-D48A1656A13D}"/>
                    </a:ext>
                  </a:extLst>
                </p:cNvPr>
                <p:cNvSpPr txBox="1">
                  <a:spLocks noChangeArrowheads="1"/>
                </p:cNvSpPr>
                <p:nvPr/>
              </p:nvSpPr>
              <p:spPr bwMode="auto">
                <a:xfrm>
                  <a:off x="6225998" y="5395202"/>
                  <a:ext cx="1010918" cy="540479"/>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14:m>
                    <m:oMathPara xmlns:m="http://schemas.openxmlformats.org/officeDocument/2006/math">
                      <m:oMathParaPr>
                        <m:jc m:val="centerGroup"/>
                      </m:oMathParaPr>
                      <m:oMath xmlns:m="http://schemas.openxmlformats.org/officeDocument/2006/math">
                        <m:r>
                          <a:rPr lang="en-US" altLang="en-US" sz="1400" b="0" i="1" smtClean="0">
                            <a:latin typeface="Cambria Math" panose="02040503050406030204" pitchFamily="18" charset="0"/>
                          </a:rPr>
                          <m:t>2/</m:t>
                        </m:r>
                        <m:r>
                          <a:rPr lang="en-US" altLang="en-US" sz="1400" b="0" i="1" smtClean="0">
                            <a:latin typeface="Cambria Math" panose="02040503050406030204" pitchFamily="18" charset="0"/>
                          </a:rPr>
                          <m:t>𝑚</m:t>
                        </m:r>
                      </m:oMath>
                    </m:oMathPara>
                  </a14:m>
                  <a:endParaRPr lang="en-US" altLang="en-US" sz="1400" dirty="0"/>
                </a:p>
              </p:txBody>
            </p:sp>
          </mc:Choice>
          <mc:Fallback>
            <p:sp>
              <p:nvSpPr>
                <p:cNvPr id="411" name="Text Box 17">
                  <a:extLst>
                    <a:ext uri="{FF2B5EF4-FFF2-40B4-BE49-F238E27FC236}">
                      <a16:creationId xmlns:a16="http://schemas.microsoft.com/office/drawing/2014/main" id="{13656C2C-88FA-F188-E6ED-D48A1656A13D}"/>
                    </a:ext>
                  </a:extLst>
                </p:cNvPr>
                <p:cNvSpPr txBox="1">
                  <a:spLocks noRot="1" noChangeAspect="1" noMove="1" noResize="1" noEditPoints="1" noAdjustHandles="1" noChangeArrowheads="1" noChangeShapeType="1" noTextEdit="1"/>
                </p:cNvSpPr>
                <p:nvPr/>
              </p:nvSpPr>
              <p:spPr bwMode="auto">
                <a:xfrm>
                  <a:off x="6225998" y="5395202"/>
                  <a:ext cx="1010918" cy="540479"/>
                </a:xfrm>
                <a:prstGeom prst="rect">
                  <a:avLst/>
                </a:prstGeom>
                <a:blipFill>
                  <a:blip r:embed="rId8"/>
                  <a:stretch>
                    <a:fillRect b="-10000"/>
                  </a:stretch>
                </a:blipFill>
                <a:ln>
                  <a:noFill/>
                </a:ln>
                <a:effectLst/>
              </p:spPr>
              <p:txBody>
                <a:bodyPr/>
                <a:lstStyle/>
                <a:p>
                  <a:r>
                    <a:rPr lang="en-US">
                      <a:noFill/>
                    </a:rPr>
                    <a:t> </a:t>
                  </a:r>
                </a:p>
              </p:txBody>
            </p:sp>
          </mc:Fallback>
        </mc:AlternateContent>
      </p:grpSp>
    </p:spTree>
    <p:extLst>
      <p:ext uri="{BB962C8B-B14F-4D97-AF65-F5344CB8AC3E}">
        <p14:creationId xmlns:p14="http://schemas.microsoft.com/office/powerpoint/2010/main" val="212753102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2A7CDB-78A2-8178-6EB9-8FD3457AB274}"/>
            </a:ext>
          </a:extLst>
        </p:cNvPr>
        <p:cNvGrpSpPr/>
        <p:nvPr/>
      </p:nvGrpSpPr>
      <p:grpSpPr>
        <a:xfrm>
          <a:off x="0" y="0"/>
          <a:ext cx="0" cy="0"/>
          <a:chOff x="0" y="0"/>
          <a:chExt cx="0" cy="0"/>
        </a:xfrm>
      </p:grpSpPr>
      <p:sp>
        <p:nvSpPr>
          <p:cNvPr id="451615" name="Rectangle 31">
            <a:extLst>
              <a:ext uri="{FF2B5EF4-FFF2-40B4-BE49-F238E27FC236}">
                <a16:creationId xmlns:a16="http://schemas.microsoft.com/office/drawing/2014/main" id="{52E6EB7D-DBC6-73C0-7797-0EFB09930FBF}"/>
              </a:ext>
            </a:extLst>
          </p:cNvPr>
          <p:cNvSpPr>
            <a:spLocks noGrp="1" noChangeArrowheads="1"/>
          </p:cNvSpPr>
          <p:nvPr>
            <p:ph type="title"/>
          </p:nvPr>
        </p:nvSpPr>
        <p:spPr/>
        <p:txBody>
          <a:bodyPr/>
          <a:lstStyle/>
          <a:p>
            <a:r>
              <a:rPr lang="en-US" altLang="en-US" dirty="0"/>
              <a:t>Edge-Disjoint Paths</a:t>
            </a:r>
          </a:p>
        </p:txBody>
      </p:sp>
      <mc:AlternateContent xmlns:mc="http://schemas.openxmlformats.org/markup-compatibility/2006">
        <mc:Choice xmlns:a14="http://schemas.microsoft.com/office/drawing/2010/main" Requires="a14">
          <p:sp>
            <p:nvSpPr>
              <p:cNvPr id="451616" name="Rectangle 32">
                <a:extLst>
                  <a:ext uri="{FF2B5EF4-FFF2-40B4-BE49-F238E27FC236}">
                    <a16:creationId xmlns:a16="http://schemas.microsoft.com/office/drawing/2014/main" id="{AEE68BB3-EBED-0A06-91BF-E786B8BF6FF4}"/>
                  </a:ext>
                </a:extLst>
              </p:cNvPr>
              <p:cNvSpPr>
                <a:spLocks noGrp="1" noChangeArrowheads="1"/>
              </p:cNvSpPr>
              <p:nvPr>
                <p:ph sz="half" idx="1"/>
              </p:nvPr>
            </p:nvSpPr>
            <p:spPr>
              <a:xfrm>
                <a:off x="254314" y="1446797"/>
                <a:ext cx="5678218" cy="4351338"/>
              </a:xfrm>
            </p:spPr>
            <p:txBody>
              <a:bodyPr>
                <a:noAutofit/>
              </a:bodyPr>
              <a:lstStyle/>
              <a:p>
                <a:pPr marL="0" indent="0">
                  <a:buNone/>
                </a:pPr>
                <a:r>
                  <a:rPr lang="en-US" altLang="en-US" sz="2400" dirty="0">
                    <a:solidFill>
                      <a:schemeClr val="tx1"/>
                    </a:solidFill>
                  </a:rPr>
                  <a:t>MaxFlow for edge-disjoint paths</a:t>
                </a:r>
              </a:p>
              <a:p>
                <a:pPr lvl="1"/>
                <a:r>
                  <a:rPr lang="en-US" altLang="en-US" sz="2400" dirty="0"/>
                  <a:t>Assign capacity </a:t>
                </a:r>
                <a14:m>
                  <m:oMath xmlns:m="http://schemas.openxmlformats.org/officeDocument/2006/math">
                    <m:r>
                      <a:rPr lang="en-US" altLang="en-US" sz="2400" b="1" i="1" dirty="0" smtClean="0">
                        <a:solidFill>
                          <a:srgbClr val="0066CC"/>
                        </a:solidFill>
                        <a:latin typeface="Cambria Math" panose="02040503050406030204" pitchFamily="18" charset="0"/>
                      </a:rPr>
                      <m:t>𝟏</m:t>
                    </m:r>
                  </m:oMath>
                </a14:m>
                <a:r>
                  <a:rPr lang="en-US" altLang="en-US" sz="2400" dirty="0"/>
                  <a:t> to every edge</a:t>
                </a:r>
              </a:p>
              <a:p>
                <a:pPr lvl="1"/>
                <a:r>
                  <a:rPr lang="en-US" altLang="en-US" sz="2400" dirty="0"/>
                  <a:t>Add a source </a:t>
                </a:r>
                <a14:m>
                  <m:oMath xmlns:m="http://schemas.openxmlformats.org/officeDocument/2006/math">
                    <m:r>
                      <a:rPr lang="en-US" altLang="en-US" sz="2400" b="1" i="1" dirty="0" smtClean="0">
                        <a:solidFill>
                          <a:srgbClr val="0066CC"/>
                        </a:solidFill>
                        <a:latin typeface="Cambria Math" panose="02040503050406030204" pitchFamily="18" charset="0"/>
                      </a:rPr>
                      <m:t>𝒔</m:t>
                    </m:r>
                    <m:r>
                      <a:rPr lang="en-US" altLang="en-US" sz="2400" b="1" i="1" dirty="0" smtClean="0">
                        <a:solidFill>
                          <a:srgbClr val="0066CC"/>
                        </a:solidFill>
                        <a:latin typeface="Cambria Math" panose="02040503050406030204" pitchFamily="18" charset="0"/>
                      </a:rPr>
                      <m:t>′</m:t>
                    </m:r>
                  </m:oMath>
                </a14:m>
                <a:r>
                  <a:rPr lang="en-US" altLang="en-US" sz="2400" dirty="0"/>
                  <a:t> </a:t>
                </a:r>
                <a:r>
                  <a:rPr lang="en-US" altLang="en-US" dirty="0"/>
                  <a:t>and a sink</a:t>
                </a:r>
                <a:r>
                  <a:rPr lang="en-US" altLang="en-US" sz="2400" dirty="0"/>
                  <a:t> </a:t>
                </a:r>
                <a14:m>
                  <m:oMath xmlns:m="http://schemas.openxmlformats.org/officeDocument/2006/math">
                    <m:r>
                      <a:rPr lang="en-US" altLang="en-US" sz="2400" b="1" i="1" dirty="0" smtClean="0">
                        <a:solidFill>
                          <a:srgbClr val="0066CC"/>
                        </a:solidFill>
                        <a:latin typeface="Cambria Math" panose="02040503050406030204" pitchFamily="18" charset="0"/>
                      </a:rPr>
                      <m:t>𝒕</m:t>
                    </m:r>
                    <m:r>
                      <a:rPr lang="en-US" altLang="en-US" sz="2400" b="1" i="1" dirty="0" smtClean="0">
                        <a:solidFill>
                          <a:srgbClr val="0066CC"/>
                        </a:solidFill>
                        <a:latin typeface="Cambria Math" panose="02040503050406030204" pitchFamily="18" charset="0"/>
                      </a:rPr>
                      <m:t>′</m:t>
                    </m:r>
                  </m:oMath>
                </a14:m>
                <a:endParaRPr lang="en-US" altLang="en-US" sz="2400" b="1" dirty="0">
                  <a:solidFill>
                    <a:srgbClr val="0066CC"/>
                  </a:solidFill>
                </a:endParaRPr>
              </a:p>
              <a:p>
                <a:pPr lvl="1"/>
                <a:r>
                  <a:rPr lang="en-US" altLang="en-US" sz="2400" dirty="0">
                    <a:solidFill>
                      <a:schemeClr val="tx1"/>
                    </a:solidFill>
                  </a:rPr>
                  <a:t>Connect</a:t>
                </a:r>
                <a:r>
                  <a:rPr lang="en-US" altLang="en-US" b="1" dirty="0">
                    <a:solidFill>
                      <a:srgbClr val="0066CC"/>
                    </a:solidFill>
                  </a:rPr>
                  <a:t> </a:t>
                </a:r>
                <a14:m>
                  <m:oMath xmlns:m="http://schemas.openxmlformats.org/officeDocument/2006/math">
                    <m:r>
                      <a:rPr lang="en-US" altLang="en-US" b="1" i="1" smtClean="0">
                        <a:solidFill>
                          <a:srgbClr val="0066CC"/>
                        </a:solidFill>
                        <a:latin typeface="Cambria Math" panose="02040503050406030204" pitchFamily="18" charset="0"/>
                      </a:rPr>
                      <m:t>𝒔</m:t>
                    </m:r>
                    <m:r>
                      <a:rPr lang="en-US" altLang="en-US" b="1" i="1" smtClean="0">
                        <a:solidFill>
                          <a:srgbClr val="0066CC"/>
                        </a:solidFill>
                        <a:latin typeface="Cambria Math" panose="02040503050406030204" pitchFamily="18" charset="0"/>
                      </a:rPr>
                      <m:t>′</m:t>
                    </m:r>
                  </m:oMath>
                </a14:m>
                <a:r>
                  <a:rPr lang="en-US" altLang="en-US" sz="2400" dirty="0"/>
                  <a:t> </a:t>
                </a:r>
                <a:r>
                  <a:rPr lang="en-US" altLang="en-US" dirty="0"/>
                  <a:t>to </a:t>
                </a:r>
                <a14:m>
                  <m:oMath xmlns:m="http://schemas.openxmlformats.org/officeDocument/2006/math">
                    <m:r>
                      <a:rPr lang="en-US" altLang="en-US" b="1" i="1" dirty="0">
                        <a:solidFill>
                          <a:srgbClr val="0066CC"/>
                        </a:solidFill>
                        <a:latin typeface="Cambria Math" panose="02040503050406030204" pitchFamily="18" charset="0"/>
                      </a:rPr>
                      <m:t>𝒔</m:t>
                    </m:r>
                  </m:oMath>
                </a14:m>
                <a:r>
                  <a:rPr lang="en-US" altLang="en-US" sz="2400" dirty="0"/>
                  <a:t> and </a:t>
                </a:r>
                <a14:m>
                  <m:oMath xmlns:m="http://schemas.openxmlformats.org/officeDocument/2006/math">
                    <m:r>
                      <a:rPr lang="en-US" altLang="en-US" b="1" i="1" dirty="0" smtClean="0">
                        <a:solidFill>
                          <a:srgbClr val="0066CC"/>
                        </a:solidFill>
                        <a:latin typeface="Cambria Math" panose="02040503050406030204" pitchFamily="18" charset="0"/>
                      </a:rPr>
                      <m:t>𝒕</m:t>
                    </m:r>
                    <m:r>
                      <a:rPr lang="en-US" altLang="en-US" b="1" i="1" dirty="0" smtClean="0">
                        <a:solidFill>
                          <a:srgbClr val="0066CC"/>
                        </a:solidFill>
                        <a:latin typeface="Cambria Math" panose="02040503050406030204" pitchFamily="18" charset="0"/>
                      </a:rPr>
                      <m:t>′ </m:t>
                    </m:r>
                  </m:oMath>
                </a14:m>
                <a:r>
                  <a:rPr lang="en-US" altLang="en-US" sz="2400" dirty="0"/>
                  <a:t> to </a:t>
                </a:r>
                <a14:m>
                  <m:oMath xmlns:m="http://schemas.openxmlformats.org/officeDocument/2006/math">
                    <m:r>
                      <a:rPr lang="en-US" altLang="en-US" b="1" i="1" dirty="0" smtClean="0">
                        <a:solidFill>
                          <a:srgbClr val="0066CC"/>
                        </a:solidFill>
                        <a:latin typeface="Cambria Math" panose="02040503050406030204" pitchFamily="18" charset="0"/>
                      </a:rPr>
                      <m:t>𝒕</m:t>
                    </m:r>
                  </m:oMath>
                </a14:m>
                <a:r>
                  <a:rPr lang="en-US" altLang="en-US" sz="2400" dirty="0"/>
                  <a:t> with capacity </a:t>
                </a:r>
                <a14:m>
                  <m:oMath xmlns:m="http://schemas.openxmlformats.org/officeDocument/2006/math">
                    <m:r>
                      <a:rPr lang="en-US" altLang="en-US" sz="2400" b="0" i="1" smtClean="0">
                        <a:latin typeface="Cambria Math" panose="02040503050406030204" pitchFamily="18" charset="0"/>
                      </a:rPr>
                      <m:t>𝑚</m:t>
                    </m:r>
                  </m:oMath>
                </a14:m>
                <a:endParaRPr lang="en-US" altLang="en-US" sz="2400" dirty="0">
                  <a:solidFill>
                    <a:schemeClr val="tx1"/>
                  </a:solidFill>
                </a:endParaRPr>
              </a:p>
              <a:p>
                <a:pPr lvl="1"/>
                <a:r>
                  <a:rPr lang="en-US" altLang="en-US" dirty="0"/>
                  <a:t>Compute max flow</a:t>
                </a:r>
              </a:p>
              <a:p>
                <a:pPr lvl="1"/>
                <a:r>
                  <a:rPr lang="en-US" altLang="en-US" dirty="0"/>
                  <a:t>Use all edges with flow</a:t>
                </a:r>
              </a:p>
              <a:p>
                <a:pPr lvl="1"/>
                <a:endParaRPr lang="en-US" altLang="en-US" sz="2400" dirty="0">
                  <a:solidFill>
                    <a:schemeClr val="tx1"/>
                  </a:solidFill>
                </a:endParaRPr>
              </a:p>
            </p:txBody>
          </p:sp>
        </mc:Choice>
        <mc:Fallback>
          <p:sp>
            <p:nvSpPr>
              <p:cNvPr id="451616" name="Rectangle 32">
                <a:extLst>
                  <a:ext uri="{FF2B5EF4-FFF2-40B4-BE49-F238E27FC236}">
                    <a16:creationId xmlns:a16="http://schemas.microsoft.com/office/drawing/2014/main" id="{AEE68BB3-EBED-0A06-91BF-E786B8BF6FF4}"/>
                  </a:ext>
                </a:extLst>
              </p:cNvPr>
              <p:cNvSpPr>
                <a:spLocks noGrp="1" noRot="1" noChangeAspect="1" noMove="1" noResize="1" noEditPoints="1" noAdjustHandles="1" noChangeArrowheads="1" noChangeShapeType="1" noTextEdit="1"/>
              </p:cNvSpPr>
              <p:nvPr>
                <p:ph sz="half" idx="1"/>
              </p:nvPr>
            </p:nvSpPr>
            <p:spPr>
              <a:xfrm>
                <a:off x="254314" y="1446797"/>
                <a:ext cx="5678218" cy="4351338"/>
              </a:xfrm>
              <a:blipFill>
                <a:blip r:embed="rId3"/>
                <a:stretch>
                  <a:fillRect l="-1719" t="-196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1A19B38F-FCBE-6622-D995-92221E9986EC}"/>
                  </a:ext>
                </a:extLst>
              </p:cNvPr>
              <p:cNvSpPr>
                <a:spLocks noGrp="1"/>
              </p:cNvSpPr>
              <p:nvPr>
                <p:ph sz="half" idx="2"/>
              </p:nvPr>
            </p:nvSpPr>
            <p:spPr>
              <a:xfrm>
                <a:off x="6327648" y="71354"/>
                <a:ext cx="5765486" cy="5294379"/>
              </a:xfrm>
            </p:spPr>
            <p:txBody>
              <a:bodyPr>
                <a:noAutofit/>
              </a:bodyPr>
              <a:lstStyle/>
              <a:p>
                <a:pPr marL="0" indent="0">
                  <a:buNone/>
                </a:pPr>
                <a:r>
                  <a:rPr lang="en-US" sz="2000" b="1" dirty="0">
                    <a:solidFill>
                      <a:srgbClr val="695082"/>
                    </a:solidFill>
                  </a:rPr>
                  <a:t>Theorem:</a:t>
                </a:r>
                <a:r>
                  <a:rPr lang="en-US" sz="2000" b="1" dirty="0"/>
                  <a:t> </a:t>
                </a:r>
                <a:r>
                  <a:rPr lang="en-US" sz="2000" dirty="0" err="1"/>
                  <a:t>MaxFlow</a:t>
                </a:r>
                <a:r>
                  <a:rPr lang="en-US" sz="2000" dirty="0"/>
                  <a:t> </a:t>
                </a:r>
                <a14:m>
                  <m:oMath xmlns:m="http://schemas.openxmlformats.org/officeDocument/2006/math">
                    <m:r>
                      <a:rPr lang="en-US" sz="2000" i="1" dirty="0" smtClean="0">
                        <a:latin typeface="Cambria Math" panose="02040503050406030204" pitchFamily="18" charset="0"/>
                      </a:rPr>
                      <m:t>=</m:t>
                    </m:r>
                  </m:oMath>
                </a14:m>
                <a:r>
                  <a:rPr lang="en-US" sz="2000" dirty="0"/>
                  <a:t> # edge-disjoint paths</a:t>
                </a:r>
              </a:p>
              <a:p>
                <a:pPr marL="0" indent="0">
                  <a:buNone/>
                </a:pPr>
                <a:r>
                  <a:rPr lang="en-US" sz="2000" dirty="0"/>
                  <a:t>Valid flow </a:t>
                </a:r>
                <a14:m>
                  <m:oMath xmlns:m="http://schemas.openxmlformats.org/officeDocument/2006/math">
                    <m:r>
                      <a:rPr lang="en-US" sz="2000" b="0" i="1" smtClean="0">
                        <a:latin typeface="Cambria Math" panose="02040503050406030204" pitchFamily="18" charset="0"/>
                      </a:rPr>
                      <m:t>⇒</m:t>
                    </m:r>
                  </m:oMath>
                </a14:m>
                <a:r>
                  <a:rPr lang="en-US" sz="2000" dirty="0"/>
                  <a:t> Valid answer:</a:t>
                </a:r>
              </a:p>
              <a:p>
                <a:pPr marL="0" indent="0">
                  <a:buNone/>
                </a:pPr>
                <a:r>
                  <a:rPr lang="en-US" sz="2000" b="1" dirty="0"/>
                  <a:t>Need to show: no edge is used more than once, all paths go from </a:t>
                </a:r>
                <a14:m>
                  <m:oMath xmlns:m="http://schemas.openxmlformats.org/officeDocument/2006/math">
                    <m:r>
                      <a:rPr lang="en-US" sz="2000" b="1" i="1" smtClean="0">
                        <a:latin typeface="Cambria Math" panose="02040503050406030204" pitchFamily="18" charset="0"/>
                      </a:rPr>
                      <m:t>𝒔</m:t>
                    </m:r>
                  </m:oMath>
                </a14:m>
                <a:r>
                  <a:rPr lang="en-US" sz="2000" b="1" dirty="0"/>
                  <a:t> to </a:t>
                </a:r>
                <a14:m>
                  <m:oMath xmlns:m="http://schemas.openxmlformats.org/officeDocument/2006/math">
                    <m:r>
                      <a:rPr lang="en-US" sz="2000" b="1" i="1" smtClean="0">
                        <a:latin typeface="Cambria Math" panose="02040503050406030204" pitchFamily="18" charset="0"/>
                      </a:rPr>
                      <m:t>𝒕</m:t>
                    </m:r>
                  </m:oMath>
                </a14:m>
                <a:endParaRPr lang="en-US" sz="2000" b="1" dirty="0"/>
              </a:p>
              <a:p>
                <a:pPr marL="0" indent="0">
                  <a:buNone/>
                </a:pPr>
                <a:r>
                  <a:rPr lang="en-US" sz="2000" dirty="0"/>
                  <a:t>	Each edge has capacity 1, so it’s used once. To get from </a:t>
                </a:r>
                <a14:m>
                  <m:oMath xmlns:m="http://schemas.openxmlformats.org/officeDocument/2006/math">
                    <m:r>
                      <a:rPr lang="en-US" sz="2000" b="0" i="1" smtClean="0">
                        <a:latin typeface="Cambria Math" panose="02040503050406030204" pitchFamily="18" charset="0"/>
                      </a:rPr>
                      <m:t>𝑠</m:t>
                    </m:r>
                    <m:r>
                      <a:rPr lang="en-US" sz="2000" b="0" i="1" smtClean="0">
                        <a:latin typeface="Cambria Math" panose="02040503050406030204" pitchFamily="18" charset="0"/>
                      </a:rPr>
                      <m:t>′</m:t>
                    </m:r>
                  </m:oMath>
                </a14:m>
                <a:r>
                  <a:rPr lang="en-US" sz="2000" dirty="0"/>
                  <a:t> to </a:t>
                </a:r>
                <a14:m>
                  <m:oMath xmlns:m="http://schemas.openxmlformats.org/officeDocument/2006/math">
                    <m:r>
                      <a:rPr lang="en-US" sz="2000" b="0" i="1" smtClean="0">
                        <a:latin typeface="Cambria Math" panose="02040503050406030204" pitchFamily="18" charset="0"/>
                      </a:rPr>
                      <m:t>𝑡</m:t>
                    </m:r>
                    <m:r>
                      <a:rPr lang="en-US" sz="2000" b="0" i="1" smtClean="0">
                        <a:latin typeface="Cambria Math" panose="02040503050406030204" pitchFamily="18" charset="0"/>
                      </a:rPr>
                      <m:t>′</m:t>
                    </m:r>
                  </m:oMath>
                </a14:m>
                <a:r>
                  <a:rPr lang="en-US" sz="2000" dirty="0"/>
                  <a:t> we must go from </a:t>
                </a:r>
                <a14:m>
                  <m:oMath xmlns:m="http://schemas.openxmlformats.org/officeDocument/2006/math">
                    <m:r>
                      <a:rPr lang="en-US" sz="2000" b="0" i="1" smtClean="0">
                        <a:latin typeface="Cambria Math" panose="02040503050406030204" pitchFamily="18" charset="0"/>
                      </a:rPr>
                      <m:t>𝑠</m:t>
                    </m:r>
                  </m:oMath>
                </a14:m>
                <a:r>
                  <a:rPr lang="en-US" sz="2000" dirty="0"/>
                  <a:t> to </a:t>
                </a:r>
                <a14:m>
                  <m:oMath xmlns:m="http://schemas.openxmlformats.org/officeDocument/2006/math">
                    <m:r>
                      <a:rPr lang="en-US" sz="2000" b="0" i="1" smtClean="0">
                        <a:latin typeface="Cambria Math" panose="02040503050406030204" pitchFamily="18" charset="0"/>
                      </a:rPr>
                      <m:t>𝑡</m:t>
                    </m:r>
                  </m:oMath>
                </a14:m>
                <a:r>
                  <a:rPr lang="en-US" sz="2000" dirty="0"/>
                  <a:t> along the way</a:t>
                </a:r>
              </a:p>
              <a:p>
                <a:pPr marL="0" indent="0">
                  <a:buNone/>
                </a:pPr>
                <a:endParaRPr lang="en-US" sz="2000" dirty="0"/>
              </a:p>
              <a:p>
                <a:pPr marL="0" indent="0">
                  <a:buNone/>
                </a:pPr>
                <a:r>
                  <a:rPr lang="en-US" sz="2000" dirty="0"/>
                  <a:t>Valid answer </a:t>
                </a:r>
                <a14:m>
                  <m:oMath xmlns:m="http://schemas.openxmlformats.org/officeDocument/2006/math">
                    <m:r>
                      <a:rPr lang="en-US" sz="2000" b="0" i="1" smtClean="0">
                        <a:latin typeface="Cambria Math" panose="02040503050406030204" pitchFamily="18" charset="0"/>
                      </a:rPr>
                      <m:t>⇒</m:t>
                    </m:r>
                  </m:oMath>
                </a14:m>
                <a:r>
                  <a:rPr lang="en-US" sz="2000" dirty="0"/>
                  <a:t> Valid flow:</a:t>
                </a:r>
              </a:p>
              <a:p>
                <a:pPr marL="0" indent="0">
                  <a:buNone/>
                </a:pPr>
                <a:r>
                  <a:rPr lang="en-US" sz="2000" b="1" dirty="0"/>
                  <a:t>Need to show: Any set of edge-disjoint paths could be used to produce flow of the same amount.</a:t>
                </a:r>
              </a:p>
              <a:p>
                <a:pPr marL="0" indent="0">
                  <a:buNone/>
                </a:pPr>
                <a:r>
                  <a:rPr lang="en-US" sz="2000" b="1" dirty="0"/>
                  <a:t>	</a:t>
                </a:r>
                <a:r>
                  <a:rPr lang="en-US" sz="2000" dirty="0"/>
                  <a:t>Add 1 unit of flow along each path. Since no path uses the same edge twice, capacity constraint is satisfied. Because the indegree matches the outdegree for each node (except </a:t>
                </a:r>
                <a14:m>
                  <m:oMath xmlns:m="http://schemas.openxmlformats.org/officeDocument/2006/math">
                    <m:r>
                      <a:rPr lang="en-US" sz="2000" b="0" i="1" smtClean="0">
                        <a:latin typeface="Cambria Math" panose="02040503050406030204" pitchFamily="18" charset="0"/>
                      </a:rPr>
                      <m:t>𝑠</m:t>
                    </m:r>
                    <m:r>
                      <a:rPr lang="en-US" sz="2000" b="0" i="1" smtClean="0">
                        <a:latin typeface="Cambria Math" panose="02040503050406030204" pitchFamily="18" charset="0"/>
                      </a:rPr>
                      <m:t>′</m:t>
                    </m:r>
                  </m:oMath>
                </a14:m>
                <a:r>
                  <a:rPr lang="en-US" sz="2000" dirty="0"/>
                  <a:t> and </a:t>
                </a:r>
                <a14:m>
                  <m:oMath xmlns:m="http://schemas.openxmlformats.org/officeDocument/2006/math">
                    <m:r>
                      <a:rPr lang="en-US" sz="2000" b="0" i="1" smtClean="0">
                        <a:latin typeface="Cambria Math" panose="02040503050406030204" pitchFamily="18" charset="0"/>
                      </a:rPr>
                      <m:t>𝑡</m:t>
                    </m:r>
                    <m:r>
                      <a:rPr lang="en-US" sz="2000" b="0" i="1" smtClean="0">
                        <a:latin typeface="Cambria Math" panose="02040503050406030204" pitchFamily="18" charset="0"/>
                      </a:rPr>
                      <m:t>′</m:t>
                    </m:r>
                  </m:oMath>
                </a14:m>
                <a:r>
                  <a:rPr lang="en-US" sz="2000" dirty="0"/>
                  <a:t>), the flow constraint is satisfied.</a:t>
                </a:r>
              </a:p>
            </p:txBody>
          </p:sp>
        </mc:Choice>
        <mc:Fallback>
          <p:sp>
            <p:nvSpPr>
              <p:cNvPr id="3" name="Content Placeholder 2">
                <a:extLst>
                  <a:ext uri="{FF2B5EF4-FFF2-40B4-BE49-F238E27FC236}">
                    <a16:creationId xmlns:a16="http://schemas.microsoft.com/office/drawing/2014/main" id="{1A19B38F-FCBE-6622-D995-92221E9986EC}"/>
                  </a:ext>
                </a:extLst>
              </p:cNvPr>
              <p:cNvSpPr>
                <a:spLocks noGrp="1" noRot="1" noChangeAspect="1" noMove="1" noResize="1" noEditPoints="1" noAdjustHandles="1" noChangeArrowheads="1" noChangeShapeType="1" noTextEdit="1"/>
              </p:cNvSpPr>
              <p:nvPr>
                <p:ph sz="half" idx="2"/>
              </p:nvPr>
            </p:nvSpPr>
            <p:spPr>
              <a:xfrm>
                <a:off x="6327648" y="71354"/>
                <a:ext cx="5765486" cy="5294379"/>
              </a:xfrm>
              <a:blipFill>
                <a:blip r:embed="rId4"/>
                <a:stretch>
                  <a:fillRect l="-1057" t="-1267" b="-3571"/>
                </a:stretch>
              </a:blipFill>
            </p:spPr>
            <p:txBody>
              <a:bodyPr/>
              <a:lstStyle/>
              <a:p>
                <a:r>
                  <a:rPr lang="en-US">
                    <a:noFill/>
                  </a:rPr>
                  <a:t> </a:t>
                </a:r>
              </a:p>
            </p:txBody>
          </p:sp>
        </mc:Fallback>
      </mc:AlternateContent>
      <p:sp>
        <p:nvSpPr>
          <p:cNvPr id="26" name="Slide Number Placeholder 3">
            <a:extLst>
              <a:ext uri="{FF2B5EF4-FFF2-40B4-BE49-F238E27FC236}">
                <a16:creationId xmlns:a16="http://schemas.microsoft.com/office/drawing/2014/main" id="{519657BB-3FEF-1627-313E-7D38241C1B1B}"/>
              </a:ext>
            </a:extLst>
          </p:cNvPr>
          <p:cNvSpPr>
            <a:spLocks noGrp="1"/>
          </p:cNvSpPr>
          <p:nvPr>
            <p:ph type="sldNum" sz="quarter" idx="12"/>
          </p:nvPr>
        </p:nvSpPr>
        <p:spPr/>
        <p:txBody>
          <a:bodyPr/>
          <a:lstStyle/>
          <a:p>
            <a:fld id="{7171D143-95A6-4EFE-B529-5DD58A85D94A}" type="slidenum">
              <a:rPr lang="en-US" altLang="en-US"/>
              <a:pPr/>
              <a:t>33</a:t>
            </a:fld>
            <a:endParaRPr lang="en-US" altLang="en-US" sz="1400"/>
          </a:p>
        </p:txBody>
      </p:sp>
      <p:grpSp>
        <p:nvGrpSpPr>
          <p:cNvPr id="8" name="Group 7">
            <a:extLst>
              <a:ext uri="{FF2B5EF4-FFF2-40B4-BE49-F238E27FC236}">
                <a16:creationId xmlns:a16="http://schemas.microsoft.com/office/drawing/2014/main" id="{F271F136-0D08-572C-D59B-F368E9E27B96}"/>
              </a:ext>
            </a:extLst>
          </p:cNvPr>
          <p:cNvGrpSpPr/>
          <p:nvPr/>
        </p:nvGrpSpPr>
        <p:grpSpPr>
          <a:xfrm>
            <a:off x="1127463" y="4531018"/>
            <a:ext cx="5303520" cy="2326982"/>
            <a:chOff x="1463040" y="3429000"/>
            <a:chExt cx="5303520" cy="2326982"/>
          </a:xfrm>
        </p:grpSpPr>
        <p:grpSp>
          <p:nvGrpSpPr>
            <p:cNvPr id="9" name="Group 8">
              <a:extLst>
                <a:ext uri="{FF2B5EF4-FFF2-40B4-BE49-F238E27FC236}">
                  <a16:creationId xmlns:a16="http://schemas.microsoft.com/office/drawing/2014/main" id="{A6DEBF7F-18CD-BE39-F3A1-ED4337770226}"/>
                </a:ext>
              </a:extLst>
            </p:cNvPr>
            <p:cNvGrpSpPr>
              <a:grpSpLocks/>
            </p:cNvGrpSpPr>
            <p:nvPr/>
          </p:nvGrpSpPr>
          <p:grpSpPr>
            <a:xfrm>
              <a:off x="1463040" y="3429000"/>
              <a:ext cx="5303520" cy="2286000"/>
              <a:chOff x="2438401" y="3540126"/>
              <a:chExt cx="6784975" cy="2597150"/>
            </a:xfrm>
          </p:grpSpPr>
          <p:sp>
            <p:nvSpPr>
              <p:cNvPr id="43" name="Oval 4">
                <a:extLst>
                  <a:ext uri="{FF2B5EF4-FFF2-40B4-BE49-F238E27FC236}">
                    <a16:creationId xmlns:a16="http://schemas.microsoft.com/office/drawing/2014/main" id="{B7D845D9-485E-403F-FF46-BB688807C355}"/>
                  </a:ext>
                </a:extLst>
              </p:cNvPr>
              <p:cNvSpPr>
                <a:spLocks noChangeAspect="1" noChangeArrowheads="1"/>
              </p:cNvSpPr>
              <p:nvPr/>
            </p:nvSpPr>
            <p:spPr bwMode="auto">
              <a:xfrm>
                <a:off x="2438401" y="46482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s</a:t>
                </a:r>
              </a:p>
            </p:txBody>
          </p:sp>
          <p:sp>
            <p:nvSpPr>
              <p:cNvPr id="44" name="Oval 7">
                <a:extLst>
                  <a:ext uri="{FF2B5EF4-FFF2-40B4-BE49-F238E27FC236}">
                    <a16:creationId xmlns:a16="http://schemas.microsoft.com/office/drawing/2014/main" id="{36B75705-504F-05D3-1269-E115B948AC5B}"/>
                  </a:ext>
                </a:extLst>
              </p:cNvPr>
              <p:cNvSpPr>
                <a:spLocks noChangeAspect="1" noChangeArrowheads="1"/>
              </p:cNvSpPr>
              <p:nvPr/>
            </p:nvSpPr>
            <p:spPr bwMode="auto">
              <a:xfrm>
                <a:off x="4572001" y="3540126"/>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a</a:t>
                </a:r>
              </a:p>
            </p:txBody>
          </p:sp>
          <p:sp>
            <p:nvSpPr>
              <p:cNvPr id="45" name="Oval 8">
                <a:extLst>
                  <a:ext uri="{FF2B5EF4-FFF2-40B4-BE49-F238E27FC236}">
                    <a16:creationId xmlns:a16="http://schemas.microsoft.com/office/drawing/2014/main" id="{96F0E56E-C7E5-3265-D05C-0B13F0E9522D}"/>
                  </a:ext>
                </a:extLst>
              </p:cNvPr>
              <p:cNvSpPr>
                <a:spLocks noChangeAspect="1" noChangeArrowheads="1"/>
              </p:cNvSpPr>
              <p:nvPr/>
            </p:nvSpPr>
            <p:spPr bwMode="auto">
              <a:xfrm>
                <a:off x="4572001" y="46482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b</a:t>
                </a:r>
              </a:p>
            </p:txBody>
          </p:sp>
          <p:sp>
            <p:nvSpPr>
              <p:cNvPr id="46" name="Oval 9">
                <a:extLst>
                  <a:ext uri="{FF2B5EF4-FFF2-40B4-BE49-F238E27FC236}">
                    <a16:creationId xmlns:a16="http://schemas.microsoft.com/office/drawing/2014/main" id="{D1752785-11C3-C1C9-B330-02DF6434CA82}"/>
                  </a:ext>
                </a:extLst>
              </p:cNvPr>
              <p:cNvSpPr>
                <a:spLocks noChangeAspect="1" noChangeArrowheads="1"/>
              </p:cNvSpPr>
              <p:nvPr/>
            </p:nvSpPr>
            <p:spPr bwMode="auto">
              <a:xfrm>
                <a:off x="4572001" y="58674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c</a:t>
                </a:r>
              </a:p>
            </p:txBody>
          </p:sp>
          <p:cxnSp>
            <p:nvCxnSpPr>
              <p:cNvPr id="47" name="AutoShape 12">
                <a:extLst>
                  <a:ext uri="{FF2B5EF4-FFF2-40B4-BE49-F238E27FC236}">
                    <a16:creationId xmlns:a16="http://schemas.microsoft.com/office/drawing/2014/main" id="{38D811D1-B3F0-AB6B-B695-06CD55634467}"/>
                  </a:ext>
                </a:extLst>
              </p:cNvPr>
              <p:cNvCxnSpPr>
                <a:cxnSpLocks noChangeShapeType="1"/>
                <a:stCxn id="43" idx="7"/>
                <a:endCxn id="44" idx="3"/>
              </p:cNvCxnSpPr>
              <p:nvPr/>
            </p:nvCxnSpPr>
            <p:spPr bwMode="auto">
              <a:xfrm flipV="1">
                <a:off x="2668588" y="3770314"/>
                <a:ext cx="1943100" cy="917575"/>
              </a:xfrm>
              <a:prstGeom prst="straightConnector1">
                <a:avLst/>
              </a:prstGeom>
              <a:noFill/>
              <a:ln w="38100">
                <a:solidFill>
                  <a:srgbClr val="0066CC"/>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 name="AutoShape 13">
                <a:extLst>
                  <a:ext uri="{FF2B5EF4-FFF2-40B4-BE49-F238E27FC236}">
                    <a16:creationId xmlns:a16="http://schemas.microsoft.com/office/drawing/2014/main" id="{FA7545D5-EB7D-DF43-CA8F-696819016F54}"/>
                  </a:ext>
                </a:extLst>
              </p:cNvPr>
              <p:cNvCxnSpPr>
                <a:cxnSpLocks noChangeShapeType="1"/>
                <a:stCxn id="43" idx="6"/>
                <a:endCxn id="45" idx="2"/>
              </p:cNvCxnSpPr>
              <p:nvPr/>
            </p:nvCxnSpPr>
            <p:spPr bwMode="auto">
              <a:xfrm>
                <a:off x="2708276" y="4783138"/>
                <a:ext cx="1863725" cy="0"/>
              </a:xfrm>
              <a:prstGeom prst="straightConnector1">
                <a:avLst/>
              </a:prstGeom>
              <a:noFill/>
              <a:ln w="38100">
                <a:solidFill>
                  <a:srgbClr val="FF000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9" name="AutoShape 14">
                <a:extLst>
                  <a:ext uri="{FF2B5EF4-FFF2-40B4-BE49-F238E27FC236}">
                    <a16:creationId xmlns:a16="http://schemas.microsoft.com/office/drawing/2014/main" id="{CF80D492-F294-E78C-F10D-87D9304F6F8B}"/>
                  </a:ext>
                </a:extLst>
              </p:cNvPr>
              <p:cNvCxnSpPr>
                <a:cxnSpLocks noChangeShapeType="1"/>
                <a:stCxn id="43" idx="5"/>
                <a:endCxn id="46" idx="1"/>
              </p:cNvCxnSpPr>
              <p:nvPr/>
            </p:nvCxnSpPr>
            <p:spPr bwMode="auto">
              <a:xfrm>
                <a:off x="2668588" y="4878388"/>
                <a:ext cx="1943100" cy="1028700"/>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50" name="AutoShape 22">
                <a:extLst>
                  <a:ext uri="{FF2B5EF4-FFF2-40B4-BE49-F238E27FC236}">
                    <a16:creationId xmlns:a16="http://schemas.microsoft.com/office/drawing/2014/main" id="{CE0D814A-258F-4373-C3D6-6F72453C63F1}"/>
                  </a:ext>
                </a:extLst>
              </p:cNvPr>
              <p:cNvCxnSpPr>
                <a:cxnSpLocks noChangeShapeType="1"/>
                <a:stCxn id="45" idx="4"/>
                <a:endCxn id="46" idx="0"/>
              </p:cNvCxnSpPr>
              <p:nvPr/>
            </p:nvCxnSpPr>
            <p:spPr bwMode="auto">
              <a:xfrm>
                <a:off x="4706938" y="4918076"/>
                <a:ext cx="0" cy="949325"/>
              </a:xfrm>
              <a:prstGeom prst="straightConnector1">
                <a:avLst/>
              </a:prstGeom>
              <a:noFill/>
              <a:ln w="38100">
                <a:solidFill>
                  <a:srgbClr val="0066CC"/>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51" name="AutoShape 24">
                <a:extLst>
                  <a:ext uri="{FF2B5EF4-FFF2-40B4-BE49-F238E27FC236}">
                    <a16:creationId xmlns:a16="http://schemas.microsoft.com/office/drawing/2014/main" id="{F613F8AD-E4DA-D090-D001-EEBECF974C6B}"/>
                  </a:ext>
                </a:extLst>
              </p:cNvPr>
              <p:cNvCxnSpPr>
                <a:cxnSpLocks noChangeShapeType="1"/>
                <a:stCxn id="45" idx="6"/>
                <a:endCxn id="56" idx="1"/>
              </p:cNvCxnSpPr>
              <p:nvPr/>
            </p:nvCxnSpPr>
            <p:spPr bwMode="auto">
              <a:xfrm>
                <a:off x="4841876" y="4783138"/>
                <a:ext cx="2055813" cy="1123950"/>
              </a:xfrm>
              <a:prstGeom prst="straightConnector1">
                <a:avLst/>
              </a:prstGeom>
              <a:noFill/>
              <a:ln w="38100">
                <a:solidFill>
                  <a:srgbClr val="FF000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52" name="AutoShape 25">
                <a:extLst>
                  <a:ext uri="{FF2B5EF4-FFF2-40B4-BE49-F238E27FC236}">
                    <a16:creationId xmlns:a16="http://schemas.microsoft.com/office/drawing/2014/main" id="{919F9675-A2C3-4E32-907E-0636AB3D5602}"/>
                  </a:ext>
                </a:extLst>
              </p:cNvPr>
              <p:cNvCxnSpPr>
                <a:cxnSpLocks noChangeShapeType="1"/>
                <a:stCxn id="46" idx="6"/>
                <a:endCxn id="56" idx="2"/>
              </p:cNvCxnSpPr>
              <p:nvPr/>
            </p:nvCxnSpPr>
            <p:spPr bwMode="auto">
              <a:xfrm>
                <a:off x="4841876" y="6002338"/>
                <a:ext cx="2016125" cy="0"/>
              </a:xfrm>
              <a:prstGeom prst="straightConnector1">
                <a:avLst/>
              </a:prstGeom>
              <a:noFill/>
              <a:ln w="38100">
                <a:solidFill>
                  <a:srgbClr val="0066CC"/>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53" name="AutoShape 34">
                <a:extLst>
                  <a:ext uri="{FF2B5EF4-FFF2-40B4-BE49-F238E27FC236}">
                    <a16:creationId xmlns:a16="http://schemas.microsoft.com/office/drawing/2014/main" id="{167D9836-910C-BD21-F463-C92EF19241A2}"/>
                  </a:ext>
                </a:extLst>
              </p:cNvPr>
              <p:cNvCxnSpPr>
                <a:cxnSpLocks noChangeShapeType="1"/>
                <a:stCxn id="44" idx="4"/>
                <a:endCxn id="45" idx="0"/>
              </p:cNvCxnSpPr>
              <p:nvPr/>
            </p:nvCxnSpPr>
            <p:spPr bwMode="auto">
              <a:xfrm>
                <a:off x="4706938" y="3810000"/>
                <a:ext cx="0" cy="838200"/>
              </a:xfrm>
              <a:prstGeom prst="straightConnector1">
                <a:avLst/>
              </a:prstGeom>
              <a:noFill/>
              <a:ln w="38100">
                <a:solidFill>
                  <a:srgbClr val="0066CC"/>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54" name="Oval 38">
                <a:extLst>
                  <a:ext uri="{FF2B5EF4-FFF2-40B4-BE49-F238E27FC236}">
                    <a16:creationId xmlns:a16="http://schemas.microsoft.com/office/drawing/2014/main" id="{625FEE99-AF26-F186-5AEB-8239AD4B5FD0}"/>
                  </a:ext>
                </a:extLst>
              </p:cNvPr>
              <p:cNvSpPr>
                <a:spLocks noChangeAspect="1" noChangeArrowheads="1"/>
              </p:cNvSpPr>
              <p:nvPr/>
            </p:nvSpPr>
            <p:spPr bwMode="auto">
              <a:xfrm>
                <a:off x="6858001" y="3540126"/>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d</a:t>
                </a:r>
              </a:p>
            </p:txBody>
          </p:sp>
          <p:sp>
            <p:nvSpPr>
              <p:cNvPr id="55" name="Oval 39">
                <a:extLst>
                  <a:ext uri="{FF2B5EF4-FFF2-40B4-BE49-F238E27FC236}">
                    <a16:creationId xmlns:a16="http://schemas.microsoft.com/office/drawing/2014/main" id="{4218BA4C-1DA7-ACA2-CA21-4A329DFA11CD}"/>
                  </a:ext>
                </a:extLst>
              </p:cNvPr>
              <p:cNvSpPr>
                <a:spLocks noChangeAspect="1" noChangeArrowheads="1"/>
              </p:cNvSpPr>
              <p:nvPr/>
            </p:nvSpPr>
            <p:spPr bwMode="auto">
              <a:xfrm>
                <a:off x="6858001" y="46482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e</a:t>
                </a:r>
              </a:p>
            </p:txBody>
          </p:sp>
          <p:sp>
            <p:nvSpPr>
              <p:cNvPr id="56" name="Oval 40">
                <a:extLst>
                  <a:ext uri="{FF2B5EF4-FFF2-40B4-BE49-F238E27FC236}">
                    <a16:creationId xmlns:a16="http://schemas.microsoft.com/office/drawing/2014/main" id="{B06C5196-01E8-693E-D087-FFFF1EEEFAFB}"/>
                  </a:ext>
                </a:extLst>
              </p:cNvPr>
              <p:cNvSpPr>
                <a:spLocks noChangeAspect="1" noChangeArrowheads="1"/>
              </p:cNvSpPr>
              <p:nvPr/>
            </p:nvSpPr>
            <p:spPr bwMode="auto">
              <a:xfrm>
                <a:off x="6858001" y="58674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f</a:t>
                </a:r>
              </a:p>
            </p:txBody>
          </p:sp>
          <p:cxnSp>
            <p:nvCxnSpPr>
              <p:cNvPr id="57" name="AutoShape 41">
                <a:extLst>
                  <a:ext uri="{FF2B5EF4-FFF2-40B4-BE49-F238E27FC236}">
                    <a16:creationId xmlns:a16="http://schemas.microsoft.com/office/drawing/2014/main" id="{3BFAC61A-2DE1-1664-8C1B-D88DA0B7F969}"/>
                  </a:ext>
                </a:extLst>
              </p:cNvPr>
              <p:cNvCxnSpPr>
                <a:cxnSpLocks noChangeShapeType="1"/>
                <a:stCxn id="55" idx="4"/>
                <a:endCxn id="56" idx="0"/>
              </p:cNvCxnSpPr>
              <p:nvPr/>
            </p:nvCxnSpPr>
            <p:spPr bwMode="auto">
              <a:xfrm>
                <a:off x="6992938" y="4918076"/>
                <a:ext cx="0" cy="949325"/>
              </a:xfrm>
              <a:prstGeom prst="straightConnector1">
                <a:avLst/>
              </a:prstGeom>
              <a:noFill/>
              <a:ln w="38100">
                <a:solidFill>
                  <a:srgbClr val="FF0000"/>
                </a:solidFill>
                <a:round/>
                <a:headEnd type="triangle" w="lg" len="med"/>
                <a:tailEnd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58" name="AutoShape 42">
                <a:extLst>
                  <a:ext uri="{FF2B5EF4-FFF2-40B4-BE49-F238E27FC236}">
                    <a16:creationId xmlns:a16="http://schemas.microsoft.com/office/drawing/2014/main" id="{14ED4827-7C48-8A87-5CCA-44F9E57B0F2E}"/>
                  </a:ext>
                </a:extLst>
              </p:cNvPr>
              <p:cNvCxnSpPr>
                <a:cxnSpLocks noChangeShapeType="1"/>
                <a:stCxn id="54" idx="4"/>
                <a:endCxn id="55" idx="0"/>
              </p:cNvCxnSpPr>
              <p:nvPr/>
            </p:nvCxnSpPr>
            <p:spPr bwMode="auto">
              <a:xfrm>
                <a:off x="6992938" y="3810000"/>
                <a:ext cx="0" cy="838200"/>
              </a:xfrm>
              <a:prstGeom prst="straightConnector1">
                <a:avLst/>
              </a:prstGeom>
              <a:noFill/>
              <a:ln w="19050">
                <a:solidFill>
                  <a:schemeClr val="tx1"/>
                </a:solidFill>
                <a:round/>
                <a:headEnd type="triangle" w="lg" len="med"/>
                <a:tailEnd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59" name="Oval 44">
                <a:extLst>
                  <a:ext uri="{FF2B5EF4-FFF2-40B4-BE49-F238E27FC236}">
                    <a16:creationId xmlns:a16="http://schemas.microsoft.com/office/drawing/2014/main" id="{CAB90C9E-6BF3-81ED-1C7B-506A6585A088}"/>
                  </a:ext>
                </a:extLst>
              </p:cNvPr>
              <p:cNvSpPr>
                <a:spLocks noChangeAspect="1" noChangeArrowheads="1"/>
              </p:cNvSpPr>
              <p:nvPr/>
            </p:nvSpPr>
            <p:spPr bwMode="auto">
              <a:xfrm>
                <a:off x="8953501" y="46482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t</a:t>
                </a:r>
              </a:p>
            </p:txBody>
          </p:sp>
          <p:cxnSp>
            <p:nvCxnSpPr>
              <p:cNvPr id="60" name="AutoShape 45">
                <a:extLst>
                  <a:ext uri="{FF2B5EF4-FFF2-40B4-BE49-F238E27FC236}">
                    <a16:creationId xmlns:a16="http://schemas.microsoft.com/office/drawing/2014/main" id="{DD903851-D4C0-3930-05F9-552A725D98B9}"/>
                  </a:ext>
                </a:extLst>
              </p:cNvPr>
              <p:cNvCxnSpPr>
                <a:cxnSpLocks noChangeShapeType="1"/>
                <a:stCxn id="54" idx="6"/>
                <a:endCxn id="59" idx="1"/>
              </p:cNvCxnSpPr>
              <p:nvPr/>
            </p:nvCxnSpPr>
            <p:spPr bwMode="auto">
              <a:xfrm>
                <a:off x="7127876" y="3675064"/>
                <a:ext cx="1865313" cy="101282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61" name="AutoShape 46">
                <a:extLst>
                  <a:ext uri="{FF2B5EF4-FFF2-40B4-BE49-F238E27FC236}">
                    <a16:creationId xmlns:a16="http://schemas.microsoft.com/office/drawing/2014/main" id="{ED2B2787-F67D-B038-3A72-6B61D2BA0ED4}"/>
                  </a:ext>
                </a:extLst>
              </p:cNvPr>
              <p:cNvCxnSpPr>
                <a:cxnSpLocks noChangeShapeType="1"/>
                <a:stCxn id="55" idx="6"/>
                <a:endCxn id="59" idx="2"/>
              </p:cNvCxnSpPr>
              <p:nvPr/>
            </p:nvCxnSpPr>
            <p:spPr bwMode="auto">
              <a:xfrm>
                <a:off x="7127876" y="4783138"/>
                <a:ext cx="1825625" cy="0"/>
              </a:xfrm>
              <a:prstGeom prst="straightConnector1">
                <a:avLst/>
              </a:prstGeom>
              <a:noFill/>
              <a:ln w="38100">
                <a:solidFill>
                  <a:srgbClr val="FF000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62" name="AutoShape 47">
                <a:extLst>
                  <a:ext uri="{FF2B5EF4-FFF2-40B4-BE49-F238E27FC236}">
                    <a16:creationId xmlns:a16="http://schemas.microsoft.com/office/drawing/2014/main" id="{606A9D8D-19E8-AA04-E5C8-8997B8DD57AE}"/>
                  </a:ext>
                </a:extLst>
              </p:cNvPr>
              <p:cNvCxnSpPr>
                <a:cxnSpLocks noChangeShapeType="1"/>
                <a:stCxn id="56" idx="7"/>
                <a:endCxn id="59" idx="4"/>
              </p:cNvCxnSpPr>
              <p:nvPr/>
            </p:nvCxnSpPr>
            <p:spPr bwMode="auto">
              <a:xfrm flipV="1">
                <a:off x="7088188" y="4918076"/>
                <a:ext cx="2000250" cy="989013"/>
              </a:xfrm>
              <a:prstGeom prst="straightConnector1">
                <a:avLst/>
              </a:prstGeom>
              <a:noFill/>
              <a:ln w="38100">
                <a:solidFill>
                  <a:srgbClr val="0066CC"/>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63" name="AutoShape 63">
                <a:extLst>
                  <a:ext uri="{FF2B5EF4-FFF2-40B4-BE49-F238E27FC236}">
                    <a16:creationId xmlns:a16="http://schemas.microsoft.com/office/drawing/2014/main" id="{006D8813-0007-986F-7450-4C874E34C545}"/>
                  </a:ext>
                </a:extLst>
              </p:cNvPr>
              <p:cNvCxnSpPr>
                <a:cxnSpLocks noChangeShapeType="1"/>
                <a:stCxn id="55" idx="2"/>
                <a:endCxn id="44" idx="6"/>
              </p:cNvCxnSpPr>
              <p:nvPr/>
            </p:nvCxnSpPr>
            <p:spPr bwMode="auto">
              <a:xfrm flipH="1" flipV="1">
                <a:off x="4841876" y="3675064"/>
                <a:ext cx="2016125" cy="110807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584" name="AutoShape 64">
                <a:extLst>
                  <a:ext uri="{FF2B5EF4-FFF2-40B4-BE49-F238E27FC236}">
                    <a16:creationId xmlns:a16="http://schemas.microsoft.com/office/drawing/2014/main" id="{4ABDD1D2-91AD-EBE8-C019-691C1254DD02}"/>
                  </a:ext>
                </a:extLst>
              </p:cNvPr>
              <p:cNvCxnSpPr>
                <a:cxnSpLocks noChangeShapeType="1"/>
                <a:stCxn id="54" idx="2"/>
                <a:endCxn id="45" idx="7"/>
              </p:cNvCxnSpPr>
              <p:nvPr/>
            </p:nvCxnSpPr>
            <p:spPr bwMode="auto">
              <a:xfrm flipH="1">
                <a:off x="4802188" y="3675064"/>
                <a:ext cx="2055812" cy="101282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grpSp>
        <p:sp>
          <p:nvSpPr>
            <p:cNvPr id="11" name="Text Box 17">
              <a:extLst>
                <a:ext uri="{FF2B5EF4-FFF2-40B4-BE49-F238E27FC236}">
                  <a16:creationId xmlns:a16="http://schemas.microsoft.com/office/drawing/2014/main" id="{8EC505EE-83AC-60C6-3488-D941BBDA4FC9}"/>
                </a:ext>
              </a:extLst>
            </p:cNvPr>
            <p:cNvSpPr txBox="1">
              <a:spLocks noChangeArrowheads="1"/>
            </p:cNvSpPr>
            <p:nvPr/>
          </p:nvSpPr>
          <p:spPr bwMode="auto">
            <a:xfrm>
              <a:off x="2355196" y="3666542"/>
              <a:ext cx="540533" cy="400110"/>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b="1" dirty="0">
                  <a:solidFill>
                    <a:srgbClr val="0066CC"/>
                  </a:solidFill>
                </a:rPr>
                <a:t>1</a:t>
              </a:r>
              <a:r>
                <a:rPr lang="en-US" altLang="en-US" dirty="0">
                  <a:solidFill>
                    <a:srgbClr val="0066CC"/>
                  </a:solidFill>
                </a:rPr>
                <a:t>/</a:t>
              </a:r>
              <a:r>
                <a:rPr lang="en-US" altLang="en-US" dirty="0"/>
                <a:t>1</a:t>
              </a:r>
            </a:p>
          </p:txBody>
        </p:sp>
        <p:sp>
          <p:nvSpPr>
            <p:cNvPr id="12" name="Text Box 17">
              <a:extLst>
                <a:ext uri="{FF2B5EF4-FFF2-40B4-BE49-F238E27FC236}">
                  <a16:creationId xmlns:a16="http://schemas.microsoft.com/office/drawing/2014/main" id="{930213EC-A6A4-E723-17C5-2A5ADA3C33FF}"/>
                </a:ext>
              </a:extLst>
            </p:cNvPr>
            <p:cNvSpPr txBox="1">
              <a:spLocks noChangeArrowheads="1"/>
            </p:cNvSpPr>
            <p:nvPr/>
          </p:nvSpPr>
          <p:spPr bwMode="auto">
            <a:xfrm>
              <a:off x="2345663" y="4264043"/>
              <a:ext cx="540533" cy="400110"/>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b="1" dirty="0">
                  <a:solidFill>
                    <a:srgbClr val="FF0000"/>
                  </a:solidFill>
                </a:rPr>
                <a:t>1</a:t>
              </a:r>
              <a:r>
                <a:rPr lang="en-US" altLang="en-US" dirty="0">
                  <a:solidFill>
                    <a:srgbClr val="FF0000"/>
                  </a:solidFill>
                </a:rPr>
                <a:t>/</a:t>
              </a:r>
              <a:r>
                <a:rPr lang="en-US" altLang="en-US" dirty="0"/>
                <a:t>1</a:t>
              </a:r>
            </a:p>
          </p:txBody>
        </p:sp>
        <p:sp>
          <p:nvSpPr>
            <p:cNvPr id="13" name="Text Box 17">
              <a:extLst>
                <a:ext uri="{FF2B5EF4-FFF2-40B4-BE49-F238E27FC236}">
                  <a16:creationId xmlns:a16="http://schemas.microsoft.com/office/drawing/2014/main" id="{0F2190C7-F40A-22D3-A689-23185278DF2F}"/>
                </a:ext>
              </a:extLst>
            </p:cNvPr>
            <p:cNvSpPr txBox="1">
              <a:spLocks noChangeArrowheads="1"/>
            </p:cNvSpPr>
            <p:nvPr/>
          </p:nvSpPr>
          <p:spPr bwMode="auto">
            <a:xfrm>
              <a:off x="2355196" y="4896476"/>
              <a:ext cx="325438" cy="396875"/>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dirty="0"/>
                <a:t>1</a:t>
              </a:r>
            </a:p>
          </p:txBody>
        </p:sp>
        <p:sp>
          <p:nvSpPr>
            <p:cNvPr id="17" name="Text Box 17">
              <a:extLst>
                <a:ext uri="{FF2B5EF4-FFF2-40B4-BE49-F238E27FC236}">
                  <a16:creationId xmlns:a16="http://schemas.microsoft.com/office/drawing/2014/main" id="{0365E137-0F75-F9BF-2036-B5DD24E02BEC}"/>
                </a:ext>
              </a:extLst>
            </p:cNvPr>
            <p:cNvSpPr txBox="1">
              <a:spLocks noChangeArrowheads="1"/>
            </p:cNvSpPr>
            <p:nvPr/>
          </p:nvSpPr>
          <p:spPr bwMode="auto">
            <a:xfrm>
              <a:off x="4355039" y="4042381"/>
              <a:ext cx="325438" cy="396875"/>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dirty="0"/>
                <a:t>1</a:t>
              </a:r>
            </a:p>
          </p:txBody>
        </p:sp>
        <p:sp>
          <p:nvSpPr>
            <p:cNvPr id="18" name="Text Box 17">
              <a:extLst>
                <a:ext uri="{FF2B5EF4-FFF2-40B4-BE49-F238E27FC236}">
                  <a16:creationId xmlns:a16="http://schemas.microsoft.com/office/drawing/2014/main" id="{CC714DAB-6A77-A057-08CC-61AEB0F98F11}"/>
                </a:ext>
              </a:extLst>
            </p:cNvPr>
            <p:cNvSpPr txBox="1">
              <a:spLocks noChangeArrowheads="1"/>
            </p:cNvSpPr>
            <p:nvPr/>
          </p:nvSpPr>
          <p:spPr bwMode="auto">
            <a:xfrm>
              <a:off x="4324017" y="3526735"/>
              <a:ext cx="325438" cy="396875"/>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dirty="0"/>
                <a:t>1</a:t>
              </a:r>
            </a:p>
          </p:txBody>
        </p:sp>
        <p:sp>
          <p:nvSpPr>
            <p:cNvPr id="19" name="Text Box 17">
              <a:extLst>
                <a:ext uri="{FF2B5EF4-FFF2-40B4-BE49-F238E27FC236}">
                  <a16:creationId xmlns:a16="http://schemas.microsoft.com/office/drawing/2014/main" id="{DED540AB-FF12-A05A-8A49-97541B0166DA}"/>
                </a:ext>
              </a:extLst>
            </p:cNvPr>
            <p:cNvSpPr txBox="1">
              <a:spLocks noChangeArrowheads="1"/>
            </p:cNvSpPr>
            <p:nvPr/>
          </p:nvSpPr>
          <p:spPr bwMode="auto">
            <a:xfrm>
              <a:off x="3073537" y="3798492"/>
              <a:ext cx="540533" cy="400110"/>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b="1" dirty="0">
                  <a:solidFill>
                    <a:srgbClr val="0066CC"/>
                  </a:solidFill>
                </a:rPr>
                <a:t>1</a:t>
              </a:r>
              <a:r>
                <a:rPr lang="en-US" altLang="en-US" dirty="0">
                  <a:solidFill>
                    <a:srgbClr val="0066CC"/>
                  </a:solidFill>
                </a:rPr>
                <a:t>/</a:t>
              </a:r>
              <a:r>
                <a:rPr lang="en-US" altLang="en-US" dirty="0"/>
                <a:t>1</a:t>
              </a:r>
            </a:p>
          </p:txBody>
        </p:sp>
        <p:sp>
          <p:nvSpPr>
            <p:cNvPr id="20" name="Text Box 17">
              <a:extLst>
                <a:ext uri="{FF2B5EF4-FFF2-40B4-BE49-F238E27FC236}">
                  <a16:creationId xmlns:a16="http://schemas.microsoft.com/office/drawing/2014/main" id="{13C93EA8-A212-F14C-3E23-7DD1F084AED2}"/>
                </a:ext>
              </a:extLst>
            </p:cNvPr>
            <p:cNvSpPr txBox="1">
              <a:spLocks noChangeArrowheads="1"/>
            </p:cNvSpPr>
            <p:nvPr/>
          </p:nvSpPr>
          <p:spPr bwMode="auto">
            <a:xfrm>
              <a:off x="3073537" y="4788451"/>
              <a:ext cx="540533" cy="400110"/>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b="1" dirty="0">
                  <a:solidFill>
                    <a:srgbClr val="0066CC"/>
                  </a:solidFill>
                </a:rPr>
                <a:t>1</a:t>
              </a:r>
              <a:r>
                <a:rPr lang="en-US" altLang="en-US" dirty="0">
                  <a:solidFill>
                    <a:srgbClr val="0066CC"/>
                  </a:solidFill>
                </a:rPr>
                <a:t>/</a:t>
              </a:r>
              <a:r>
                <a:rPr lang="en-US" altLang="en-US" dirty="0"/>
                <a:t>1</a:t>
              </a:r>
            </a:p>
          </p:txBody>
        </p:sp>
        <p:sp>
          <p:nvSpPr>
            <p:cNvPr id="21" name="Text Box 17">
              <a:extLst>
                <a:ext uri="{FF2B5EF4-FFF2-40B4-BE49-F238E27FC236}">
                  <a16:creationId xmlns:a16="http://schemas.microsoft.com/office/drawing/2014/main" id="{057931BE-1680-7EF8-6AD4-55098CC78283}"/>
                </a:ext>
              </a:extLst>
            </p:cNvPr>
            <p:cNvSpPr txBox="1">
              <a:spLocks noChangeArrowheads="1"/>
            </p:cNvSpPr>
            <p:nvPr/>
          </p:nvSpPr>
          <p:spPr bwMode="auto">
            <a:xfrm>
              <a:off x="3951172" y="5355872"/>
              <a:ext cx="540533" cy="400110"/>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b="1" dirty="0">
                  <a:solidFill>
                    <a:srgbClr val="0066CC"/>
                  </a:solidFill>
                </a:rPr>
                <a:t>1</a:t>
              </a:r>
              <a:r>
                <a:rPr lang="en-US" altLang="en-US" dirty="0">
                  <a:solidFill>
                    <a:srgbClr val="0066CC"/>
                  </a:solidFill>
                </a:rPr>
                <a:t>/</a:t>
              </a:r>
              <a:r>
                <a:rPr lang="en-US" altLang="en-US" dirty="0"/>
                <a:t>1</a:t>
              </a:r>
            </a:p>
          </p:txBody>
        </p:sp>
        <p:sp>
          <p:nvSpPr>
            <p:cNvPr id="22" name="Text Box 17">
              <a:extLst>
                <a:ext uri="{FF2B5EF4-FFF2-40B4-BE49-F238E27FC236}">
                  <a16:creationId xmlns:a16="http://schemas.microsoft.com/office/drawing/2014/main" id="{F2E34352-BCD7-D39F-06BC-44CDC7597851}"/>
                </a:ext>
              </a:extLst>
            </p:cNvPr>
            <p:cNvSpPr txBox="1">
              <a:spLocks noChangeArrowheads="1"/>
            </p:cNvSpPr>
            <p:nvPr/>
          </p:nvSpPr>
          <p:spPr bwMode="auto">
            <a:xfrm>
              <a:off x="3948485" y="4788450"/>
              <a:ext cx="540533" cy="400110"/>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b="1" dirty="0">
                  <a:solidFill>
                    <a:srgbClr val="FF0000"/>
                  </a:solidFill>
                </a:rPr>
                <a:t>1</a:t>
              </a:r>
              <a:r>
                <a:rPr lang="en-US" altLang="en-US" dirty="0">
                  <a:solidFill>
                    <a:srgbClr val="FF0000"/>
                  </a:solidFill>
                </a:rPr>
                <a:t>/</a:t>
              </a:r>
              <a:r>
                <a:rPr lang="en-US" altLang="en-US" dirty="0"/>
                <a:t>1</a:t>
              </a:r>
            </a:p>
          </p:txBody>
        </p:sp>
        <p:sp>
          <p:nvSpPr>
            <p:cNvPr id="23" name="Text Box 17">
              <a:extLst>
                <a:ext uri="{FF2B5EF4-FFF2-40B4-BE49-F238E27FC236}">
                  <a16:creationId xmlns:a16="http://schemas.microsoft.com/office/drawing/2014/main" id="{744C0927-8304-ED70-2782-3B9E55156EA3}"/>
                </a:ext>
              </a:extLst>
            </p:cNvPr>
            <p:cNvSpPr txBox="1">
              <a:spLocks noChangeArrowheads="1"/>
            </p:cNvSpPr>
            <p:nvPr/>
          </p:nvSpPr>
          <p:spPr bwMode="auto">
            <a:xfrm>
              <a:off x="4857385" y="4828815"/>
              <a:ext cx="540533" cy="400110"/>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b="1" dirty="0">
                  <a:solidFill>
                    <a:srgbClr val="FF0000"/>
                  </a:solidFill>
                </a:rPr>
                <a:t>1</a:t>
              </a:r>
              <a:r>
                <a:rPr lang="en-US" altLang="en-US" dirty="0">
                  <a:solidFill>
                    <a:srgbClr val="FF0000"/>
                  </a:solidFill>
                </a:rPr>
                <a:t>/</a:t>
              </a:r>
              <a:r>
                <a:rPr lang="en-US" altLang="en-US" dirty="0"/>
                <a:t>1</a:t>
              </a:r>
            </a:p>
          </p:txBody>
        </p:sp>
        <p:sp>
          <p:nvSpPr>
            <p:cNvPr id="24" name="Text Box 17">
              <a:extLst>
                <a:ext uri="{FF2B5EF4-FFF2-40B4-BE49-F238E27FC236}">
                  <a16:creationId xmlns:a16="http://schemas.microsoft.com/office/drawing/2014/main" id="{979CD036-6281-F557-C150-DCF10D8D7C7B}"/>
                </a:ext>
              </a:extLst>
            </p:cNvPr>
            <p:cNvSpPr txBox="1">
              <a:spLocks noChangeArrowheads="1"/>
            </p:cNvSpPr>
            <p:nvPr/>
          </p:nvSpPr>
          <p:spPr bwMode="auto">
            <a:xfrm>
              <a:off x="4857385" y="3818113"/>
              <a:ext cx="325438" cy="396875"/>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dirty="0"/>
                <a:t>1</a:t>
              </a:r>
            </a:p>
          </p:txBody>
        </p:sp>
        <p:sp>
          <p:nvSpPr>
            <p:cNvPr id="25" name="Text Box 17">
              <a:extLst>
                <a:ext uri="{FF2B5EF4-FFF2-40B4-BE49-F238E27FC236}">
                  <a16:creationId xmlns:a16="http://schemas.microsoft.com/office/drawing/2014/main" id="{76911895-4495-EBEF-4E4A-C09FFE86E95E}"/>
                </a:ext>
              </a:extLst>
            </p:cNvPr>
            <p:cNvSpPr txBox="1">
              <a:spLocks noChangeArrowheads="1"/>
            </p:cNvSpPr>
            <p:nvPr/>
          </p:nvSpPr>
          <p:spPr bwMode="auto">
            <a:xfrm>
              <a:off x="5574496" y="3666542"/>
              <a:ext cx="325438" cy="396875"/>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dirty="0"/>
                <a:t>1</a:t>
              </a:r>
            </a:p>
          </p:txBody>
        </p:sp>
        <p:sp>
          <p:nvSpPr>
            <p:cNvPr id="27" name="Text Box 17">
              <a:extLst>
                <a:ext uri="{FF2B5EF4-FFF2-40B4-BE49-F238E27FC236}">
                  <a16:creationId xmlns:a16="http://schemas.microsoft.com/office/drawing/2014/main" id="{C23F90EB-AC28-6E76-3995-757774E439EE}"/>
                </a:ext>
              </a:extLst>
            </p:cNvPr>
            <p:cNvSpPr txBox="1">
              <a:spLocks noChangeArrowheads="1"/>
            </p:cNvSpPr>
            <p:nvPr/>
          </p:nvSpPr>
          <p:spPr bwMode="auto">
            <a:xfrm>
              <a:off x="5574496" y="4299301"/>
              <a:ext cx="540533" cy="400110"/>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b="1" dirty="0">
                  <a:solidFill>
                    <a:srgbClr val="FF0000"/>
                  </a:solidFill>
                </a:rPr>
                <a:t>1</a:t>
              </a:r>
              <a:r>
                <a:rPr lang="en-US" altLang="en-US" dirty="0">
                  <a:solidFill>
                    <a:srgbClr val="FF0000"/>
                  </a:solidFill>
                </a:rPr>
                <a:t>/</a:t>
              </a:r>
              <a:r>
                <a:rPr lang="en-US" altLang="en-US" dirty="0"/>
                <a:t>1</a:t>
              </a:r>
            </a:p>
          </p:txBody>
        </p:sp>
        <p:sp>
          <p:nvSpPr>
            <p:cNvPr id="28" name="Text Box 17">
              <a:extLst>
                <a:ext uri="{FF2B5EF4-FFF2-40B4-BE49-F238E27FC236}">
                  <a16:creationId xmlns:a16="http://schemas.microsoft.com/office/drawing/2014/main" id="{A3967E90-07C0-D25A-2AF9-AF8E220A3FB7}"/>
                </a:ext>
              </a:extLst>
            </p:cNvPr>
            <p:cNvSpPr txBox="1">
              <a:spLocks noChangeArrowheads="1"/>
            </p:cNvSpPr>
            <p:nvPr/>
          </p:nvSpPr>
          <p:spPr bwMode="auto">
            <a:xfrm>
              <a:off x="5574496" y="4932060"/>
              <a:ext cx="540533" cy="400110"/>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r>
                <a:rPr lang="en-US" altLang="en-US" b="1" dirty="0">
                  <a:solidFill>
                    <a:srgbClr val="0066CC"/>
                  </a:solidFill>
                </a:rPr>
                <a:t>1</a:t>
              </a:r>
              <a:r>
                <a:rPr lang="en-US" altLang="en-US" dirty="0">
                  <a:solidFill>
                    <a:srgbClr val="0066CC"/>
                  </a:solidFill>
                </a:rPr>
                <a:t>/</a:t>
              </a:r>
              <a:r>
                <a:rPr lang="en-US" altLang="en-US" dirty="0"/>
                <a:t>1</a:t>
              </a:r>
            </a:p>
          </p:txBody>
        </p:sp>
      </p:grpSp>
      <mc:AlternateContent xmlns:mc="http://schemas.openxmlformats.org/markup-compatibility/2006" xmlns:a14="http://schemas.microsoft.com/office/drawing/2010/main">
        <mc:Choice Requires="a14">
          <p:sp>
            <p:nvSpPr>
              <p:cNvPr id="451585" name="Oval 451584">
                <a:extLst>
                  <a:ext uri="{FF2B5EF4-FFF2-40B4-BE49-F238E27FC236}">
                    <a16:creationId xmlns:a16="http://schemas.microsoft.com/office/drawing/2014/main" id="{CFDEAF72-F843-83DA-D3D9-E2EC86D017E3}"/>
                  </a:ext>
                </a:extLst>
              </p:cNvPr>
              <p:cNvSpPr>
                <a:spLocks noChangeAspect="1" noChangeArrowheads="1"/>
              </p:cNvSpPr>
              <p:nvPr/>
            </p:nvSpPr>
            <p:spPr bwMode="auto">
              <a:xfrm>
                <a:off x="46070" y="5489583"/>
                <a:ext cx="240715" cy="271060"/>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a:effectLst>
                      <a:outerShdw dist="35921" dir="2700000" algn="ctr" rotWithShape="0">
                        <a:srgbClr val="808080"/>
                      </a:outerShdw>
                    </a:effectLst>
                  </a14:hiddenEffects>
                </a:ext>
              </a:extLst>
            </p:spPr>
            <p:txBody>
              <a:bodyPr wrap="none" lIns="92075" tIns="46038" rIns="92075" bIns="46038" anchor="ctr"/>
              <a:lstStyle/>
              <a:p>
                <a:pPr algn="ctr"/>
                <a14:m>
                  <m:oMathPara xmlns:m="http://schemas.openxmlformats.org/officeDocument/2006/math">
                    <m:oMathParaPr>
                      <m:jc m:val="centerGroup"/>
                    </m:oMathParaPr>
                    <m:oMath xmlns:m="http://schemas.openxmlformats.org/officeDocument/2006/math">
                      <m:r>
                        <a:rPr lang="en-US" altLang="en-US" b="1" i="1" smtClean="0">
                          <a:latin typeface="Cambria Math" panose="02040503050406030204" pitchFamily="18" charset="0"/>
                        </a:rPr>
                        <m:t>𝒔</m:t>
                      </m:r>
                      <m:r>
                        <a:rPr lang="en-US" altLang="en-US" b="1" i="1" smtClean="0">
                          <a:latin typeface="Cambria Math" panose="02040503050406030204" pitchFamily="18" charset="0"/>
                        </a:rPr>
                        <m:t>′</m:t>
                      </m:r>
                    </m:oMath>
                  </m:oMathPara>
                </a14:m>
                <a:endParaRPr lang="en-US" altLang="en-US" b="1" dirty="0"/>
              </a:p>
            </p:txBody>
          </p:sp>
        </mc:Choice>
        <mc:Fallback xmlns="">
          <p:sp>
            <p:nvSpPr>
              <p:cNvPr id="451585" name="Oval 451584">
                <a:extLst>
                  <a:ext uri="{FF2B5EF4-FFF2-40B4-BE49-F238E27FC236}">
                    <a16:creationId xmlns:a16="http://schemas.microsoft.com/office/drawing/2014/main" id="{CFDEAF72-F843-83DA-D3D9-E2EC86D017E3}"/>
                  </a:ext>
                </a:extLst>
              </p:cNvPr>
              <p:cNvSpPr>
                <a:spLocks noRot="1" noChangeAspect="1" noMove="1" noResize="1" noEditPoints="1" noAdjustHandles="1" noChangeArrowheads="1" noChangeShapeType="1" noTextEdit="1"/>
              </p:cNvSpPr>
              <p:nvPr/>
            </p:nvSpPr>
            <p:spPr bwMode="auto">
              <a:xfrm>
                <a:off x="46070" y="5489583"/>
                <a:ext cx="240715" cy="271060"/>
              </a:xfrm>
              <a:prstGeom prst="ellipse">
                <a:avLst/>
              </a:prstGeom>
              <a:blipFill>
                <a:blip r:embed="rId5"/>
                <a:stretch>
                  <a:fillRect l="-31707" t="-2174" r="-12195" b="-8696"/>
                </a:stretch>
              </a:blip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r>
                  <a:rPr lang="en-US">
                    <a:noFill/>
                  </a:rPr>
                  <a:t> </a:t>
                </a:r>
              </a:p>
            </p:txBody>
          </p:sp>
        </mc:Fallback>
      </mc:AlternateContent>
      <p:cxnSp>
        <p:nvCxnSpPr>
          <p:cNvPr id="451586" name="AutoShape 12">
            <a:extLst>
              <a:ext uri="{FF2B5EF4-FFF2-40B4-BE49-F238E27FC236}">
                <a16:creationId xmlns:a16="http://schemas.microsoft.com/office/drawing/2014/main" id="{8C7B3B72-624A-87C7-F251-58A1B9D9096B}"/>
              </a:ext>
            </a:extLst>
          </p:cNvPr>
          <p:cNvCxnSpPr>
            <a:cxnSpLocks noChangeShapeType="1"/>
            <a:stCxn id="451585" idx="6"/>
            <a:endCxn id="43" idx="2"/>
          </p:cNvCxnSpPr>
          <p:nvPr/>
        </p:nvCxnSpPr>
        <p:spPr bwMode="auto">
          <a:xfrm>
            <a:off x="286785" y="5625113"/>
            <a:ext cx="840678" cy="0"/>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mc:AlternateContent xmlns:mc="http://schemas.openxmlformats.org/markup-compatibility/2006">
        <mc:Choice xmlns:a14="http://schemas.microsoft.com/office/drawing/2010/main" Requires="a14">
          <p:sp>
            <p:nvSpPr>
              <p:cNvPr id="451587" name="Text Box 17">
                <a:extLst>
                  <a:ext uri="{FF2B5EF4-FFF2-40B4-BE49-F238E27FC236}">
                    <a16:creationId xmlns:a16="http://schemas.microsoft.com/office/drawing/2014/main" id="{9AE20BAC-BA88-3BFE-411C-6E970BB5AF3C}"/>
                  </a:ext>
                </a:extLst>
              </p:cNvPr>
              <p:cNvSpPr txBox="1">
                <a:spLocks noChangeArrowheads="1"/>
              </p:cNvSpPr>
              <p:nvPr/>
            </p:nvSpPr>
            <p:spPr bwMode="auto">
              <a:xfrm>
                <a:off x="453929" y="5438812"/>
                <a:ext cx="474361" cy="400110"/>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14:m>
                  <m:oMathPara xmlns:m="http://schemas.openxmlformats.org/officeDocument/2006/math">
                    <m:oMathParaPr>
                      <m:jc m:val="centerGroup"/>
                    </m:oMathParaPr>
                    <m:oMath xmlns:m="http://schemas.openxmlformats.org/officeDocument/2006/math">
                      <m:r>
                        <a:rPr lang="en-US" altLang="en-US" b="0" i="1" smtClean="0">
                          <a:latin typeface="Cambria Math" panose="02040503050406030204" pitchFamily="18" charset="0"/>
                        </a:rPr>
                        <m:t>𝑚</m:t>
                      </m:r>
                    </m:oMath>
                  </m:oMathPara>
                </a14:m>
                <a:endParaRPr lang="en-US" altLang="en-US" dirty="0"/>
              </a:p>
            </p:txBody>
          </p:sp>
        </mc:Choice>
        <mc:Fallback>
          <p:sp>
            <p:nvSpPr>
              <p:cNvPr id="451587" name="Text Box 17">
                <a:extLst>
                  <a:ext uri="{FF2B5EF4-FFF2-40B4-BE49-F238E27FC236}">
                    <a16:creationId xmlns:a16="http://schemas.microsoft.com/office/drawing/2014/main" id="{9AE20BAC-BA88-3BFE-411C-6E970BB5AF3C}"/>
                  </a:ext>
                </a:extLst>
              </p:cNvPr>
              <p:cNvSpPr txBox="1">
                <a:spLocks noRot="1" noChangeAspect="1" noMove="1" noResize="1" noEditPoints="1" noAdjustHandles="1" noChangeArrowheads="1" noChangeShapeType="1" noTextEdit="1"/>
              </p:cNvSpPr>
              <p:nvPr/>
            </p:nvSpPr>
            <p:spPr bwMode="auto">
              <a:xfrm>
                <a:off x="453929" y="5438812"/>
                <a:ext cx="474361" cy="400110"/>
              </a:xfrm>
              <a:prstGeom prst="rect">
                <a:avLst/>
              </a:prstGeom>
              <a:blipFill>
                <a:blip r:embed="rId6"/>
                <a:stretch>
                  <a:fillRect/>
                </a:stretch>
              </a:blipFill>
              <a:ln>
                <a:noFill/>
              </a:ln>
              <a:effec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1594" name="Oval 4">
                <a:extLst>
                  <a:ext uri="{FF2B5EF4-FFF2-40B4-BE49-F238E27FC236}">
                    <a16:creationId xmlns:a16="http://schemas.microsoft.com/office/drawing/2014/main" id="{C2D53AEE-F231-8C24-FAC6-5C798E2195F0}"/>
                  </a:ext>
                </a:extLst>
              </p:cNvPr>
              <p:cNvSpPr>
                <a:spLocks noChangeAspect="1" noChangeArrowheads="1"/>
              </p:cNvSpPr>
              <p:nvPr/>
            </p:nvSpPr>
            <p:spPr bwMode="auto">
              <a:xfrm>
                <a:off x="7216013" y="5496457"/>
                <a:ext cx="228504" cy="257310"/>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a:effectLst>
                      <a:outerShdw dist="35921" dir="2700000" algn="ctr" rotWithShape="0">
                        <a:srgbClr val="808080"/>
                      </a:outerShdw>
                    </a:effectLst>
                  </a14:hiddenEffects>
                </a:ext>
              </a:extLst>
            </p:spPr>
            <p:txBody>
              <a:bodyPr wrap="none" lIns="92075" tIns="46038" rIns="92075" bIns="46038" anchor="ctr"/>
              <a:lstStyle/>
              <a:p>
                <a:pPr algn="ctr"/>
                <a14:m>
                  <m:oMathPara xmlns:m="http://schemas.openxmlformats.org/officeDocument/2006/math">
                    <m:oMathParaPr>
                      <m:jc m:val="centerGroup"/>
                    </m:oMathParaPr>
                    <m:oMath xmlns:m="http://schemas.openxmlformats.org/officeDocument/2006/math">
                      <m:r>
                        <a:rPr lang="en-US" altLang="en-US" b="1" i="1" smtClean="0">
                          <a:latin typeface="Cambria Math" panose="02040503050406030204" pitchFamily="18" charset="0"/>
                        </a:rPr>
                        <m:t>𝒕</m:t>
                      </m:r>
                      <m:r>
                        <a:rPr lang="en-US" altLang="en-US" b="1" i="1" smtClean="0">
                          <a:latin typeface="Cambria Math" panose="02040503050406030204" pitchFamily="18" charset="0"/>
                        </a:rPr>
                        <m:t>′</m:t>
                      </m:r>
                    </m:oMath>
                  </m:oMathPara>
                </a14:m>
                <a:endParaRPr lang="en-US" altLang="en-US" b="1" dirty="0"/>
              </a:p>
            </p:txBody>
          </p:sp>
        </mc:Choice>
        <mc:Fallback xmlns="">
          <p:sp>
            <p:nvSpPr>
              <p:cNvPr id="451594" name="Oval 4">
                <a:extLst>
                  <a:ext uri="{FF2B5EF4-FFF2-40B4-BE49-F238E27FC236}">
                    <a16:creationId xmlns:a16="http://schemas.microsoft.com/office/drawing/2014/main" id="{C2D53AEE-F231-8C24-FAC6-5C798E2195F0}"/>
                  </a:ext>
                </a:extLst>
              </p:cNvPr>
              <p:cNvSpPr>
                <a:spLocks noRot="1" noChangeAspect="1" noMove="1" noResize="1" noEditPoints="1" noAdjustHandles="1" noChangeArrowheads="1" noChangeShapeType="1" noTextEdit="1"/>
              </p:cNvSpPr>
              <p:nvPr/>
            </p:nvSpPr>
            <p:spPr bwMode="auto">
              <a:xfrm>
                <a:off x="7216013" y="5496457"/>
                <a:ext cx="228504" cy="257310"/>
              </a:xfrm>
              <a:prstGeom prst="ellipse">
                <a:avLst/>
              </a:prstGeom>
              <a:blipFill>
                <a:blip r:embed="rId7"/>
                <a:stretch>
                  <a:fillRect l="-30769" t="-4545" r="-12821" b="-11364"/>
                </a:stretch>
              </a:blip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r>
                  <a:rPr lang="en-US">
                    <a:noFill/>
                  </a:rPr>
                  <a:t> </a:t>
                </a:r>
              </a:p>
            </p:txBody>
          </p:sp>
        </mc:Fallback>
      </mc:AlternateContent>
      <p:cxnSp>
        <p:nvCxnSpPr>
          <p:cNvPr id="451595" name="AutoShape 12">
            <a:extLst>
              <a:ext uri="{FF2B5EF4-FFF2-40B4-BE49-F238E27FC236}">
                <a16:creationId xmlns:a16="http://schemas.microsoft.com/office/drawing/2014/main" id="{AB82AB00-12AA-F206-2AAB-AB0B4C05FF44}"/>
              </a:ext>
            </a:extLst>
          </p:cNvPr>
          <p:cNvCxnSpPr>
            <a:cxnSpLocks noChangeShapeType="1"/>
            <a:stCxn id="59" idx="6"/>
            <a:endCxn id="451594" idx="2"/>
          </p:cNvCxnSpPr>
          <p:nvPr/>
        </p:nvCxnSpPr>
        <p:spPr bwMode="auto">
          <a:xfrm flipV="1">
            <a:off x="6430983" y="5625112"/>
            <a:ext cx="785030" cy="1"/>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mc:AlternateContent xmlns:mc="http://schemas.openxmlformats.org/markup-compatibility/2006">
        <mc:Choice xmlns:a14="http://schemas.microsoft.com/office/drawing/2010/main" Requires="a14">
          <p:sp>
            <p:nvSpPr>
              <p:cNvPr id="451599" name="Text Box 17">
                <a:extLst>
                  <a:ext uri="{FF2B5EF4-FFF2-40B4-BE49-F238E27FC236}">
                    <a16:creationId xmlns:a16="http://schemas.microsoft.com/office/drawing/2014/main" id="{EABB2264-E5CC-F22A-52DF-C457EE5B5E60}"/>
                  </a:ext>
                </a:extLst>
              </p:cNvPr>
              <p:cNvSpPr txBox="1">
                <a:spLocks noChangeArrowheads="1"/>
              </p:cNvSpPr>
              <p:nvPr/>
            </p:nvSpPr>
            <p:spPr bwMode="auto">
              <a:xfrm>
                <a:off x="6585661" y="5406491"/>
                <a:ext cx="474361" cy="400110"/>
              </a:xfrm>
              <a:prstGeom prst="rect">
                <a:avLst/>
              </a:prstGeom>
              <a:solidFill>
                <a:schemeClr val="bg1"/>
              </a:solidFill>
              <a:ln>
                <a:noFill/>
              </a:ln>
              <a:effectLst/>
            </p:spPr>
            <p:txBody>
              <a:bodyPr wrap="non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pPr algn="l"/>
                <a14:m>
                  <m:oMathPara xmlns:m="http://schemas.openxmlformats.org/officeDocument/2006/math">
                    <m:oMathParaPr>
                      <m:jc m:val="centerGroup"/>
                    </m:oMathParaPr>
                    <m:oMath xmlns:m="http://schemas.openxmlformats.org/officeDocument/2006/math">
                      <m:r>
                        <a:rPr lang="en-US" altLang="en-US" b="0" i="1" smtClean="0">
                          <a:latin typeface="Cambria Math" panose="02040503050406030204" pitchFamily="18" charset="0"/>
                        </a:rPr>
                        <m:t>𝑚</m:t>
                      </m:r>
                    </m:oMath>
                  </m:oMathPara>
                </a14:m>
                <a:endParaRPr lang="en-US" altLang="en-US" dirty="0"/>
              </a:p>
            </p:txBody>
          </p:sp>
        </mc:Choice>
        <mc:Fallback>
          <p:sp>
            <p:nvSpPr>
              <p:cNvPr id="451599" name="Text Box 17">
                <a:extLst>
                  <a:ext uri="{FF2B5EF4-FFF2-40B4-BE49-F238E27FC236}">
                    <a16:creationId xmlns:a16="http://schemas.microsoft.com/office/drawing/2014/main" id="{EABB2264-E5CC-F22A-52DF-C457EE5B5E60}"/>
                  </a:ext>
                </a:extLst>
              </p:cNvPr>
              <p:cNvSpPr txBox="1">
                <a:spLocks noRot="1" noChangeAspect="1" noMove="1" noResize="1" noEditPoints="1" noAdjustHandles="1" noChangeArrowheads="1" noChangeShapeType="1" noTextEdit="1"/>
              </p:cNvSpPr>
              <p:nvPr/>
            </p:nvSpPr>
            <p:spPr bwMode="auto">
              <a:xfrm>
                <a:off x="6585661" y="5406491"/>
                <a:ext cx="474361" cy="400110"/>
              </a:xfrm>
              <a:prstGeom prst="rect">
                <a:avLst/>
              </a:prstGeom>
              <a:blipFill>
                <a:blip r:embed="rId8"/>
                <a:stretch>
                  <a:fillRect/>
                </a:stretch>
              </a:blipFill>
              <a:ln>
                <a:noFill/>
              </a:ln>
              <a:effectLst/>
            </p:spPr>
            <p:txBody>
              <a:bodyPr/>
              <a:lstStyle/>
              <a:p>
                <a:r>
                  <a:rPr lang="en-US">
                    <a:noFill/>
                  </a:rPr>
                  <a:t> </a:t>
                </a:r>
              </a:p>
            </p:txBody>
          </p:sp>
        </mc:Fallback>
      </mc:AlternateContent>
    </p:spTree>
    <p:extLst>
      <p:ext uri="{BB962C8B-B14F-4D97-AF65-F5344CB8AC3E}">
        <p14:creationId xmlns:p14="http://schemas.microsoft.com/office/powerpoint/2010/main" val="342524250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A16E04-87CD-64DF-E1B8-5BDBED035FC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51616" name="Rectangle 32">
                <a:extLst>
                  <a:ext uri="{FF2B5EF4-FFF2-40B4-BE49-F238E27FC236}">
                    <a16:creationId xmlns:a16="http://schemas.microsoft.com/office/drawing/2014/main" id="{08D99182-5757-FCF0-799A-B83084BF882C}"/>
                  </a:ext>
                </a:extLst>
              </p:cNvPr>
              <p:cNvSpPr>
                <a:spLocks noGrp="1" noChangeArrowheads="1"/>
              </p:cNvSpPr>
              <p:nvPr>
                <p:ph type="body" idx="1"/>
              </p:nvPr>
            </p:nvSpPr>
            <p:spPr>
              <a:xfrm>
                <a:off x="164592" y="1456824"/>
                <a:ext cx="11773093" cy="5200045"/>
              </a:xfrm>
            </p:spPr>
            <p:txBody>
              <a:bodyPr>
                <a:normAutofit/>
              </a:bodyPr>
              <a:lstStyle/>
              <a:p>
                <a:pPr marL="0" indent="0">
                  <a:buNone/>
                </a:pPr>
                <a:r>
                  <a:rPr lang="en-US" altLang="en-US" sz="2400" b="1" dirty="0" err="1">
                    <a:solidFill>
                      <a:srgbClr val="695082"/>
                    </a:solidFill>
                  </a:rPr>
                  <a:t>Defn</a:t>
                </a:r>
                <a:r>
                  <a:rPr lang="en-US" altLang="en-US" sz="2400" b="1" dirty="0">
                    <a:solidFill>
                      <a:srgbClr val="695082"/>
                    </a:solidFill>
                  </a:rPr>
                  <a:t>: </a:t>
                </a:r>
                <a:r>
                  <a:rPr lang="en-US" altLang="en-US" sz="2400" dirty="0"/>
                  <a:t>Two paths in a graph are </a:t>
                </a:r>
                <a:r>
                  <a:rPr lang="en-US" altLang="en-US" sz="2400" dirty="0">
                    <a:solidFill>
                      <a:srgbClr val="C00000"/>
                    </a:solidFill>
                  </a:rPr>
                  <a:t>vertex-disjoint</a:t>
                </a:r>
                <a:r>
                  <a:rPr lang="en-US" altLang="en-US" sz="2400" dirty="0"/>
                  <a:t> </a:t>
                </a:r>
                <a:r>
                  <a:rPr lang="en-US" altLang="en-US" sz="2400" dirty="0" err="1"/>
                  <a:t>iff</a:t>
                </a:r>
                <a:r>
                  <a:rPr lang="en-US" altLang="en-US" sz="2400" dirty="0"/>
                  <a:t> they have no vertices in common, except their end points.</a:t>
                </a:r>
              </a:p>
              <a:p>
                <a:pPr marL="0" indent="0">
                  <a:buNone/>
                </a:pPr>
                <a:endParaRPr lang="en-US" altLang="en-US" sz="500" dirty="0"/>
              </a:p>
              <a:p>
                <a:pPr marL="0" indent="0">
                  <a:buNone/>
                </a:pPr>
                <a:r>
                  <a:rPr lang="en-US" altLang="en-US" sz="2400" b="1" dirty="0">
                    <a:solidFill>
                      <a:srgbClr val="695082"/>
                    </a:solidFill>
                  </a:rPr>
                  <a:t>Vertex disjoint path problem:</a:t>
                </a:r>
                <a:r>
                  <a:rPr lang="en-US" altLang="en-US" sz="2000" dirty="0"/>
                  <a:t> </a:t>
                </a:r>
                <a:r>
                  <a:rPr lang="en-US" altLang="en-US" sz="2400" dirty="0"/>
                  <a:t> </a:t>
                </a:r>
                <a:r>
                  <a:rPr lang="en-US" altLang="en-US" sz="2400" b="1" dirty="0">
                    <a:solidFill>
                      <a:srgbClr val="0066CC"/>
                    </a:solidFill>
                  </a:rPr>
                  <a:t>Given:</a:t>
                </a:r>
                <a:r>
                  <a:rPr lang="en-US" altLang="en-US" sz="2400" dirty="0"/>
                  <a:t> a directed graph </a:t>
                </a:r>
                <a14:m>
                  <m:oMath xmlns:m="http://schemas.openxmlformats.org/officeDocument/2006/math">
                    <m:r>
                      <a:rPr lang="en-US" altLang="en-US" sz="2400" b="1" i="1" dirty="0">
                        <a:solidFill>
                          <a:srgbClr val="0066CC"/>
                        </a:solidFill>
                        <a:latin typeface="Cambria Math" panose="02040503050406030204" pitchFamily="18" charset="0"/>
                      </a:rPr>
                      <m:t>𝑮</m:t>
                    </m:r>
                    <m:r>
                      <a:rPr lang="en-US" altLang="en-US" sz="2400" b="1" i="1" dirty="0">
                        <a:solidFill>
                          <a:srgbClr val="0066CC"/>
                        </a:solidFill>
                        <a:latin typeface="Cambria Math" panose="02040503050406030204" pitchFamily="18" charset="0"/>
                      </a:rPr>
                      <m:t>=(</m:t>
                    </m:r>
                    <m:r>
                      <a:rPr lang="en-US" altLang="en-US" sz="2400" b="1" i="1" dirty="0">
                        <a:solidFill>
                          <a:srgbClr val="0066CC"/>
                        </a:solidFill>
                        <a:latin typeface="Cambria Math" panose="02040503050406030204" pitchFamily="18" charset="0"/>
                      </a:rPr>
                      <m:t>𝑽</m:t>
                    </m:r>
                    <m:r>
                      <a:rPr lang="en-US" altLang="en-US" sz="2400" b="1" i="1" dirty="0">
                        <a:solidFill>
                          <a:srgbClr val="0066CC"/>
                        </a:solidFill>
                        <a:latin typeface="Cambria Math" panose="02040503050406030204" pitchFamily="18" charset="0"/>
                      </a:rPr>
                      <m:t>,</m:t>
                    </m:r>
                    <m:r>
                      <a:rPr lang="en-US" altLang="en-US" sz="2400" b="1" i="1" dirty="0">
                        <a:solidFill>
                          <a:srgbClr val="0066CC"/>
                        </a:solidFill>
                        <a:latin typeface="Cambria Math" panose="02040503050406030204" pitchFamily="18" charset="0"/>
                      </a:rPr>
                      <m:t>𝑬</m:t>
                    </m:r>
                    <m:r>
                      <a:rPr lang="en-US" altLang="en-US" sz="2400" b="1" i="1" dirty="0">
                        <a:solidFill>
                          <a:srgbClr val="0066CC"/>
                        </a:solidFill>
                        <a:latin typeface="Cambria Math" panose="02040503050406030204" pitchFamily="18" charset="0"/>
                      </a:rPr>
                      <m:t>)</m:t>
                    </m:r>
                  </m:oMath>
                </a14:m>
                <a:r>
                  <a:rPr lang="en-US" altLang="en-US" sz="2400" dirty="0"/>
                  <a:t> and two vertices </a:t>
                </a:r>
                <a14:m>
                  <m:oMath xmlns:m="http://schemas.openxmlformats.org/officeDocument/2006/math">
                    <m:r>
                      <a:rPr lang="en-US" altLang="en-US" sz="2400" b="1" i="1" dirty="0">
                        <a:solidFill>
                          <a:srgbClr val="0066CC"/>
                        </a:solidFill>
                        <a:latin typeface="Cambria Math" panose="02040503050406030204" pitchFamily="18" charset="0"/>
                      </a:rPr>
                      <m:t>𝒔</m:t>
                    </m:r>
                  </m:oMath>
                </a14:m>
                <a:r>
                  <a:rPr lang="en-US" altLang="en-US" sz="2400" dirty="0"/>
                  <a:t> and </a:t>
                </a:r>
                <a14:m>
                  <m:oMath xmlns:m="http://schemas.openxmlformats.org/officeDocument/2006/math">
                    <m:r>
                      <a:rPr lang="en-US" altLang="en-US" sz="2400" b="1" i="1" dirty="0">
                        <a:solidFill>
                          <a:srgbClr val="0066CC"/>
                        </a:solidFill>
                        <a:latin typeface="Cambria Math" panose="02040503050406030204" pitchFamily="18" charset="0"/>
                      </a:rPr>
                      <m:t>𝒕</m:t>
                    </m:r>
                  </m:oMath>
                </a14:m>
                <a:r>
                  <a:rPr lang="en-US" altLang="en-US" sz="2400" dirty="0"/>
                  <a:t>.</a:t>
                </a:r>
              </a:p>
              <a:p>
                <a:pPr marL="0" indent="0">
                  <a:buNone/>
                </a:pPr>
                <a:r>
                  <a:rPr lang="en-US" altLang="en-US" sz="2400" b="1" dirty="0">
                    <a:solidFill>
                      <a:srgbClr val="006600"/>
                    </a:solidFill>
                  </a:rPr>
                  <a:t>				   Find:</a:t>
                </a:r>
                <a:r>
                  <a:rPr lang="en-US" altLang="en-US" sz="2400" dirty="0"/>
                  <a:t> the maximum # of vertex-disjoint simple </a:t>
                </a:r>
                <a14:m>
                  <m:oMath xmlns:m="http://schemas.openxmlformats.org/officeDocument/2006/math">
                    <m:r>
                      <a:rPr lang="en-US" altLang="en-US" sz="2400" b="1" i="1" dirty="0">
                        <a:solidFill>
                          <a:srgbClr val="0066CC"/>
                        </a:solidFill>
                        <a:latin typeface="Cambria Math" panose="02040503050406030204" pitchFamily="18" charset="0"/>
                      </a:rPr>
                      <m:t>𝒔</m:t>
                    </m:r>
                  </m:oMath>
                </a14:m>
                <a:r>
                  <a:rPr lang="en-US" altLang="en-US" sz="2400" dirty="0"/>
                  <a:t>-</a:t>
                </a:r>
                <a14:m>
                  <m:oMath xmlns:m="http://schemas.openxmlformats.org/officeDocument/2006/math">
                    <m:r>
                      <a:rPr lang="en-US" altLang="en-US" sz="2400" b="1" i="1" dirty="0">
                        <a:solidFill>
                          <a:srgbClr val="0066CC"/>
                        </a:solidFill>
                        <a:latin typeface="Cambria Math" panose="02040503050406030204" pitchFamily="18" charset="0"/>
                      </a:rPr>
                      <m:t>𝒕</m:t>
                    </m:r>
                  </m:oMath>
                </a14:m>
                <a:r>
                  <a:rPr lang="en-US" altLang="en-US" sz="2400" dirty="0"/>
                  <a:t> paths in </a:t>
                </a:r>
                <a14:m>
                  <m:oMath xmlns:m="http://schemas.openxmlformats.org/officeDocument/2006/math">
                    <m:r>
                      <a:rPr lang="en-US" altLang="en-US" sz="2400" b="1" i="1" dirty="0">
                        <a:solidFill>
                          <a:srgbClr val="006600"/>
                        </a:solidFill>
                        <a:latin typeface="Cambria Math" panose="02040503050406030204" pitchFamily="18" charset="0"/>
                      </a:rPr>
                      <m:t>𝑮</m:t>
                    </m:r>
                  </m:oMath>
                </a14:m>
                <a:r>
                  <a:rPr lang="en-US" altLang="en-US" sz="2400" dirty="0">
                    <a:solidFill>
                      <a:schemeClr val="tx1"/>
                    </a:solidFill>
                  </a:rPr>
                  <a:t>.</a:t>
                </a:r>
              </a:p>
              <a:p>
                <a:pPr marL="0" indent="0">
                  <a:buNone/>
                </a:pPr>
                <a:endParaRPr lang="en-US" altLang="en-US" sz="500" dirty="0"/>
              </a:p>
              <a:p>
                <a:pPr marL="0" indent="0">
                  <a:buNone/>
                </a:pPr>
                <a:endParaRPr lang="en-US" altLang="en-US" sz="2400" dirty="0">
                  <a:solidFill>
                    <a:schemeClr val="tx1"/>
                  </a:solidFill>
                </a:endParaRPr>
              </a:p>
            </p:txBody>
          </p:sp>
        </mc:Choice>
        <mc:Fallback xmlns="">
          <p:sp>
            <p:nvSpPr>
              <p:cNvPr id="451616" name="Rectangle 32">
                <a:extLst>
                  <a:ext uri="{FF2B5EF4-FFF2-40B4-BE49-F238E27FC236}">
                    <a16:creationId xmlns:a16="http://schemas.microsoft.com/office/drawing/2014/main" id="{08D99182-5757-FCF0-799A-B83084BF882C}"/>
                  </a:ext>
                </a:extLst>
              </p:cNvPr>
              <p:cNvSpPr>
                <a:spLocks noGrp="1" noRot="1" noChangeAspect="1" noMove="1" noResize="1" noEditPoints="1" noAdjustHandles="1" noChangeArrowheads="1" noChangeShapeType="1" noTextEdit="1"/>
              </p:cNvSpPr>
              <p:nvPr>
                <p:ph type="body" idx="1"/>
              </p:nvPr>
            </p:nvSpPr>
            <p:spPr>
              <a:xfrm>
                <a:off x="164592" y="1456824"/>
                <a:ext cx="11773093" cy="5200045"/>
              </a:xfrm>
              <a:blipFill>
                <a:blip r:embed="rId3"/>
                <a:stretch>
                  <a:fillRect l="-777" t="-1641"/>
                </a:stretch>
              </a:blipFill>
            </p:spPr>
            <p:txBody>
              <a:bodyPr/>
              <a:lstStyle/>
              <a:p>
                <a:r>
                  <a:rPr lang="en-US">
                    <a:noFill/>
                  </a:rPr>
                  <a:t> </a:t>
                </a:r>
              </a:p>
            </p:txBody>
          </p:sp>
        </mc:Fallback>
      </mc:AlternateContent>
      <p:sp>
        <p:nvSpPr>
          <p:cNvPr id="451615" name="Rectangle 31">
            <a:extLst>
              <a:ext uri="{FF2B5EF4-FFF2-40B4-BE49-F238E27FC236}">
                <a16:creationId xmlns:a16="http://schemas.microsoft.com/office/drawing/2014/main" id="{4759F2F2-2577-64C4-7D71-75E5F006659D}"/>
              </a:ext>
            </a:extLst>
          </p:cNvPr>
          <p:cNvSpPr>
            <a:spLocks noGrp="1" noChangeArrowheads="1"/>
          </p:cNvSpPr>
          <p:nvPr>
            <p:ph type="title"/>
          </p:nvPr>
        </p:nvSpPr>
        <p:spPr/>
        <p:txBody>
          <a:bodyPr/>
          <a:lstStyle/>
          <a:p>
            <a:r>
              <a:rPr lang="en-US" altLang="en-US" dirty="0"/>
              <a:t>Vertex-Disjoint Paths</a:t>
            </a:r>
          </a:p>
        </p:txBody>
      </p:sp>
      <p:sp>
        <p:nvSpPr>
          <p:cNvPr id="28" name="Slide Number Placeholder 3">
            <a:extLst>
              <a:ext uri="{FF2B5EF4-FFF2-40B4-BE49-F238E27FC236}">
                <a16:creationId xmlns:a16="http://schemas.microsoft.com/office/drawing/2014/main" id="{4BBB1327-7DF8-30EB-A190-DB9F5FEA5C29}"/>
              </a:ext>
            </a:extLst>
          </p:cNvPr>
          <p:cNvSpPr>
            <a:spLocks noGrp="1"/>
          </p:cNvSpPr>
          <p:nvPr>
            <p:ph type="sldNum" sz="quarter" idx="12"/>
          </p:nvPr>
        </p:nvSpPr>
        <p:spPr>
          <a:xfrm>
            <a:off x="9880286" y="6336770"/>
            <a:ext cx="2057400" cy="365125"/>
          </a:xfrm>
        </p:spPr>
        <p:txBody>
          <a:bodyPr/>
          <a:lstStyle/>
          <a:p>
            <a:fld id="{859767C1-1CFC-4BF3-A3D8-E4104FCBBC17}" type="slidenum">
              <a:rPr lang="en-US" smtClean="0"/>
              <a:pPr/>
              <a:t>34</a:t>
            </a:fld>
            <a:endParaRPr lang="en-US" dirty="0"/>
          </a:p>
        </p:txBody>
      </p:sp>
      <p:grpSp>
        <p:nvGrpSpPr>
          <p:cNvPr id="10" name="Group 9">
            <a:extLst>
              <a:ext uri="{FF2B5EF4-FFF2-40B4-BE49-F238E27FC236}">
                <a16:creationId xmlns:a16="http://schemas.microsoft.com/office/drawing/2014/main" id="{66A61766-690F-F1ED-D9A5-FC544A51AEBB}"/>
              </a:ext>
            </a:extLst>
          </p:cNvPr>
          <p:cNvGrpSpPr/>
          <p:nvPr/>
        </p:nvGrpSpPr>
        <p:grpSpPr>
          <a:xfrm>
            <a:off x="254315" y="3454314"/>
            <a:ext cx="5303520" cy="2286000"/>
            <a:chOff x="254315" y="3170850"/>
            <a:chExt cx="5303520" cy="2286000"/>
          </a:xfrm>
        </p:grpSpPr>
        <p:grpSp>
          <p:nvGrpSpPr>
            <p:cNvPr id="2" name="Group 1">
              <a:extLst>
                <a:ext uri="{FF2B5EF4-FFF2-40B4-BE49-F238E27FC236}">
                  <a16:creationId xmlns:a16="http://schemas.microsoft.com/office/drawing/2014/main" id="{834FFDDC-2B84-F7A5-E752-7468D96E06CC}"/>
                </a:ext>
              </a:extLst>
            </p:cNvPr>
            <p:cNvGrpSpPr>
              <a:grpSpLocks/>
            </p:cNvGrpSpPr>
            <p:nvPr/>
          </p:nvGrpSpPr>
          <p:grpSpPr>
            <a:xfrm>
              <a:off x="254315" y="3170850"/>
              <a:ext cx="5303520" cy="2286000"/>
              <a:chOff x="2438401" y="3540126"/>
              <a:chExt cx="6784975" cy="2597150"/>
            </a:xfrm>
          </p:grpSpPr>
          <p:sp>
            <p:nvSpPr>
              <p:cNvPr id="451588" name="Oval 4">
                <a:extLst>
                  <a:ext uri="{FF2B5EF4-FFF2-40B4-BE49-F238E27FC236}">
                    <a16:creationId xmlns:a16="http://schemas.microsoft.com/office/drawing/2014/main" id="{A0EED8C0-2D79-3A07-2E91-6FA10E542735}"/>
                  </a:ext>
                </a:extLst>
              </p:cNvPr>
              <p:cNvSpPr>
                <a:spLocks noChangeAspect="1" noChangeArrowheads="1"/>
              </p:cNvSpPr>
              <p:nvPr/>
            </p:nvSpPr>
            <p:spPr bwMode="auto">
              <a:xfrm>
                <a:off x="2438401" y="46482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s</a:t>
                </a:r>
              </a:p>
            </p:txBody>
          </p:sp>
          <p:sp>
            <p:nvSpPr>
              <p:cNvPr id="451591" name="Oval 7">
                <a:extLst>
                  <a:ext uri="{FF2B5EF4-FFF2-40B4-BE49-F238E27FC236}">
                    <a16:creationId xmlns:a16="http://schemas.microsoft.com/office/drawing/2014/main" id="{D5EB4F6B-BCB6-F5B0-502C-9B6D52EF20A1}"/>
                  </a:ext>
                </a:extLst>
              </p:cNvPr>
              <p:cNvSpPr>
                <a:spLocks noChangeAspect="1" noChangeArrowheads="1"/>
              </p:cNvSpPr>
              <p:nvPr/>
            </p:nvSpPr>
            <p:spPr bwMode="auto">
              <a:xfrm>
                <a:off x="4572001" y="3540126"/>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a</a:t>
                </a:r>
              </a:p>
            </p:txBody>
          </p:sp>
          <p:sp>
            <p:nvSpPr>
              <p:cNvPr id="451592" name="Oval 8">
                <a:extLst>
                  <a:ext uri="{FF2B5EF4-FFF2-40B4-BE49-F238E27FC236}">
                    <a16:creationId xmlns:a16="http://schemas.microsoft.com/office/drawing/2014/main" id="{18A8FB08-76C3-5474-C1ED-3239D429A7E0}"/>
                  </a:ext>
                </a:extLst>
              </p:cNvPr>
              <p:cNvSpPr>
                <a:spLocks noChangeAspect="1" noChangeArrowheads="1"/>
              </p:cNvSpPr>
              <p:nvPr/>
            </p:nvSpPr>
            <p:spPr bwMode="auto">
              <a:xfrm>
                <a:off x="4572001" y="46482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b</a:t>
                </a:r>
              </a:p>
            </p:txBody>
          </p:sp>
          <p:sp>
            <p:nvSpPr>
              <p:cNvPr id="451593" name="Oval 9">
                <a:extLst>
                  <a:ext uri="{FF2B5EF4-FFF2-40B4-BE49-F238E27FC236}">
                    <a16:creationId xmlns:a16="http://schemas.microsoft.com/office/drawing/2014/main" id="{2FC53831-DF48-2019-7AFD-F3BD0758E41A}"/>
                  </a:ext>
                </a:extLst>
              </p:cNvPr>
              <p:cNvSpPr>
                <a:spLocks noChangeAspect="1" noChangeArrowheads="1"/>
              </p:cNvSpPr>
              <p:nvPr/>
            </p:nvSpPr>
            <p:spPr bwMode="auto">
              <a:xfrm>
                <a:off x="4572001" y="58674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c</a:t>
                </a:r>
              </a:p>
            </p:txBody>
          </p:sp>
          <p:cxnSp>
            <p:nvCxnSpPr>
              <p:cNvPr id="451596" name="AutoShape 12">
                <a:extLst>
                  <a:ext uri="{FF2B5EF4-FFF2-40B4-BE49-F238E27FC236}">
                    <a16:creationId xmlns:a16="http://schemas.microsoft.com/office/drawing/2014/main" id="{C89950E8-5671-FF3A-9DC0-3FC291C66E85}"/>
                  </a:ext>
                </a:extLst>
              </p:cNvPr>
              <p:cNvCxnSpPr>
                <a:cxnSpLocks noChangeShapeType="1"/>
                <a:stCxn id="451588" idx="7"/>
                <a:endCxn id="451591" idx="3"/>
              </p:cNvCxnSpPr>
              <p:nvPr/>
            </p:nvCxnSpPr>
            <p:spPr bwMode="auto">
              <a:xfrm flipV="1">
                <a:off x="2668588" y="3770314"/>
                <a:ext cx="1943100" cy="917575"/>
              </a:xfrm>
              <a:prstGeom prst="straightConnector1">
                <a:avLst/>
              </a:prstGeom>
              <a:noFill/>
              <a:ln w="19050">
                <a:solidFill>
                  <a:srgbClr val="0070C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597" name="AutoShape 13">
                <a:extLst>
                  <a:ext uri="{FF2B5EF4-FFF2-40B4-BE49-F238E27FC236}">
                    <a16:creationId xmlns:a16="http://schemas.microsoft.com/office/drawing/2014/main" id="{78F658AE-6FA3-58BD-5F23-489094A116C5}"/>
                  </a:ext>
                </a:extLst>
              </p:cNvPr>
              <p:cNvCxnSpPr>
                <a:cxnSpLocks noChangeShapeType="1"/>
                <a:stCxn id="451588" idx="6"/>
                <a:endCxn id="451592" idx="2"/>
              </p:cNvCxnSpPr>
              <p:nvPr/>
            </p:nvCxnSpPr>
            <p:spPr bwMode="auto">
              <a:xfrm>
                <a:off x="2708276" y="4783138"/>
                <a:ext cx="1863725" cy="0"/>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598" name="AutoShape 14">
                <a:extLst>
                  <a:ext uri="{FF2B5EF4-FFF2-40B4-BE49-F238E27FC236}">
                    <a16:creationId xmlns:a16="http://schemas.microsoft.com/office/drawing/2014/main" id="{B932F20F-9C2A-5EF6-10A9-55EF44DF1FD6}"/>
                  </a:ext>
                </a:extLst>
              </p:cNvPr>
              <p:cNvCxnSpPr>
                <a:cxnSpLocks noChangeShapeType="1"/>
                <a:stCxn id="451588" idx="5"/>
                <a:endCxn id="451593" idx="1"/>
              </p:cNvCxnSpPr>
              <p:nvPr/>
            </p:nvCxnSpPr>
            <p:spPr bwMode="auto">
              <a:xfrm>
                <a:off x="2668588" y="4878388"/>
                <a:ext cx="1943100" cy="1028700"/>
              </a:xfrm>
              <a:prstGeom prst="straightConnector1">
                <a:avLst/>
              </a:prstGeom>
              <a:noFill/>
              <a:ln w="19050">
                <a:solidFill>
                  <a:srgbClr val="FF000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606" name="AutoShape 22">
                <a:extLst>
                  <a:ext uri="{FF2B5EF4-FFF2-40B4-BE49-F238E27FC236}">
                    <a16:creationId xmlns:a16="http://schemas.microsoft.com/office/drawing/2014/main" id="{1A10C950-6970-6F81-6C2E-00DBCDC017FD}"/>
                  </a:ext>
                </a:extLst>
              </p:cNvPr>
              <p:cNvCxnSpPr>
                <a:cxnSpLocks noChangeShapeType="1"/>
                <a:stCxn id="451592" idx="4"/>
                <a:endCxn id="451593" idx="0"/>
              </p:cNvCxnSpPr>
              <p:nvPr/>
            </p:nvCxnSpPr>
            <p:spPr bwMode="auto">
              <a:xfrm>
                <a:off x="4706938" y="4918076"/>
                <a:ext cx="0" cy="94932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608" name="AutoShape 24">
                <a:extLst>
                  <a:ext uri="{FF2B5EF4-FFF2-40B4-BE49-F238E27FC236}">
                    <a16:creationId xmlns:a16="http://schemas.microsoft.com/office/drawing/2014/main" id="{CE1AB738-7B52-1E5D-BCED-0B8C6F7D843E}"/>
                  </a:ext>
                </a:extLst>
              </p:cNvPr>
              <p:cNvCxnSpPr>
                <a:cxnSpLocks noChangeShapeType="1"/>
                <a:stCxn id="451592" idx="5"/>
                <a:endCxn id="451624" idx="1"/>
              </p:cNvCxnSpPr>
              <p:nvPr/>
            </p:nvCxnSpPr>
            <p:spPr bwMode="auto">
              <a:xfrm>
                <a:off x="4802354" y="4878555"/>
                <a:ext cx="2095170" cy="1028368"/>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609" name="AutoShape 25">
                <a:extLst>
                  <a:ext uri="{FF2B5EF4-FFF2-40B4-BE49-F238E27FC236}">
                    <a16:creationId xmlns:a16="http://schemas.microsoft.com/office/drawing/2014/main" id="{C3C5EA1B-820D-719B-C5CD-1CF1E2DF48AE}"/>
                  </a:ext>
                </a:extLst>
              </p:cNvPr>
              <p:cNvCxnSpPr>
                <a:cxnSpLocks noChangeShapeType="1"/>
                <a:stCxn id="451593" idx="6"/>
                <a:endCxn id="451624" idx="2"/>
              </p:cNvCxnSpPr>
              <p:nvPr/>
            </p:nvCxnSpPr>
            <p:spPr bwMode="auto">
              <a:xfrm>
                <a:off x="4841876" y="6002338"/>
                <a:ext cx="2016125" cy="0"/>
              </a:xfrm>
              <a:prstGeom prst="straightConnector1">
                <a:avLst/>
              </a:prstGeom>
              <a:noFill/>
              <a:ln w="19050">
                <a:solidFill>
                  <a:srgbClr val="FF000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618" name="AutoShape 34">
                <a:extLst>
                  <a:ext uri="{FF2B5EF4-FFF2-40B4-BE49-F238E27FC236}">
                    <a16:creationId xmlns:a16="http://schemas.microsoft.com/office/drawing/2014/main" id="{1270AE8B-E89D-EC8A-4CEF-411145423719}"/>
                  </a:ext>
                </a:extLst>
              </p:cNvPr>
              <p:cNvCxnSpPr>
                <a:cxnSpLocks noChangeShapeType="1"/>
                <a:stCxn id="451591" idx="4"/>
                <a:endCxn id="451592" idx="0"/>
              </p:cNvCxnSpPr>
              <p:nvPr/>
            </p:nvCxnSpPr>
            <p:spPr bwMode="auto">
              <a:xfrm>
                <a:off x="4706938" y="3810000"/>
                <a:ext cx="0" cy="838200"/>
              </a:xfrm>
              <a:prstGeom prst="straightConnector1">
                <a:avLst/>
              </a:prstGeom>
              <a:noFill/>
              <a:ln w="19050">
                <a:solidFill>
                  <a:srgbClr val="0070C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51622" name="Oval 38">
                <a:extLst>
                  <a:ext uri="{FF2B5EF4-FFF2-40B4-BE49-F238E27FC236}">
                    <a16:creationId xmlns:a16="http://schemas.microsoft.com/office/drawing/2014/main" id="{9E53F3B6-23A9-F40F-127C-5235E1A80D73}"/>
                  </a:ext>
                </a:extLst>
              </p:cNvPr>
              <p:cNvSpPr>
                <a:spLocks noChangeAspect="1" noChangeArrowheads="1"/>
              </p:cNvSpPr>
              <p:nvPr/>
            </p:nvSpPr>
            <p:spPr bwMode="auto">
              <a:xfrm>
                <a:off x="6858001" y="3540126"/>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d</a:t>
                </a:r>
              </a:p>
            </p:txBody>
          </p:sp>
          <p:sp>
            <p:nvSpPr>
              <p:cNvPr id="451623" name="Oval 39">
                <a:extLst>
                  <a:ext uri="{FF2B5EF4-FFF2-40B4-BE49-F238E27FC236}">
                    <a16:creationId xmlns:a16="http://schemas.microsoft.com/office/drawing/2014/main" id="{4EF5C642-C207-76C2-B3A4-4B5CCBD75A56}"/>
                  </a:ext>
                </a:extLst>
              </p:cNvPr>
              <p:cNvSpPr>
                <a:spLocks noChangeAspect="1" noChangeArrowheads="1"/>
              </p:cNvSpPr>
              <p:nvPr/>
            </p:nvSpPr>
            <p:spPr bwMode="auto">
              <a:xfrm>
                <a:off x="6858001" y="46482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e</a:t>
                </a:r>
              </a:p>
            </p:txBody>
          </p:sp>
          <p:sp>
            <p:nvSpPr>
              <p:cNvPr id="451624" name="Oval 40">
                <a:extLst>
                  <a:ext uri="{FF2B5EF4-FFF2-40B4-BE49-F238E27FC236}">
                    <a16:creationId xmlns:a16="http://schemas.microsoft.com/office/drawing/2014/main" id="{56940CD8-4B91-B261-FA00-0055CA20B8DC}"/>
                  </a:ext>
                </a:extLst>
              </p:cNvPr>
              <p:cNvSpPr>
                <a:spLocks noChangeAspect="1" noChangeArrowheads="1"/>
              </p:cNvSpPr>
              <p:nvPr/>
            </p:nvSpPr>
            <p:spPr bwMode="auto">
              <a:xfrm>
                <a:off x="6858001" y="58674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f</a:t>
                </a:r>
              </a:p>
            </p:txBody>
          </p:sp>
          <p:cxnSp>
            <p:nvCxnSpPr>
              <p:cNvPr id="451625" name="AutoShape 41">
                <a:extLst>
                  <a:ext uri="{FF2B5EF4-FFF2-40B4-BE49-F238E27FC236}">
                    <a16:creationId xmlns:a16="http://schemas.microsoft.com/office/drawing/2014/main" id="{FDAE4530-2111-690B-F92C-0776D3029B20}"/>
                  </a:ext>
                </a:extLst>
              </p:cNvPr>
              <p:cNvCxnSpPr>
                <a:cxnSpLocks noChangeShapeType="1"/>
                <a:stCxn id="451623" idx="4"/>
                <a:endCxn id="451624" idx="0"/>
              </p:cNvCxnSpPr>
              <p:nvPr/>
            </p:nvCxnSpPr>
            <p:spPr bwMode="auto">
              <a:xfrm>
                <a:off x="6992938" y="4918076"/>
                <a:ext cx="0" cy="949325"/>
              </a:xfrm>
              <a:prstGeom prst="straightConnector1">
                <a:avLst/>
              </a:prstGeom>
              <a:noFill/>
              <a:ln w="19050">
                <a:solidFill>
                  <a:schemeClr val="tx1"/>
                </a:solidFill>
                <a:round/>
                <a:headEnd type="triangle" w="lg" len="med"/>
                <a:tailEnd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626" name="AutoShape 42">
                <a:extLst>
                  <a:ext uri="{FF2B5EF4-FFF2-40B4-BE49-F238E27FC236}">
                    <a16:creationId xmlns:a16="http://schemas.microsoft.com/office/drawing/2014/main" id="{940916F9-7D19-859C-689B-A9DF9C0AE955}"/>
                  </a:ext>
                </a:extLst>
              </p:cNvPr>
              <p:cNvCxnSpPr>
                <a:cxnSpLocks noChangeShapeType="1"/>
                <a:stCxn id="451622" idx="4"/>
                <a:endCxn id="451623" idx="0"/>
              </p:cNvCxnSpPr>
              <p:nvPr/>
            </p:nvCxnSpPr>
            <p:spPr bwMode="auto">
              <a:xfrm>
                <a:off x="6992938" y="3810000"/>
                <a:ext cx="0" cy="838200"/>
              </a:xfrm>
              <a:prstGeom prst="straightConnector1">
                <a:avLst/>
              </a:prstGeom>
              <a:noFill/>
              <a:ln w="19050">
                <a:solidFill>
                  <a:schemeClr val="tx1"/>
                </a:solidFill>
                <a:round/>
                <a:headEnd type="triangle" w="lg" len="med"/>
                <a:tailEnd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51628" name="Oval 44">
                <a:extLst>
                  <a:ext uri="{FF2B5EF4-FFF2-40B4-BE49-F238E27FC236}">
                    <a16:creationId xmlns:a16="http://schemas.microsoft.com/office/drawing/2014/main" id="{3CAD09C7-7FC4-E956-6241-F9D5AC9C841E}"/>
                  </a:ext>
                </a:extLst>
              </p:cNvPr>
              <p:cNvSpPr>
                <a:spLocks noChangeAspect="1" noChangeArrowheads="1"/>
              </p:cNvSpPr>
              <p:nvPr/>
            </p:nvSpPr>
            <p:spPr bwMode="auto">
              <a:xfrm>
                <a:off x="8953501" y="46482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t</a:t>
                </a:r>
              </a:p>
            </p:txBody>
          </p:sp>
          <p:cxnSp>
            <p:nvCxnSpPr>
              <p:cNvPr id="451629" name="AutoShape 45">
                <a:extLst>
                  <a:ext uri="{FF2B5EF4-FFF2-40B4-BE49-F238E27FC236}">
                    <a16:creationId xmlns:a16="http://schemas.microsoft.com/office/drawing/2014/main" id="{DF6DDD91-ED49-482A-5689-6254CBB21380}"/>
                  </a:ext>
                </a:extLst>
              </p:cNvPr>
              <p:cNvCxnSpPr>
                <a:cxnSpLocks noChangeShapeType="1"/>
                <a:stCxn id="451622" idx="6"/>
                <a:endCxn id="451628" idx="1"/>
              </p:cNvCxnSpPr>
              <p:nvPr/>
            </p:nvCxnSpPr>
            <p:spPr bwMode="auto">
              <a:xfrm>
                <a:off x="7127876" y="3675064"/>
                <a:ext cx="1865313" cy="101282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630" name="AutoShape 46">
                <a:extLst>
                  <a:ext uri="{FF2B5EF4-FFF2-40B4-BE49-F238E27FC236}">
                    <a16:creationId xmlns:a16="http://schemas.microsoft.com/office/drawing/2014/main" id="{872E52E8-D28D-83F0-4727-A1DC7935BA8D}"/>
                  </a:ext>
                </a:extLst>
              </p:cNvPr>
              <p:cNvCxnSpPr>
                <a:cxnSpLocks noChangeShapeType="1"/>
                <a:stCxn id="451623" idx="6"/>
                <a:endCxn id="451628" idx="2"/>
              </p:cNvCxnSpPr>
              <p:nvPr/>
            </p:nvCxnSpPr>
            <p:spPr bwMode="auto">
              <a:xfrm>
                <a:off x="7127876" y="4783138"/>
                <a:ext cx="1825625" cy="0"/>
              </a:xfrm>
              <a:prstGeom prst="straightConnector1">
                <a:avLst/>
              </a:prstGeom>
              <a:noFill/>
              <a:ln w="19050">
                <a:solidFill>
                  <a:srgbClr val="0070C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631" name="AutoShape 47">
                <a:extLst>
                  <a:ext uri="{FF2B5EF4-FFF2-40B4-BE49-F238E27FC236}">
                    <a16:creationId xmlns:a16="http://schemas.microsoft.com/office/drawing/2014/main" id="{89281011-95AB-2E0E-9F6F-61FDF5F7E571}"/>
                  </a:ext>
                </a:extLst>
              </p:cNvPr>
              <p:cNvCxnSpPr>
                <a:cxnSpLocks noChangeShapeType="1"/>
                <a:stCxn id="451624" idx="7"/>
                <a:endCxn id="451628" idx="4"/>
              </p:cNvCxnSpPr>
              <p:nvPr/>
            </p:nvCxnSpPr>
            <p:spPr bwMode="auto">
              <a:xfrm flipV="1">
                <a:off x="7088188" y="4918076"/>
                <a:ext cx="2000250" cy="989013"/>
              </a:xfrm>
              <a:prstGeom prst="straightConnector1">
                <a:avLst/>
              </a:prstGeom>
              <a:noFill/>
              <a:ln w="19050">
                <a:solidFill>
                  <a:srgbClr val="FF000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647" name="AutoShape 63">
                <a:extLst>
                  <a:ext uri="{FF2B5EF4-FFF2-40B4-BE49-F238E27FC236}">
                    <a16:creationId xmlns:a16="http://schemas.microsoft.com/office/drawing/2014/main" id="{45D64211-8ACD-0BE2-EABB-4C2312C11A3B}"/>
                  </a:ext>
                </a:extLst>
              </p:cNvPr>
              <p:cNvCxnSpPr>
                <a:cxnSpLocks noChangeShapeType="1"/>
                <a:stCxn id="451623" idx="1"/>
                <a:endCxn id="451591" idx="6"/>
              </p:cNvCxnSpPr>
              <p:nvPr/>
            </p:nvCxnSpPr>
            <p:spPr bwMode="auto">
              <a:xfrm flipH="1" flipV="1">
                <a:off x="4841876" y="3675064"/>
                <a:ext cx="2055647" cy="1012659"/>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648" name="AutoShape 64">
                <a:extLst>
                  <a:ext uri="{FF2B5EF4-FFF2-40B4-BE49-F238E27FC236}">
                    <a16:creationId xmlns:a16="http://schemas.microsoft.com/office/drawing/2014/main" id="{5FC095CA-B3C8-E0BD-190A-12A884D8F5BA}"/>
                  </a:ext>
                </a:extLst>
              </p:cNvPr>
              <p:cNvCxnSpPr>
                <a:cxnSpLocks noChangeShapeType="1"/>
                <a:stCxn id="451622" idx="2"/>
                <a:endCxn id="451592" idx="7"/>
              </p:cNvCxnSpPr>
              <p:nvPr/>
            </p:nvCxnSpPr>
            <p:spPr bwMode="auto">
              <a:xfrm flipH="1">
                <a:off x="4802188" y="3675064"/>
                <a:ext cx="2055812" cy="101282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grpSp>
        <p:cxnSp>
          <p:nvCxnSpPr>
            <p:cNvPr id="4" name="AutoShape 24">
              <a:extLst>
                <a:ext uri="{FF2B5EF4-FFF2-40B4-BE49-F238E27FC236}">
                  <a16:creationId xmlns:a16="http://schemas.microsoft.com/office/drawing/2014/main" id="{86E2871F-79A3-817A-70BC-FD84E34871A5}"/>
                </a:ext>
              </a:extLst>
            </p:cNvPr>
            <p:cNvCxnSpPr>
              <a:cxnSpLocks noChangeShapeType="1"/>
              <a:stCxn id="451592" idx="6"/>
              <a:endCxn id="451623" idx="2"/>
            </p:cNvCxnSpPr>
            <p:nvPr/>
          </p:nvCxnSpPr>
          <p:spPr bwMode="auto">
            <a:xfrm>
              <a:off x="2133007" y="4264945"/>
              <a:ext cx="1575917" cy="0"/>
            </a:xfrm>
            <a:prstGeom prst="straightConnector1">
              <a:avLst/>
            </a:prstGeom>
            <a:noFill/>
            <a:ln w="19050">
              <a:solidFill>
                <a:srgbClr val="0070C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grpSp>
    </p:spTree>
    <p:extLst>
      <p:ext uri="{BB962C8B-B14F-4D97-AF65-F5344CB8AC3E}">
        <p14:creationId xmlns:p14="http://schemas.microsoft.com/office/powerpoint/2010/main" val="234227849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AA340-A9A6-17A7-00D3-6D735E5EF3E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51616" name="Rectangle 32">
                <a:extLst>
                  <a:ext uri="{FF2B5EF4-FFF2-40B4-BE49-F238E27FC236}">
                    <a16:creationId xmlns:a16="http://schemas.microsoft.com/office/drawing/2014/main" id="{3FC8A65C-E539-B98A-A3A1-CF5CC35A88ED}"/>
                  </a:ext>
                </a:extLst>
              </p:cNvPr>
              <p:cNvSpPr>
                <a:spLocks noGrp="1" noChangeArrowheads="1"/>
              </p:cNvSpPr>
              <p:nvPr>
                <p:ph type="body" idx="1"/>
              </p:nvPr>
            </p:nvSpPr>
            <p:spPr>
              <a:xfrm>
                <a:off x="164592" y="1456824"/>
                <a:ext cx="11773093" cy="5200045"/>
              </a:xfrm>
            </p:spPr>
            <p:txBody>
              <a:bodyPr>
                <a:normAutofit/>
              </a:bodyPr>
              <a:lstStyle/>
              <a:p>
                <a:pPr marL="0" indent="0">
                  <a:buNone/>
                </a:pPr>
                <a:r>
                  <a:rPr lang="en-US" altLang="en-US" sz="2400" b="1" dirty="0" err="1">
                    <a:solidFill>
                      <a:srgbClr val="695082"/>
                    </a:solidFill>
                  </a:rPr>
                  <a:t>Defn</a:t>
                </a:r>
                <a:r>
                  <a:rPr lang="en-US" altLang="en-US" sz="2400" b="1" dirty="0">
                    <a:solidFill>
                      <a:srgbClr val="695082"/>
                    </a:solidFill>
                  </a:rPr>
                  <a:t>: </a:t>
                </a:r>
                <a:r>
                  <a:rPr lang="en-US" altLang="en-US" sz="2400" dirty="0"/>
                  <a:t>Two paths in a graph are </a:t>
                </a:r>
                <a:r>
                  <a:rPr lang="en-US" altLang="en-US" sz="2400" dirty="0">
                    <a:solidFill>
                      <a:srgbClr val="C00000"/>
                    </a:solidFill>
                  </a:rPr>
                  <a:t>vertex-disjoint</a:t>
                </a:r>
                <a:r>
                  <a:rPr lang="en-US" altLang="en-US" sz="2400" dirty="0"/>
                  <a:t> </a:t>
                </a:r>
                <a:r>
                  <a:rPr lang="en-US" altLang="en-US" sz="2400" dirty="0" err="1"/>
                  <a:t>iff</a:t>
                </a:r>
                <a:r>
                  <a:rPr lang="en-US" altLang="en-US" sz="2400" dirty="0"/>
                  <a:t> they have no vertices in common.</a:t>
                </a:r>
              </a:p>
              <a:p>
                <a:pPr marL="0" indent="0">
                  <a:buNone/>
                </a:pPr>
                <a:endParaRPr lang="en-US" altLang="en-US" sz="500" dirty="0"/>
              </a:p>
              <a:p>
                <a:pPr marL="0" indent="0">
                  <a:buNone/>
                </a:pPr>
                <a:r>
                  <a:rPr lang="en-US" altLang="en-US" sz="2400" b="1" dirty="0">
                    <a:solidFill>
                      <a:srgbClr val="695082"/>
                    </a:solidFill>
                  </a:rPr>
                  <a:t>Vertex disjoint path problem:</a:t>
                </a:r>
                <a:r>
                  <a:rPr lang="en-US" altLang="en-US" sz="2000" dirty="0"/>
                  <a:t> </a:t>
                </a:r>
                <a:r>
                  <a:rPr lang="en-US" altLang="en-US" sz="2400" dirty="0"/>
                  <a:t> </a:t>
                </a:r>
                <a:r>
                  <a:rPr lang="en-US" altLang="en-US" sz="2400" b="1" dirty="0">
                    <a:solidFill>
                      <a:srgbClr val="0066CC"/>
                    </a:solidFill>
                  </a:rPr>
                  <a:t>Given:</a:t>
                </a:r>
                <a:r>
                  <a:rPr lang="en-US" altLang="en-US" sz="2400" dirty="0"/>
                  <a:t> a directed graph </a:t>
                </a:r>
                <a14:m>
                  <m:oMath xmlns:m="http://schemas.openxmlformats.org/officeDocument/2006/math">
                    <m:r>
                      <a:rPr lang="en-US" altLang="en-US" sz="2400" b="1" i="1" dirty="0">
                        <a:solidFill>
                          <a:srgbClr val="0066CC"/>
                        </a:solidFill>
                        <a:latin typeface="Cambria Math" panose="02040503050406030204" pitchFamily="18" charset="0"/>
                      </a:rPr>
                      <m:t>𝑮</m:t>
                    </m:r>
                    <m:r>
                      <a:rPr lang="en-US" altLang="en-US" sz="2400" b="1" i="1" dirty="0">
                        <a:solidFill>
                          <a:srgbClr val="0066CC"/>
                        </a:solidFill>
                        <a:latin typeface="Cambria Math" panose="02040503050406030204" pitchFamily="18" charset="0"/>
                      </a:rPr>
                      <m:t>=(</m:t>
                    </m:r>
                    <m:r>
                      <a:rPr lang="en-US" altLang="en-US" sz="2400" b="1" i="1" dirty="0">
                        <a:solidFill>
                          <a:srgbClr val="0066CC"/>
                        </a:solidFill>
                        <a:latin typeface="Cambria Math" panose="02040503050406030204" pitchFamily="18" charset="0"/>
                      </a:rPr>
                      <m:t>𝑽</m:t>
                    </m:r>
                    <m:r>
                      <a:rPr lang="en-US" altLang="en-US" sz="2400" b="1" i="1" dirty="0">
                        <a:solidFill>
                          <a:srgbClr val="0066CC"/>
                        </a:solidFill>
                        <a:latin typeface="Cambria Math" panose="02040503050406030204" pitchFamily="18" charset="0"/>
                      </a:rPr>
                      <m:t>,</m:t>
                    </m:r>
                    <m:r>
                      <a:rPr lang="en-US" altLang="en-US" sz="2400" b="1" i="1" dirty="0">
                        <a:solidFill>
                          <a:srgbClr val="0066CC"/>
                        </a:solidFill>
                        <a:latin typeface="Cambria Math" panose="02040503050406030204" pitchFamily="18" charset="0"/>
                      </a:rPr>
                      <m:t>𝑬</m:t>
                    </m:r>
                    <m:r>
                      <a:rPr lang="en-US" altLang="en-US" sz="2400" b="1" i="1" dirty="0">
                        <a:solidFill>
                          <a:srgbClr val="0066CC"/>
                        </a:solidFill>
                        <a:latin typeface="Cambria Math" panose="02040503050406030204" pitchFamily="18" charset="0"/>
                      </a:rPr>
                      <m:t>)</m:t>
                    </m:r>
                  </m:oMath>
                </a14:m>
                <a:r>
                  <a:rPr lang="en-US" altLang="en-US" sz="2400" dirty="0"/>
                  <a:t> and two vertices </a:t>
                </a:r>
                <a14:m>
                  <m:oMath xmlns:m="http://schemas.openxmlformats.org/officeDocument/2006/math">
                    <m:r>
                      <a:rPr lang="en-US" altLang="en-US" sz="2400" b="1" i="1" dirty="0">
                        <a:solidFill>
                          <a:srgbClr val="0066CC"/>
                        </a:solidFill>
                        <a:latin typeface="Cambria Math" panose="02040503050406030204" pitchFamily="18" charset="0"/>
                      </a:rPr>
                      <m:t>𝒔</m:t>
                    </m:r>
                  </m:oMath>
                </a14:m>
                <a:r>
                  <a:rPr lang="en-US" altLang="en-US" sz="2400" dirty="0"/>
                  <a:t> and </a:t>
                </a:r>
                <a14:m>
                  <m:oMath xmlns:m="http://schemas.openxmlformats.org/officeDocument/2006/math">
                    <m:r>
                      <a:rPr lang="en-US" altLang="en-US" sz="2400" b="1" i="1" dirty="0">
                        <a:solidFill>
                          <a:srgbClr val="0066CC"/>
                        </a:solidFill>
                        <a:latin typeface="Cambria Math" panose="02040503050406030204" pitchFamily="18" charset="0"/>
                      </a:rPr>
                      <m:t>𝒕</m:t>
                    </m:r>
                  </m:oMath>
                </a14:m>
                <a:r>
                  <a:rPr lang="en-US" altLang="en-US" sz="2400" dirty="0"/>
                  <a:t>.</a:t>
                </a:r>
              </a:p>
              <a:p>
                <a:pPr marL="0" indent="0">
                  <a:buNone/>
                </a:pPr>
                <a:r>
                  <a:rPr lang="en-US" altLang="en-US" sz="2400" b="1" dirty="0">
                    <a:solidFill>
                      <a:srgbClr val="006600"/>
                    </a:solidFill>
                  </a:rPr>
                  <a:t>				   Find:</a:t>
                </a:r>
                <a:r>
                  <a:rPr lang="en-US" altLang="en-US" sz="2400" dirty="0"/>
                  <a:t> the maximum # of vertex-disjoint simple </a:t>
                </a:r>
                <a14:m>
                  <m:oMath xmlns:m="http://schemas.openxmlformats.org/officeDocument/2006/math">
                    <m:r>
                      <a:rPr lang="en-US" altLang="en-US" sz="2400" b="1" i="1" dirty="0">
                        <a:solidFill>
                          <a:srgbClr val="0066CC"/>
                        </a:solidFill>
                        <a:latin typeface="Cambria Math" panose="02040503050406030204" pitchFamily="18" charset="0"/>
                      </a:rPr>
                      <m:t>𝒔</m:t>
                    </m:r>
                  </m:oMath>
                </a14:m>
                <a:r>
                  <a:rPr lang="en-US" altLang="en-US" sz="2400" dirty="0"/>
                  <a:t>-</a:t>
                </a:r>
                <a14:m>
                  <m:oMath xmlns:m="http://schemas.openxmlformats.org/officeDocument/2006/math">
                    <m:r>
                      <a:rPr lang="en-US" altLang="en-US" sz="2400" b="1" i="1" dirty="0">
                        <a:solidFill>
                          <a:srgbClr val="0066CC"/>
                        </a:solidFill>
                        <a:latin typeface="Cambria Math" panose="02040503050406030204" pitchFamily="18" charset="0"/>
                      </a:rPr>
                      <m:t>𝒕</m:t>
                    </m:r>
                  </m:oMath>
                </a14:m>
                <a:r>
                  <a:rPr lang="en-US" altLang="en-US" sz="2400" dirty="0"/>
                  <a:t> paths in </a:t>
                </a:r>
                <a14:m>
                  <m:oMath xmlns:m="http://schemas.openxmlformats.org/officeDocument/2006/math">
                    <m:r>
                      <a:rPr lang="en-US" altLang="en-US" sz="2400" b="1" i="1" dirty="0">
                        <a:solidFill>
                          <a:srgbClr val="006600"/>
                        </a:solidFill>
                        <a:latin typeface="Cambria Math" panose="02040503050406030204" pitchFamily="18" charset="0"/>
                      </a:rPr>
                      <m:t>𝑮</m:t>
                    </m:r>
                  </m:oMath>
                </a14:m>
                <a:r>
                  <a:rPr lang="en-US" altLang="en-US" sz="2400" dirty="0">
                    <a:solidFill>
                      <a:schemeClr val="tx1"/>
                    </a:solidFill>
                  </a:rPr>
                  <a:t>.</a:t>
                </a:r>
              </a:p>
              <a:p>
                <a:pPr marL="0" indent="0">
                  <a:buNone/>
                </a:pPr>
                <a:endParaRPr lang="en-US" altLang="en-US" sz="500" dirty="0"/>
              </a:p>
              <a:p>
                <a:pPr marL="0" indent="0">
                  <a:buNone/>
                </a:pPr>
                <a:endParaRPr lang="en-US" altLang="en-US" sz="2400" dirty="0">
                  <a:solidFill>
                    <a:schemeClr val="tx1"/>
                  </a:solidFill>
                </a:endParaRPr>
              </a:p>
            </p:txBody>
          </p:sp>
        </mc:Choice>
        <mc:Fallback xmlns="">
          <p:sp>
            <p:nvSpPr>
              <p:cNvPr id="451616" name="Rectangle 32">
                <a:extLst>
                  <a:ext uri="{FF2B5EF4-FFF2-40B4-BE49-F238E27FC236}">
                    <a16:creationId xmlns:a16="http://schemas.microsoft.com/office/drawing/2014/main" id="{3FC8A65C-E539-B98A-A3A1-CF5CC35A88ED}"/>
                  </a:ext>
                </a:extLst>
              </p:cNvPr>
              <p:cNvSpPr>
                <a:spLocks noGrp="1" noRot="1" noChangeAspect="1" noMove="1" noResize="1" noEditPoints="1" noAdjustHandles="1" noChangeArrowheads="1" noChangeShapeType="1" noTextEdit="1"/>
              </p:cNvSpPr>
              <p:nvPr>
                <p:ph type="body" idx="1"/>
              </p:nvPr>
            </p:nvSpPr>
            <p:spPr>
              <a:xfrm>
                <a:off x="164592" y="1456824"/>
                <a:ext cx="11773093" cy="5200045"/>
              </a:xfrm>
              <a:blipFill>
                <a:blip r:embed="rId3"/>
                <a:stretch>
                  <a:fillRect l="-777" t="-1641"/>
                </a:stretch>
              </a:blipFill>
            </p:spPr>
            <p:txBody>
              <a:bodyPr/>
              <a:lstStyle/>
              <a:p>
                <a:r>
                  <a:rPr lang="en-US">
                    <a:noFill/>
                  </a:rPr>
                  <a:t> </a:t>
                </a:r>
              </a:p>
            </p:txBody>
          </p:sp>
        </mc:Fallback>
      </mc:AlternateContent>
      <p:sp>
        <p:nvSpPr>
          <p:cNvPr id="451615" name="Rectangle 31">
            <a:extLst>
              <a:ext uri="{FF2B5EF4-FFF2-40B4-BE49-F238E27FC236}">
                <a16:creationId xmlns:a16="http://schemas.microsoft.com/office/drawing/2014/main" id="{3242F333-3D1D-3AD8-BEC7-CD1010166C2E}"/>
              </a:ext>
            </a:extLst>
          </p:cNvPr>
          <p:cNvSpPr>
            <a:spLocks noGrp="1" noChangeArrowheads="1"/>
          </p:cNvSpPr>
          <p:nvPr>
            <p:ph type="title"/>
          </p:nvPr>
        </p:nvSpPr>
        <p:spPr/>
        <p:txBody>
          <a:bodyPr/>
          <a:lstStyle/>
          <a:p>
            <a:r>
              <a:rPr lang="en-US" altLang="en-US" dirty="0"/>
              <a:t>Vertex-Disjoint Paths</a:t>
            </a:r>
          </a:p>
        </p:txBody>
      </p:sp>
      <p:sp>
        <p:nvSpPr>
          <p:cNvPr id="28" name="Slide Number Placeholder 3">
            <a:extLst>
              <a:ext uri="{FF2B5EF4-FFF2-40B4-BE49-F238E27FC236}">
                <a16:creationId xmlns:a16="http://schemas.microsoft.com/office/drawing/2014/main" id="{EF7085CF-3AEF-15A0-B942-79311C513A81}"/>
              </a:ext>
            </a:extLst>
          </p:cNvPr>
          <p:cNvSpPr>
            <a:spLocks noGrp="1"/>
          </p:cNvSpPr>
          <p:nvPr>
            <p:ph type="sldNum" sz="quarter" idx="12"/>
          </p:nvPr>
        </p:nvSpPr>
        <p:spPr>
          <a:xfrm>
            <a:off x="9880286" y="6336770"/>
            <a:ext cx="2057400" cy="365125"/>
          </a:xfrm>
        </p:spPr>
        <p:txBody>
          <a:bodyPr/>
          <a:lstStyle/>
          <a:p>
            <a:fld id="{859767C1-1CFC-4BF3-A3D8-E4104FCBBC17}" type="slidenum">
              <a:rPr lang="en-US" smtClean="0"/>
              <a:pPr/>
              <a:t>35</a:t>
            </a:fld>
            <a:endParaRPr lang="en-US" dirty="0"/>
          </a:p>
        </p:txBody>
      </p:sp>
      <p:sp>
        <p:nvSpPr>
          <p:cNvPr id="3" name="TextBox 2">
            <a:extLst>
              <a:ext uri="{FF2B5EF4-FFF2-40B4-BE49-F238E27FC236}">
                <a16:creationId xmlns:a16="http://schemas.microsoft.com/office/drawing/2014/main" id="{0827CA82-525E-2FE5-1E39-C120998B718A}"/>
              </a:ext>
            </a:extLst>
          </p:cNvPr>
          <p:cNvSpPr txBox="1"/>
          <p:nvPr/>
        </p:nvSpPr>
        <p:spPr>
          <a:xfrm>
            <a:off x="7132320" y="3210986"/>
            <a:ext cx="4412173" cy="3046988"/>
          </a:xfrm>
          <a:prstGeom prst="rect">
            <a:avLst/>
          </a:prstGeom>
          <a:noFill/>
        </p:spPr>
        <p:txBody>
          <a:bodyPr wrap="square" rtlCol="0">
            <a:spAutoFit/>
          </a:bodyPr>
          <a:lstStyle/>
          <a:p>
            <a:r>
              <a:rPr lang="en-US" altLang="en-US" sz="2400" b="1" dirty="0">
                <a:solidFill>
                  <a:srgbClr val="695082"/>
                </a:solidFill>
              </a:rPr>
              <a:t>Observation</a:t>
            </a:r>
            <a:r>
              <a:rPr lang="en-US" sz="2400" dirty="0"/>
              <a:t>: Every vertex-disjoint path is also edge-disjoint. </a:t>
            </a:r>
          </a:p>
          <a:p>
            <a:r>
              <a:rPr lang="en-US" sz="2400" dirty="0"/>
              <a:t>(Two paths which share an edge also share that edge’s endpoints)</a:t>
            </a:r>
          </a:p>
          <a:p>
            <a:endParaRPr lang="en-US" sz="2400" dirty="0"/>
          </a:p>
          <a:p>
            <a:r>
              <a:rPr lang="en-US" altLang="en-US" sz="2400" b="1" dirty="0">
                <a:solidFill>
                  <a:srgbClr val="695082"/>
                </a:solidFill>
              </a:rPr>
              <a:t>Idea</a:t>
            </a:r>
            <a:r>
              <a:rPr lang="en-US" sz="2400" dirty="0"/>
              <a:t>: Modify the graph so that all edge-disjoint paths are also vertex disjoint</a:t>
            </a:r>
          </a:p>
        </p:txBody>
      </p:sp>
      <p:grpSp>
        <p:nvGrpSpPr>
          <p:cNvPr id="30" name="Group 29">
            <a:extLst>
              <a:ext uri="{FF2B5EF4-FFF2-40B4-BE49-F238E27FC236}">
                <a16:creationId xmlns:a16="http://schemas.microsoft.com/office/drawing/2014/main" id="{AFA163BE-9D1A-8005-C290-1A8D18F48CB6}"/>
              </a:ext>
            </a:extLst>
          </p:cNvPr>
          <p:cNvGrpSpPr/>
          <p:nvPr/>
        </p:nvGrpSpPr>
        <p:grpSpPr>
          <a:xfrm>
            <a:off x="254315" y="3170850"/>
            <a:ext cx="5303520" cy="2286000"/>
            <a:chOff x="254315" y="3170850"/>
            <a:chExt cx="5303520" cy="2286000"/>
          </a:xfrm>
        </p:grpSpPr>
        <p:grpSp>
          <p:nvGrpSpPr>
            <p:cNvPr id="31" name="Group 30">
              <a:extLst>
                <a:ext uri="{FF2B5EF4-FFF2-40B4-BE49-F238E27FC236}">
                  <a16:creationId xmlns:a16="http://schemas.microsoft.com/office/drawing/2014/main" id="{0AD3B270-7CE2-3BAF-1B7A-6992ED363305}"/>
                </a:ext>
              </a:extLst>
            </p:cNvPr>
            <p:cNvGrpSpPr>
              <a:grpSpLocks/>
            </p:cNvGrpSpPr>
            <p:nvPr/>
          </p:nvGrpSpPr>
          <p:grpSpPr>
            <a:xfrm>
              <a:off x="254315" y="3170850"/>
              <a:ext cx="5303520" cy="2286000"/>
              <a:chOff x="2438401" y="3540126"/>
              <a:chExt cx="6784975" cy="2597150"/>
            </a:xfrm>
          </p:grpSpPr>
          <p:sp>
            <p:nvSpPr>
              <p:cNvPr id="33" name="Oval 4">
                <a:extLst>
                  <a:ext uri="{FF2B5EF4-FFF2-40B4-BE49-F238E27FC236}">
                    <a16:creationId xmlns:a16="http://schemas.microsoft.com/office/drawing/2014/main" id="{6776E892-566D-9FF5-8348-F120047ADFA7}"/>
                  </a:ext>
                </a:extLst>
              </p:cNvPr>
              <p:cNvSpPr>
                <a:spLocks noChangeAspect="1" noChangeArrowheads="1"/>
              </p:cNvSpPr>
              <p:nvPr/>
            </p:nvSpPr>
            <p:spPr bwMode="auto">
              <a:xfrm>
                <a:off x="2438401" y="46482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s</a:t>
                </a:r>
              </a:p>
            </p:txBody>
          </p:sp>
          <p:sp>
            <p:nvSpPr>
              <p:cNvPr id="34" name="Oval 7">
                <a:extLst>
                  <a:ext uri="{FF2B5EF4-FFF2-40B4-BE49-F238E27FC236}">
                    <a16:creationId xmlns:a16="http://schemas.microsoft.com/office/drawing/2014/main" id="{1C44107D-76EE-338C-E187-08D8AE6505F8}"/>
                  </a:ext>
                </a:extLst>
              </p:cNvPr>
              <p:cNvSpPr>
                <a:spLocks noChangeAspect="1" noChangeArrowheads="1"/>
              </p:cNvSpPr>
              <p:nvPr/>
            </p:nvSpPr>
            <p:spPr bwMode="auto">
              <a:xfrm>
                <a:off x="4572001" y="3540126"/>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a</a:t>
                </a:r>
              </a:p>
            </p:txBody>
          </p:sp>
          <p:sp>
            <p:nvSpPr>
              <p:cNvPr id="35" name="Oval 8">
                <a:extLst>
                  <a:ext uri="{FF2B5EF4-FFF2-40B4-BE49-F238E27FC236}">
                    <a16:creationId xmlns:a16="http://schemas.microsoft.com/office/drawing/2014/main" id="{0F94A647-B49F-E61A-692E-D08D616D0336}"/>
                  </a:ext>
                </a:extLst>
              </p:cNvPr>
              <p:cNvSpPr>
                <a:spLocks noChangeAspect="1" noChangeArrowheads="1"/>
              </p:cNvSpPr>
              <p:nvPr/>
            </p:nvSpPr>
            <p:spPr bwMode="auto">
              <a:xfrm>
                <a:off x="4572001" y="46482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b</a:t>
                </a:r>
              </a:p>
            </p:txBody>
          </p:sp>
          <p:sp>
            <p:nvSpPr>
              <p:cNvPr id="36" name="Oval 9">
                <a:extLst>
                  <a:ext uri="{FF2B5EF4-FFF2-40B4-BE49-F238E27FC236}">
                    <a16:creationId xmlns:a16="http://schemas.microsoft.com/office/drawing/2014/main" id="{8806C3B1-07B4-E24F-F556-D579D50DDF04}"/>
                  </a:ext>
                </a:extLst>
              </p:cNvPr>
              <p:cNvSpPr>
                <a:spLocks noChangeAspect="1" noChangeArrowheads="1"/>
              </p:cNvSpPr>
              <p:nvPr/>
            </p:nvSpPr>
            <p:spPr bwMode="auto">
              <a:xfrm>
                <a:off x="4572001" y="58674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c</a:t>
                </a:r>
              </a:p>
            </p:txBody>
          </p:sp>
          <p:cxnSp>
            <p:nvCxnSpPr>
              <p:cNvPr id="37" name="AutoShape 12">
                <a:extLst>
                  <a:ext uri="{FF2B5EF4-FFF2-40B4-BE49-F238E27FC236}">
                    <a16:creationId xmlns:a16="http://schemas.microsoft.com/office/drawing/2014/main" id="{DDD1AEC9-790B-D508-0976-8F4CF5ADB8C7}"/>
                  </a:ext>
                </a:extLst>
              </p:cNvPr>
              <p:cNvCxnSpPr>
                <a:cxnSpLocks noChangeShapeType="1"/>
                <a:stCxn id="33" idx="7"/>
                <a:endCxn id="34" idx="3"/>
              </p:cNvCxnSpPr>
              <p:nvPr/>
            </p:nvCxnSpPr>
            <p:spPr bwMode="auto">
              <a:xfrm flipV="1">
                <a:off x="2668588" y="3770314"/>
                <a:ext cx="1943100" cy="91757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38" name="AutoShape 13">
                <a:extLst>
                  <a:ext uri="{FF2B5EF4-FFF2-40B4-BE49-F238E27FC236}">
                    <a16:creationId xmlns:a16="http://schemas.microsoft.com/office/drawing/2014/main" id="{21ECBB07-A068-ADE0-824B-BC25703C8FF1}"/>
                  </a:ext>
                </a:extLst>
              </p:cNvPr>
              <p:cNvCxnSpPr>
                <a:cxnSpLocks noChangeShapeType="1"/>
                <a:stCxn id="33" idx="6"/>
                <a:endCxn id="35" idx="2"/>
              </p:cNvCxnSpPr>
              <p:nvPr/>
            </p:nvCxnSpPr>
            <p:spPr bwMode="auto">
              <a:xfrm>
                <a:off x="2708276" y="4783138"/>
                <a:ext cx="1863725" cy="0"/>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39" name="AutoShape 14">
                <a:extLst>
                  <a:ext uri="{FF2B5EF4-FFF2-40B4-BE49-F238E27FC236}">
                    <a16:creationId xmlns:a16="http://schemas.microsoft.com/office/drawing/2014/main" id="{C9887DA9-DE17-77E9-5B2F-E732DFC54E19}"/>
                  </a:ext>
                </a:extLst>
              </p:cNvPr>
              <p:cNvCxnSpPr>
                <a:cxnSpLocks noChangeShapeType="1"/>
                <a:stCxn id="33" idx="5"/>
                <a:endCxn id="36" idx="1"/>
              </p:cNvCxnSpPr>
              <p:nvPr/>
            </p:nvCxnSpPr>
            <p:spPr bwMode="auto">
              <a:xfrm>
                <a:off x="2668588" y="4878388"/>
                <a:ext cx="1943100" cy="1028700"/>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0" name="AutoShape 22">
                <a:extLst>
                  <a:ext uri="{FF2B5EF4-FFF2-40B4-BE49-F238E27FC236}">
                    <a16:creationId xmlns:a16="http://schemas.microsoft.com/office/drawing/2014/main" id="{6D31F243-619F-41B2-73BC-5C5DFAEF5D14}"/>
                  </a:ext>
                </a:extLst>
              </p:cNvPr>
              <p:cNvCxnSpPr>
                <a:cxnSpLocks noChangeShapeType="1"/>
                <a:stCxn id="35" idx="4"/>
                <a:endCxn id="36" idx="0"/>
              </p:cNvCxnSpPr>
              <p:nvPr/>
            </p:nvCxnSpPr>
            <p:spPr bwMode="auto">
              <a:xfrm>
                <a:off x="4706938" y="4918076"/>
                <a:ext cx="0" cy="94932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1" name="AutoShape 24">
                <a:extLst>
                  <a:ext uri="{FF2B5EF4-FFF2-40B4-BE49-F238E27FC236}">
                    <a16:creationId xmlns:a16="http://schemas.microsoft.com/office/drawing/2014/main" id="{01DE4446-BA6B-1AF5-7E37-25CCAE70D405}"/>
                  </a:ext>
                </a:extLst>
              </p:cNvPr>
              <p:cNvCxnSpPr>
                <a:cxnSpLocks noChangeShapeType="1"/>
                <a:stCxn id="35" idx="5"/>
                <a:endCxn id="46" idx="1"/>
              </p:cNvCxnSpPr>
              <p:nvPr/>
            </p:nvCxnSpPr>
            <p:spPr bwMode="auto">
              <a:xfrm>
                <a:off x="4802354" y="4878555"/>
                <a:ext cx="2095170" cy="1028368"/>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2" name="AutoShape 25">
                <a:extLst>
                  <a:ext uri="{FF2B5EF4-FFF2-40B4-BE49-F238E27FC236}">
                    <a16:creationId xmlns:a16="http://schemas.microsoft.com/office/drawing/2014/main" id="{1469985C-0EF0-ABC7-39B4-9CA5CC651C51}"/>
                  </a:ext>
                </a:extLst>
              </p:cNvPr>
              <p:cNvCxnSpPr>
                <a:cxnSpLocks noChangeShapeType="1"/>
                <a:stCxn id="36" idx="6"/>
                <a:endCxn id="46" idx="2"/>
              </p:cNvCxnSpPr>
              <p:nvPr/>
            </p:nvCxnSpPr>
            <p:spPr bwMode="auto">
              <a:xfrm>
                <a:off x="4841876" y="6002338"/>
                <a:ext cx="2016125" cy="0"/>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3" name="AutoShape 34">
                <a:extLst>
                  <a:ext uri="{FF2B5EF4-FFF2-40B4-BE49-F238E27FC236}">
                    <a16:creationId xmlns:a16="http://schemas.microsoft.com/office/drawing/2014/main" id="{15C37E1B-8A11-2627-599C-0F49B8664227}"/>
                  </a:ext>
                </a:extLst>
              </p:cNvPr>
              <p:cNvCxnSpPr>
                <a:cxnSpLocks noChangeShapeType="1"/>
                <a:stCxn id="34" idx="4"/>
                <a:endCxn id="35" idx="0"/>
              </p:cNvCxnSpPr>
              <p:nvPr/>
            </p:nvCxnSpPr>
            <p:spPr bwMode="auto">
              <a:xfrm>
                <a:off x="4706938" y="3810000"/>
                <a:ext cx="0" cy="838200"/>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4" name="Oval 38">
                <a:extLst>
                  <a:ext uri="{FF2B5EF4-FFF2-40B4-BE49-F238E27FC236}">
                    <a16:creationId xmlns:a16="http://schemas.microsoft.com/office/drawing/2014/main" id="{92C55367-50B3-EC01-9B75-8495BD6F767D}"/>
                  </a:ext>
                </a:extLst>
              </p:cNvPr>
              <p:cNvSpPr>
                <a:spLocks noChangeAspect="1" noChangeArrowheads="1"/>
              </p:cNvSpPr>
              <p:nvPr/>
            </p:nvSpPr>
            <p:spPr bwMode="auto">
              <a:xfrm>
                <a:off x="6858001" y="3540126"/>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d</a:t>
                </a:r>
              </a:p>
            </p:txBody>
          </p:sp>
          <p:sp>
            <p:nvSpPr>
              <p:cNvPr id="45" name="Oval 39">
                <a:extLst>
                  <a:ext uri="{FF2B5EF4-FFF2-40B4-BE49-F238E27FC236}">
                    <a16:creationId xmlns:a16="http://schemas.microsoft.com/office/drawing/2014/main" id="{168F9D60-992D-064C-6001-7BDD102814FE}"/>
                  </a:ext>
                </a:extLst>
              </p:cNvPr>
              <p:cNvSpPr>
                <a:spLocks noChangeAspect="1" noChangeArrowheads="1"/>
              </p:cNvSpPr>
              <p:nvPr/>
            </p:nvSpPr>
            <p:spPr bwMode="auto">
              <a:xfrm>
                <a:off x="6858001" y="46482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e</a:t>
                </a:r>
              </a:p>
            </p:txBody>
          </p:sp>
          <p:sp>
            <p:nvSpPr>
              <p:cNvPr id="46" name="Oval 40">
                <a:extLst>
                  <a:ext uri="{FF2B5EF4-FFF2-40B4-BE49-F238E27FC236}">
                    <a16:creationId xmlns:a16="http://schemas.microsoft.com/office/drawing/2014/main" id="{9414942F-C358-AE32-A0FF-C7F6B97B3E55}"/>
                  </a:ext>
                </a:extLst>
              </p:cNvPr>
              <p:cNvSpPr>
                <a:spLocks noChangeAspect="1" noChangeArrowheads="1"/>
              </p:cNvSpPr>
              <p:nvPr/>
            </p:nvSpPr>
            <p:spPr bwMode="auto">
              <a:xfrm>
                <a:off x="6858001" y="58674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f</a:t>
                </a:r>
              </a:p>
            </p:txBody>
          </p:sp>
          <p:cxnSp>
            <p:nvCxnSpPr>
              <p:cNvPr id="47" name="AutoShape 41">
                <a:extLst>
                  <a:ext uri="{FF2B5EF4-FFF2-40B4-BE49-F238E27FC236}">
                    <a16:creationId xmlns:a16="http://schemas.microsoft.com/office/drawing/2014/main" id="{68421E8A-C604-42BB-E376-8A738E12DBDF}"/>
                  </a:ext>
                </a:extLst>
              </p:cNvPr>
              <p:cNvCxnSpPr>
                <a:cxnSpLocks noChangeShapeType="1"/>
                <a:stCxn id="45" idx="4"/>
                <a:endCxn id="46" idx="0"/>
              </p:cNvCxnSpPr>
              <p:nvPr/>
            </p:nvCxnSpPr>
            <p:spPr bwMode="auto">
              <a:xfrm>
                <a:off x="6992938" y="4918076"/>
                <a:ext cx="0" cy="949325"/>
              </a:xfrm>
              <a:prstGeom prst="straightConnector1">
                <a:avLst/>
              </a:prstGeom>
              <a:noFill/>
              <a:ln w="19050">
                <a:solidFill>
                  <a:schemeClr val="tx1"/>
                </a:solidFill>
                <a:round/>
                <a:headEnd type="triangle" w="lg" len="med"/>
                <a:tailEnd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 name="AutoShape 42">
                <a:extLst>
                  <a:ext uri="{FF2B5EF4-FFF2-40B4-BE49-F238E27FC236}">
                    <a16:creationId xmlns:a16="http://schemas.microsoft.com/office/drawing/2014/main" id="{5145A344-0122-886A-40CB-BB26A5E9A0F3}"/>
                  </a:ext>
                </a:extLst>
              </p:cNvPr>
              <p:cNvCxnSpPr>
                <a:cxnSpLocks noChangeShapeType="1"/>
                <a:stCxn id="44" idx="4"/>
                <a:endCxn id="45" idx="0"/>
              </p:cNvCxnSpPr>
              <p:nvPr/>
            </p:nvCxnSpPr>
            <p:spPr bwMode="auto">
              <a:xfrm>
                <a:off x="6992938" y="3810000"/>
                <a:ext cx="0" cy="838200"/>
              </a:xfrm>
              <a:prstGeom prst="straightConnector1">
                <a:avLst/>
              </a:prstGeom>
              <a:noFill/>
              <a:ln w="19050">
                <a:solidFill>
                  <a:schemeClr val="tx1"/>
                </a:solidFill>
                <a:round/>
                <a:headEnd type="triangle" w="lg" len="med"/>
                <a:tailEnd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9" name="Oval 44">
                <a:extLst>
                  <a:ext uri="{FF2B5EF4-FFF2-40B4-BE49-F238E27FC236}">
                    <a16:creationId xmlns:a16="http://schemas.microsoft.com/office/drawing/2014/main" id="{BF2E5BDB-D270-944D-3C3D-9D7426A8D004}"/>
                  </a:ext>
                </a:extLst>
              </p:cNvPr>
              <p:cNvSpPr>
                <a:spLocks noChangeAspect="1" noChangeArrowheads="1"/>
              </p:cNvSpPr>
              <p:nvPr/>
            </p:nvSpPr>
            <p:spPr bwMode="auto">
              <a:xfrm>
                <a:off x="8953501" y="46482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t</a:t>
                </a:r>
              </a:p>
            </p:txBody>
          </p:sp>
          <p:cxnSp>
            <p:nvCxnSpPr>
              <p:cNvPr id="50" name="AutoShape 45">
                <a:extLst>
                  <a:ext uri="{FF2B5EF4-FFF2-40B4-BE49-F238E27FC236}">
                    <a16:creationId xmlns:a16="http://schemas.microsoft.com/office/drawing/2014/main" id="{05AE59D1-6908-8471-CEC4-7B1C32E16893}"/>
                  </a:ext>
                </a:extLst>
              </p:cNvPr>
              <p:cNvCxnSpPr>
                <a:cxnSpLocks noChangeShapeType="1"/>
                <a:stCxn id="44" idx="6"/>
                <a:endCxn id="49" idx="1"/>
              </p:cNvCxnSpPr>
              <p:nvPr/>
            </p:nvCxnSpPr>
            <p:spPr bwMode="auto">
              <a:xfrm>
                <a:off x="7127876" y="3675064"/>
                <a:ext cx="1865313" cy="101282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51" name="AutoShape 46">
                <a:extLst>
                  <a:ext uri="{FF2B5EF4-FFF2-40B4-BE49-F238E27FC236}">
                    <a16:creationId xmlns:a16="http://schemas.microsoft.com/office/drawing/2014/main" id="{956E1FEE-B2E2-B537-EC91-070CA0607805}"/>
                  </a:ext>
                </a:extLst>
              </p:cNvPr>
              <p:cNvCxnSpPr>
                <a:cxnSpLocks noChangeShapeType="1"/>
                <a:stCxn id="45" idx="6"/>
                <a:endCxn id="49" idx="2"/>
              </p:cNvCxnSpPr>
              <p:nvPr/>
            </p:nvCxnSpPr>
            <p:spPr bwMode="auto">
              <a:xfrm>
                <a:off x="7127876" y="4783138"/>
                <a:ext cx="1825625" cy="0"/>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52" name="AutoShape 47">
                <a:extLst>
                  <a:ext uri="{FF2B5EF4-FFF2-40B4-BE49-F238E27FC236}">
                    <a16:creationId xmlns:a16="http://schemas.microsoft.com/office/drawing/2014/main" id="{43BAF8B6-5FAB-FD66-273C-44DBABE574EA}"/>
                  </a:ext>
                </a:extLst>
              </p:cNvPr>
              <p:cNvCxnSpPr>
                <a:cxnSpLocks noChangeShapeType="1"/>
                <a:stCxn id="46" idx="7"/>
                <a:endCxn id="49" idx="4"/>
              </p:cNvCxnSpPr>
              <p:nvPr/>
            </p:nvCxnSpPr>
            <p:spPr bwMode="auto">
              <a:xfrm flipV="1">
                <a:off x="7088188" y="4918076"/>
                <a:ext cx="2000250" cy="989013"/>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53" name="AutoShape 63">
                <a:extLst>
                  <a:ext uri="{FF2B5EF4-FFF2-40B4-BE49-F238E27FC236}">
                    <a16:creationId xmlns:a16="http://schemas.microsoft.com/office/drawing/2014/main" id="{1C34DE2C-184E-A85D-5FEA-86A7DDBF57ED}"/>
                  </a:ext>
                </a:extLst>
              </p:cNvPr>
              <p:cNvCxnSpPr>
                <a:cxnSpLocks noChangeShapeType="1"/>
                <a:stCxn id="45" idx="1"/>
                <a:endCxn id="34" idx="6"/>
              </p:cNvCxnSpPr>
              <p:nvPr/>
            </p:nvCxnSpPr>
            <p:spPr bwMode="auto">
              <a:xfrm flipH="1" flipV="1">
                <a:off x="4841876" y="3675064"/>
                <a:ext cx="2055647" cy="1012659"/>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54" name="AutoShape 64">
                <a:extLst>
                  <a:ext uri="{FF2B5EF4-FFF2-40B4-BE49-F238E27FC236}">
                    <a16:creationId xmlns:a16="http://schemas.microsoft.com/office/drawing/2014/main" id="{59837A14-3144-5BA2-AB0F-A7D7B1CAEA39}"/>
                  </a:ext>
                </a:extLst>
              </p:cNvPr>
              <p:cNvCxnSpPr>
                <a:cxnSpLocks noChangeShapeType="1"/>
                <a:stCxn id="44" idx="2"/>
                <a:endCxn id="35" idx="7"/>
              </p:cNvCxnSpPr>
              <p:nvPr/>
            </p:nvCxnSpPr>
            <p:spPr bwMode="auto">
              <a:xfrm flipH="1">
                <a:off x="4802188" y="3675064"/>
                <a:ext cx="2055812" cy="101282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grpSp>
        <p:cxnSp>
          <p:nvCxnSpPr>
            <p:cNvPr id="32" name="AutoShape 24">
              <a:extLst>
                <a:ext uri="{FF2B5EF4-FFF2-40B4-BE49-F238E27FC236}">
                  <a16:creationId xmlns:a16="http://schemas.microsoft.com/office/drawing/2014/main" id="{355CB1E8-0FF3-1450-C34F-B27C90BE5CFB}"/>
                </a:ext>
              </a:extLst>
            </p:cNvPr>
            <p:cNvCxnSpPr>
              <a:cxnSpLocks noChangeShapeType="1"/>
              <a:stCxn id="35" idx="6"/>
              <a:endCxn id="45" idx="2"/>
            </p:cNvCxnSpPr>
            <p:nvPr/>
          </p:nvCxnSpPr>
          <p:spPr bwMode="auto">
            <a:xfrm>
              <a:off x="2133007" y="4264945"/>
              <a:ext cx="1575917" cy="0"/>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grpSp>
      <p:grpSp>
        <p:nvGrpSpPr>
          <p:cNvPr id="451612" name="Group 451611">
            <a:extLst>
              <a:ext uri="{FF2B5EF4-FFF2-40B4-BE49-F238E27FC236}">
                <a16:creationId xmlns:a16="http://schemas.microsoft.com/office/drawing/2014/main" id="{63CF02D1-24F2-2004-43CF-EFDEB5C0F35D}"/>
              </a:ext>
            </a:extLst>
          </p:cNvPr>
          <p:cNvGrpSpPr/>
          <p:nvPr/>
        </p:nvGrpSpPr>
        <p:grpSpPr>
          <a:xfrm>
            <a:off x="4502298" y="5810777"/>
            <a:ext cx="2111073" cy="846092"/>
            <a:chOff x="2358189" y="5801274"/>
            <a:chExt cx="2111073" cy="846092"/>
          </a:xfrm>
        </p:grpSpPr>
        <mc:AlternateContent xmlns:mc="http://schemas.openxmlformats.org/markup-compatibility/2006" xmlns:a14="http://schemas.microsoft.com/office/drawing/2010/main">
          <mc:Choice Requires="a14">
            <p:sp>
              <p:nvSpPr>
                <p:cNvPr id="55" name="Oval 7">
                  <a:extLst>
                    <a:ext uri="{FF2B5EF4-FFF2-40B4-BE49-F238E27FC236}">
                      <a16:creationId xmlns:a16="http://schemas.microsoft.com/office/drawing/2014/main" id="{F56F4A0C-5AFF-2207-3CBA-2089650FC7A1}"/>
                    </a:ext>
                  </a:extLst>
                </p:cNvPr>
                <p:cNvSpPr>
                  <a:spLocks noChangeAspect="1" noChangeArrowheads="1"/>
                </p:cNvSpPr>
                <p:nvPr/>
              </p:nvSpPr>
              <p:spPr bwMode="auto">
                <a:xfrm>
                  <a:off x="2642094" y="5989076"/>
                  <a:ext cx="496811" cy="48718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a:effectLst>
                        <a:outerShdw dist="35921" dir="2700000" algn="ctr" rotWithShape="0">
                          <a:srgbClr val="808080"/>
                        </a:outerShdw>
                      </a:effectLst>
                    </a14:hiddenEffects>
                  </a:ext>
                </a:extLst>
              </p:spPr>
              <p:txBody>
                <a:bodyPr wrap="none" lIns="92075" tIns="46038" rIns="92075" bIns="46038" anchor="ctr"/>
                <a:lstStyle/>
                <a:p>
                  <a:pPr algn="ctr"/>
                  <a14:m>
                    <m:oMathPara xmlns:m="http://schemas.openxmlformats.org/officeDocument/2006/math">
                      <m:oMathParaPr>
                        <m:jc m:val="centerGroup"/>
                      </m:oMathParaPr>
                      <m:oMath xmlns:m="http://schemas.openxmlformats.org/officeDocument/2006/math">
                        <m:r>
                          <a:rPr lang="en-US" altLang="en-US" b="1" i="1" smtClean="0">
                            <a:latin typeface="Cambria Math" panose="02040503050406030204" pitchFamily="18" charset="0"/>
                          </a:rPr>
                          <m:t>𝒂</m:t>
                        </m:r>
                      </m:oMath>
                    </m:oMathPara>
                  </a14:m>
                  <a:endParaRPr lang="en-US" altLang="en-US" b="1" dirty="0"/>
                </a:p>
              </p:txBody>
            </p:sp>
          </mc:Choice>
          <mc:Fallback xmlns="">
            <p:sp>
              <p:nvSpPr>
                <p:cNvPr id="55" name="Oval 7">
                  <a:extLst>
                    <a:ext uri="{FF2B5EF4-FFF2-40B4-BE49-F238E27FC236}">
                      <a16:creationId xmlns:a16="http://schemas.microsoft.com/office/drawing/2014/main" id="{F56F4A0C-5AFF-2207-3CBA-2089650FC7A1}"/>
                    </a:ext>
                  </a:extLst>
                </p:cNvPr>
                <p:cNvSpPr>
                  <a:spLocks noRot="1" noChangeAspect="1" noMove="1" noResize="1" noEditPoints="1" noAdjustHandles="1" noChangeArrowheads="1" noChangeShapeType="1" noTextEdit="1"/>
                </p:cNvSpPr>
                <p:nvPr/>
              </p:nvSpPr>
              <p:spPr bwMode="auto">
                <a:xfrm>
                  <a:off x="2642094" y="5989076"/>
                  <a:ext cx="496811" cy="487183"/>
                </a:xfrm>
                <a:prstGeom prst="ellipse">
                  <a:avLst/>
                </a:prstGeom>
                <a:blipFill>
                  <a:blip r:embed="rId4"/>
                  <a:stretch>
                    <a:fillRect/>
                  </a:stretch>
                </a:blip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r>
                    <a:rPr lang="en-US">
                      <a:noFill/>
                    </a:rPr>
                    <a:t> </a:t>
                  </a:r>
                </a:p>
              </p:txBody>
            </p:sp>
          </mc:Fallback>
        </mc:AlternateContent>
        <p:cxnSp>
          <p:nvCxnSpPr>
            <p:cNvPr id="56" name="AutoShape 12">
              <a:extLst>
                <a:ext uri="{FF2B5EF4-FFF2-40B4-BE49-F238E27FC236}">
                  <a16:creationId xmlns:a16="http://schemas.microsoft.com/office/drawing/2014/main" id="{E0BDA4AE-72D1-F655-8D95-0CBC58501990}"/>
                </a:ext>
              </a:extLst>
            </p:cNvPr>
            <p:cNvCxnSpPr>
              <a:cxnSpLocks noChangeShapeType="1"/>
              <a:endCxn id="55" idx="1"/>
            </p:cNvCxnSpPr>
            <p:nvPr/>
          </p:nvCxnSpPr>
          <p:spPr bwMode="auto">
            <a:xfrm>
              <a:off x="2358189" y="5919537"/>
              <a:ext cx="356661" cy="14088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59" name="AutoShape 12">
              <a:extLst>
                <a:ext uri="{FF2B5EF4-FFF2-40B4-BE49-F238E27FC236}">
                  <a16:creationId xmlns:a16="http://schemas.microsoft.com/office/drawing/2014/main" id="{91830404-65B8-7BF3-2AB0-C0C4C9FBD496}"/>
                </a:ext>
              </a:extLst>
            </p:cNvPr>
            <p:cNvCxnSpPr>
              <a:cxnSpLocks noChangeShapeType="1"/>
              <a:endCxn id="55" idx="3"/>
            </p:cNvCxnSpPr>
            <p:nvPr/>
          </p:nvCxnSpPr>
          <p:spPr bwMode="auto">
            <a:xfrm flipV="1">
              <a:off x="2358189" y="6404913"/>
              <a:ext cx="356661" cy="242453"/>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mc:AlternateContent xmlns:mc="http://schemas.openxmlformats.org/markup-compatibility/2006" xmlns:a14="http://schemas.microsoft.com/office/drawing/2010/main">
          <mc:Choice Requires="a14">
            <p:sp>
              <p:nvSpPr>
                <p:cNvPr id="451595" name="Oval 7">
                  <a:extLst>
                    <a:ext uri="{FF2B5EF4-FFF2-40B4-BE49-F238E27FC236}">
                      <a16:creationId xmlns:a16="http://schemas.microsoft.com/office/drawing/2014/main" id="{33B5BBA0-F4DF-62BA-F70B-CBA9184BB103}"/>
                    </a:ext>
                  </a:extLst>
                </p:cNvPr>
                <p:cNvSpPr>
                  <a:spLocks noChangeAspect="1" noChangeArrowheads="1"/>
                </p:cNvSpPr>
                <p:nvPr/>
              </p:nvSpPr>
              <p:spPr bwMode="auto">
                <a:xfrm>
                  <a:off x="3708924" y="5985480"/>
                  <a:ext cx="496811" cy="48718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a:effectLst>
                        <a:outerShdw dist="35921" dir="2700000" algn="ctr" rotWithShape="0">
                          <a:srgbClr val="808080"/>
                        </a:outerShdw>
                      </a:effectLst>
                    </a14:hiddenEffects>
                  </a:ext>
                </a:extLst>
              </p:spPr>
              <p:txBody>
                <a:bodyPr wrap="none" lIns="92075" tIns="46038" rIns="92075" bIns="46038" anchor="ctr"/>
                <a:lstStyle/>
                <a:p>
                  <a:pPr algn="ctr"/>
                  <a14:m>
                    <m:oMathPara xmlns:m="http://schemas.openxmlformats.org/officeDocument/2006/math">
                      <m:oMathParaPr>
                        <m:jc m:val="centerGroup"/>
                      </m:oMathParaPr>
                      <m:oMath xmlns:m="http://schemas.openxmlformats.org/officeDocument/2006/math">
                        <m:sSub>
                          <m:sSubPr>
                            <m:ctrlPr>
                              <a:rPr lang="en-US" altLang="en-US" b="1" i="1" smtClean="0">
                                <a:latin typeface="Cambria Math" panose="02040503050406030204" pitchFamily="18" charset="0"/>
                              </a:rPr>
                            </m:ctrlPr>
                          </m:sSubPr>
                          <m:e>
                            <m:r>
                              <a:rPr lang="en-US" altLang="en-US" b="1" i="1" smtClean="0">
                                <a:latin typeface="Cambria Math" panose="02040503050406030204" pitchFamily="18" charset="0"/>
                              </a:rPr>
                              <m:t>𝒂</m:t>
                            </m:r>
                          </m:e>
                          <m:sub>
                            <m:r>
                              <a:rPr lang="en-US" altLang="en-US" b="1" i="1" smtClean="0">
                                <a:latin typeface="Cambria Math" panose="02040503050406030204" pitchFamily="18" charset="0"/>
                              </a:rPr>
                              <m:t>𝒐𝒖𝒕</m:t>
                            </m:r>
                          </m:sub>
                        </m:sSub>
                      </m:oMath>
                    </m:oMathPara>
                  </a14:m>
                  <a:endParaRPr lang="en-US" altLang="en-US" b="1" dirty="0"/>
                </a:p>
              </p:txBody>
            </p:sp>
          </mc:Choice>
          <mc:Fallback xmlns="">
            <p:sp>
              <p:nvSpPr>
                <p:cNvPr id="451595" name="Oval 7">
                  <a:extLst>
                    <a:ext uri="{FF2B5EF4-FFF2-40B4-BE49-F238E27FC236}">
                      <a16:creationId xmlns:a16="http://schemas.microsoft.com/office/drawing/2014/main" id="{33B5BBA0-F4DF-62BA-F70B-CBA9184BB103}"/>
                    </a:ext>
                  </a:extLst>
                </p:cNvPr>
                <p:cNvSpPr>
                  <a:spLocks noRot="1" noChangeAspect="1" noMove="1" noResize="1" noEditPoints="1" noAdjustHandles="1" noChangeArrowheads="1" noChangeShapeType="1" noTextEdit="1"/>
                </p:cNvSpPr>
                <p:nvPr/>
              </p:nvSpPr>
              <p:spPr bwMode="auto">
                <a:xfrm>
                  <a:off x="3708924" y="5985480"/>
                  <a:ext cx="496811" cy="487183"/>
                </a:xfrm>
                <a:prstGeom prst="ellipse">
                  <a:avLst/>
                </a:prstGeom>
                <a:blipFill>
                  <a:blip r:embed="rId5"/>
                  <a:stretch>
                    <a:fillRect l="-8333"/>
                  </a:stretch>
                </a:blip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r>
                    <a:rPr lang="en-US">
                      <a:noFill/>
                    </a:rPr>
                    <a:t> </a:t>
                  </a:r>
                </a:p>
              </p:txBody>
            </p:sp>
          </mc:Fallback>
        </mc:AlternateContent>
        <p:cxnSp>
          <p:nvCxnSpPr>
            <p:cNvPr id="451599" name="AutoShape 12">
              <a:extLst>
                <a:ext uri="{FF2B5EF4-FFF2-40B4-BE49-F238E27FC236}">
                  <a16:creationId xmlns:a16="http://schemas.microsoft.com/office/drawing/2014/main" id="{B62F3564-7204-7663-DFA6-A6A368D65E86}"/>
                </a:ext>
              </a:extLst>
            </p:cNvPr>
            <p:cNvCxnSpPr>
              <a:cxnSpLocks noChangeShapeType="1"/>
              <a:stCxn id="55" idx="6"/>
              <a:endCxn id="451595" idx="2"/>
            </p:cNvCxnSpPr>
            <p:nvPr/>
          </p:nvCxnSpPr>
          <p:spPr bwMode="auto">
            <a:xfrm flipV="1">
              <a:off x="3138905" y="6229072"/>
              <a:ext cx="570019" cy="3596"/>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602" name="AutoShape 12">
              <a:extLst>
                <a:ext uri="{FF2B5EF4-FFF2-40B4-BE49-F238E27FC236}">
                  <a16:creationId xmlns:a16="http://schemas.microsoft.com/office/drawing/2014/main" id="{96FC7257-9072-E0DB-9C46-94EB5052BD05}"/>
                </a:ext>
              </a:extLst>
            </p:cNvPr>
            <p:cNvCxnSpPr>
              <a:cxnSpLocks noChangeShapeType="1"/>
              <a:stCxn id="451595" idx="7"/>
            </p:cNvCxnSpPr>
            <p:nvPr/>
          </p:nvCxnSpPr>
          <p:spPr bwMode="auto">
            <a:xfrm flipV="1">
              <a:off x="4132979" y="5801274"/>
              <a:ext cx="336283" cy="255552"/>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605" name="AutoShape 12">
              <a:extLst>
                <a:ext uri="{FF2B5EF4-FFF2-40B4-BE49-F238E27FC236}">
                  <a16:creationId xmlns:a16="http://schemas.microsoft.com/office/drawing/2014/main" id="{70147F8B-EFA6-156D-259A-CE2C3403279B}"/>
                </a:ext>
              </a:extLst>
            </p:cNvPr>
            <p:cNvCxnSpPr>
              <a:cxnSpLocks noChangeShapeType="1"/>
              <a:stCxn id="451595" idx="5"/>
            </p:cNvCxnSpPr>
            <p:nvPr/>
          </p:nvCxnSpPr>
          <p:spPr bwMode="auto">
            <a:xfrm>
              <a:off x="4132979" y="6401317"/>
              <a:ext cx="336283" cy="184139"/>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grpSp>
    </p:spTree>
    <p:extLst>
      <p:ext uri="{BB962C8B-B14F-4D97-AF65-F5344CB8AC3E}">
        <p14:creationId xmlns:p14="http://schemas.microsoft.com/office/powerpoint/2010/main" val="29407306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51612"/>
                                        </p:tgtEl>
                                        <p:attrNameLst>
                                          <p:attrName>style.visibility</p:attrName>
                                        </p:attrNameLst>
                                      </p:cBhvr>
                                      <p:to>
                                        <p:strVal val="visible"/>
                                      </p:to>
                                    </p:set>
                                    <p:animEffect transition="in" filter="fade">
                                      <p:cBhvr>
                                        <p:cTn id="12" dur="500"/>
                                        <p:tgtEl>
                                          <p:spTgt spid="4516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144AB-7EA4-3F3C-D68A-707B1EEC29B8}"/>
            </a:ext>
          </a:extLst>
        </p:cNvPr>
        <p:cNvGrpSpPr/>
        <p:nvPr/>
      </p:nvGrpSpPr>
      <p:grpSpPr>
        <a:xfrm>
          <a:off x="0" y="0"/>
          <a:ext cx="0" cy="0"/>
          <a:chOff x="0" y="0"/>
          <a:chExt cx="0" cy="0"/>
        </a:xfrm>
      </p:grpSpPr>
      <p:sp>
        <p:nvSpPr>
          <p:cNvPr id="34" name="Rectangle 33">
            <a:extLst>
              <a:ext uri="{FF2B5EF4-FFF2-40B4-BE49-F238E27FC236}">
                <a16:creationId xmlns:a16="http://schemas.microsoft.com/office/drawing/2014/main" id="{DD6F98C6-EFB8-9536-A690-DE8666919C27}"/>
              </a:ext>
            </a:extLst>
          </p:cNvPr>
          <p:cNvSpPr/>
          <p:nvPr/>
        </p:nvSpPr>
        <p:spPr>
          <a:xfrm>
            <a:off x="4359410" y="1773199"/>
            <a:ext cx="3215508" cy="4843619"/>
          </a:xfrm>
          <a:prstGeom prst="rect">
            <a:avLst/>
          </a:prstGeom>
          <a:solidFill>
            <a:srgbClr val="FFA7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3E49753E-A69B-5266-FCC6-7D8D2626A1EF}"/>
              </a:ext>
            </a:extLst>
          </p:cNvPr>
          <p:cNvSpPr>
            <a:spLocks noGrp="1"/>
          </p:cNvSpPr>
          <p:nvPr>
            <p:ph type="title"/>
          </p:nvPr>
        </p:nvSpPr>
        <p:spPr>
          <a:xfrm>
            <a:off x="353085" y="-171592"/>
            <a:ext cx="10515600" cy="1325563"/>
          </a:xfrm>
        </p:spPr>
        <p:txBody>
          <a:bodyPr>
            <a:noAutofit/>
          </a:bodyPr>
          <a:lstStyle/>
          <a:p>
            <a:r>
              <a:rPr lang="en-US" sz="3700" dirty="0"/>
              <a:t>Vertex Disjoint Paths Reduction to Edge-Disjoint Paths</a:t>
            </a:r>
          </a:p>
        </p:txBody>
      </p:sp>
      <p:sp>
        <p:nvSpPr>
          <p:cNvPr id="4" name="Slide Number Placeholder 3">
            <a:extLst>
              <a:ext uri="{FF2B5EF4-FFF2-40B4-BE49-F238E27FC236}">
                <a16:creationId xmlns:a16="http://schemas.microsoft.com/office/drawing/2014/main" id="{3D8C65BC-1994-1574-FD12-9D322847002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BADE50-950A-4D58-BFB2-FA2C6A8B385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2" name="TextBox 11">
            <a:extLst>
              <a:ext uri="{FF2B5EF4-FFF2-40B4-BE49-F238E27FC236}">
                <a16:creationId xmlns:a16="http://schemas.microsoft.com/office/drawing/2014/main" id="{BFEC5571-9734-E68C-49DE-C9681BE6345B}"/>
              </a:ext>
            </a:extLst>
          </p:cNvPr>
          <p:cNvSpPr txBox="1"/>
          <p:nvPr/>
        </p:nvSpPr>
        <p:spPr>
          <a:xfrm>
            <a:off x="1615701" y="1403866"/>
            <a:ext cx="2113720"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Vertex Disjoint Paths</a:t>
            </a:r>
          </a:p>
        </p:txBody>
      </p:sp>
      <p:sp>
        <p:nvSpPr>
          <p:cNvPr id="16" name="TextBox 15">
            <a:extLst>
              <a:ext uri="{FF2B5EF4-FFF2-40B4-BE49-F238E27FC236}">
                <a16:creationId xmlns:a16="http://schemas.microsoft.com/office/drawing/2014/main" id="{07A067E2-DCD8-6426-0520-45E6FDCDAC3F}"/>
              </a:ext>
            </a:extLst>
          </p:cNvPr>
          <p:cNvSpPr txBox="1"/>
          <p:nvPr/>
        </p:nvSpPr>
        <p:spPr>
          <a:xfrm>
            <a:off x="7808995" y="1034039"/>
            <a:ext cx="1965538" cy="369332"/>
          </a:xfrm>
          <a:prstGeom prst="rect">
            <a:avLst/>
          </a:prstGeom>
          <a:noFill/>
        </p:spPr>
        <p:txBody>
          <a:bodyPr wrap="none" rtlCol="0">
            <a:spAutoFit/>
          </a:bodyPr>
          <a:lstStyle/>
          <a:p>
            <a:pPr lvl="0">
              <a:defRPr/>
            </a:pPr>
            <a:r>
              <a:rPr lang="en-US" dirty="0">
                <a:solidFill>
                  <a:prstClr val="black"/>
                </a:solidFill>
              </a:rPr>
              <a:t>Edge Disjoint Paths</a:t>
            </a:r>
          </a:p>
        </p:txBody>
      </p:sp>
      <p:sp>
        <p:nvSpPr>
          <p:cNvPr id="21" name="TextBox 20">
            <a:extLst>
              <a:ext uri="{FF2B5EF4-FFF2-40B4-BE49-F238E27FC236}">
                <a16:creationId xmlns:a16="http://schemas.microsoft.com/office/drawing/2014/main" id="{DA9A19B4-05F4-5FEC-7D18-0663CB928B25}"/>
              </a:ext>
            </a:extLst>
          </p:cNvPr>
          <p:cNvSpPr txBox="1"/>
          <p:nvPr/>
        </p:nvSpPr>
        <p:spPr>
          <a:xfrm>
            <a:off x="7808995" y="4298946"/>
            <a:ext cx="340824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Calibri" panose="020F0502020204030204"/>
              </a:rPr>
              <a:t>Maximal set of Edge-disjoint paths</a:t>
            </a:r>
            <a:endPar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AutoShape 5">
            <a:extLst>
              <a:ext uri="{FF2B5EF4-FFF2-40B4-BE49-F238E27FC236}">
                <a16:creationId xmlns:a16="http://schemas.microsoft.com/office/drawing/2014/main" id="{A7A6837E-890C-8D96-9C36-999282C3321C}"/>
              </a:ext>
            </a:extLst>
          </p:cNvPr>
          <p:cNvSpPr>
            <a:spLocks noChangeArrowheads="1"/>
          </p:cNvSpPr>
          <p:nvPr/>
        </p:nvSpPr>
        <p:spPr bwMode="auto">
          <a:xfrm>
            <a:off x="4498252" y="1861068"/>
            <a:ext cx="2840038" cy="759976"/>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AutoShape 5">
            <a:extLst>
              <a:ext uri="{FF2B5EF4-FFF2-40B4-BE49-F238E27FC236}">
                <a16:creationId xmlns:a16="http://schemas.microsoft.com/office/drawing/2014/main" id="{72B49899-734C-B760-7F76-7AC5D8EEAF49}"/>
              </a:ext>
            </a:extLst>
          </p:cNvPr>
          <p:cNvSpPr>
            <a:spLocks noChangeArrowheads="1"/>
          </p:cNvSpPr>
          <p:nvPr/>
        </p:nvSpPr>
        <p:spPr bwMode="auto">
          <a:xfrm rot="5400000">
            <a:off x="8725391" y="3466305"/>
            <a:ext cx="1086255" cy="701516"/>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AutoShape 5">
            <a:extLst>
              <a:ext uri="{FF2B5EF4-FFF2-40B4-BE49-F238E27FC236}">
                <a16:creationId xmlns:a16="http://schemas.microsoft.com/office/drawing/2014/main" id="{4AEC1002-5A98-B063-50B3-88E057E2B5EC}"/>
              </a:ext>
            </a:extLst>
          </p:cNvPr>
          <p:cNvSpPr>
            <a:spLocks noChangeArrowheads="1"/>
          </p:cNvSpPr>
          <p:nvPr/>
        </p:nvSpPr>
        <p:spPr bwMode="auto">
          <a:xfrm rot="10800000">
            <a:off x="4512426" y="5283308"/>
            <a:ext cx="2840038" cy="993815"/>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Box 34">
            <a:extLst>
              <a:ext uri="{FF2B5EF4-FFF2-40B4-BE49-F238E27FC236}">
                <a16:creationId xmlns:a16="http://schemas.microsoft.com/office/drawing/2014/main" id="{22FBBE4E-7A4B-0E0B-B550-885F0F4545A5}"/>
              </a:ext>
            </a:extLst>
          </p:cNvPr>
          <p:cNvSpPr txBox="1"/>
          <p:nvPr/>
        </p:nvSpPr>
        <p:spPr>
          <a:xfrm>
            <a:off x="5350263" y="6215041"/>
            <a:ext cx="113601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Reduction</a:t>
            </a:r>
          </a:p>
        </p:txBody>
      </p:sp>
      <p:sp>
        <p:nvSpPr>
          <p:cNvPr id="3" name="TextBox 2">
            <a:extLst>
              <a:ext uri="{FF2B5EF4-FFF2-40B4-BE49-F238E27FC236}">
                <a16:creationId xmlns:a16="http://schemas.microsoft.com/office/drawing/2014/main" id="{6CD83C46-9201-4BB6-6016-17D0E5A1AEA4}"/>
              </a:ext>
            </a:extLst>
          </p:cNvPr>
          <p:cNvSpPr txBox="1"/>
          <p:nvPr/>
        </p:nvSpPr>
        <p:spPr>
          <a:xfrm>
            <a:off x="4344834" y="2476596"/>
            <a:ext cx="3285854" cy="92333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Calibri" panose="020F0502020204030204"/>
              </a:rPr>
              <a:t>Split each node into a “in” and “out” node. Add an edge from in to out</a:t>
            </a:r>
          </a:p>
        </p:txBody>
      </p:sp>
      <p:sp>
        <p:nvSpPr>
          <p:cNvPr id="5" name="TextBox 4">
            <a:extLst>
              <a:ext uri="{FF2B5EF4-FFF2-40B4-BE49-F238E27FC236}">
                <a16:creationId xmlns:a16="http://schemas.microsoft.com/office/drawing/2014/main" id="{71D7264A-D45E-D0B2-4195-EE6D7C91B547}"/>
              </a:ext>
            </a:extLst>
          </p:cNvPr>
          <p:cNvSpPr txBox="1"/>
          <p:nvPr/>
        </p:nvSpPr>
        <p:spPr>
          <a:xfrm>
            <a:off x="9714100" y="3680214"/>
            <a:ext cx="2743200"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Reduction to Max Flow</a:t>
            </a:r>
          </a:p>
        </p:txBody>
      </p:sp>
      <p:sp>
        <p:nvSpPr>
          <p:cNvPr id="6" name="TextBox 5">
            <a:extLst>
              <a:ext uri="{FF2B5EF4-FFF2-40B4-BE49-F238E27FC236}">
                <a16:creationId xmlns:a16="http://schemas.microsoft.com/office/drawing/2014/main" id="{D4BE45E2-DD55-9C38-990F-2F182ED52757}"/>
              </a:ext>
            </a:extLst>
          </p:cNvPr>
          <p:cNvSpPr txBox="1"/>
          <p:nvPr/>
        </p:nvSpPr>
        <p:spPr>
          <a:xfrm>
            <a:off x="4724400" y="4789028"/>
            <a:ext cx="2743200"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Calibri" panose="020F0502020204030204"/>
              </a:rPr>
              <a:t>Recombine the split nodes</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7" name="Group 6">
            <a:extLst>
              <a:ext uri="{FF2B5EF4-FFF2-40B4-BE49-F238E27FC236}">
                <a16:creationId xmlns:a16="http://schemas.microsoft.com/office/drawing/2014/main" id="{86E21957-6760-FB81-3C10-D053F11F4F0F}"/>
              </a:ext>
            </a:extLst>
          </p:cNvPr>
          <p:cNvGrpSpPr>
            <a:grpSpLocks/>
          </p:cNvGrpSpPr>
          <p:nvPr/>
        </p:nvGrpSpPr>
        <p:grpSpPr>
          <a:xfrm>
            <a:off x="203903" y="1914116"/>
            <a:ext cx="4097348" cy="1766098"/>
            <a:chOff x="2438401" y="3540126"/>
            <a:chExt cx="6784975" cy="2597150"/>
          </a:xfrm>
        </p:grpSpPr>
        <p:sp>
          <p:nvSpPr>
            <p:cNvPr id="8" name="Oval 4">
              <a:extLst>
                <a:ext uri="{FF2B5EF4-FFF2-40B4-BE49-F238E27FC236}">
                  <a16:creationId xmlns:a16="http://schemas.microsoft.com/office/drawing/2014/main" id="{1FBDDDFD-6BE4-6283-7C32-8F664072194B}"/>
                </a:ext>
              </a:extLst>
            </p:cNvPr>
            <p:cNvSpPr>
              <a:spLocks noChangeAspect="1" noChangeArrowheads="1"/>
            </p:cNvSpPr>
            <p:nvPr/>
          </p:nvSpPr>
          <p:spPr bwMode="auto">
            <a:xfrm>
              <a:off x="2438401" y="46482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600" b="1"/>
                <a:t>s</a:t>
              </a:r>
            </a:p>
          </p:txBody>
        </p:sp>
        <p:sp>
          <p:nvSpPr>
            <p:cNvPr id="9" name="Oval 7">
              <a:extLst>
                <a:ext uri="{FF2B5EF4-FFF2-40B4-BE49-F238E27FC236}">
                  <a16:creationId xmlns:a16="http://schemas.microsoft.com/office/drawing/2014/main" id="{B1F8010C-D8CB-D679-B6D5-AC819AB11469}"/>
                </a:ext>
              </a:extLst>
            </p:cNvPr>
            <p:cNvSpPr>
              <a:spLocks noChangeAspect="1" noChangeArrowheads="1"/>
            </p:cNvSpPr>
            <p:nvPr/>
          </p:nvSpPr>
          <p:spPr bwMode="auto">
            <a:xfrm>
              <a:off x="4572001" y="3540126"/>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600" b="1" dirty="0"/>
                <a:t>a</a:t>
              </a:r>
            </a:p>
          </p:txBody>
        </p:sp>
        <p:sp>
          <p:nvSpPr>
            <p:cNvPr id="10" name="Oval 8">
              <a:extLst>
                <a:ext uri="{FF2B5EF4-FFF2-40B4-BE49-F238E27FC236}">
                  <a16:creationId xmlns:a16="http://schemas.microsoft.com/office/drawing/2014/main" id="{ECB87547-99BE-3049-7D1E-3736EF7EDB43}"/>
                </a:ext>
              </a:extLst>
            </p:cNvPr>
            <p:cNvSpPr>
              <a:spLocks noChangeAspect="1" noChangeArrowheads="1"/>
            </p:cNvSpPr>
            <p:nvPr/>
          </p:nvSpPr>
          <p:spPr bwMode="auto">
            <a:xfrm>
              <a:off x="4572001" y="46482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600" b="1" dirty="0"/>
                <a:t>b</a:t>
              </a:r>
            </a:p>
          </p:txBody>
        </p:sp>
        <p:sp>
          <p:nvSpPr>
            <p:cNvPr id="11" name="Oval 9">
              <a:extLst>
                <a:ext uri="{FF2B5EF4-FFF2-40B4-BE49-F238E27FC236}">
                  <a16:creationId xmlns:a16="http://schemas.microsoft.com/office/drawing/2014/main" id="{001860F6-0E9B-BF10-2CE7-076D19C9D07A}"/>
                </a:ext>
              </a:extLst>
            </p:cNvPr>
            <p:cNvSpPr>
              <a:spLocks noChangeAspect="1" noChangeArrowheads="1"/>
            </p:cNvSpPr>
            <p:nvPr/>
          </p:nvSpPr>
          <p:spPr bwMode="auto">
            <a:xfrm>
              <a:off x="4572001" y="58674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600" b="1" dirty="0"/>
                <a:t>c</a:t>
              </a:r>
            </a:p>
          </p:txBody>
        </p:sp>
        <p:cxnSp>
          <p:nvCxnSpPr>
            <p:cNvPr id="13" name="AutoShape 12">
              <a:extLst>
                <a:ext uri="{FF2B5EF4-FFF2-40B4-BE49-F238E27FC236}">
                  <a16:creationId xmlns:a16="http://schemas.microsoft.com/office/drawing/2014/main" id="{5A6786FA-006E-0E60-1C4C-697D4D7E47F5}"/>
                </a:ext>
              </a:extLst>
            </p:cNvPr>
            <p:cNvCxnSpPr>
              <a:cxnSpLocks noChangeShapeType="1"/>
              <a:stCxn id="8" idx="7"/>
              <a:endCxn id="9" idx="3"/>
            </p:cNvCxnSpPr>
            <p:nvPr/>
          </p:nvCxnSpPr>
          <p:spPr bwMode="auto">
            <a:xfrm flipV="1">
              <a:off x="2668588" y="3770314"/>
              <a:ext cx="1943100" cy="91757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14" name="AutoShape 13">
              <a:extLst>
                <a:ext uri="{FF2B5EF4-FFF2-40B4-BE49-F238E27FC236}">
                  <a16:creationId xmlns:a16="http://schemas.microsoft.com/office/drawing/2014/main" id="{2D5EAF10-D51B-8D1E-EB10-CF1C8169C738}"/>
                </a:ext>
              </a:extLst>
            </p:cNvPr>
            <p:cNvCxnSpPr>
              <a:cxnSpLocks noChangeShapeType="1"/>
              <a:stCxn id="8" idx="6"/>
              <a:endCxn id="10" idx="2"/>
            </p:cNvCxnSpPr>
            <p:nvPr/>
          </p:nvCxnSpPr>
          <p:spPr bwMode="auto">
            <a:xfrm>
              <a:off x="2708276" y="4783138"/>
              <a:ext cx="1863725" cy="0"/>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15" name="AutoShape 14">
              <a:extLst>
                <a:ext uri="{FF2B5EF4-FFF2-40B4-BE49-F238E27FC236}">
                  <a16:creationId xmlns:a16="http://schemas.microsoft.com/office/drawing/2014/main" id="{09D67F7D-AA04-7A82-5673-76E4DA71EB29}"/>
                </a:ext>
              </a:extLst>
            </p:cNvPr>
            <p:cNvCxnSpPr>
              <a:cxnSpLocks noChangeShapeType="1"/>
              <a:stCxn id="8" idx="5"/>
              <a:endCxn id="11" idx="1"/>
            </p:cNvCxnSpPr>
            <p:nvPr/>
          </p:nvCxnSpPr>
          <p:spPr bwMode="auto">
            <a:xfrm>
              <a:off x="2668588" y="4878388"/>
              <a:ext cx="1943100" cy="1028700"/>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17" name="AutoShape 22">
              <a:extLst>
                <a:ext uri="{FF2B5EF4-FFF2-40B4-BE49-F238E27FC236}">
                  <a16:creationId xmlns:a16="http://schemas.microsoft.com/office/drawing/2014/main" id="{3111B53F-D58C-6C41-9988-95F4DA59AF15}"/>
                </a:ext>
              </a:extLst>
            </p:cNvPr>
            <p:cNvCxnSpPr>
              <a:cxnSpLocks noChangeShapeType="1"/>
              <a:stCxn id="10" idx="4"/>
              <a:endCxn id="11" idx="0"/>
            </p:cNvCxnSpPr>
            <p:nvPr/>
          </p:nvCxnSpPr>
          <p:spPr bwMode="auto">
            <a:xfrm>
              <a:off x="4706938" y="4918076"/>
              <a:ext cx="0" cy="94932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18" name="AutoShape 24">
              <a:extLst>
                <a:ext uri="{FF2B5EF4-FFF2-40B4-BE49-F238E27FC236}">
                  <a16:creationId xmlns:a16="http://schemas.microsoft.com/office/drawing/2014/main" id="{375D9332-F928-8C89-59C5-8A151CD02E52}"/>
                </a:ext>
              </a:extLst>
            </p:cNvPr>
            <p:cNvCxnSpPr>
              <a:cxnSpLocks noChangeShapeType="1"/>
              <a:stCxn id="10" idx="6"/>
              <a:endCxn id="24" idx="1"/>
            </p:cNvCxnSpPr>
            <p:nvPr/>
          </p:nvCxnSpPr>
          <p:spPr bwMode="auto">
            <a:xfrm>
              <a:off x="4841876" y="4783138"/>
              <a:ext cx="2055813" cy="1123950"/>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19" name="AutoShape 25">
              <a:extLst>
                <a:ext uri="{FF2B5EF4-FFF2-40B4-BE49-F238E27FC236}">
                  <a16:creationId xmlns:a16="http://schemas.microsoft.com/office/drawing/2014/main" id="{DA63CDA7-F6FE-AB37-6D89-E7FB505C52E0}"/>
                </a:ext>
              </a:extLst>
            </p:cNvPr>
            <p:cNvCxnSpPr>
              <a:cxnSpLocks noChangeShapeType="1"/>
              <a:stCxn id="11" idx="6"/>
              <a:endCxn id="24" idx="2"/>
            </p:cNvCxnSpPr>
            <p:nvPr/>
          </p:nvCxnSpPr>
          <p:spPr bwMode="auto">
            <a:xfrm>
              <a:off x="4841876" y="6002338"/>
              <a:ext cx="2016125" cy="0"/>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20" name="AutoShape 34">
              <a:extLst>
                <a:ext uri="{FF2B5EF4-FFF2-40B4-BE49-F238E27FC236}">
                  <a16:creationId xmlns:a16="http://schemas.microsoft.com/office/drawing/2014/main" id="{77BE9ED9-18F8-3ABF-7D23-0DA37C719763}"/>
                </a:ext>
              </a:extLst>
            </p:cNvPr>
            <p:cNvCxnSpPr>
              <a:cxnSpLocks noChangeShapeType="1"/>
              <a:stCxn id="9" idx="4"/>
              <a:endCxn id="10" idx="0"/>
            </p:cNvCxnSpPr>
            <p:nvPr/>
          </p:nvCxnSpPr>
          <p:spPr bwMode="auto">
            <a:xfrm>
              <a:off x="4706938" y="3810000"/>
              <a:ext cx="0" cy="838200"/>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22" name="Oval 38">
              <a:extLst>
                <a:ext uri="{FF2B5EF4-FFF2-40B4-BE49-F238E27FC236}">
                  <a16:creationId xmlns:a16="http://schemas.microsoft.com/office/drawing/2014/main" id="{D9155478-7C6B-F012-B8D1-283A7356DE53}"/>
                </a:ext>
              </a:extLst>
            </p:cNvPr>
            <p:cNvSpPr>
              <a:spLocks noChangeAspect="1" noChangeArrowheads="1"/>
            </p:cNvSpPr>
            <p:nvPr/>
          </p:nvSpPr>
          <p:spPr bwMode="auto">
            <a:xfrm>
              <a:off x="6858001" y="3540126"/>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600" b="1" dirty="0"/>
                <a:t>d</a:t>
              </a:r>
            </a:p>
          </p:txBody>
        </p:sp>
        <p:sp>
          <p:nvSpPr>
            <p:cNvPr id="23" name="Oval 39">
              <a:extLst>
                <a:ext uri="{FF2B5EF4-FFF2-40B4-BE49-F238E27FC236}">
                  <a16:creationId xmlns:a16="http://schemas.microsoft.com/office/drawing/2014/main" id="{F8F28E2E-A5C2-A08A-FC36-DCD89DD67182}"/>
                </a:ext>
              </a:extLst>
            </p:cNvPr>
            <p:cNvSpPr>
              <a:spLocks noChangeAspect="1" noChangeArrowheads="1"/>
            </p:cNvSpPr>
            <p:nvPr/>
          </p:nvSpPr>
          <p:spPr bwMode="auto">
            <a:xfrm>
              <a:off x="6858001" y="46482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600" b="1" dirty="0"/>
                <a:t>e</a:t>
              </a:r>
            </a:p>
          </p:txBody>
        </p:sp>
        <p:sp>
          <p:nvSpPr>
            <p:cNvPr id="24" name="Oval 40">
              <a:extLst>
                <a:ext uri="{FF2B5EF4-FFF2-40B4-BE49-F238E27FC236}">
                  <a16:creationId xmlns:a16="http://schemas.microsoft.com/office/drawing/2014/main" id="{0464BD0C-5936-8DF4-5938-11F4849FC726}"/>
                </a:ext>
              </a:extLst>
            </p:cNvPr>
            <p:cNvSpPr>
              <a:spLocks noChangeAspect="1" noChangeArrowheads="1"/>
            </p:cNvSpPr>
            <p:nvPr/>
          </p:nvSpPr>
          <p:spPr bwMode="auto">
            <a:xfrm>
              <a:off x="6858001" y="58674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600" b="1" dirty="0"/>
                <a:t>f</a:t>
              </a:r>
            </a:p>
          </p:txBody>
        </p:sp>
        <p:cxnSp>
          <p:nvCxnSpPr>
            <p:cNvPr id="25" name="AutoShape 41">
              <a:extLst>
                <a:ext uri="{FF2B5EF4-FFF2-40B4-BE49-F238E27FC236}">
                  <a16:creationId xmlns:a16="http://schemas.microsoft.com/office/drawing/2014/main" id="{442E7721-C785-35A2-AD36-589FC3033A6B}"/>
                </a:ext>
              </a:extLst>
            </p:cNvPr>
            <p:cNvCxnSpPr>
              <a:cxnSpLocks noChangeShapeType="1"/>
              <a:stCxn id="23" idx="4"/>
              <a:endCxn id="24" idx="0"/>
            </p:cNvCxnSpPr>
            <p:nvPr/>
          </p:nvCxnSpPr>
          <p:spPr bwMode="auto">
            <a:xfrm>
              <a:off x="6992938" y="4918076"/>
              <a:ext cx="0" cy="949325"/>
            </a:xfrm>
            <a:prstGeom prst="straightConnector1">
              <a:avLst/>
            </a:prstGeom>
            <a:noFill/>
            <a:ln w="19050">
              <a:solidFill>
                <a:schemeClr val="tx1"/>
              </a:solidFill>
              <a:round/>
              <a:headEnd type="triangle" w="lg" len="med"/>
              <a:tailEnd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26" name="AutoShape 42">
              <a:extLst>
                <a:ext uri="{FF2B5EF4-FFF2-40B4-BE49-F238E27FC236}">
                  <a16:creationId xmlns:a16="http://schemas.microsoft.com/office/drawing/2014/main" id="{B4AB6339-4B1E-3324-BFE1-3BE743CA04B5}"/>
                </a:ext>
              </a:extLst>
            </p:cNvPr>
            <p:cNvCxnSpPr>
              <a:cxnSpLocks noChangeShapeType="1"/>
              <a:stCxn id="22" idx="4"/>
              <a:endCxn id="23" idx="0"/>
            </p:cNvCxnSpPr>
            <p:nvPr/>
          </p:nvCxnSpPr>
          <p:spPr bwMode="auto">
            <a:xfrm>
              <a:off x="6992938" y="3810000"/>
              <a:ext cx="0" cy="838200"/>
            </a:xfrm>
            <a:prstGeom prst="straightConnector1">
              <a:avLst/>
            </a:prstGeom>
            <a:noFill/>
            <a:ln w="19050">
              <a:solidFill>
                <a:schemeClr val="tx1"/>
              </a:solidFill>
              <a:round/>
              <a:headEnd type="triangle" w="lg" len="med"/>
              <a:tailEnd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27" name="Oval 44">
              <a:extLst>
                <a:ext uri="{FF2B5EF4-FFF2-40B4-BE49-F238E27FC236}">
                  <a16:creationId xmlns:a16="http://schemas.microsoft.com/office/drawing/2014/main" id="{3637CFC3-0208-F36A-B299-B7A9D92BA9B4}"/>
                </a:ext>
              </a:extLst>
            </p:cNvPr>
            <p:cNvSpPr>
              <a:spLocks noChangeAspect="1" noChangeArrowheads="1"/>
            </p:cNvSpPr>
            <p:nvPr/>
          </p:nvSpPr>
          <p:spPr bwMode="auto">
            <a:xfrm>
              <a:off x="8953501" y="46482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600" b="1"/>
                <a:t>t</a:t>
              </a:r>
            </a:p>
          </p:txBody>
        </p:sp>
        <p:cxnSp>
          <p:nvCxnSpPr>
            <p:cNvPr id="28" name="AutoShape 45">
              <a:extLst>
                <a:ext uri="{FF2B5EF4-FFF2-40B4-BE49-F238E27FC236}">
                  <a16:creationId xmlns:a16="http://schemas.microsoft.com/office/drawing/2014/main" id="{D255F043-332D-1585-CB7C-5C437A445292}"/>
                </a:ext>
              </a:extLst>
            </p:cNvPr>
            <p:cNvCxnSpPr>
              <a:cxnSpLocks noChangeShapeType="1"/>
              <a:stCxn id="22" idx="6"/>
              <a:endCxn id="27" idx="1"/>
            </p:cNvCxnSpPr>
            <p:nvPr/>
          </p:nvCxnSpPr>
          <p:spPr bwMode="auto">
            <a:xfrm>
              <a:off x="7127876" y="3675064"/>
              <a:ext cx="1865313" cy="101282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29" name="AutoShape 46">
              <a:extLst>
                <a:ext uri="{FF2B5EF4-FFF2-40B4-BE49-F238E27FC236}">
                  <a16:creationId xmlns:a16="http://schemas.microsoft.com/office/drawing/2014/main" id="{B6862539-1406-DC49-2C46-276D4A247E22}"/>
                </a:ext>
              </a:extLst>
            </p:cNvPr>
            <p:cNvCxnSpPr>
              <a:cxnSpLocks noChangeShapeType="1"/>
              <a:stCxn id="23" idx="6"/>
              <a:endCxn id="27" idx="2"/>
            </p:cNvCxnSpPr>
            <p:nvPr/>
          </p:nvCxnSpPr>
          <p:spPr bwMode="auto">
            <a:xfrm>
              <a:off x="7127876" y="4783138"/>
              <a:ext cx="1825625" cy="0"/>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33" name="AutoShape 47">
              <a:extLst>
                <a:ext uri="{FF2B5EF4-FFF2-40B4-BE49-F238E27FC236}">
                  <a16:creationId xmlns:a16="http://schemas.microsoft.com/office/drawing/2014/main" id="{A98049E2-0591-8600-889D-B205908FCCDE}"/>
                </a:ext>
              </a:extLst>
            </p:cNvPr>
            <p:cNvCxnSpPr>
              <a:cxnSpLocks noChangeShapeType="1"/>
              <a:stCxn id="24" idx="7"/>
              <a:endCxn id="27" idx="4"/>
            </p:cNvCxnSpPr>
            <p:nvPr/>
          </p:nvCxnSpPr>
          <p:spPr bwMode="auto">
            <a:xfrm flipV="1">
              <a:off x="7088188" y="4918076"/>
              <a:ext cx="2000250" cy="989013"/>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36" name="AutoShape 63">
              <a:extLst>
                <a:ext uri="{FF2B5EF4-FFF2-40B4-BE49-F238E27FC236}">
                  <a16:creationId xmlns:a16="http://schemas.microsoft.com/office/drawing/2014/main" id="{3865875E-E921-3A25-5303-AD8787BE6E54}"/>
                </a:ext>
              </a:extLst>
            </p:cNvPr>
            <p:cNvCxnSpPr>
              <a:cxnSpLocks noChangeShapeType="1"/>
              <a:stCxn id="23" idx="2"/>
              <a:endCxn id="9" idx="6"/>
            </p:cNvCxnSpPr>
            <p:nvPr/>
          </p:nvCxnSpPr>
          <p:spPr bwMode="auto">
            <a:xfrm flipH="1" flipV="1">
              <a:off x="4841876" y="3675064"/>
              <a:ext cx="2016125" cy="110807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37" name="AutoShape 64">
              <a:extLst>
                <a:ext uri="{FF2B5EF4-FFF2-40B4-BE49-F238E27FC236}">
                  <a16:creationId xmlns:a16="http://schemas.microsoft.com/office/drawing/2014/main" id="{CD63B653-8A60-BFCB-8B54-7D312C510E1F}"/>
                </a:ext>
              </a:extLst>
            </p:cNvPr>
            <p:cNvCxnSpPr>
              <a:cxnSpLocks noChangeShapeType="1"/>
              <a:stCxn id="22" idx="2"/>
              <a:endCxn id="10" idx="7"/>
            </p:cNvCxnSpPr>
            <p:nvPr/>
          </p:nvCxnSpPr>
          <p:spPr bwMode="auto">
            <a:xfrm flipH="1">
              <a:off x="4802188" y="3675064"/>
              <a:ext cx="2055812" cy="101282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grpSp>
      <p:grpSp>
        <p:nvGrpSpPr>
          <p:cNvPr id="38" name="Group 37">
            <a:extLst>
              <a:ext uri="{FF2B5EF4-FFF2-40B4-BE49-F238E27FC236}">
                <a16:creationId xmlns:a16="http://schemas.microsoft.com/office/drawing/2014/main" id="{0ACE20B6-88C6-377C-A4F9-34DB10136EFB}"/>
              </a:ext>
            </a:extLst>
          </p:cNvPr>
          <p:cNvGrpSpPr/>
          <p:nvPr/>
        </p:nvGrpSpPr>
        <p:grpSpPr>
          <a:xfrm>
            <a:off x="7940049" y="1352401"/>
            <a:ext cx="3889729" cy="1830806"/>
            <a:chOff x="840720" y="4252911"/>
            <a:chExt cx="4884588" cy="2299063"/>
          </a:xfrm>
        </p:grpSpPr>
        <p:sp>
          <p:nvSpPr>
            <p:cNvPr id="449" name="Oval 7">
              <a:extLst>
                <a:ext uri="{FF2B5EF4-FFF2-40B4-BE49-F238E27FC236}">
                  <a16:creationId xmlns:a16="http://schemas.microsoft.com/office/drawing/2014/main" id="{67189B79-760B-7B36-5AEE-4048E8D441F7}"/>
                </a:ext>
              </a:extLst>
            </p:cNvPr>
            <p:cNvSpPr>
              <a:spLocks noChangeAspect="1" noChangeArrowheads="1"/>
            </p:cNvSpPr>
            <p:nvPr/>
          </p:nvSpPr>
          <p:spPr bwMode="auto">
            <a:xfrm>
              <a:off x="2089530" y="4252912"/>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600" b="1" dirty="0"/>
                <a:t>a</a:t>
              </a:r>
            </a:p>
          </p:txBody>
        </p:sp>
        <p:sp>
          <p:nvSpPr>
            <p:cNvPr id="450" name="Oval 8">
              <a:extLst>
                <a:ext uri="{FF2B5EF4-FFF2-40B4-BE49-F238E27FC236}">
                  <a16:creationId xmlns:a16="http://schemas.microsoft.com/office/drawing/2014/main" id="{2B754DE0-214A-3FA7-E229-286FEAB269D2}"/>
                </a:ext>
              </a:extLst>
            </p:cNvPr>
            <p:cNvSpPr>
              <a:spLocks noChangeAspect="1" noChangeArrowheads="1"/>
            </p:cNvSpPr>
            <p:nvPr/>
          </p:nvSpPr>
          <p:spPr bwMode="auto">
            <a:xfrm>
              <a:off x="2089530" y="5228235"/>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600" b="1" dirty="0"/>
                <a:t>b</a:t>
              </a:r>
            </a:p>
          </p:txBody>
        </p:sp>
        <p:sp>
          <p:nvSpPr>
            <p:cNvPr id="451" name="Oval 9">
              <a:extLst>
                <a:ext uri="{FF2B5EF4-FFF2-40B4-BE49-F238E27FC236}">
                  <a16:creationId xmlns:a16="http://schemas.microsoft.com/office/drawing/2014/main" id="{09E3ADFA-9B83-84CC-3A53-CB602D8EE099}"/>
                </a:ext>
              </a:extLst>
            </p:cNvPr>
            <p:cNvSpPr>
              <a:spLocks noChangeAspect="1" noChangeArrowheads="1"/>
            </p:cNvSpPr>
            <p:nvPr/>
          </p:nvSpPr>
          <p:spPr bwMode="auto">
            <a:xfrm>
              <a:off x="2089530" y="6301369"/>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600" b="1" dirty="0"/>
                <a:t>c</a:t>
              </a:r>
            </a:p>
          </p:txBody>
        </p:sp>
        <p:cxnSp>
          <p:nvCxnSpPr>
            <p:cNvPr id="452" name="AutoShape 12">
              <a:extLst>
                <a:ext uri="{FF2B5EF4-FFF2-40B4-BE49-F238E27FC236}">
                  <a16:creationId xmlns:a16="http://schemas.microsoft.com/office/drawing/2014/main" id="{B19DE1C1-AE80-49DF-106F-EE6B1B4B6954}"/>
                </a:ext>
              </a:extLst>
            </p:cNvPr>
            <p:cNvCxnSpPr>
              <a:cxnSpLocks noChangeShapeType="1"/>
              <a:stCxn id="479" idx="7"/>
              <a:endCxn id="449" idx="3"/>
            </p:cNvCxnSpPr>
            <p:nvPr/>
          </p:nvCxnSpPr>
          <p:spPr bwMode="auto">
            <a:xfrm flipV="1">
              <a:off x="1020777" y="4455668"/>
              <a:ext cx="1099646" cy="789960"/>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3" name="AutoShape 13">
              <a:extLst>
                <a:ext uri="{FF2B5EF4-FFF2-40B4-BE49-F238E27FC236}">
                  <a16:creationId xmlns:a16="http://schemas.microsoft.com/office/drawing/2014/main" id="{838D4D25-3373-CE94-ECAF-B047ADF2F734}"/>
                </a:ext>
              </a:extLst>
            </p:cNvPr>
            <p:cNvCxnSpPr>
              <a:cxnSpLocks noChangeShapeType="1"/>
              <a:stCxn id="479" idx="6"/>
              <a:endCxn id="450" idx="2"/>
            </p:cNvCxnSpPr>
            <p:nvPr/>
          </p:nvCxnSpPr>
          <p:spPr bwMode="auto">
            <a:xfrm>
              <a:off x="1051670" y="5329613"/>
              <a:ext cx="1037860" cy="17394"/>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4" name="AutoShape 14">
              <a:extLst>
                <a:ext uri="{FF2B5EF4-FFF2-40B4-BE49-F238E27FC236}">
                  <a16:creationId xmlns:a16="http://schemas.microsoft.com/office/drawing/2014/main" id="{831D16E9-1201-354D-D860-75E501A0E81E}"/>
                </a:ext>
              </a:extLst>
            </p:cNvPr>
            <p:cNvCxnSpPr>
              <a:cxnSpLocks noChangeShapeType="1"/>
              <a:stCxn id="479" idx="5"/>
              <a:endCxn id="451" idx="1"/>
            </p:cNvCxnSpPr>
            <p:nvPr/>
          </p:nvCxnSpPr>
          <p:spPr bwMode="auto">
            <a:xfrm>
              <a:off x="1020777" y="5413597"/>
              <a:ext cx="1099646" cy="922559"/>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5" name="AutoShape 22">
              <a:extLst>
                <a:ext uri="{FF2B5EF4-FFF2-40B4-BE49-F238E27FC236}">
                  <a16:creationId xmlns:a16="http://schemas.microsoft.com/office/drawing/2014/main" id="{E670A01C-24B2-3D90-B515-8DB752C58686}"/>
                </a:ext>
              </a:extLst>
            </p:cNvPr>
            <p:cNvCxnSpPr>
              <a:cxnSpLocks noChangeShapeType="1"/>
              <a:stCxn id="474" idx="3"/>
              <a:endCxn id="451" idx="0"/>
            </p:cNvCxnSpPr>
            <p:nvPr/>
          </p:nvCxnSpPr>
          <p:spPr bwMode="auto">
            <a:xfrm flipH="1">
              <a:off x="2195005" y="5413598"/>
              <a:ext cx="300653" cy="887771"/>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6" name="AutoShape 24">
              <a:extLst>
                <a:ext uri="{FF2B5EF4-FFF2-40B4-BE49-F238E27FC236}">
                  <a16:creationId xmlns:a16="http://schemas.microsoft.com/office/drawing/2014/main" id="{FA739A8D-5D1B-84E3-9ED8-19CDDD6A1347}"/>
                </a:ext>
              </a:extLst>
            </p:cNvPr>
            <p:cNvCxnSpPr>
              <a:cxnSpLocks noChangeShapeType="1"/>
              <a:stCxn id="474" idx="5"/>
              <a:endCxn id="461" idx="1"/>
            </p:cNvCxnSpPr>
            <p:nvPr/>
          </p:nvCxnSpPr>
          <p:spPr bwMode="auto">
            <a:xfrm>
              <a:off x="2644822" y="5413598"/>
              <a:ext cx="1262468" cy="922558"/>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7" name="AutoShape 25">
              <a:extLst>
                <a:ext uri="{FF2B5EF4-FFF2-40B4-BE49-F238E27FC236}">
                  <a16:creationId xmlns:a16="http://schemas.microsoft.com/office/drawing/2014/main" id="{0F15ED20-3B1E-194D-B67C-50AB8BAB9D6A}"/>
                </a:ext>
              </a:extLst>
            </p:cNvPr>
            <p:cNvCxnSpPr>
              <a:cxnSpLocks noChangeShapeType="1"/>
              <a:stCxn id="475" idx="6"/>
              <a:endCxn id="461" idx="2"/>
            </p:cNvCxnSpPr>
            <p:nvPr/>
          </p:nvCxnSpPr>
          <p:spPr bwMode="auto">
            <a:xfrm flipV="1">
              <a:off x="2644821" y="6420141"/>
              <a:ext cx="1231576" cy="13062"/>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8" name="AutoShape 34">
              <a:extLst>
                <a:ext uri="{FF2B5EF4-FFF2-40B4-BE49-F238E27FC236}">
                  <a16:creationId xmlns:a16="http://schemas.microsoft.com/office/drawing/2014/main" id="{8834A673-1438-9478-F75E-E25D9092706E}"/>
                </a:ext>
              </a:extLst>
            </p:cNvPr>
            <p:cNvCxnSpPr>
              <a:cxnSpLocks noChangeShapeType="1"/>
              <a:stCxn id="471" idx="3"/>
              <a:endCxn id="450" idx="0"/>
            </p:cNvCxnSpPr>
            <p:nvPr/>
          </p:nvCxnSpPr>
          <p:spPr bwMode="auto">
            <a:xfrm flipH="1">
              <a:off x="2195005" y="4455668"/>
              <a:ext cx="427973" cy="772567"/>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59" name="Oval 38">
              <a:extLst>
                <a:ext uri="{FF2B5EF4-FFF2-40B4-BE49-F238E27FC236}">
                  <a16:creationId xmlns:a16="http://schemas.microsoft.com/office/drawing/2014/main" id="{DF3C6830-EECC-E013-3FD6-36DFA74B2238}"/>
                </a:ext>
              </a:extLst>
            </p:cNvPr>
            <p:cNvSpPr>
              <a:spLocks noChangeAspect="1" noChangeArrowheads="1"/>
            </p:cNvSpPr>
            <p:nvPr/>
          </p:nvSpPr>
          <p:spPr bwMode="auto">
            <a:xfrm>
              <a:off x="3876397" y="4252912"/>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600" b="1" dirty="0"/>
                <a:t>d</a:t>
              </a:r>
            </a:p>
          </p:txBody>
        </p:sp>
        <p:sp>
          <p:nvSpPr>
            <p:cNvPr id="460" name="Oval 39">
              <a:extLst>
                <a:ext uri="{FF2B5EF4-FFF2-40B4-BE49-F238E27FC236}">
                  <a16:creationId xmlns:a16="http://schemas.microsoft.com/office/drawing/2014/main" id="{B713FCB5-467E-9367-D623-2D2DA1E6BCA9}"/>
                </a:ext>
              </a:extLst>
            </p:cNvPr>
            <p:cNvSpPr>
              <a:spLocks noChangeAspect="1" noChangeArrowheads="1"/>
            </p:cNvSpPr>
            <p:nvPr/>
          </p:nvSpPr>
          <p:spPr bwMode="auto">
            <a:xfrm>
              <a:off x="3876397" y="5228235"/>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600" b="1" dirty="0"/>
                <a:t>e</a:t>
              </a:r>
            </a:p>
          </p:txBody>
        </p:sp>
        <p:sp>
          <p:nvSpPr>
            <p:cNvPr id="461" name="Oval 40">
              <a:extLst>
                <a:ext uri="{FF2B5EF4-FFF2-40B4-BE49-F238E27FC236}">
                  <a16:creationId xmlns:a16="http://schemas.microsoft.com/office/drawing/2014/main" id="{37926241-6090-E999-CC67-B509B1FAC55A}"/>
                </a:ext>
              </a:extLst>
            </p:cNvPr>
            <p:cNvSpPr>
              <a:spLocks noChangeAspect="1" noChangeArrowheads="1"/>
            </p:cNvSpPr>
            <p:nvPr/>
          </p:nvSpPr>
          <p:spPr bwMode="auto">
            <a:xfrm>
              <a:off x="3876397" y="6301369"/>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600" b="1" dirty="0"/>
                <a:t>f</a:t>
              </a:r>
            </a:p>
          </p:txBody>
        </p:sp>
        <p:cxnSp>
          <p:nvCxnSpPr>
            <p:cNvPr id="462" name="AutoShape 41">
              <a:extLst>
                <a:ext uri="{FF2B5EF4-FFF2-40B4-BE49-F238E27FC236}">
                  <a16:creationId xmlns:a16="http://schemas.microsoft.com/office/drawing/2014/main" id="{E448D9CD-E7C1-AE57-CEEF-7813760E91F3}"/>
                </a:ext>
              </a:extLst>
            </p:cNvPr>
            <p:cNvCxnSpPr>
              <a:cxnSpLocks noChangeShapeType="1"/>
              <a:stCxn id="460" idx="4"/>
              <a:endCxn id="476" idx="1"/>
            </p:cNvCxnSpPr>
            <p:nvPr/>
          </p:nvCxnSpPr>
          <p:spPr bwMode="auto">
            <a:xfrm>
              <a:off x="3981872" y="5465778"/>
              <a:ext cx="347318" cy="870378"/>
            </a:xfrm>
            <a:prstGeom prst="straightConnector1">
              <a:avLst/>
            </a:prstGeom>
            <a:noFill/>
            <a:ln w="19050">
              <a:solidFill>
                <a:schemeClr val="tx1"/>
              </a:solidFill>
              <a:round/>
              <a:headEnd type="triangle" w="lg" len="med"/>
              <a:tailEnd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63" name="AutoShape 42">
              <a:extLst>
                <a:ext uri="{FF2B5EF4-FFF2-40B4-BE49-F238E27FC236}">
                  <a16:creationId xmlns:a16="http://schemas.microsoft.com/office/drawing/2014/main" id="{217152F8-F208-CC2A-E0F3-32BAAAC9C1A9}"/>
                </a:ext>
              </a:extLst>
            </p:cNvPr>
            <p:cNvCxnSpPr>
              <a:cxnSpLocks noChangeShapeType="1"/>
              <a:stCxn id="459" idx="4"/>
              <a:endCxn id="460" idx="0"/>
            </p:cNvCxnSpPr>
            <p:nvPr/>
          </p:nvCxnSpPr>
          <p:spPr bwMode="auto">
            <a:xfrm>
              <a:off x="3981872" y="4490454"/>
              <a:ext cx="0" cy="737780"/>
            </a:xfrm>
            <a:prstGeom prst="straightConnector1">
              <a:avLst/>
            </a:prstGeom>
            <a:noFill/>
            <a:ln w="19050">
              <a:solidFill>
                <a:schemeClr val="tx1"/>
              </a:solidFill>
              <a:round/>
              <a:headEnd type="triangle" w="lg" len="med"/>
              <a:tailEnd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64" name="Oval 44">
              <a:extLst>
                <a:ext uri="{FF2B5EF4-FFF2-40B4-BE49-F238E27FC236}">
                  <a16:creationId xmlns:a16="http://schemas.microsoft.com/office/drawing/2014/main" id="{7F871C1C-7831-3B52-D3FE-02E5AF97D920}"/>
                </a:ext>
              </a:extLst>
            </p:cNvPr>
            <p:cNvSpPr>
              <a:spLocks noChangeAspect="1" noChangeArrowheads="1"/>
            </p:cNvSpPr>
            <p:nvPr/>
          </p:nvSpPr>
          <p:spPr bwMode="auto">
            <a:xfrm>
              <a:off x="5514358" y="5228235"/>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600" b="1"/>
                <a:t>t</a:t>
              </a:r>
            </a:p>
          </p:txBody>
        </p:sp>
        <p:cxnSp>
          <p:nvCxnSpPr>
            <p:cNvPr id="465" name="AutoShape 45">
              <a:extLst>
                <a:ext uri="{FF2B5EF4-FFF2-40B4-BE49-F238E27FC236}">
                  <a16:creationId xmlns:a16="http://schemas.microsoft.com/office/drawing/2014/main" id="{9480AE20-C86E-3B67-78B0-72B6C49511A1}"/>
                </a:ext>
              </a:extLst>
            </p:cNvPr>
            <p:cNvCxnSpPr>
              <a:cxnSpLocks noChangeShapeType="1"/>
              <a:stCxn id="473" idx="5"/>
              <a:endCxn id="464" idx="1"/>
            </p:cNvCxnSpPr>
            <p:nvPr/>
          </p:nvCxnSpPr>
          <p:spPr bwMode="auto">
            <a:xfrm>
              <a:off x="4447461" y="4455667"/>
              <a:ext cx="1097790" cy="80735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66" name="AutoShape 46">
              <a:extLst>
                <a:ext uri="{FF2B5EF4-FFF2-40B4-BE49-F238E27FC236}">
                  <a16:creationId xmlns:a16="http://schemas.microsoft.com/office/drawing/2014/main" id="{DFA48B1F-C3A1-E32F-6695-943B993E7351}"/>
                </a:ext>
              </a:extLst>
            </p:cNvPr>
            <p:cNvCxnSpPr>
              <a:cxnSpLocks noChangeShapeType="1"/>
              <a:stCxn id="477" idx="6"/>
              <a:endCxn id="464" idx="2"/>
            </p:cNvCxnSpPr>
            <p:nvPr/>
          </p:nvCxnSpPr>
          <p:spPr bwMode="auto">
            <a:xfrm flipV="1">
              <a:off x="4478224" y="5347007"/>
              <a:ext cx="1036134" cy="22647"/>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67" name="AutoShape 47">
              <a:extLst>
                <a:ext uri="{FF2B5EF4-FFF2-40B4-BE49-F238E27FC236}">
                  <a16:creationId xmlns:a16="http://schemas.microsoft.com/office/drawing/2014/main" id="{78DE6A18-DE20-DF02-F349-BF3A45FFB6B7}"/>
                </a:ext>
              </a:extLst>
            </p:cNvPr>
            <p:cNvCxnSpPr>
              <a:cxnSpLocks noChangeShapeType="1"/>
              <a:stCxn id="476" idx="7"/>
              <a:endCxn id="464" idx="4"/>
            </p:cNvCxnSpPr>
            <p:nvPr/>
          </p:nvCxnSpPr>
          <p:spPr bwMode="auto">
            <a:xfrm flipV="1">
              <a:off x="4478354" y="5465778"/>
              <a:ext cx="1141479" cy="870378"/>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68" name="AutoShape 63">
              <a:extLst>
                <a:ext uri="{FF2B5EF4-FFF2-40B4-BE49-F238E27FC236}">
                  <a16:creationId xmlns:a16="http://schemas.microsoft.com/office/drawing/2014/main" id="{52433DFA-FA88-A239-16C3-1D1619EF2BCB}"/>
                </a:ext>
              </a:extLst>
            </p:cNvPr>
            <p:cNvCxnSpPr>
              <a:cxnSpLocks noChangeShapeType="1"/>
              <a:stCxn id="460" idx="1"/>
              <a:endCxn id="449" idx="5"/>
            </p:cNvCxnSpPr>
            <p:nvPr/>
          </p:nvCxnSpPr>
          <p:spPr bwMode="auto">
            <a:xfrm flipH="1" flipV="1">
              <a:off x="2269587" y="4455668"/>
              <a:ext cx="1637703" cy="807354"/>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69" name="AutoShape 64">
              <a:extLst>
                <a:ext uri="{FF2B5EF4-FFF2-40B4-BE49-F238E27FC236}">
                  <a16:creationId xmlns:a16="http://schemas.microsoft.com/office/drawing/2014/main" id="{48016ACE-C682-8AC3-6AB7-064A100BC73C}"/>
                </a:ext>
              </a:extLst>
            </p:cNvPr>
            <p:cNvCxnSpPr>
              <a:cxnSpLocks noChangeShapeType="1"/>
              <a:stCxn id="473" idx="3"/>
              <a:endCxn id="450" idx="7"/>
            </p:cNvCxnSpPr>
            <p:nvPr/>
          </p:nvCxnSpPr>
          <p:spPr bwMode="auto">
            <a:xfrm flipH="1">
              <a:off x="2269587" y="4455667"/>
              <a:ext cx="2028710" cy="80735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70" name="AutoShape 24">
              <a:extLst>
                <a:ext uri="{FF2B5EF4-FFF2-40B4-BE49-F238E27FC236}">
                  <a16:creationId xmlns:a16="http://schemas.microsoft.com/office/drawing/2014/main" id="{22A03187-9E6C-2001-FEF8-B6335A6D8EF4}"/>
                </a:ext>
              </a:extLst>
            </p:cNvPr>
            <p:cNvCxnSpPr>
              <a:cxnSpLocks noChangeShapeType="1"/>
              <a:stCxn id="474" idx="6"/>
              <a:endCxn id="460" idx="2"/>
            </p:cNvCxnSpPr>
            <p:nvPr/>
          </p:nvCxnSpPr>
          <p:spPr bwMode="auto">
            <a:xfrm>
              <a:off x="2675715" y="5329614"/>
              <a:ext cx="1200682" cy="17393"/>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71" name="Oval 7">
              <a:extLst>
                <a:ext uri="{FF2B5EF4-FFF2-40B4-BE49-F238E27FC236}">
                  <a16:creationId xmlns:a16="http://schemas.microsoft.com/office/drawing/2014/main" id="{8B2A31B4-A1B1-A08A-982C-72E8B712C561}"/>
                </a:ext>
              </a:extLst>
            </p:cNvPr>
            <p:cNvSpPr>
              <a:spLocks noChangeAspect="1" noChangeArrowheads="1"/>
            </p:cNvSpPr>
            <p:nvPr/>
          </p:nvSpPr>
          <p:spPr bwMode="auto">
            <a:xfrm>
              <a:off x="2592085" y="4252912"/>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endParaRPr lang="en-US" altLang="en-US" sz="1600" b="1" dirty="0"/>
            </a:p>
          </p:txBody>
        </p:sp>
        <p:cxnSp>
          <p:nvCxnSpPr>
            <p:cNvPr id="472" name="AutoShape 63">
              <a:extLst>
                <a:ext uri="{FF2B5EF4-FFF2-40B4-BE49-F238E27FC236}">
                  <a16:creationId xmlns:a16="http://schemas.microsoft.com/office/drawing/2014/main" id="{6310261B-1A51-AE5C-AFC3-F06787DE15A4}"/>
                </a:ext>
              </a:extLst>
            </p:cNvPr>
            <p:cNvCxnSpPr>
              <a:cxnSpLocks noChangeShapeType="1"/>
              <a:stCxn id="449" idx="6"/>
              <a:endCxn id="471" idx="2"/>
            </p:cNvCxnSpPr>
            <p:nvPr/>
          </p:nvCxnSpPr>
          <p:spPr bwMode="auto">
            <a:xfrm>
              <a:off x="2300480" y="4371684"/>
              <a:ext cx="291605" cy="0"/>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73" name="Oval 7">
              <a:extLst>
                <a:ext uri="{FF2B5EF4-FFF2-40B4-BE49-F238E27FC236}">
                  <a16:creationId xmlns:a16="http://schemas.microsoft.com/office/drawing/2014/main" id="{110CCFFD-B7C0-4930-9C87-F53FFA27F652}"/>
                </a:ext>
              </a:extLst>
            </p:cNvPr>
            <p:cNvSpPr>
              <a:spLocks noChangeAspect="1" noChangeArrowheads="1"/>
            </p:cNvSpPr>
            <p:nvPr/>
          </p:nvSpPr>
          <p:spPr bwMode="auto">
            <a:xfrm>
              <a:off x="4267404" y="4252911"/>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endParaRPr lang="en-US" altLang="en-US" sz="1600" b="1" dirty="0"/>
            </a:p>
          </p:txBody>
        </p:sp>
        <p:sp>
          <p:nvSpPr>
            <p:cNvPr id="474" name="Oval 7">
              <a:extLst>
                <a:ext uri="{FF2B5EF4-FFF2-40B4-BE49-F238E27FC236}">
                  <a16:creationId xmlns:a16="http://schemas.microsoft.com/office/drawing/2014/main" id="{F8E5EC9F-8C6D-71F4-8F72-5D4C554DBA17}"/>
                </a:ext>
              </a:extLst>
            </p:cNvPr>
            <p:cNvSpPr>
              <a:spLocks noChangeAspect="1" noChangeArrowheads="1"/>
            </p:cNvSpPr>
            <p:nvPr/>
          </p:nvSpPr>
          <p:spPr bwMode="auto">
            <a:xfrm>
              <a:off x="2464765" y="5210842"/>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endParaRPr lang="en-US" altLang="en-US" sz="1600" b="1" dirty="0"/>
            </a:p>
          </p:txBody>
        </p:sp>
        <p:sp>
          <p:nvSpPr>
            <p:cNvPr id="475" name="Oval 7">
              <a:extLst>
                <a:ext uri="{FF2B5EF4-FFF2-40B4-BE49-F238E27FC236}">
                  <a16:creationId xmlns:a16="http://schemas.microsoft.com/office/drawing/2014/main" id="{5DBE71A2-051E-25ED-FE24-B87E9FDF0414}"/>
                </a:ext>
              </a:extLst>
            </p:cNvPr>
            <p:cNvSpPr>
              <a:spLocks noChangeAspect="1" noChangeArrowheads="1"/>
            </p:cNvSpPr>
            <p:nvPr/>
          </p:nvSpPr>
          <p:spPr bwMode="auto">
            <a:xfrm>
              <a:off x="2433871" y="6314431"/>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endParaRPr lang="en-US" altLang="en-US" sz="1600" b="1" dirty="0"/>
            </a:p>
          </p:txBody>
        </p:sp>
        <p:sp>
          <p:nvSpPr>
            <p:cNvPr id="476" name="Oval 7">
              <a:extLst>
                <a:ext uri="{FF2B5EF4-FFF2-40B4-BE49-F238E27FC236}">
                  <a16:creationId xmlns:a16="http://schemas.microsoft.com/office/drawing/2014/main" id="{87CAB6C4-4BE4-6234-7B7E-A075B94BDAC7}"/>
                </a:ext>
              </a:extLst>
            </p:cNvPr>
            <p:cNvSpPr>
              <a:spLocks noChangeAspect="1" noChangeArrowheads="1"/>
            </p:cNvSpPr>
            <p:nvPr/>
          </p:nvSpPr>
          <p:spPr bwMode="auto">
            <a:xfrm>
              <a:off x="4298297" y="6301369"/>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endParaRPr lang="en-US" altLang="en-US" sz="1600" b="1" dirty="0"/>
            </a:p>
          </p:txBody>
        </p:sp>
        <p:sp>
          <p:nvSpPr>
            <p:cNvPr id="477" name="Oval 7">
              <a:extLst>
                <a:ext uri="{FF2B5EF4-FFF2-40B4-BE49-F238E27FC236}">
                  <a16:creationId xmlns:a16="http://schemas.microsoft.com/office/drawing/2014/main" id="{9661C425-AA07-C5CF-C05B-28B9815C94C8}"/>
                </a:ext>
              </a:extLst>
            </p:cNvPr>
            <p:cNvSpPr>
              <a:spLocks noChangeAspect="1" noChangeArrowheads="1"/>
            </p:cNvSpPr>
            <p:nvPr/>
          </p:nvSpPr>
          <p:spPr bwMode="auto">
            <a:xfrm>
              <a:off x="4267274" y="5250882"/>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endParaRPr lang="en-US" altLang="en-US" sz="1600" b="1" dirty="0"/>
            </a:p>
          </p:txBody>
        </p:sp>
        <p:sp>
          <p:nvSpPr>
            <p:cNvPr id="479" name="Oval 7">
              <a:extLst>
                <a:ext uri="{FF2B5EF4-FFF2-40B4-BE49-F238E27FC236}">
                  <a16:creationId xmlns:a16="http://schemas.microsoft.com/office/drawing/2014/main" id="{AE54A6CB-CE9A-F2A0-7A21-AB1CBA238145}"/>
                </a:ext>
              </a:extLst>
            </p:cNvPr>
            <p:cNvSpPr>
              <a:spLocks noChangeAspect="1" noChangeArrowheads="1"/>
            </p:cNvSpPr>
            <p:nvPr/>
          </p:nvSpPr>
          <p:spPr bwMode="auto">
            <a:xfrm>
              <a:off x="840720" y="5210841"/>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600" b="1" dirty="0"/>
                <a:t>s</a:t>
              </a:r>
            </a:p>
          </p:txBody>
        </p:sp>
        <p:cxnSp>
          <p:nvCxnSpPr>
            <p:cNvPr id="480" name="AutoShape 46">
              <a:extLst>
                <a:ext uri="{FF2B5EF4-FFF2-40B4-BE49-F238E27FC236}">
                  <a16:creationId xmlns:a16="http://schemas.microsoft.com/office/drawing/2014/main" id="{965DB450-62D4-8EF0-0D96-2D48C2C8D67D}"/>
                </a:ext>
              </a:extLst>
            </p:cNvPr>
            <p:cNvCxnSpPr>
              <a:cxnSpLocks noChangeShapeType="1"/>
              <a:stCxn id="459" idx="6"/>
              <a:endCxn id="473" idx="2"/>
            </p:cNvCxnSpPr>
            <p:nvPr/>
          </p:nvCxnSpPr>
          <p:spPr bwMode="auto">
            <a:xfrm flipV="1">
              <a:off x="4087347" y="4371683"/>
              <a:ext cx="180057" cy="1"/>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3" name="AutoShape 46">
              <a:extLst>
                <a:ext uri="{FF2B5EF4-FFF2-40B4-BE49-F238E27FC236}">
                  <a16:creationId xmlns:a16="http://schemas.microsoft.com/office/drawing/2014/main" id="{A3C6B6D8-1D21-2932-E4F5-C0E11850E9DF}"/>
                </a:ext>
              </a:extLst>
            </p:cNvPr>
            <p:cNvCxnSpPr>
              <a:cxnSpLocks noChangeShapeType="1"/>
              <a:stCxn id="460" idx="6"/>
              <a:endCxn id="477" idx="2"/>
            </p:cNvCxnSpPr>
            <p:nvPr/>
          </p:nvCxnSpPr>
          <p:spPr bwMode="auto">
            <a:xfrm>
              <a:off x="4087347" y="5347007"/>
              <a:ext cx="179927" cy="22647"/>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4" name="AutoShape 46">
              <a:extLst>
                <a:ext uri="{FF2B5EF4-FFF2-40B4-BE49-F238E27FC236}">
                  <a16:creationId xmlns:a16="http://schemas.microsoft.com/office/drawing/2014/main" id="{C8C27671-CE19-AC64-FF72-AC86A50E1D5E}"/>
                </a:ext>
              </a:extLst>
            </p:cNvPr>
            <p:cNvCxnSpPr>
              <a:cxnSpLocks noChangeShapeType="1"/>
              <a:stCxn id="461" idx="6"/>
              <a:endCxn id="476" idx="2"/>
            </p:cNvCxnSpPr>
            <p:nvPr/>
          </p:nvCxnSpPr>
          <p:spPr bwMode="auto">
            <a:xfrm>
              <a:off x="4087347" y="6420141"/>
              <a:ext cx="210950" cy="0"/>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5" name="AutoShape 46">
              <a:extLst>
                <a:ext uri="{FF2B5EF4-FFF2-40B4-BE49-F238E27FC236}">
                  <a16:creationId xmlns:a16="http://schemas.microsoft.com/office/drawing/2014/main" id="{BAB36550-D030-13E6-2DCE-6D785DDD6423}"/>
                </a:ext>
              </a:extLst>
            </p:cNvPr>
            <p:cNvCxnSpPr>
              <a:cxnSpLocks noChangeShapeType="1"/>
              <a:stCxn id="451" idx="6"/>
              <a:endCxn id="475" idx="2"/>
            </p:cNvCxnSpPr>
            <p:nvPr/>
          </p:nvCxnSpPr>
          <p:spPr bwMode="auto">
            <a:xfrm>
              <a:off x="2300480" y="6420141"/>
              <a:ext cx="133391" cy="13062"/>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6" name="AutoShape 46">
              <a:extLst>
                <a:ext uri="{FF2B5EF4-FFF2-40B4-BE49-F238E27FC236}">
                  <a16:creationId xmlns:a16="http://schemas.microsoft.com/office/drawing/2014/main" id="{1DAF544B-3927-AEE9-B253-E1B522A7A301}"/>
                </a:ext>
              </a:extLst>
            </p:cNvPr>
            <p:cNvCxnSpPr>
              <a:cxnSpLocks noChangeShapeType="1"/>
              <a:stCxn id="450" idx="6"/>
              <a:endCxn id="474" idx="2"/>
            </p:cNvCxnSpPr>
            <p:nvPr/>
          </p:nvCxnSpPr>
          <p:spPr bwMode="auto">
            <a:xfrm flipV="1">
              <a:off x="2300480" y="5329614"/>
              <a:ext cx="164285" cy="17393"/>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grpSp>
      <p:grpSp>
        <p:nvGrpSpPr>
          <p:cNvPr id="487" name="Group 486">
            <a:extLst>
              <a:ext uri="{FF2B5EF4-FFF2-40B4-BE49-F238E27FC236}">
                <a16:creationId xmlns:a16="http://schemas.microsoft.com/office/drawing/2014/main" id="{68767C01-4CCA-7963-F12C-2D34A0BD8BBF}"/>
              </a:ext>
            </a:extLst>
          </p:cNvPr>
          <p:cNvGrpSpPr/>
          <p:nvPr/>
        </p:nvGrpSpPr>
        <p:grpSpPr>
          <a:xfrm>
            <a:off x="7964295" y="4718414"/>
            <a:ext cx="3889729" cy="1830806"/>
            <a:chOff x="840720" y="4252911"/>
            <a:chExt cx="4884588" cy="2299063"/>
          </a:xfrm>
        </p:grpSpPr>
        <p:sp>
          <p:nvSpPr>
            <p:cNvPr id="489" name="Oval 7">
              <a:extLst>
                <a:ext uri="{FF2B5EF4-FFF2-40B4-BE49-F238E27FC236}">
                  <a16:creationId xmlns:a16="http://schemas.microsoft.com/office/drawing/2014/main" id="{7DBF4CED-8120-13C5-5CDF-CBB21BA984EF}"/>
                </a:ext>
              </a:extLst>
            </p:cNvPr>
            <p:cNvSpPr>
              <a:spLocks noChangeAspect="1" noChangeArrowheads="1"/>
            </p:cNvSpPr>
            <p:nvPr/>
          </p:nvSpPr>
          <p:spPr bwMode="auto">
            <a:xfrm>
              <a:off x="2089530" y="4252912"/>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600" b="1" dirty="0"/>
                <a:t>a</a:t>
              </a:r>
            </a:p>
          </p:txBody>
        </p:sp>
        <p:sp>
          <p:nvSpPr>
            <p:cNvPr id="490" name="Oval 8">
              <a:extLst>
                <a:ext uri="{FF2B5EF4-FFF2-40B4-BE49-F238E27FC236}">
                  <a16:creationId xmlns:a16="http://schemas.microsoft.com/office/drawing/2014/main" id="{D2463305-4780-7BB8-3C1C-3E6949157C86}"/>
                </a:ext>
              </a:extLst>
            </p:cNvPr>
            <p:cNvSpPr>
              <a:spLocks noChangeAspect="1" noChangeArrowheads="1"/>
            </p:cNvSpPr>
            <p:nvPr/>
          </p:nvSpPr>
          <p:spPr bwMode="auto">
            <a:xfrm>
              <a:off x="2089530" y="5228235"/>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600" b="1" dirty="0"/>
                <a:t>b</a:t>
              </a:r>
            </a:p>
          </p:txBody>
        </p:sp>
        <p:sp>
          <p:nvSpPr>
            <p:cNvPr id="491" name="Oval 9">
              <a:extLst>
                <a:ext uri="{FF2B5EF4-FFF2-40B4-BE49-F238E27FC236}">
                  <a16:creationId xmlns:a16="http://schemas.microsoft.com/office/drawing/2014/main" id="{D2A391D8-ABE9-A88B-E571-F4D70C3583F4}"/>
                </a:ext>
              </a:extLst>
            </p:cNvPr>
            <p:cNvSpPr>
              <a:spLocks noChangeAspect="1" noChangeArrowheads="1"/>
            </p:cNvSpPr>
            <p:nvPr/>
          </p:nvSpPr>
          <p:spPr bwMode="auto">
            <a:xfrm>
              <a:off x="2089530" y="6301369"/>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600" b="1" dirty="0"/>
                <a:t>c</a:t>
              </a:r>
            </a:p>
          </p:txBody>
        </p:sp>
        <p:cxnSp>
          <p:nvCxnSpPr>
            <p:cNvPr id="492" name="AutoShape 12">
              <a:extLst>
                <a:ext uri="{FF2B5EF4-FFF2-40B4-BE49-F238E27FC236}">
                  <a16:creationId xmlns:a16="http://schemas.microsoft.com/office/drawing/2014/main" id="{589737FF-0C5F-4699-A962-76A6935BCE16}"/>
                </a:ext>
              </a:extLst>
            </p:cNvPr>
            <p:cNvCxnSpPr>
              <a:cxnSpLocks noChangeShapeType="1"/>
              <a:stCxn id="296" idx="7"/>
              <a:endCxn id="489" idx="3"/>
            </p:cNvCxnSpPr>
            <p:nvPr/>
          </p:nvCxnSpPr>
          <p:spPr bwMode="auto">
            <a:xfrm flipV="1">
              <a:off x="1020777" y="4455668"/>
              <a:ext cx="1099646" cy="789960"/>
            </a:xfrm>
            <a:prstGeom prst="straightConnector1">
              <a:avLst/>
            </a:prstGeom>
            <a:noFill/>
            <a:ln w="19050">
              <a:solidFill>
                <a:srgbClr val="0070C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93" name="AutoShape 13">
              <a:extLst>
                <a:ext uri="{FF2B5EF4-FFF2-40B4-BE49-F238E27FC236}">
                  <a16:creationId xmlns:a16="http://schemas.microsoft.com/office/drawing/2014/main" id="{D6733363-3D0B-9072-6864-12A1616E43FF}"/>
                </a:ext>
              </a:extLst>
            </p:cNvPr>
            <p:cNvCxnSpPr>
              <a:cxnSpLocks noChangeShapeType="1"/>
              <a:stCxn id="296" idx="6"/>
              <a:endCxn id="490" idx="2"/>
            </p:cNvCxnSpPr>
            <p:nvPr/>
          </p:nvCxnSpPr>
          <p:spPr bwMode="auto">
            <a:xfrm>
              <a:off x="1051670" y="5329613"/>
              <a:ext cx="1037860" cy="17394"/>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94" name="AutoShape 14">
              <a:extLst>
                <a:ext uri="{FF2B5EF4-FFF2-40B4-BE49-F238E27FC236}">
                  <a16:creationId xmlns:a16="http://schemas.microsoft.com/office/drawing/2014/main" id="{75DD6EAC-177B-E7C8-71EA-8559FDF55202}"/>
                </a:ext>
              </a:extLst>
            </p:cNvPr>
            <p:cNvCxnSpPr>
              <a:cxnSpLocks noChangeShapeType="1"/>
              <a:stCxn id="296" idx="5"/>
              <a:endCxn id="491" idx="1"/>
            </p:cNvCxnSpPr>
            <p:nvPr/>
          </p:nvCxnSpPr>
          <p:spPr bwMode="auto">
            <a:xfrm>
              <a:off x="1020777" y="5413597"/>
              <a:ext cx="1099646" cy="922559"/>
            </a:xfrm>
            <a:prstGeom prst="straightConnector1">
              <a:avLst/>
            </a:prstGeom>
            <a:noFill/>
            <a:ln w="19050">
              <a:solidFill>
                <a:srgbClr val="FF000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95" name="AutoShape 22">
              <a:extLst>
                <a:ext uri="{FF2B5EF4-FFF2-40B4-BE49-F238E27FC236}">
                  <a16:creationId xmlns:a16="http://schemas.microsoft.com/office/drawing/2014/main" id="{305A96FE-CA2C-BBBA-9A02-F68649E1B43C}"/>
                </a:ext>
              </a:extLst>
            </p:cNvPr>
            <p:cNvCxnSpPr>
              <a:cxnSpLocks noChangeShapeType="1"/>
              <a:stCxn id="291" idx="3"/>
              <a:endCxn id="491" idx="0"/>
            </p:cNvCxnSpPr>
            <p:nvPr/>
          </p:nvCxnSpPr>
          <p:spPr bwMode="auto">
            <a:xfrm flipH="1">
              <a:off x="2195005" y="5413598"/>
              <a:ext cx="300653" cy="887771"/>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96" name="AutoShape 24">
              <a:extLst>
                <a:ext uri="{FF2B5EF4-FFF2-40B4-BE49-F238E27FC236}">
                  <a16:creationId xmlns:a16="http://schemas.microsoft.com/office/drawing/2014/main" id="{7F9AC05D-2D36-901F-1B8C-6F07214F12F7}"/>
                </a:ext>
              </a:extLst>
            </p:cNvPr>
            <p:cNvCxnSpPr>
              <a:cxnSpLocks noChangeShapeType="1"/>
              <a:stCxn id="291" idx="5"/>
              <a:endCxn id="501" idx="1"/>
            </p:cNvCxnSpPr>
            <p:nvPr/>
          </p:nvCxnSpPr>
          <p:spPr bwMode="auto">
            <a:xfrm>
              <a:off x="2644822" y="5413598"/>
              <a:ext cx="1262468" cy="922558"/>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97" name="AutoShape 25">
              <a:extLst>
                <a:ext uri="{FF2B5EF4-FFF2-40B4-BE49-F238E27FC236}">
                  <a16:creationId xmlns:a16="http://schemas.microsoft.com/office/drawing/2014/main" id="{008C3FBA-22F4-FD76-586C-C117F3BE5EB0}"/>
                </a:ext>
              </a:extLst>
            </p:cNvPr>
            <p:cNvCxnSpPr>
              <a:cxnSpLocks noChangeShapeType="1"/>
              <a:stCxn id="292" idx="6"/>
              <a:endCxn id="501" idx="2"/>
            </p:cNvCxnSpPr>
            <p:nvPr/>
          </p:nvCxnSpPr>
          <p:spPr bwMode="auto">
            <a:xfrm flipV="1">
              <a:off x="2644821" y="6420141"/>
              <a:ext cx="1231576" cy="13062"/>
            </a:xfrm>
            <a:prstGeom prst="straightConnector1">
              <a:avLst/>
            </a:prstGeom>
            <a:noFill/>
            <a:ln w="19050">
              <a:solidFill>
                <a:srgbClr val="FF000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98" name="AutoShape 34">
              <a:extLst>
                <a:ext uri="{FF2B5EF4-FFF2-40B4-BE49-F238E27FC236}">
                  <a16:creationId xmlns:a16="http://schemas.microsoft.com/office/drawing/2014/main" id="{6025BE03-1D0F-554F-C6CC-CE04EC74EB72}"/>
                </a:ext>
              </a:extLst>
            </p:cNvPr>
            <p:cNvCxnSpPr>
              <a:cxnSpLocks noChangeShapeType="1"/>
              <a:stCxn id="511" idx="3"/>
              <a:endCxn id="490" idx="0"/>
            </p:cNvCxnSpPr>
            <p:nvPr/>
          </p:nvCxnSpPr>
          <p:spPr bwMode="auto">
            <a:xfrm flipH="1">
              <a:off x="2195005" y="4455668"/>
              <a:ext cx="427973" cy="772567"/>
            </a:xfrm>
            <a:prstGeom prst="straightConnector1">
              <a:avLst/>
            </a:prstGeom>
            <a:noFill/>
            <a:ln w="19050">
              <a:solidFill>
                <a:srgbClr val="0070C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99" name="Oval 38">
              <a:extLst>
                <a:ext uri="{FF2B5EF4-FFF2-40B4-BE49-F238E27FC236}">
                  <a16:creationId xmlns:a16="http://schemas.microsoft.com/office/drawing/2014/main" id="{14685590-C46B-D62D-73E5-850B8D37D989}"/>
                </a:ext>
              </a:extLst>
            </p:cNvPr>
            <p:cNvSpPr>
              <a:spLocks noChangeAspect="1" noChangeArrowheads="1"/>
            </p:cNvSpPr>
            <p:nvPr/>
          </p:nvSpPr>
          <p:spPr bwMode="auto">
            <a:xfrm>
              <a:off x="3876397" y="4252912"/>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600" b="1" dirty="0"/>
                <a:t>d</a:t>
              </a:r>
            </a:p>
          </p:txBody>
        </p:sp>
        <p:sp>
          <p:nvSpPr>
            <p:cNvPr id="500" name="Oval 39">
              <a:extLst>
                <a:ext uri="{FF2B5EF4-FFF2-40B4-BE49-F238E27FC236}">
                  <a16:creationId xmlns:a16="http://schemas.microsoft.com/office/drawing/2014/main" id="{71DCAC66-6EE4-9CC8-B1C6-F1FF69FA53FA}"/>
                </a:ext>
              </a:extLst>
            </p:cNvPr>
            <p:cNvSpPr>
              <a:spLocks noChangeAspect="1" noChangeArrowheads="1"/>
            </p:cNvSpPr>
            <p:nvPr/>
          </p:nvSpPr>
          <p:spPr bwMode="auto">
            <a:xfrm>
              <a:off x="3876397" y="5228235"/>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600" b="1" dirty="0"/>
                <a:t>e</a:t>
              </a:r>
            </a:p>
          </p:txBody>
        </p:sp>
        <p:sp>
          <p:nvSpPr>
            <p:cNvPr id="501" name="Oval 40">
              <a:extLst>
                <a:ext uri="{FF2B5EF4-FFF2-40B4-BE49-F238E27FC236}">
                  <a16:creationId xmlns:a16="http://schemas.microsoft.com/office/drawing/2014/main" id="{AE4DFBBC-FF30-043C-57FD-6A64B0DA201A}"/>
                </a:ext>
              </a:extLst>
            </p:cNvPr>
            <p:cNvSpPr>
              <a:spLocks noChangeAspect="1" noChangeArrowheads="1"/>
            </p:cNvSpPr>
            <p:nvPr/>
          </p:nvSpPr>
          <p:spPr bwMode="auto">
            <a:xfrm>
              <a:off x="3876397" y="6301369"/>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600" b="1" dirty="0"/>
                <a:t>f</a:t>
              </a:r>
            </a:p>
          </p:txBody>
        </p:sp>
        <p:cxnSp>
          <p:nvCxnSpPr>
            <p:cNvPr id="502" name="AutoShape 41">
              <a:extLst>
                <a:ext uri="{FF2B5EF4-FFF2-40B4-BE49-F238E27FC236}">
                  <a16:creationId xmlns:a16="http://schemas.microsoft.com/office/drawing/2014/main" id="{C2D3909F-5891-FA58-F173-89FAEE4C10AC}"/>
                </a:ext>
              </a:extLst>
            </p:cNvPr>
            <p:cNvCxnSpPr>
              <a:cxnSpLocks noChangeShapeType="1"/>
              <a:stCxn id="500" idx="4"/>
              <a:endCxn id="293" idx="1"/>
            </p:cNvCxnSpPr>
            <p:nvPr/>
          </p:nvCxnSpPr>
          <p:spPr bwMode="auto">
            <a:xfrm>
              <a:off x="3981872" y="5465778"/>
              <a:ext cx="347318" cy="870378"/>
            </a:xfrm>
            <a:prstGeom prst="straightConnector1">
              <a:avLst/>
            </a:prstGeom>
            <a:noFill/>
            <a:ln w="19050">
              <a:solidFill>
                <a:schemeClr val="tx1"/>
              </a:solidFill>
              <a:round/>
              <a:headEnd type="triangle" w="lg" len="med"/>
              <a:tailEnd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503" name="AutoShape 42">
              <a:extLst>
                <a:ext uri="{FF2B5EF4-FFF2-40B4-BE49-F238E27FC236}">
                  <a16:creationId xmlns:a16="http://schemas.microsoft.com/office/drawing/2014/main" id="{94CA4DC8-4198-18BF-D88F-8214494501AA}"/>
                </a:ext>
              </a:extLst>
            </p:cNvPr>
            <p:cNvCxnSpPr>
              <a:cxnSpLocks noChangeShapeType="1"/>
              <a:stCxn id="499" idx="4"/>
              <a:endCxn id="500" idx="0"/>
            </p:cNvCxnSpPr>
            <p:nvPr/>
          </p:nvCxnSpPr>
          <p:spPr bwMode="auto">
            <a:xfrm>
              <a:off x="3981872" y="4490454"/>
              <a:ext cx="0" cy="737780"/>
            </a:xfrm>
            <a:prstGeom prst="straightConnector1">
              <a:avLst/>
            </a:prstGeom>
            <a:noFill/>
            <a:ln w="19050">
              <a:solidFill>
                <a:schemeClr val="tx1"/>
              </a:solidFill>
              <a:round/>
              <a:headEnd type="triangle" w="lg" len="med"/>
              <a:tailEnd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504" name="Oval 44">
              <a:extLst>
                <a:ext uri="{FF2B5EF4-FFF2-40B4-BE49-F238E27FC236}">
                  <a16:creationId xmlns:a16="http://schemas.microsoft.com/office/drawing/2014/main" id="{7A7E5A6D-74D7-CB0D-E3B2-E0B2452A6D39}"/>
                </a:ext>
              </a:extLst>
            </p:cNvPr>
            <p:cNvSpPr>
              <a:spLocks noChangeAspect="1" noChangeArrowheads="1"/>
            </p:cNvSpPr>
            <p:nvPr/>
          </p:nvSpPr>
          <p:spPr bwMode="auto">
            <a:xfrm>
              <a:off x="5514358" y="5228235"/>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600" b="1"/>
                <a:t>t</a:t>
              </a:r>
            </a:p>
          </p:txBody>
        </p:sp>
        <p:cxnSp>
          <p:nvCxnSpPr>
            <p:cNvPr id="505" name="AutoShape 45">
              <a:extLst>
                <a:ext uri="{FF2B5EF4-FFF2-40B4-BE49-F238E27FC236}">
                  <a16:creationId xmlns:a16="http://schemas.microsoft.com/office/drawing/2014/main" id="{FF042C9C-8EB1-46C5-8A33-3102A3BF89A8}"/>
                </a:ext>
              </a:extLst>
            </p:cNvPr>
            <p:cNvCxnSpPr>
              <a:cxnSpLocks noChangeShapeType="1"/>
              <a:stCxn id="290" idx="5"/>
              <a:endCxn id="504" idx="1"/>
            </p:cNvCxnSpPr>
            <p:nvPr/>
          </p:nvCxnSpPr>
          <p:spPr bwMode="auto">
            <a:xfrm>
              <a:off x="4447461" y="4455667"/>
              <a:ext cx="1097790" cy="80735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506" name="AutoShape 46">
              <a:extLst>
                <a:ext uri="{FF2B5EF4-FFF2-40B4-BE49-F238E27FC236}">
                  <a16:creationId xmlns:a16="http://schemas.microsoft.com/office/drawing/2014/main" id="{3B751C14-2AA6-71F2-06E2-2970FFB330E2}"/>
                </a:ext>
              </a:extLst>
            </p:cNvPr>
            <p:cNvCxnSpPr>
              <a:cxnSpLocks noChangeShapeType="1"/>
              <a:stCxn id="294" idx="6"/>
              <a:endCxn id="504" idx="2"/>
            </p:cNvCxnSpPr>
            <p:nvPr/>
          </p:nvCxnSpPr>
          <p:spPr bwMode="auto">
            <a:xfrm flipV="1">
              <a:off x="4478224" y="5347007"/>
              <a:ext cx="1036134" cy="22647"/>
            </a:xfrm>
            <a:prstGeom prst="straightConnector1">
              <a:avLst/>
            </a:prstGeom>
            <a:noFill/>
            <a:ln w="19050">
              <a:solidFill>
                <a:srgbClr val="0070C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507" name="AutoShape 47">
              <a:extLst>
                <a:ext uri="{FF2B5EF4-FFF2-40B4-BE49-F238E27FC236}">
                  <a16:creationId xmlns:a16="http://schemas.microsoft.com/office/drawing/2014/main" id="{89D4C97C-33BD-0021-0B2D-C0A1531347E5}"/>
                </a:ext>
              </a:extLst>
            </p:cNvPr>
            <p:cNvCxnSpPr>
              <a:cxnSpLocks noChangeShapeType="1"/>
              <a:stCxn id="293" idx="7"/>
              <a:endCxn id="504" idx="4"/>
            </p:cNvCxnSpPr>
            <p:nvPr/>
          </p:nvCxnSpPr>
          <p:spPr bwMode="auto">
            <a:xfrm flipV="1">
              <a:off x="4478354" y="5465778"/>
              <a:ext cx="1141479" cy="870378"/>
            </a:xfrm>
            <a:prstGeom prst="straightConnector1">
              <a:avLst/>
            </a:prstGeom>
            <a:noFill/>
            <a:ln w="19050">
              <a:solidFill>
                <a:srgbClr val="FF000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508" name="AutoShape 63">
              <a:extLst>
                <a:ext uri="{FF2B5EF4-FFF2-40B4-BE49-F238E27FC236}">
                  <a16:creationId xmlns:a16="http://schemas.microsoft.com/office/drawing/2014/main" id="{25431661-114F-83BD-3BA5-E3C7C5EF74D5}"/>
                </a:ext>
              </a:extLst>
            </p:cNvPr>
            <p:cNvCxnSpPr>
              <a:cxnSpLocks noChangeShapeType="1"/>
              <a:stCxn id="500" idx="1"/>
              <a:endCxn id="489" idx="5"/>
            </p:cNvCxnSpPr>
            <p:nvPr/>
          </p:nvCxnSpPr>
          <p:spPr bwMode="auto">
            <a:xfrm flipH="1" flipV="1">
              <a:off x="2269587" y="4455668"/>
              <a:ext cx="1637703" cy="807354"/>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509" name="AutoShape 64">
              <a:extLst>
                <a:ext uri="{FF2B5EF4-FFF2-40B4-BE49-F238E27FC236}">
                  <a16:creationId xmlns:a16="http://schemas.microsoft.com/office/drawing/2014/main" id="{C4759512-680F-D006-077D-A98B75EDE9C4}"/>
                </a:ext>
              </a:extLst>
            </p:cNvPr>
            <p:cNvCxnSpPr>
              <a:cxnSpLocks noChangeShapeType="1"/>
              <a:stCxn id="290" idx="3"/>
              <a:endCxn id="490" idx="7"/>
            </p:cNvCxnSpPr>
            <p:nvPr/>
          </p:nvCxnSpPr>
          <p:spPr bwMode="auto">
            <a:xfrm flipH="1">
              <a:off x="2269587" y="4455667"/>
              <a:ext cx="2028710" cy="80735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510" name="AutoShape 24">
              <a:extLst>
                <a:ext uri="{FF2B5EF4-FFF2-40B4-BE49-F238E27FC236}">
                  <a16:creationId xmlns:a16="http://schemas.microsoft.com/office/drawing/2014/main" id="{392F1630-56D2-2464-EA7B-C5364D81F3B6}"/>
                </a:ext>
              </a:extLst>
            </p:cNvPr>
            <p:cNvCxnSpPr>
              <a:cxnSpLocks noChangeShapeType="1"/>
              <a:stCxn id="291" idx="6"/>
              <a:endCxn id="500" idx="2"/>
            </p:cNvCxnSpPr>
            <p:nvPr/>
          </p:nvCxnSpPr>
          <p:spPr bwMode="auto">
            <a:xfrm>
              <a:off x="2675715" y="5329614"/>
              <a:ext cx="1200682" cy="17393"/>
            </a:xfrm>
            <a:prstGeom prst="straightConnector1">
              <a:avLst/>
            </a:prstGeom>
            <a:noFill/>
            <a:ln w="19050">
              <a:solidFill>
                <a:srgbClr val="0070C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511" name="Oval 7">
              <a:extLst>
                <a:ext uri="{FF2B5EF4-FFF2-40B4-BE49-F238E27FC236}">
                  <a16:creationId xmlns:a16="http://schemas.microsoft.com/office/drawing/2014/main" id="{6C4D8DAB-8E85-280A-9E85-6029699DD012}"/>
                </a:ext>
              </a:extLst>
            </p:cNvPr>
            <p:cNvSpPr>
              <a:spLocks noChangeAspect="1" noChangeArrowheads="1"/>
            </p:cNvSpPr>
            <p:nvPr/>
          </p:nvSpPr>
          <p:spPr bwMode="auto">
            <a:xfrm>
              <a:off x="2592085" y="4252912"/>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endParaRPr lang="en-US" altLang="en-US" sz="1600" b="1" dirty="0"/>
            </a:p>
          </p:txBody>
        </p:sp>
        <p:cxnSp>
          <p:nvCxnSpPr>
            <p:cNvPr id="279" name="AutoShape 63">
              <a:extLst>
                <a:ext uri="{FF2B5EF4-FFF2-40B4-BE49-F238E27FC236}">
                  <a16:creationId xmlns:a16="http://schemas.microsoft.com/office/drawing/2014/main" id="{67D63B7F-2CAC-A1FB-854C-99827B53DCEF}"/>
                </a:ext>
              </a:extLst>
            </p:cNvPr>
            <p:cNvCxnSpPr>
              <a:cxnSpLocks noChangeShapeType="1"/>
              <a:stCxn id="489" idx="6"/>
              <a:endCxn id="511" idx="2"/>
            </p:cNvCxnSpPr>
            <p:nvPr/>
          </p:nvCxnSpPr>
          <p:spPr bwMode="auto">
            <a:xfrm>
              <a:off x="2300480" y="4371684"/>
              <a:ext cx="291605" cy="0"/>
            </a:xfrm>
            <a:prstGeom prst="straightConnector1">
              <a:avLst/>
            </a:prstGeom>
            <a:noFill/>
            <a:ln w="19050">
              <a:solidFill>
                <a:srgbClr val="0070C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290" name="Oval 7">
              <a:extLst>
                <a:ext uri="{FF2B5EF4-FFF2-40B4-BE49-F238E27FC236}">
                  <a16:creationId xmlns:a16="http://schemas.microsoft.com/office/drawing/2014/main" id="{8B777F43-3ACF-4AC9-35C2-4D742C604FFD}"/>
                </a:ext>
              </a:extLst>
            </p:cNvPr>
            <p:cNvSpPr>
              <a:spLocks noChangeAspect="1" noChangeArrowheads="1"/>
            </p:cNvSpPr>
            <p:nvPr/>
          </p:nvSpPr>
          <p:spPr bwMode="auto">
            <a:xfrm>
              <a:off x="4267404" y="4252911"/>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endParaRPr lang="en-US" altLang="en-US" sz="1600" b="1" dirty="0"/>
            </a:p>
          </p:txBody>
        </p:sp>
        <p:sp>
          <p:nvSpPr>
            <p:cNvPr id="291" name="Oval 7">
              <a:extLst>
                <a:ext uri="{FF2B5EF4-FFF2-40B4-BE49-F238E27FC236}">
                  <a16:creationId xmlns:a16="http://schemas.microsoft.com/office/drawing/2014/main" id="{47A55A24-5A5B-0311-DF9E-EFDF1856FEF8}"/>
                </a:ext>
              </a:extLst>
            </p:cNvPr>
            <p:cNvSpPr>
              <a:spLocks noChangeAspect="1" noChangeArrowheads="1"/>
            </p:cNvSpPr>
            <p:nvPr/>
          </p:nvSpPr>
          <p:spPr bwMode="auto">
            <a:xfrm>
              <a:off x="2464765" y="5210842"/>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endParaRPr lang="en-US" altLang="en-US" sz="1600" b="1" dirty="0"/>
            </a:p>
          </p:txBody>
        </p:sp>
        <p:sp>
          <p:nvSpPr>
            <p:cNvPr id="292" name="Oval 7">
              <a:extLst>
                <a:ext uri="{FF2B5EF4-FFF2-40B4-BE49-F238E27FC236}">
                  <a16:creationId xmlns:a16="http://schemas.microsoft.com/office/drawing/2014/main" id="{C570E1B0-05D1-AFF1-2AE0-87952DE39913}"/>
                </a:ext>
              </a:extLst>
            </p:cNvPr>
            <p:cNvSpPr>
              <a:spLocks noChangeAspect="1" noChangeArrowheads="1"/>
            </p:cNvSpPr>
            <p:nvPr/>
          </p:nvSpPr>
          <p:spPr bwMode="auto">
            <a:xfrm>
              <a:off x="2433871" y="6314431"/>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endParaRPr lang="en-US" altLang="en-US" sz="1600" b="1" dirty="0"/>
            </a:p>
          </p:txBody>
        </p:sp>
        <p:sp>
          <p:nvSpPr>
            <p:cNvPr id="293" name="Oval 7">
              <a:extLst>
                <a:ext uri="{FF2B5EF4-FFF2-40B4-BE49-F238E27FC236}">
                  <a16:creationId xmlns:a16="http://schemas.microsoft.com/office/drawing/2014/main" id="{D2322E50-A3CD-7E08-0248-87981E18C723}"/>
                </a:ext>
              </a:extLst>
            </p:cNvPr>
            <p:cNvSpPr>
              <a:spLocks noChangeAspect="1" noChangeArrowheads="1"/>
            </p:cNvSpPr>
            <p:nvPr/>
          </p:nvSpPr>
          <p:spPr bwMode="auto">
            <a:xfrm>
              <a:off x="4298297" y="6301369"/>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endParaRPr lang="en-US" altLang="en-US" sz="1600" b="1" dirty="0"/>
            </a:p>
          </p:txBody>
        </p:sp>
        <p:sp>
          <p:nvSpPr>
            <p:cNvPr id="294" name="Oval 7">
              <a:extLst>
                <a:ext uri="{FF2B5EF4-FFF2-40B4-BE49-F238E27FC236}">
                  <a16:creationId xmlns:a16="http://schemas.microsoft.com/office/drawing/2014/main" id="{ECFED66F-4B36-08F8-543D-78FACC5DB1AD}"/>
                </a:ext>
              </a:extLst>
            </p:cNvPr>
            <p:cNvSpPr>
              <a:spLocks noChangeAspect="1" noChangeArrowheads="1"/>
            </p:cNvSpPr>
            <p:nvPr/>
          </p:nvSpPr>
          <p:spPr bwMode="auto">
            <a:xfrm>
              <a:off x="4267274" y="5250882"/>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endParaRPr lang="en-US" altLang="en-US" sz="1600" b="1" dirty="0"/>
            </a:p>
          </p:txBody>
        </p:sp>
        <p:sp>
          <p:nvSpPr>
            <p:cNvPr id="296" name="Oval 7">
              <a:extLst>
                <a:ext uri="{FF2B5EF4-FFF2-40B4-BE49-F238E27FC236}">
                  <a16:creationId xmlns:a16="http://schemas.microsoft.com/office/drawing/2014/main" id="{30BA4945-D613-8102-7B2C-E3724CB74432}"/>
                </a:ext>
              </a:extLst>
            </p:cNvPr>
            <p:cNvSpPr>
              <a:spLocks noChangeAspect="1" noChangeArrowheads="1"/>
            </p:cNvSpPr>
            <p:nvPr/>
          </p:nvSpPr>
          <p:spPr bwMode="auto">
            <a:xfrm>
              <a:off x="840720" y="5210841"/>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600" b="1" dirty="0"/>
                <a:t>s</a:t>
              </a:r>
            </a:p>
          </p:txBody>
        </p:sp>
        <p:cxnSp>
          <p:nvCxnSpPr>
            <p:cNvPr id="297" name="AutoShape 46">
              <a:extLst>
                <a:ext uri="{FF2B5EF4-FFF2-40B4-BE49-F238E27FC236}">
                  <a16:creationId xmlns:a16="http://schemas.microsoft.com/office/drawing/2014/main" id="{AC1EE881-1B8A-BB2C-97AA-4F3B83FD5386}"/>
                </a:ext>
              </a:extLst>
            </p:cNvPr>
            <p:cNvCxnSpPr>
              <a:cxnSpLocks noChangeShapeType="1"/>
              <a:stCxn id="499" idx="6"/>
              <a:endCxn id="290" idx="2"/>
            </p:cNvCxnSpPr>
            <p:nvPr/>
          </p:nvCxnSpPr>
          <p:spPr bwMode="auto">
            <a:xfrm flipV="1">
              <a:off x="4087347" y="4371683"/>
              <a:ext cx="180057" cy="1"/>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300" name="AutoShape 46">
              <a:extLst>
                <a:ext uri="{FF2B5EF4-FFF2-40B4-BE49-F238E27FC236}">
                  <a16:creationId xmlns:a16="http://schemas.microsoft.com/office/drawing/2014/main" id="{C29151BA-2591-B80D-DC0D-299463E88738}"/>
                </a:ext>
              </a:extLst>
            </p:cNvPr>
            <p:cNvCxnSpPr>
              <a:cxnSpLocks noChangeShapeType="1"/>
              <a:stCxn id="500" idx="6"/>
              <a:endCxn id="294" idx="2"/>
            </p:cNvCxnSpPr>
            <p:nvPr/>
          </p:nvCxnSpPr>
          <p:spPr bwMode="auto">
            <a:xfrm>
              <a:off x="4087347" y="5347007"/>
              <a:ext cx="179927" cy="22647"/>
            </a:xfrm>
            <a:prstGeom prst="straightConnector1">
              <a:avLst/>
            </a:prstGeom>
            <a:noFill/>
            <a:ln w="19050">
              <a:solidFill>
                <a:srgbClr val="0070C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301" name="AutoShape 46">
              <a:extLst>
                <a:ext uri="{FF2B5EF4-FFF2-40B4-BE49-F238E27FC236}">
                  <a16:creationId xmlns:a16="http://schemas.microsoft.com/office/drawing/2014/main" id="{AAA30B86-8DBA-9035-71A4-3CB60D164D1B}"/>
                </a:ext>
              </a:extLst>
            </p:cNvPr>
            <p:cNvCxnSpPr>
              <a:cxnSpLocks noChangeShapeType="1"/>
              <a:stCxn id="501" idx="6"/>
              <a:endCxn id="293" idx="2"/>
            </p:cNvCxnSpPr>
            <p:nvPr/>
          </p:nvCxnSpPr>
          <p:spPr bwMode="auto">
            <a:xfrm>
              <a:off x="4087347" y="6420141"/>
              <a:ext cx="210950" cy="0"/>
            </a:xfrm>
            <a:prstGeom prst="straightConnector1">
              <a:avLst/>
            </a:prstGeom>
            <a:noFill/>
            <a:ln w="19050">
              <a:solidFill>
                <a:srgbClr val="FF000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302" name="AutoShape 46">
              <a:extLst>
                <a:ext uri="{FF2B5EF4-FFF2-40B4-BE49-F238E27FC236}">
                  <a16:creationId xmlns:a16="http://schemas.microsoft.com/office/drawing/2014/main" id="{863FA8F9-34F4-94B1-BBCF-990F5AC1460F}"/>
                </a:ext>
              </a:extLst>
            </p:cNvPr>
            <p:cNvCxnSpPr>
              <a:cxnSpLocks noChangeShapeType="1"/>
              <a:stCxn id="491" idx="6"/>
              <a:endCxn id="292" idx="2"/>
            </p:cNvCxnSpPr>
            <p:nvPr/>
          </p:nvCxnSpPr>
          <p:spPr bwMode="auto">
            <a:xfrm>
              <a:off x="2300480" y="6420141"/>
              <a:ext cx="133391" cy="13062"/>
            </a:xfrm>
            <a:prstGeom prst="straightConnector1">
              <a:avLst/>
            </a:prstGeom>
            <a:noFill/>
            <a:ln w="19050">
              <a:solidFill>
                <a:srgbClr val="FF000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303" name="AutoShape 46">
              <a:extLst>
                <a:ext uri="{FF2B5EF4-FFF2-40B4-BE49-F238E27FC236}">
                  <a16:creationId xmlns:a16="http://schemas.microsoft.com/office/drawing/2014/main" id="{69CC1388-B31E-2A9D-071E-84C5DDBAE1E9}"/>
                </a:ext>
              </a:extLst>
            </p:cNvPr>
            <p:cNvCxnSpPr>
              <a:cxnSpLocks noChangeShapeType="1"/>
              <a:stCxn id="490" idx="6"/>
              <a:endCxn id="291" idx="2"/>
            </p:cNvCxnSpPr>
            <p:nvPr/>
          </p:nvCxnSpPr>
          <p:spPr bwMode="auto">
            <a:xfrm flipV="1">
              <a:off x="2300480" y="5329614"/>
              <a:ext cx="164285" cy="17393"/>
            </a:xfrm>
            <a:prstGeom prst="straightConnector1">
              <a:avLst/>
            </a:prstGeom>
            <a:noFill/>
            <a:ln w="19050">
              <a:solidFill>
                <a:srgbClr val="0070C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grpSp>
      <p:grpSp>
        <p:nvGrpSpPr>
          <p:cNvPr id="304" name="Group 303">
            <a:extLst>
              <a:ext uri="{FF2B5EF4-FFF2-40B4-BE49-F238E27FC236}">
                <a16:creationId xmlns:a16="http://schemas.microsoft.com/office/drawing/2014/main" id="{62BA989F-391F-395F-96D7-5B59585ABD46}"/>
              </a:ext>
            </a:extLst>
          </p:cNvPr>
          <p:cNvGrpSpPr/>
          <p:nvPr/>
        </p:nvGrpSpPr>
        <p:grpSpPr>
          <a:xfrm>
            <a:off x="68605" y="4886035"/>
            <a:ext cx="4219270" cy="1818651"/>
            <a:chOff x="254315" y="3170850"/>
            <a:chExt cx="5303520" cy="2286000"/>
          </a:xfrm>
        </p:grpSpPr>
        <p:grpSp>
          <p:nvGrpSpPr>
            <p:cNvPr id="305" name="Group 304">
              <a:extLst>
                <a:ext uri="{FF2B5EF4-FFF2-40B4-BE49-F238E27FC236}">
                  <a16:creationId xmlns:a16="http://schemas.microsoft.com/office/drawing/2014/main" id="{F7C98388-36ED-C89E-30DB-6D2D0CD64A1E}"/>
                </a:ext>
              </a:extLst>
            </p:cNvPr>
            <p:cNvGrpSpPr>
              <a:grpSpLocks/>
            </p:cNvGrpSpPr>
            <p:nvPr/>
          </p:nvGrpSpPr>
          <p:grpSpPr>
            <a:xfrm>
              <a:off x="254315" y="3170850"/>
              <a:ext cx="5303520" cy="2286000"/>
              <a:chOff x="2438401" y="3540126"/>
              <a:chExt cx="6784975" cy="2597150"/>
            </a:xfrm>
          </p:grpSpPr>
          <p:sp>
            <p:nvSpPr>
              <p:cNvPr id="307" name="Oval 4">
                <a:extLst>
                  <a:ext uri="{FF2B5EF4-FFF2-40B4-BE49-F238E27FC236}">
                    <a16:creationId xmlns:a16="http://schemas.microsoft.com/office/drawing/2014/main" id="{34006730-C889-4AEA-AE03-71D4BE28DD70}"/>
                  </a:ext>
                </a:extLst>
              </p:cNvPr>
              <p:cNvSpPr>
                <a:spLocks noChangeAspect="1" noChangeArrowheads="1"/>
              </p:cNvSpPr>
              <p:nvPr/>
            </p:nvSpPr>
            <p:spPr bwMode="auto">
              <a:xfrm>
                <a:off x="2438401" y="46482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600" b="1" dirty="0"/>
                  <a:t>s</a:t>
                </a:r>
              </a:p>
            </p:txBody>
          </p:sp>
          <p:sp>
            <p:nvSpPr>
              <p:cNvPr id="308" name="Oval 7">
                <a:extLst>
                  <a:ext uri="{FF2B5EF4-FFF2-40B4-BE49-F238E27FC236}">
                    <a16:creationId xmlns:a16="http://schemas.microsoft.com/office/drawing/2014/main" id="{398BE0B5-53E8-B2C2-6C28-A331C1271624}"/>
                  </a:ext>
                </a:extLst>
              </p:cNvPr>
              <p:cNvSpPr>
                <a:spLocks noChangeAspect="1" noChangeArrowheads="1"/>
              </p:cNvSpPr>
              <p:nvPr/>
            </p:nvSpPr>
            <p:spPr bwMode="auto">
              <a:xfrm>
                <a:off x="4572001" y="3540126"/>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600" b="1" dirty="0"/>
                  <a:t>a</a:t>
                </a:r>
              </a:p>
            </p:txBody>
          </p:sp>
          <p:sp>
            <p:nvSpPr>
              <p:cNvPr id="309" name="Oval 8">
                <a:extLst>
                  <a:ext uri="{FF2B5EF4-FFF2-40B4-BE49-F238E27FC236}">
                    <a16:creationId xmlns:a16="http://schemas.microsoft.com/office/drawing/2014/main" id="{5E1E10A7-A587-25ED-5DB5-1C5D544E89F0}"/>
                  </a:ext>
                </a:extLst>
              </p:cNvPr>
              <p:cNvSpPr>
                <a:spLocks noChangeAspect="1" noChangeArrowheads="1"/>
              </p:cNvSpPr>
              <p:nvPr/>
            </p:nvSpPr>
            <p:spPr bwMode="auto">
              <a:xfrm>
                <a:off x="4572001" y="46482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600" b="1" dirty="0"/>
                  <a:t>b</a:t>
                </a:r>
              </a:p>
            </p:txBody>
          </p:sp>
          <p:sp>
            <p:nvSpPr>
              <p:cNvPr id="310" name="Oval 9">
                <a:extLst>
                  <a:ext uri="{FF2B5EF4-FFF2-40B4-BE49-F238E27FC236}">
                    <a16:creationId xmlns:a16="http://schemas.microsoft.com/office/drawing/2014/main" id="{496580E6-3AED-B6CB-A316-E7C6DF7BD9D0}"/>
                  </a:ext>
                </a:extLst>
              </p:cNvPr>
              <p:cNvSpPr>
                <a:spLocks noChangeAspect="1" noChangeArrowheads="1"/>
              </p:cNvSpPr>
              <p:nvPr/>
            </p:nvSpPr>
            <p:spPr bwMode="auto">
              <a:xfrm>
                <a:off x="4572001" y="58674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600" b="1" dirty="0"/>
                  <a:t>c</a:t>
                </a:r>
              </a:p>
            </p:txBody>
          </p:sp>
          <p:cxnSp>
            <p:nvCxnSpPr>
              <p:cNvPr id="311" name="AutoShape 12">
                <a:extLst>
                  <a:ext uri="{FF2B5EF4-FFF2-40B4-BE49-F238E27FC236}">
                    <a16:creationId xmlns:a16="http://schemas.microsoft.com/office/drawing/2014/main" id="{2C3A2882-4AFB-A2D3-B820-C259C6FEA1AF}"/>
                  </a:ext>
                </a:extLst>
              </p:cNvPr>
              <p:cNvCxnSpPr>
                <a:cxnSpLocks noChangeShapeType="1"/>
                <a:stCxn id="307" idx="7"/>
                <a:endCxn id="308" idx="3"/>
              </p:cNvCxnSpPr>
              <p:nvPr/>
            </p:nvCxnSpPr>
            <p:spPr bwMode="auto">
              <a:xfrm flipV="1">
                <a:off x="2668588" y="3770314"/>
                <a:ext cx="1943100" cy="917575"/>
              </a:xfrm>
              <a:prstGeom prst="straightConnector1">
                <a:avLst/>
              </a:prstGeom>
              <a:noFill/>
              <a:ln w="19050">
                <a:solidFill>
                  <a:srgbClr val="0070C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312" name="AutoShape 13">
                <a:extLst>
                  <a:ext uri="{FF2B5EF4-FFF2-40B4-BE49-F238E27FC236}">
                    <a16:creationId xmlns:a16="http://schemas.microsoft.com/office/drawing/2014/main" id="{925EAF76-9266-6EB1-C832-239E6ED7E3B1}"/>
                  </a:ext>
                </a:extLst>
              </p:cNvPr>
              <p:cNvCxnSpPr>
                <a:cxnSpLocks noChangeShapeType="1"/>
                <a:stCxn id="307" idx="6"/>
                <a:endCxn id="309" idx="2"/>
              </p:cNvCxnSpPr>
              <p:nvPr/>
            </p:nvCxnSpPr>
            <p:spPr bwMode="auto">
              <a:xfrm>
                <a:off x="2708276" y="4783138"/>
                <a:ext cx="1863725" cy="0"/>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313" name="AutoShape 14">
                <a:extLst>
                  <a:ext uri="{FF2B5EF4-FFF2-40B4-BE49-F238E27FC236}">
                    <a16:creationId xmlns:a16="http://schemas.microsoft.com/office/drawing/2014/main" id="{D1692759-D4E1-782A-B923-4415747A1854}"/>
                  </a:ext>
                </a:extLst>
              </p:cNvPr>
              <p:cNvCxnSpPr>
                <a:cxnSpLocks noChangeShapeType="1"/>
                <a:stCxn id="307" idx="5"/>
                <a:endCxn id="310" idx="1"/>
              </p:cNvCxnSpPr>
              <p:nvPr/>
            </p:nvCxnSpPr>
            <p:spPr bwMode="auto">
              <a:xfrm>
                <a:off x="2668588" y="4878388"/>
                <a:ext cx="1943100" cy="1028700"/>
              </a:xfrm>
              <a:prstGeom prst="straightConnector1">
                <a:avLst/>
              </a:prstGeom>
              <a:noFill/>
              <a:ln w="19050">
                <a:solidFill>
                  <a:srgbClr val="FF000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314" name="AutoShape 22">
                <a:extLst>
                  <a:ext uri="{FF2B5EF4-FFF2-40B4-BE49-F238E27FC236}">
                    <a16:creationId xmlns:a16="http://schemas.microsoft.com/office/drawing/2014/main" id="{BF024E0A-478F-B505-2DBF-AC722542C5F2}"/>
                  </a:ext>
                </a:extLst>
              </p:cNvPr>
              <p:cNvCxnSpPr>
                <a:cxnSpLocks noChangeShapeType="1"/>
                <a:stCxn id="309" idx="4"/>
                <a:endCxn id="310" idx="0"/>
              </p:cNvCxnSpPr>
              <p:nvPr/>
            </p:nvCxnSpPr>
            <p:spPr bwMode="auto">
              <a:xfrm>
                <a:off x="4706938" y="4918076"/>
                <a:ext cx="0" cy="94932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315" name="AutoShape 24">
                <a:extLst>
                  <a:ext uri="{FF2B5EF4-FFF2-40B4-BE49-F238E27FC236}">
                    <a16:creationId xmlns:a16="http://schemas.microsoft.com/office/drawing/2014/main" id="{A109315A-4BAD-EE05-44FF-980C3B66FC11}"/>
                  </a:ext>
                </a:extLst>
              </p:cNvPr>
              <p:cNvCxnSpPr>
                <a:cxnSpLocks noChangeShapeType="1"/>
                <a:stCxn id="309" idx="5"/>
                <a:endCxn id="320" idx="1"/>
              </p:cNvCxnSpPr>
              <p:nvPr/>
            </p:nvCxnSpPr>
            <p:spPr bwMode="auto">
              <a:xfrm>
                <a:off x="4802354" y="4878555"/>
                <a:ext cx="2095170" cy="1028368"/>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316" name="AutoShape 25">
                <a:extLst>
                  <a:ext uri="{FF2B5EF4-FFF2-40B4-BE49-F238E27FC236}">
                    <a16:creationId xmlns:a16="http://schemas.microsoft.com/office/drawing/2014/main" id="{63A14836-A11A-001A-C00D-2EAEBDF8CB98}"/>
                  </a:ext>
                </a:extLst>
              </p:cNvPr>
              <p:cNvCxnSpPr>
                <a:cxnSpLocks noChangeShapeType="1"/>
                <a:stCxn id="310" idx="6"/>
                <a:endCxn id="320" idx="2"/>
              </p:cNvCxnSpPr>
              <p:nvPr/>
            </p:nvCxnSpPr>
            <p:spPr bwMode="auto">
              <a:xfrm>
                <a:off x="4841876" y="6002338"/>
                <a:ext cx="2016125" cy="0"/>
              </a:xfrm>
              <a:prstGeom prst="straightConnector1">
                <a:avLst/>
              </a:prstGeom>
              <a:noFill/>
              <a:ln w="19050">
                <a:solidFill>
                  <a:srgbClr val="FF000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317" name="AutoShape 34">
                <a:extLst>
                  <a:ext uri="{FF2B5EF4-FFF2-40B4-BE49-F238E27FC236}">
                    <a16:creationId xmlns:a16="http://schemas.microsoft.com/office/drawing/2014/main" id="{E0C0CD6B-E49E-CD33-0429-C9869599081C}"/>
                  </a:ext>
                </a:extLst>
              </p:cNvPr>
              <p:cNvCxnSpPr>
                <a:cxnSpLocks noChangeShapeType="1"/>
                <a:stCxn id="308" idx="4"/>
                <a:endCxn id="309" idx="0"/>
              </p:cNvCxnSpPr>
              <p:nvPr/>
            </p:nvCxnSpPr>
            <p:spPr bwMode="auto">
              <a:xfrm>
                <a:off x="4706938" y="3810000"/>
                <a:ext cx="0" cy="838200"/>
              </a:xfrm>
              <a:prstGeom prst="straightConnector1">
                <a:avLst/>
              </a:prstGeom>
              <a:noFill/>
              <a:ln w="19050">
                <a:solidFill>
                  <a:srgbClr val="0070C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318" name="Oval 38">
                <a:extLst>
                  <a:ext uri="{FF2B5EF4-FFF2-40B4-BE49-F238E27FC236}">
                    <a16:creationId xmlns:a16="http://schemas.microsoft.com/office/drawing/2014/main" id="{3DFEB26F-5923-98DA-6655-D0E3F03F0000}"/>
                  </a:ext>
                </a:extLst>
              </p:cNvPr>
              <p:cNvSpPr>
                <a:spLocks noChangeAspect="1" noChangeArrowheads="1"/>
              </p:cNvSpPr>
              <p:nvPr/>
            </p:nvSpPr>
            <p:spPr bwMode="auto">
              <a:xfrm>
                <a:off x="6858001" y="3540126"/>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600" b="1" dirty="0"/>
                  <a:t>d</a:t>
                </a:r>
              </a:p>
            </p:txBody>
          </p:sp>
          <p:sp>
            <p:nvSpPr>
              <p:cNvPr id="319" name="Oval 39">
                <a:extLst>
                  <a:ext uri="{FF2B5EF4-FFF2-40B4-BE49-F238E27FC236}">
                    <a16:creationId xmlns:a16="http://schemas.microsoft.com/office/drawing/2014/main" id="{B4E1A1FE-3362-09EC-7172-74B14C678F80}"/>
                  </a:ext>
                </a:extLst>
              </p:cNvPr>
              <p:cNvSpPr>
                <a:spLocks noChangeAspect="1" noChangeArrowheads="1"/>
              </p:cNvSpPr>
              <p:nvPr/>
            </p:nvSpPr>
            <p:spPr bwMode="auto">
              <a:xfrm>
                <a:off x="6858001" y="46482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600" b="1" dirty="0"/>
                  <a:t>e</a:t>
                </a:r>
              </a:p>
            </p:txBody>
          </p:sp>
          <p:sp>
            <p:nvSpPr>
              <p:cNvPr id="320" name="Oval 40">
                <a:extLst>
                  <a:ext uri="{FF2B5EF4-FFF2-40B4-BE49-F238E27FC236}">
                    <a16:creationId xmlns:a16="http://schemas.microsoft.com/office/drawing/2014/main" id="{90A8554D-38BA-B477-E6C1-694123041DD4}"/>
                  </a:ext>
                </a:extLst>
              </p:cNvPr>
              <p:cNvSpPr>
                <a:spLocks noChangeAspect="1" noChangeArrowheads="1"/>
              </p:cNvSpPr>
              <p:nvPr/>
            </p:nvSpPr>
            <p:spPr bwMode="auto">
              <a:xfrm>
                <a:off x="6858001" y="58674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600" b="1" dirty="0"/>
                  <a:t>f</a:t>
                </a:r>
              </a:p>
            </p:txBody>
          </p:sp>
          <p:cxnSp>
            <p:nvCxnSpPr>
              <p:cNvPr id="321" name="AutoShape 41">
                <a:extLst>
                  <a:ext uri="{FF2B5EF4-FFF2-40B4-BE49-F238E27FC236}">
                    <a16:creationId xmlns:a16="http://schemas.microsoft.com/office/drawing/2014/main" id="{01C23BE2-39A0-8B84-5D99-75E294CC4EC8}"/>
                  </a:ext>
                </a:extLst>
              </p:cNvPr>
              <p:cNvCxnSpPr>
                <a:cxnSpLocks noChangeShapeType="1"/>
                <a:stCxn id="319" idx="4"/>
                <a:endCxn id="320" idx="0"/>
              </p:cNvCxnSpPr>
              <p:nvPr/>
            </p:nvCxnSpPr>
            <p:spPr bwMode="auto">
              <a:xfrm>
                <a:off x="6992938" y="4918076"/>
                <a:ext cx="0" cy="949325"/>
              </a:xfrm>
              <a:prstGeom prst="straightConnector1">
                <a:avLst/>
              </a:prstGeom>
              <a:noFill/>
              <a:ln w="19050">
                <a:solidFill>
                  <a:schemeClr val="tx1"/>
                </a:solidFill>
                <a:round/>
                <a:headEnd type="triangle" w="lg" len="med"/>
                <a:tailEnd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322" name="AutoShape 42">
                <a:extLst>
                  <a:ext uri="{FF2B5EF4-FFF2-40B4-BE49-F238E27FC236}">
                    <a16:creationId xmlns:a16="http://schemas.microsoft.com/office/drawing/2014/main" id="{EB54CD0D-E438-4664-CF9A-F558765842F0}"/>
                  </a:ext>
                </a:extLst>
              </p:cNvPr>
              <p:cNvCxnSpPr>
                <a:cxnSpLocks noChangeShapeType="1"/>
                <a:stCxn id="318" idx="4"/>
                <a:endCxn id="319" idx="0"/>
              </p:cNvCxnSpPr>
              <p:nvPr/>
            </p:nvCxnSpPr>
            <p:spPr bwMode="auto">
              <a:xfrm>
                <a:off x="6992938" y="3810000"/>
                <a:ext cx="0" cy="838200"/>
              </a:xfrm>
              <a:prstGeom prst="straightConnector1">
                <a:avLst/>
              </a:prstGeom>
              <a:noFill/>
              <a:ln w="19050">
                <a:solidFill>
                  <a:schemeClr val="tx1"/>
                </a:solidFill>
                <a:round/>
                <a:headEnd type="triangle" w="lg" len="med"/>
                <a:tailEnd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323" name="Oval 44">
                <a:extLst>
                  <a:ext uri="{FF2B5EF4-FFF2-40B4-BE49-F238E27FC236}">
                    <a16:creationId xmlns:a16="http://schemas.microsoft.com/office/drawing/2014/main" id="{621D81E8-BEE1-6BAB-0188-53B24FCF08BB}"/>
                  </a:ext>
                </a:extLst>
              </p:cNvPr>
              <p:cNvSpPr>
                <a:spLocks noChangeAspect="1" noChangeArrowheads="1"/>
              </p:cNvSpPr>
              <p:nvPr/>
            </p:nvSpPr>
            <p:spPr bwMode="auto">
              <a:xfrm>
                <a:off x="8953501" y="4648201"/>
                <a:ext cx="269875" cy="269875"/>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600" b="1"/>
                  <a:t>t</a:t>
                </a:r>
              </a:p>
            </p:txBody>
          </p:sp>
          <p:cxnSp>
            <p:nvCxnSpPr>
              <p:cNvPr id="324" name="AutoShape 45">
                <a:extLst>
                  <a:ext uri="{FF2B5EF4-FFF2-40B4-BE49-F238E27FC236}">
                    <a16:creationId xmlns:a16="http://schemas.microsoft.com/office/drawing/2014/main" id="{095216EC-C51E-216D-2BE8-09D8E04A0322}"/>
                  </a:ext>
                </a:extLst>
              </p:cNvPr>
              <p:cNvCxnSpPr>
                <a:cxnSpLocks noChangeShapeType="1"/>
                <a:stCxn id="318" idx="6"/>
                <a:endCxn id="323" idx="1"/>
              </p:cNvCxnSpPr>
              <p:nvPr/>
            </p:nvCxnSpPr>
            <p:spPr bwMode="auto">
              <a:xfrm>
                <a:off x="7127876" y="3675064"/>
                <a:ext cx="1865313" cy="101282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325" name="AutoShape 46">
                <a:extLst>
                  <a:ext uri="{FF2B5EF4-FFF2-40B4-BE49-F238E27FC236}">
                    <a16:creationId xmlns:a16="http://schemas.microsoft.com/office/drawing/2014/main" id="{2CB98EC4-D051-83D2-E40F-7008DD5D80FC}"/>
                  </a:ext>
                </a:extLst>
              </p:cNvPr>
              <p:cNvCxnSpPr>
                <a:cxnSpLocks noChangeShapeType="1"/>
                <a:stCxn id="319" idx="6"/>
                <a:endCxn id="323" idx="2"/>
              </p:cNvCxnSpPr>
              <p:nvPr/>
            </p:nvCxnSpPr>
            <p:spPr bwMode="auto">
              <a:xfrm>
                <a:off x="7127876" y="4783138"/>
                <a:ext cx="1825625" cy="0"/>
              </a:xfrm>
              <a:prstGeom prst="straightConnector1">
                <a:avLst/>
              </a:prstGeom>
              <a:noFill/>
              <a:ln w="19050">
                <a:solidFill>
                  <a:srgbClr val="0070C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326" name="AutoShape 47">
                <a:extLst>
                  <a:ext uri="{FF2B5EF4-FFF2-40B4-BE49-F238E27FC236}">
                    <a16:creationId xmlns:a16="http://schemas.microsoft.com/office/drawing/2014/main" id="{7CAFB8C8-DD28-BACD-7D10-485A18BFAFEE}"/>
                  </a:ext>
                </a:extLst>
              </p:cNvPr>
              <p:cNvCxnSpPr>
                <a:cxnSpLocks noChangeShapeType="1"/>
                <a:stCxn id="320" idx="7"/>
                <a:endCxn id="323" idx="4"/>
              </p:cNvCxnSpPr>
              <p:nvPr/>
            </p:nvCxnSpPr>
            <p:spPr bwMode="auto">
              <a:xfrm flipV="1">
                <a:off x="7088188" y="4918076"/>
                <a:ext cx="2000250" cy="989013"/>
              </a:xfrm>
              <a:prstGeom prst="straightConnector1">
                <a:avLst/>
              </a:prstGeom>
              <a:noFill/>
              <a:ln w="19050">
                <a:solidFill>
                  <a:srgbClr val="FF000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327" name="AutoShape 63">
                <a:extLst>
                  <a:ext uri="{FF2B5EF4-FFF2-40B4-BE49-F238E27FC236}">
                    <a16:creationId xmlns:a16="http://schemas.microsoft.com/office/drawing/2014/main" id="{C6AB1F4C-9275-0C73-82ED-C6292138ED28}"/>
                  </a:ext>
                </a:extLst>
              </p:cNvPr>
              <p:cNvCxnSpPr>
                <a:cxnSpLocks noChangeShapeType="1"/>
                <a:stCxn id="319" idx="1"/>
                <a:endCxn id="308" idx="6"/>
              </p:cNvCxnSpPr>
              <p:nvPr/>
            </p:nvCxnSpPr>
            <p:spPr bwMode="auto">
              <a:xfrm flipH="1" flipV="1">
                <a:off x="4841876" y="3675064"/>
                <a:ext cx="2055647" cy="1012659"/>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328" name="AutoShape 64">
                <a:extLst>
                  <a:ext uri="{FF2B5EF4-FFF2-40B4-BE49-F238E27FC236}">
                    <a16:creationId xmlns:a16="http://schemas.microsoft.com/office/drawing/2014/main" id="{85287772-7381-6CEA-EA59-4B952B9F8663}"/>
                  </a:ext>
                </a:extLst>
              </p:cNvPr>
              <p:cNvCxnSpPr>
                <a:cxnSpLocks noChangeShapeType="1"/>
                <a:stCxn id="318" idx="2"/>
                <a:endCxn id="309" idx="7"/>
              </p:cNvCxnSpPr>
              <p:nvPr/>
            </p:nvCxnSpPr>
            <p:spPr bwMode="auto">
              <a:xfrm flipH="1">
                <a:off x="4802188" y="3675064"/>
                <a:ext cx="2055812" cy="101282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grpSp>
        <p:cxnSp>
          <p:nvCxnSpPr>
            <p:cNvPr id="306" name="AutoShape 24">
              <a:extLst>
                <a:ext uri="{FF2B5EF4-FFF2-40B4-BE49-F238E27FC236}">
                  <a16:creationId xmlns:a16="http://schemas.microsoft.com/office/drawing/2014/main" id="{ECFFAA48-6BB0-F269-477F-FFCA86BFE3EB}"/>
                </a:ext>
              </a:extLst>
            </p:cNvPr>
            <p:cNvCxnSpPr>
              <a:cxnSpLocks noChangeShapeType="1"/>
              <a:stCxn id="309" idx="6"/>
              <a:endCxn id="319" idx="2"/>
            </p:cNvCxnSpPr>
            <p:nvPr/>
          </p:nvCxnSpPr>
          <p:spPr bwMode="auto">
            <a:xfrm>
              <a:off x="2133007" y="4264945"/>
              <a:ext cx="1575917" cy="0"/>
            </a:xfrm>
            <a:prstGeom prst="straightConnector1">
              <a:avLst/>
            </a:prstGeom>
            <a:noFill/>
            <a:ln w="19050">
              <a:solidFill>
                <a:srgbClr val="0070C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grpSp>
    </p:spTree>
    <p:extLst>
      <p:ext uri="{BB962C8B-B14F-4D97-AF65-F5344CB8AC3E}">
        <p14:creationId xmlns:p14="http://schemas.microsoft.com/office/powerpoint/2010/main" val="36362179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D1633-ABFA-3D9F-1B1B-5D2863BF099F}"/>
            </a:ext>
          </a:extLst>
        </p:cNvPr>
        <p:cNvGrpSpPr/>
        <p:nvPr/>
      </p:nvGrpSpPr>
      <p:grpSpPr>
        <a:xfrm>
          <a:off x="0" y="0"/>
          <a:ext cx="0" cy="0"/>
          <a:chOff x="0" y="0"/>
          <a:chExt cx="0" cy="0"/>
        </a:xfrm>
      </p:grpSpPr>
      <p:sp>
        <p:nvSpPr>
          <p:cNvPr id="451615" name="Rectangle 31">
            <a:extLst>
              <a:ext uri="{FF2B5EF4-FFF2-40B4-BE49-F238E27FC236}">
                <a16:creationId xmlns:a16="http://schemas.microsoft.com/office/drawing/2014/main" id="{D7711582-AE32-87E3-3283-084C5E23C2C5}"/>
              </a:ext>
            </a:extLst>
          </p:cNvPr>
          <p:cNvSpPr>
            <a:spLocks noGrp="1" noChangeArrowheads="1"/>
          </p:cNvSpPr>
          <p:nvPr>
            <p:ph type="title"/>
          </p:nvPr>
        </p:nvSpPr>
        <p:spPr/>
        <p:txBody>
          <a:bodyPr/>
          <a:lstStyle/>
          <a:p>
            <a:r>
              <a:rPr lang="en-US" altLang="en-US" dirty="0"/>
              <a:t>Vertex-Disjoint Paths Running time</a:t>
            </a:r>
          </a:p>
        </p:txBody>
      </p:sp>
      <mc:AlternateContent xmlns:mc="http://schemas.openxmlformats.org/markup-compatibility/2006">
        <mc:Choice xmlns:a14="http://schemas.microsoft.com/office/drawing/2010/main" Requires="a14">
          <p:sp>
            <p:nvSpPr>
              <p:cNvPr id="451616" name="Rectangle 32">
                <a:extLst>
                  <a:ext uri="{FF2B5EF4-FFF2-40B4-BE49-F238E27FC236}">
                    <a16:creationId xmlns:a16="http://schemas.microsoft.com/office/drawing/2014/main" id="{7027E921-B286-CF99-313F-8BB2D872E536}"/>
                  </a:ext>
                </a:extLst>
              </p:cNvPr>
              <p:cNvSpPr>
                <a:spLocks noGrp="1" noChangeArrowheads="1"/>
              </p:cNvSpPr>
              <p:nvPr>
                <p:ph sz="half" idx="1"/>
              </p:nvPr>
            </p:nvSpPr>
            <p:spPr>
              <a:xfrm>
                <a:off x="88900" y="1446797"/>
                <a:ext cx="5843632" cy="4351338"/>
              </a:xfrm>
            </p:spPr>
            <p:txBody>
              <a:bodyPr>
                <a:noAutofit/>
              </a:bodyPr>
              <a:lstStyle/>
              <a:p>
                <a:pPr marL="0" indent="0">
                  <a:buNone/>
                </a:pPr>
                <a:r>
                  <a:rPr lang="en-US" altLang="en-US" sz="2400" dirty="0">
                    <a:solidFill>
                      <a:schemeClr val="tx1"/>
                    </a:solidFill>
                  </a:rPr>
                  <a:t>Reduction for </a:t>
                </a:r>
                <a:r>
                  <a:rPr lang="en-US" altLang="en-US" sz="2400" dirty="0"/>
                  <a:t>vertex</a:t>
                </a:r>
                <a:r>
                  <a:rPr lang="en-US" altLang="en-US" sz="2400" dirty="0">
                    <a:solidFill>
                      <a:schemeClr val="tx1"/>
                    </a:solidFill>
                  </a:rPr>
                  <a:t>-disjoint paths</a:t>
                </a:r>
                <a:endParaRPr lang="en-US" altLang="en-US" sz="2400" dirty="0"/>
              </a:p>
              <a:p>
                <a:pPr lvl="1"/>
                <a:r>
                  <a:rPr lang="en-US" altLang="en-US" sz="2400" dirty="0"/>
                  <a:t>For each node </a:t>
                </a:r>
                <a14:m>
                  <m:oMath xmlns:m="http://schemas.openxmlformats.org/officeDocument/2006/math">
                    <m:r>
                      <a:rPr lang="en-US" altLang="en-US" sz="2400" b="0" i="1" smtClean="0">
                        <a:latin typeface="Cambria Math" panose="02040503050406030204" pitchFamily="18" charset="0"/>
                      </a:rPr>
                      <m:t>𝑣</m:t>
                    </m:r>
                  </m:oMath>
                </a14:m>
                <a:r>
                  <a:rPr lang="en-US" altLang="en-US" sz="2400" dirty="0">
                    <a:solidFill>
                      <a:schemeClr val="tx1"/>
                    </a:solidFill>
                  </a:rPr>
                  <a:t>, add in </a:t>
                </a:r>
                <a14:m>
                  <m:oMath xmlns:m="http://schemas.openxmlformats.org/officeDocument/2006/math">
                    <m:sSub>
                      <m:sSubPr>
                        <m:ctrlPr>
                          <a:rPr lang="en-US" altLang="en-US" sz="2400" b="0" i="1" smtClean="0">
                            <a:solidFill>
                              <a:schemeClr val="tx1"/>
                            </a:solidFill>
                            <a:latin typeface="Cambria Math" panose="02040503050406030204" pitchFamily="18" charset="0"/>
                          </a:rPr>
                        </m:ctrlPr>
                      </m:sSubPr>
                      <m:e>
                        <m:r>
                          <a:rPr lang="en-US" altLang="en-US" sz="2400" b="0" i="1" smtClean="0">
                            <a:solidFill>
                              <a:schemeClr val="tx1"/>
                            </a:solidFill>
                            <a:latin typeface="Cambria Math" panose="02040503050406030204" pitchFamily="18" charset="0"/>
                          </a:rPr>
                          <m:t>𝑣</m:t>
                        </m:r>
                      </m:e>
                      <m:sub>
                        <m:r>
                          <a:rPr lang="en-US" altLang="en-US" sz="2400" b="0" i="1" smtClean="0">
                            <a:solidFill>
                              <a:schemeClr val="tx1"/>
                            </a:solidFill>
                            <a:latin typeface="Cambria Math" panose="02040503050406030204" pitchFamily="18" charset="0"/>
                          </a:rPr>
                          <m:t>𝑜𝑢𝑡</m:t>
                        </m:r>
                      </m:sub>
                    </m:sSub>
                  </m:oMath>
                </a14:m>
                <a:endParaRPr lang="en-US" altLang="en-US" sz="2400" dirty="0">
                  <a:solidFill>
                    <a:schemeClr val="tx1"/>
                  </a:solidFill>
                </a:endParaRPr>
              </a:p>
              <a:p>
                <a:pPr lvl="1"/>
                <a:r>
                  <a:rPr lang="en-US" altLang="en-US" dirty="0"/>
                  <a:t>For every outgoing edge from </a:t>
                </a:r>
                <a14:m>
                  <m:oMath xmlns:m="http://schemas.openxmlformats.org/officeDocument/2006/math">
                    <m:r>
                      <a:rPr lang="en-US" altLang="en-US" b="0" i="1" smtClean="0">
                        <a:latin typeface="Cambria Math" panose="02040503050406030204" pitchFamily="18" charset="0"/>
                      </a:rPr>
                      <m:t>𝑣</m:t>
                    </m:r>
                  </m:oMath>
                </a14:m>
                <a:r>
                  <a:rPr lang="en-US" altLang="en-US" sz="2400" dirty="0">
                    <a:solidFill>
                      <a:schemeClr val="tx1"/>
                    </a:solidFill>
                  </a:rPr>
                  <a:t>, instead make it an outgoing edge from </a:t>
                </a:r>
                <a14:m>
                  <m:oMath xmlns:m="http://schemas.openxmlformats.org/officeDocument/2006/math">
                    <m:sSub>
                      <m:sSubPr>
                        <m:ctrlPr>
                          <a:rPr lang="en-US" altLang="en-US" sz="2400" b="0" i="1" smtClean="0">
                            <a:solidFill>
                              <a:schemeClr val="tx1"/>
                            </a:solidFill>
                            <a:latin typeface="Cambria Math" panose="02040503050406030204" pitchFamily="18" charset="0"/>
                          </a:rPr>
                        </m:ctrlPr>
                      </m:sSubPr>
                      <m:e>
                        <m:r>
                          <a:rPr lang="en-US" altLang="en-US" sz="2400" b="0" i="1" smtClean="0">
                            <a:solidFill>
                              <a:schemeClr val="tx1"/>
                            </a:solidFill>
                            <a:latin typeface="Cambria Math" panose="02040503050406030204" pitchFamily="18" charset="0"/>
                          </a:rPr>
                          <m:t>𝑣</m:t>
                        </m:r>
                      </m:e>
                      <m:sub>
                        <m:r>
                          <a:rPr lang="en-US" altLang="en-US" sz="2400" b="0" i="1" smtClean="0">
                            <a:solidFill>
                              <a:schemeClr val="tx1"/>
                            </a:solidFill>
                            <a:latin typeface="Cambria Math" panose="02040503050406030204" pitchFamily="18" charset="0"/>
                          </a:rPr>
                          <m:t>𝑜𝑢𝑡</m:t>
                        </m:r>
                      </m:sub>
                    </m:sSub>
                  </m:oMath>
                </a14:m>
                <a:endParaRPr lang="en-US" altLang="en-US" sz="2400" dirty="0">
                  <a:solidFill>
                    <a:schemeClr val="tx1"/>
                  </a:solidFill>
                </a:endParaRPr>
              </a:p>
              <a:p>
                <a:pPr lvl="1"/>
                <a:r>
                  <a:rPr lang="en-US" altLang="en-US" dirty="0"/>
                  <a:t>Add edge </a:t>
                </a:r>
                <a14:m>
                  <m:oMath xmlns:m="http://schemas.openxmlformats.org/officeDocument/2006/math">
                    <m:r>
                      <a:rPr lang="en-US" altLang="en-US" b="0" i="1" smtClean="0">
                        <a:latin typeface="Cambria Math" panose="02040503050406030204" pitchFamily="18" charset="0"/>
                      </a:rPr>
                      <m:t>(</m:t>
                    </m:r>
                    <m:r>
                      <a:rPr lang="en-US" altLang="en-US" b="0" i="1" smtClean="0">
                        <a:latin typeface="Cambria Math" panose="02040503050406030204" pitchFamily="18" charset="0"/>
                      </a:rPr>
                      <m:t>𝑣</m:t>
                    </m:r>
                    <m:r>
                      <a:rPr lang="en-US" altLang="en-US" b="0" i="1" smtClean="0">
                        <a:latin typeface="Cambria Math" panose="02040503050406030204" pitchFamily="18" charset="0"/>
                      </a:rPr>
                      <m:t>, </m:t>
                    </m:r>
                    <m:sSub>
                      <m:sSubPr>
                        <m:ctrlPr>
                          <a:rPr lang="en-US" altLang="en-US" b="0" i="1" smtClean="0">
                            <a:latin typeface="Cambria Math" panose="02040503050406030204" pitchFamily="18" charset="0"/>
                          </a:rPr>
                        </m:ctrlPr>
                      </m:sSubPr>
                      <m:e>
                        <m:r>
                          <a:rPr lang="en-US" altLang="en-US" b="0" i="1" smtClean="0">
                            <a:latin typeface="Cambria Math" panose="02040503050406030204" pitchFamily="18" charset="0"/>
                          </a:rPr>
                          <m:t>𝑣</m:t>
                        </m:r>
                      </m:e>
                      <m:sub>
                        <m:r>
                          <a:rPr lang="en-US" altLang="en-US" b="0" i="1" smtClean="0">
                            <a:latin typeface="Cambria Math" panose="02040503050406030204" pitchFamily="18" charset="0"/>
                          </a:rPr>
                          <m:t>𝑜𝑢𝑡</m:t>
                        </m:r>
                      </m:sub>
                    </m:sSub>
                    <m:r>
                      <a:rPr lang="en-US" altLang="en-US" b="0" i="1" smtClean="0">
                        <a:latin typeface="Cambria Math" panose="02040503050406030204" pitchFamily="18" charset="0"/>
                      </a:rPr>
                      <m:t>)</m:t>
                    </m:r>
                  </m:oMath>
                </a14:m>
                <a:endParaRPr lang="en-US" altLang="en-US" sz="2400" dirty="0">
                  <a:solidFill>
                    <a:schemeClr val="tx1"/>
                  </a:solidFill>
                </a:endParaRPr>
              </a:p>
              <a:p>
                <a:pPr lvl="1"/>
                <a:r>
                  <a:rPr lang="en-US" altLang="en-US" dirty="0"/>
                  <a:t>Compute edge-disjoint paths</a:t>
                </a:r>
              </a:p>
              <a:p>
                <a:pPr lvl="1"/>
                <a:endParaRPr lang="en-US" altLang="en-US" sz="2400" dirty="0">
                  <a:solidFill>
                    <a:schemeClr val="tx1"/>
                  </a:solidFill>
                </a:endParaRPr>
              </a:p>
            </p:txBody>
          </p:sp>
        </mc:Choice>
        <mc:Fallback>
          <p:sp>
            <p:nvSpPr>
              <p:cNvPr id="451616" name="Rectangle 32">
                <a:extLst>
                  <a:ext uri="{FF2B5EF4-FFF2-40B4-BE49-F238E27FC236}">
                    <a16:creationId xmlns:a16="http://schemas.microsoft.com/office/drawing/2014/main" id="{7027E921-B286-CF99-313F-8BB2D872E536}"/>
                  </a:ext>
                </a:extLst>
              </p:cNvPr>
              <p:cNvSpPr>
                <a:spLocks noGrp="1" noRot="1" noChangeAspect="1" noMove="1" noResize="1" noEditPoints="1" noAdjustHandles="1" noChangeArrowheads="1" noChangeShapeType="1" noTextEdit="1"/>
              </p:cNvSpPr>
              <p:nvPr>
                <p:ph sz="half" idx="1"/>
              </p:nvPr>
            </p:nvSpPr>
            <p:spPr>
              <a:xfrm>
                <a:off x="88900" y="1446797"/>
                <a:ext cx="5843632" cy="4351338"/>
              </a:xfrm>
              <a:blipFill>
                <a:blip r:embed="rId3"/>
                <a:stretch>
                  <a:fillRect l="-1670" t="-1961" r="-250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B48F1176-DE0F-131B-0F2A-35FD97A6FE21}"/>
                  </a:ext>
                </a:extLst>
              </p:cNvPr>
              <p:cNvSpPr>
                <a:spLocks noGrp="1"/>
              </p:cNvSpPr>
              <p:nvPr>
                <p:ph sz="half" idx="2"/>
              </p:nvPr>
            </p:nvSpPr>
            <p:spPr>
              <a:xfrm>
                <a:off x="6004726" y="1399665"/>
                <a:ext cx="5765486" cy="3422956"/>
              </a:xfrm>
            </p:spPr>
            <p:txBody>
              <a:bodyPr>
                <a:noAutofit/>
              </a:bodyPr>
              <a:lstStyle/>
              <a:p>
                <a:pPr marL="0" indent="0">
                  <a:buNone/>
                </a:pPr>
                <a:r>
                  <a:rPr lang="en-US" sz="2000" dirty="0"/>
                  <a:t>Running Time:</a:t>
                </a:r>
              </a:p>
              <a:p>
                <a:pPr marL="0" indent="0">
                  <a:buNone/>
                </a:pPr>
                <a:r>
                  <a:rPr lang="en-US" sz="2000" dirty="0"/>
                  <a:t>Constructing the new graph: </a:t>
                </a:r>
                <a14:m>
                  <m:oMath xmlns:m="http://schemas.openxmlformats.org/officeDocument/2006/math">
                    <m:r>
                      <m:rPr>
                        <m:sty m:val="p"/>
                      </m:rPr>
                      <a:rPr lang="en-US" sz="2000" b="0" i="0" smtClean="0">
                        <a:latin typeface="Cambria Math" panose="02040503050406030204" pitchFamily="18" charset="0"/>
                      </a:rPr>
                      <m:t>O</m:t>
                    </m:r>
                    <m:r>
                      <a:rPr lang="en-US" sz="2000" b="0" i="0" smtClean="0">
                        <a:latin typeface="Cambria Math" panose="02040503050406030204" pitchFamily="18" charset="0"/>
                      </a:rPr>
                      <m:t>(</m:t>
                    </m:r>
                    <m:r>
                      <a:rPr lang="en-US" sz="2000" b="0" i="1" smtClean="0">
                        <a:latin typeface="Cambria Math" panose="02040503050406030204" pitchFamily="18" charset="0"/>
                      </a:rPr>
                      <m:t>𝑛</m:t>
                    </m:r>
                    <m:r>
                      <a:rPr lang="en-US" sz="2000" b="0" i="1" smtClean="0">
                        <a:latin typeface="Cambria Math" panose="02040503050406030204" pitchFamily="18" charset="0"/>
                      </a:rPr>
                      <m:t>+</m:t>
                    </m:r>
                    <m:r>
                      <a:rPr lang="en-US" sz="2000" b="0" i="1" smtClean="0">
                        <a:latin typeface="Cambria Math" panose="02040503050406030204" pitchFamily="18" charset="0"/>
                      </a:rPr>
                      <m:t>𝑚</m:t>
                    </m:r>
                    <m:r>
                      <a:rPr lang="en-US" sz="2000" b="0" i="1" smtClean="0">
                        <a:latin typeface="Cambria Math" panose="02040503050406030204" pitchFamily="18" charset="0"/>
                      </a:rPr>
                      <m:t>)</m:t>
                    </m:r>
                  </m:oMath>
                </a14:m>
                <a:endParaRPr lang="en-US" sz="2000" dirty="0"/>
              </a:p>
              <a:p>
                <a:pPr marL="0" indent="0">
                  <a:buNone/>
                </a:pPr>
                <a:r>
                  <a:rPr lang="en-US" sz="2000" dirty="0"/>
                  <a:t>Computing edge disjoint paths: </a:t>
                </a:r>
                <a14:m>
                  <m:oMath xmlns:m="http://schemas.openxmlformats.org/officeDocument/2006/math">
                    <m:r>
                      <a:rPr lang="en-US" sz="2000" b="0" i="1" smtClean="0">
                        <a:latin typeface="Cambria Math" panose="02040503050406030204" pitchFamily="18" charset="0"/>
                      </a:rPr>
                      <m:t>𝑂</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𝑛</m:t>
                        </m:r>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𝑚</m:t>
                            </m:r>
                          </m:e>
                          <m:sup>
                            <m:r>
                              <a:rPr lang="en-US" sz="2000" b="0" i="1" smtClean="0">
                                <a:latin typeface="Cambria Math" panose="02040503050406030204" pitchFamily="18" charset="0"/>
                              </a:rPr>
                              <m:t>2</m:t>
                            </m:r>
                          </m:sup>
                        </m:sSup>
                      </m:e>
                    </m:d>
                  </m:oMath>
                </a14:m>
                <a:endParaRPr lang="en-US" sz="2000" dirty="0"/>
              </a:p>
              <a:p>
                <a:pPr marL="0" indent="0">
                  <a:buNone/>
                </a:pPr>
                <a:r>
                  <a:rPr lang="en-US" sz="2000" dirty="0"/>
                  <a:t>Overall: </a:t>
                </a:r>
                <a14:m>
                  <m:oMath xmlns:m="http://schemas.openxmlformats.org/officeDocument/2006/math">
                    <m:r>
                      <a:rPr lang="en-US" sz="2000" b="0" i="1" smtClean="0">
                        <a:latin typeface="Cambria Math" panose="02040503050406030204" pitchFamily="18" charset="0"/>
                      </a:rPr>
                      <m:t>𝑂</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𝑛</m:t>
                        </m:r>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𝑚</m:t>
                            </m:r>
                          </m:e>
                          <m:sup>
                            <m:r>
                              <a:rPr lang="en-US" sz="2000" b="0" i="1" smtClean="0">
                                <a:latin typeface="Cambria Math" panose="02040503050406030204" pitchFamily="18" charset="0"/>
                              </a:rPr>
                              <m:t>2</m:t>
                            </m:r>
                          </m:sup>
                        </m:sSup>
                      </m:e>
                    </m:d>
                  </m:oMath>
                </a14:m>
                <a:endParaRPr lang="en-US" sz="2000" dirty="0"/>
              </a:p>
            </p:txBody>
          </p:sp>
        </mc:Choice>
        <mc:Fallback>
          <p:sp>
            <p:nvSpPr>
              <p:cNvPr id="3" name="Content Placeholder 2">
                <a:extLst>
                  <a:ext uri="{FF2B5EF4-FFF2-40B4-BE49-F238E27FC236}">
                    <a16:creationId xmlns:a16="http://schemas.microsoft.com/office/drawing/2014/main" id="{B48F1176-DE0F-131B-0F2A-35FD97A6FE21}"/>
                  </a:ext>
                </a:extLst>
              </p:cNvPr>
              <p:cNvSpPr>
                <a:spLocks noGrp="1" noRot="1" noChangeAspect="1" noMove="1" noResize="1" noEditPoints="1" noAdjustHandles="1" noChangeArrowheads="1" noChangeShapeType="1" noTextEdit="1"/>
              </p:cNvSpPr>
              <p:nvPr>
                <p:ph sz="half" idx="2"/>
              </p:nvPr>
            </p:nvSpPr>
            <p:spPr>
              <a:xfrm>
                <a:off x="6004726" y="1399665"/>
                <a:ext cx="5765486" cy="3422956"/>
              </a:xfrm>
              <a:blipFill>
                <a:blip r:embed="rId4"/>
                <a:stretch>
                  <a:fillRect l="-1057" t="-1961"/>
                </a:stretch>
              </a:blipFill>
            </p:spPr>
            <p:txBody>
              <a:bodyPr/>
              <a:lstStyle/>
              <a:p>
                <a:r>
                  <a:rPr lang="en-US">
                    <a:noFill/>
                  </a:rPr>
                  <a:t> </a:t>
                </a:r>
              </a:p>
            </p:txBody>
          </p:sp>
        </mc:Fallback>
      </mc:AlternateContent>
      <p:sp>
        <p:nvSpPr>
          <p:cNvPr id="26" name="Slide Number Placeholder 3">
            <a:extLst>
              <a:ext uri="{FF2B5EF4-FFF2-40B4-BE49-F238E27FC236}">
                <a16:creationId xmlns:a16="http://schemas.microsoft.com/office/drawing/2014/main" id="{7C563986-0DE0-83F2-771F-71BAFF643193}"/>
              </a:ext>
            </a:extLst>
          </p:cNvPr>
          <p:cNvSpPr>
            <a:spLocks noGrp="1"/>
          </p:cNvSpPr>
          <p:nvPr>
            <p:ph type="sldNum" sz="quarter" idx="12"/>
          </p:nvPr>
        </p:nvSpPr>
        <p:spPr/>
        <p:txBody>
          <a:bodyPr/>
          <a:lstStyle/>
          <a:p>
            <a:fld id="{7171D143-95A6-4EFE-B529-5DD58A85D94A}" type="slidenum">
              <a:rPr lang="en-US" altLang="en-US"/>
              <a:pPr/>
              <a:t>37</a:t>
            </a:fld>
            <a:endParaRPr lang="en-US" altLang="en-US" sz="1400"/>
          </a:p>
        </p:txBody>
      </p:sp>
      <p:grpSp>
        <p:nvGrpSpPr>
          <p:cNvPr id="2" name="Group 1">
            <a:extLst>
              <a:ext uri="{FF2B5EF4-FFF2-40B4-BE49-F238E27FC236}">
                <a16:creationId xmlns:a16="http://schemas.microsoft.com/office/drawing/2014/main" id="{1443A209-94AC-3802-0351-6B9EF63DAF1B}"/>
              </a:ext>
            </a:extLst>
          </p:cNvPr>
          <p:cNvGrpSpPr/>
          <p:nvPr/>
        </p:nvGrpSpPr>
        <p:grpSpPr>
          <a:xfrm>
            <a:off x="840720" y="4252911"/>
            <a:ext cx="4884588" cy="2299063"/>
            <a:chOff x="840720" y="4252911"/>
            <a:chExt cx="4884588" cy="2299063"/>
          </a:xfrm>
        </p:grpSpPr>
        <p:sp>
          <p:nvSpPr>
            <p:cNvPr id="13" name="Oval 7">
              <a:extLst>
                <a:ext uri="{FF2B5EF4-FFF2-40B4-BE49-F238E27FC236}">
                  <a16:creationId xmlns:a16="http://schemas.microsoft.com/office/drawing/2014/main" id="{6C0CEAB1-A443-5EAD-E209-41B2141125D1}"/>
                </a:ext>
              </a:extLst>
            </p:cNvPr>
            <p:cNvSpPr>
              <a:spLocks noChangeAspect="1" noChangeArrowheads="1"/>
            </p:cNvSpPr>
            <p:nvPr/>
          </p:nvSpPr>
          <p:spPr bwMode="auto">
            <a:xfrm>
              <a:off x="2089530" y="4252912"/>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a</a:t>
              </a:r>
            </a:p>
          </p:txBody>
        </p:sp>
        <p:sp>
          <p:nvSpPr>
            <p:cNvPr id="17" name="Oval 8">
              <a:extLst>
                <a:ext uri="{FF2B5EF4-FFF2-40B4-BE49-F238E27FC236}">
                  <a16:creationId xmlns:a16="http://schemas.microsoft.com/office/drawing/2014/main" id="{B62AB688-3DF8-7235-5344-72DAB9FCC2BC}"/>
                </a:ext>
              </a:extLst>
            </p:cNvPr>
            <p:cNvSpPr>
              <a:spLocks noChangeAspect="1" noChangeArrowheads="1"/>
            </p:cNvSpPr>
            <p:nvPr/>
          </p:nvSpPr>
          <p:spPr bwMode="auto">
            <a:xfrm>
              <a:off x="2089530" y="5228235"/>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b</a:t>
              </a:r>
            </a:p>
          </p:txBody>
        </p:sp>
        <p:sp>
          <p:nvSpPr>
            <p:cNvPr id="18" name="Oval 9">
              <a:extLst>
                <a:ext uri="{FF2B5EF4-FFF2-40B4-BE49-F238E27FC236}">
                  <a16:creationId xmlns:a16="http://schemas.microsoft.com/office/drawing/2014/main" id="{BB789D06-1CB1-77D3-BEFF-EC95E03EB6C3}"/>
                </a:ext>
              </a:extLst>
            </p:cNvPr>
            <p:cNvSpPr>
              <a:spLocks noChangeAspect="1" noChangeArrowheads="1"/>
            </p:cNvSpPr>
            <p:nvPr/>
          </p:nvSpPr>
          <p:spPr bwMode="auto">
            <a:xfrm>
              <a:off x="2089530" y="6301369"/>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c</a:t>
              </a:r>
            </a:p>
          </p:txBody>
        </p:sp>
        <p:cxnSp>
          <p:nvCxnSpPr>
            <p:cNvPr id="19" name="AutoShape 12">
              <a:extLst>
                <a:ext uri="{FF2B5EF4-FFF2-40B4-BE49-F238E27FC236}">
                  <a16:creationId xmlns:a16="http://schemas.microsoft.com/office/drawing/2014/main" id="{6AE6015D-ABDB-3DB9-2BED-EA3224DD8AF2}"/>
                </a:ext>
              </a:extLst>
            </p:cNvPr>
            <p:cNvCxnSpPr>
              <a:cxnSpLocks noChangeShapeType="1"/>
              <a:stCxn id="451595" idx="7"/>
              <a:endCxn id="13" idx="3"/>
            </p:cNvCxnSpPr>
            <p:nvPr/>
          </p:nvCxnSpPr>
          <p:spPr bwMode="auto">
            <a:xfrm flipV="1">
              <a:off x="1020777" y="4455668"/>
              <a:ext cx="1099646" cy="789960"/>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20" name="AutoShape 13">
              <a:extLst>
                <a:ext uri="{FF2B5EF4-FFF2-40B4-BE49-F238E27FC236}">
                  <a16:creationId xmlns:a16="http://schemas.microsoft.com/office/drawing/2014/main" id="{4046D36B-D852-98FA-8B14-2D7B9C381F7E}"/>
                </a:ext>
              </a:extLst>
            </p:cNvPr>
            <p:cNvCxnSpPr>
              <a:cxnSpLocks noChangeShapeType="1"/>
              <a:stCxn id="451595" idx="6"/>
              <a:endCxn id="17" idx="2"/>
            </p:cNvCxnSpPr>
            <p:nvPr/>
          </p:nvCxnSpPr>
          <p:spPr bwMode="auto">
            <a:xfrm>
              <a:off x="1051670" y="5329613"/>
              <a:ext cx="1037860" cy="17394"/>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21" name="AutoShape 14">
              <a:extLst>
                <a:ext uri="{FF2B5EF4-FFF2-40B4-BE49-F238E27FC236}">
                  <a16:creationId xmlns:a16="http://schemas.microsoft.com/office/drawing/2014/main" id="{FFB5F60C-15C7-DEDF-7E8A-4B394ABE31A1}"/>
                </a:ext>
              </a:extLst>
            </p:cNvPr>
            <p:cNvCxnSpPr>
              <a:cxnSpLocks noChangeShapeType="1"/>
              <a:stCxn id="451595" idx="5"/>
              <a:endCxn id="18" idx="1"/>
            </p:cNvCxnSpPr>
            <p:nvPr/>
          </p:nvCxnSpPr>
          <p:spPr bwMode="auto">
            <a:xfrm>
              <a:off x="1020777" y="5413597"/>
              <a:ext cx="1099646" cy="922559"/>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22" name="AutoShape 22">
              <a:extLst>
                <a:ext uri="{FF2B5EF4-FFF2-40B4-BE49-F238E27FC236}">
                  <a16:creationId xmlns:a16="http://schemas.microsoft.com/office/drawing/2014/main" id="{89C3E425-9132-8A58-27D5-58CA95A013FA}"/>
                </a:ext>
              </a:extLst>
            </p:cNvPr>
            <p:cNvCxnSpPr>
              <a:cxnSpLocks noChangeShapeType="1"/>
              <a:stCxn id="63" idx="3"/>
              <a:endCxn id="18" idx="0"/>
            </p:cNvCxnSpPr>
            <p:nvPr/>
          </p:nvCxnSpPr>
          <p:spPr bwMode="auto">
            <a:xfrm flipH="1">
              <a:off x="2195005" y="5413598"/>
              <a:ext cx="300653" cy="887771"/>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23" name="AutoShape 24">
              <a:extLst>
                <a:ext uri="{FF2B5EF4-FFF2-40B4-BE49-F238E27FC236}">
                  <a16:creationId xmlns:a16="http://schemas.microsoft.com/office/drawing/2014/main" id="{B749CB5C-7172-2D27-AC31-8B5D533B388A}"/>
                </a:ext>
              </a:extLst>
            </p:cNvPr>
            <p:cNvCxnSpPr>
              <a:cxnSpLocks noChangeShapeType="1"/>
              <a:stCxn id="63" idx="5"/>
              <a:endCxn id="43" idx="1"/>
            </p:cNvCxnSpPr>
            <p:nvPr/>
          </p:nvCxnSpPr>
          <p:spPr bwMode="auto">
            <a:xfrm>
              <a:off x="2644822" y="5413598"/>
              <a:ext cx="1262468" cy="922558"/>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24" name="AutoShape 25">
              <a:extLst>
                <a:ext uri="{FF2B5EF4-FFF2-40B4-BE49-F238E27FC236}">
                  <a16:creationId xmlns:a16="http://schemas.microsoft.com/office/drawing/2014/main" id="{52B477D2-9F61-9529-41F9-B5E87CD3939C}"/>
                </a:ext>
              </a:extLst>
            </p:cNvPr>
            <p:cNvCxnSpPr>
              <a:cxnSpLocks noChangeShapeType="1"/>
              <a:stCxn id="451587" idx="6"/>
              <a:endCxn id="43" idx="2"/>
            </p:cNvCxnSpPr>
            <p:nvPr/>
          </p:nvCxnSpPr>
          <p:spPr bwMode="auto">
            <a:xfrm flipV="1">
              <a:off x="2644821" y="6420141"/>
              <a:ext cx="1231576" cy="13062"/>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25" name="AutoShape 34">
              <a:extLst>
                <a:ext uri="{FF2B5EF4-FFF2-40B4-BE49-F238E27FC236}">
                  <a16:creationId xmlns:a16="http://schemas.microsoft.com/office/drawing/2014/main" id="{D58CEF53-C43F-443F-4F0D-40170AE2904B}"/>
                </a:ext>
              </a:extLst>
            </p:cNvPr>
            <p:cNvCxnSpPr>
              <a:cxnSpLocks noChangeShapeType="1"/>
              <a:stCxn id="52" idx="3"/>
              <a:endCxn id="17" idx="0"/>
            </p:cNvCxnSpPr>
            <p:nvPr/>
          </p:nvCxnSpPr>
          <p:spPr bwMode="auto">
            <a:xfrm flipH="1">
              <a:off x="2195005" y="4455668"/>
              <a:ext cx="427973" cy="772567"/>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27" name="Oval 38">
              <a:extLst>
                <a:ext uri="{FF2B5EF4-FFF2-40B4-BE49-F238E27FC236}">
                  <a16:creationId xmlns:a16="http://schemas.microsoft.com/office/drawing/2014/main" id="{F87EA7B7-6FB0-05CC-3CA5-31102A120C1E}"/>
                </a:ext>
              </a:extLst>
            </p:cNvPr>
            <p:cNvSpPr>
              <a:spLocks noChangeAspect="1" noChangeArrowheads="1"/>
            </p:cNvSpPr>
            <p:nvPr/>
          </p:nvSpPr>
          <p:spPr bwMode="auto">
            <a:xfrm>
              <a:off x="3876397" y="4252912"/>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d</a:t>
              </a:r>
            </a:p>
          </p:txBody>
        </p:sp>
        <p:sp>
          <p:nvSpPr>
            <p:cNvPr id="28" name="Oval 39">
              <a:extLst>
                <a:ext uri="{FF2B5EF4-FFF2-40B4-BE49-F238E27FC236}">
                  <a16:creationId xmlns:a16="http://schemas.microsoft.com/office/drawing/2014/main" id="{9F615C6F-DD75-5AC6-1435-626585B6E750}"/>
                </a:ext>
              </a:extLst>
            </p:cNvPr>
            <p:cNvSpPr>
              <a:spLocks noChangeAspect="1" noChangeArrowheads="1"/>
            </p:cNvSpPr>
            <p:nvPr/>
          </p:nvSpPr>
          <p:spPr bwMode="auto">
            <a:xfrm>
              <a:off x="3876397" y="5228235"/>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e</a:t>
              </a:r>
            </a:p>
          </p:txBody>
        </p:sp>
        <p:sp>
          <p:nvSpPr>
            <p:cNvPr id="43" name="Oval 40">
              <a:extLst>
                <a:ext uri="{FF2B5EF4-FFF2-40B4-BE49-F238E27FC236}">
                  <a16:creationId xmlns:a16="http://schemas.microsoft.com/office/drawing/2014/main" id="{ABDAD000-7C4C-9EB4-0055-8A34C0B93D40}"/>
                </a:ext>
              </a:extLst>
            </p:cNvPr>
            <p:cNvSpPr>
              <a:spLocks noChangeAspect="1" noChangeArrowheads="1"/>
            </p:cNvSpPr>
            <p:nvPr/>
          </p:nvSpPr>
          <p:spPr bwMode="auto">
            <a:xfrm>
              <a:off x="3876397" y="6301369"/>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f</a:t>
              </a:r>
            </a:p>
          </p:txBody>
        </p:sp>
        <p:cxnSp>
          <p:nvCxnSpPr>
            <p:cNvPr id="44" name="AutoShape 41">
              <a:extLst>
                <a:ext uri="{FF2B5EF4-FFF2-40B4-BE49-F238E27FC236}">
                  <a16:creationId xmlns:a16="http://schemas.microsoft.com/office/drawing/2014/main" id="{835872CB-339A-0460-D234-1E7AC3A405B3}"/>
                </a:ext>
              </a:extLst>
            </p:cNvPr>
            <p:cNvCxnSpPr>
              <a:cxnSpLocks noChangeShapeType="1"/>
              <a:stCxn id="28" idx="4"/>
              <a:endCxn id="451589" idx="1"/>
            </p:cNvCxnSpPr>
            <p:nvPr/>
          </p:nvCxnSpPr>
          <p:spPr bwMode="auto">
            <a:xfrm>
              <a:off x="3981872" y="5465778"/>
              <a:ext cx="347318" cy="870378"/>
            </a:xfrm>
            <a:prstGeom prst="straightConnector1">
              <a:avLst/>
            </a:prstGeom>
            <a:noFill/>
            <a:ln w="19050">
              <a:solidFill>
                <a:schemeClr val="tx1"/>
              </a:solidFill>
              <a:round/>
              <a:headEnd type="triangle" w="lg" len="med"/>
              <a:tailEnd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 name="AutoShape 42">
              <a:extLst>
                <a:ext uri="{FF2B5EF4-FFF2-40B4-BE49-F238E27FC236}">
                  <a16:creationId xmlns:a16="http://schemas.microsoft.com/office/drawing/2014/main" id="{FDA661C6-41F3-CE68-650C-13EB20EDF58E}"/>
                </a:ext>
              </a:extLst>
            </p:cNvPr>
            <p:cNvCxnSpPr>
              <a:cxnSpLocks noChangeShapeType="1"/>
              <a:stCxn id="27" idx="4"/>
              <a:endCxn id="28" idx="0"/>
            </p:cNvCxnSpPr>
            <p:nvPr/>
          </p:nvCxnSpPr>
          <p:spPr bwMode="auto">
            <a:xfrm>
              <a:off x="3981872" y="4490454"/>
              <a:ext cx="0" cy="737780"/>
            </a:xfrm>
            <a:prstGeom prst="straightConnector1">
              <a:avLst/>
            </a:prstGeom>
            <a:noFill/>
            <a:ln w="19050">
              <a:solidFill>
                <a:schemeClr val="tx1"/>
              </a:solidFill>
              <a:round/>
              <a:headEnd type="triangle" w="lg" len="med"/>
              <a:tailEnd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6" name="Oval 44">
              <a:extLst>
                <a:ext uri="{FF2B5EF4-FFF2-40B4-BE49-F238E27FC236}">
                  <a16:creationId xmlns:a16="http://schemas.microsoft.com/office/drawing/2014/main" id="{AB7011AA-CC47-3DB9-5B02-A748A7403F21}"/>
                </a:ext>
              </a:extLst>
            </p:cNvPr>
            <p:cNvSpPr>
              <a:spLocks noChangeAspect="1" noChangeArrowheads="1"/>
            </p:cNvSpPr>
            <p:nvPr/>
          </p:nvSpPr>
          <p:spPr bwMode="auto">
            <a:xfrm>
              <a:off x="5514358" y="5228235"/>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t</a:t>
              </a:r>
            </a:p>
          </p:txBody>
        </p:sp>
        <p:cxnSp>
          <p:nvCxnSpPr>
            <p:cNvPr id="47" name="AutoShape 45">
              <a:extLst>
                <a:ext uri="{FF2B5EF4-FFF2-40B4-BE49-F238E27FC236}">
                  <a16:creationId xmlns:a16="http://schemas.microsoft.com/office/drawing/2014/main" id="{A8CA22AD-84E8-68E9-D02A-8101CCFF80CE}"/>
                </a:ext>
              </a:extLst>
            </p:cNvPr>
            <p:cNvCxnSpPr>
              <a:cxnSpLocks noChangeShapeType="1"/>
              <a:stCxn id="60" idx="5"/>
              <a:endCxn id="46" idx="1"/>
            </p:cNvCxnSpPr>
            <p:nvPr/>
          </p:nvCxnSpPr>
          <p:spPr bwMode="auto">
            <a:xfrm>
              <a:off x="4447461" y="4455667"/>
              <a:ext cx="1097790" cy="80735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 name="AutoShape 46">
              <a:extLst>
                <a:ext uri="{FF2B5EF4-FFF2-40B4-BE49-F238E27FC236}">
                  <a16:creationId xmlns:a16="http://schemas.microsoft.com/office/drawing/2014/main" id="{0887A1A2-0066-1788-A861-8BEAC9D278E3}"/>
                </a:ext>
              </a:extLst>
            </p:cNvPr>
            <p:cNvCxnSpPr>
              <a:cxnSpLocks noChangeShapeType="1"/>
              <a:stCxn id="451590" idx="6"/>
              <a:endCxn id="46" idx="2"/>
            </p:cNvCxnSpPr>
            <p:nvPr/>
          </p:nvCxnSpPr>
          <p:spPr bwMode="auto">
            <a:xfrm flipV="1">
              <a:off x="4478224" y="5347007"/>
              <a:ext cx="1036134" cy="22647"/>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9" name="AutoShape 47">
              <a:extLst>
                <a:ext uri="{FF2B5EF4-FFF2-40B4-BE49-F238E27FC236}">
                  <a16:creationId xmlns:a16="http://schemas.microsoft.com/office/drawing/2014/main" id="{28648D5A-4F4D-EBF5-6FF5-B88620527C66}"/>
                </a:ext>
              </a:extLst>
            </p:cNvPr>
            <p:cNvCxnSpPr>
              <a:cxnSpLocks noChangeShapeType="1"/>
              <a:stCxn id="451589" idx="7"/>
              <a:endCxn id="46" idx="4"/>
            </p:cNvCxnSpPr>
            <p:nvPr/>
          </p:nvCxnSpPr>
          <p:spPr bwMode="auto">
            <a:xfrm flipV="1">
              <a:off x="4478354" y="5465778"/>
              <a:ext cx="1141479" cy="870378"/>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50" name="AutoShape 63">
              <a:extLst>
                <a:ext uri="{FF2B5EF4-FFF2-40B4-BE49-F238E27FC236}">
                  <a16:creationId xmlns:a16="http://schemas.microsoft.com/office/drawing/2014/main" id="{C2FF1DBB-B6DF-E18E-EBBA-2B55C39A2929}"/>
                </a:ext>
              </a:extLst>
            </p:cNvPr>
            <p:cNvCxnSpPr>
              <a:cxnSpLocks noChangeShapeType="1"/>
              <a:stCxn id="28" idx="1"/>
              <a:endCxn id="13" idx="5"/>
            </p:cNvCxnSpPr>
            <p:nvPr/>
          </p:nvCxnSpPr>
          <p:spPr bwMode="auto">
            <a:xfrm flipH="1" flipV="1">
              <a:off x="2269587" y="4455668"/>
              <a:ext cx="1637703" cy="807354"/>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51" name="AutoShape 64">
              <a:extLst>
                <a:ext uri="{FF2B5EF4-FFF2-40B4-BE49-F238E27FC236}">
                  <a16:creationId xmlns:a16="http://schemas.microsoft.com/office/drawing/2014/main" id="{EB758731-250C-DCEB-9A2C-838BB77FC8DC}"/>
                </a:ext>
              </a:extLst>
            </p:cNvPr>
            <p:cNvCxnSpPr>
              <a:cxnSpLocks noChangeShapeType="1"/>
              <a:stCxn id="60" idx="3"/>
              <a:endCxn id="17" idx="7"/>
            </p:cNvCxnSpPr>
            <p:nvPr/>
          </p:nvCxnSpPr>
          <p:spPr bwMode="auto">
            <a:xfrm flipH="1">
              <a:off x="2269587" y="4455667"/>
              <a:ext cx="2028710" cy="80735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11" name="AutoShape 24">
              <a:extLst>
                <a:ext uri="{FF2B5EF4-FFF2-40B4-BE49-F238E27FC236}">
                  <a16:creationId xmlns:a16="http://schemas.microsoft.com/office/drawing/2014/main" id="{871291D2-11C2-0182-248C-0DFA7FDB9D8A}"/>
                </a:ext>
              </a:extLst>
            </p:cNvPr>
            <p:cNvCxnSpPr>
              <a:cxnSpLocks noChangeShapeType="1"/>
              <a:stCxn id="63" idx="6"/>
              <a:endCxn id="28" idx="2"/>
            </p:cNvCxnSpPr>
            <p:nvPr/>
          </p:nvCxnSpPr>
          <p:spPr bwMode="auto">
            <a:xfrm>
              <a:off x="2675715" y="5329614"/>
              <a:ext cx="1200682" cy="17393"/>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52" name="Oval 7">
              <a:extLst>
                <a:ext uri="{FF2B5EF4-FFF2-40B4-BE49-F238E27FC236}">
                  <a16:creationId xmlns:a16="http://schemas.microsoft.com/office/drawing/2014/main" id="{AD6D2098-CD2C-F482-E31D-137B08B1F826}"/>
                </a:ext>
              </a:extLst>
            </p:cNvPr>
            <p:cNvSpPr>
              <a:spLocks noChangeAspect="1" noChangeArrowheads="1"/>
            </p:cNvSpPr>
            <p:nvPr/>
          </p:nvSpPr>
          <p:spPr bwMode="auto">
            <a:xfrm>
              <a:off x="2592085" y="4252912"/>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endParaRPr lang="en-US" altLang="en-US" b="1" dirty="0"/>
            </a:p>
          </p:txBody>
        </p:sp>
        <p:cxnSp>
          <p:nvCxnSpPr>
            <p:cNvPr id="55" name="AutoShape 63">
              <a:extLst>
                <a:ext uri="{FF2B5EF4-FFF2-40B4-BE49-F238E27FC236}">
                  <a16:creationId xmlns:a16="http://schemas.microsoft.com/office/drawing/2014/main" id="{2B5484FF-A38A-B969-A7E2-E335EBB3F133}"/>
                </a:ext>
              </a:extLst>
            </p:cNvPr>
            <p:cNvCxnSpPr>
              <a:cxnSpLocks noChangeShapeType="1"/>
              <a:stCxn id="13" idx="6"/>
              <a:endCxn id="52" idx="2"/>
            </p:cNvCxnSpPr>
            <p:nvPr/>
          </p:nvCxnSpPr>
          <p:spPr bwMode="auto">
            <a:xfrm>
              <a:off x="2300480" y="4371684"/>
              <a:ext cx="291605" cy="0"/>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60" name="Oval 7">
              <a:extLst>
                <a:ext uri="{FF2B5EF4-FFF2-40B4-BE49-F238E27FC236}">
                  <a16:creationId xmlns:a16="http://schemas.microsoft.com/office/drawing/2014/main" id="{102A500B-A010-B557-D7A0-B163F8743537}"/>
                </a:ext>
              </a:extLst>
            </p:cNvPr>
            <p:cNvSpPr>
              <a:spLocks noChangeAspect="1" noChangeArrowheads="1"/>
            </p:cNvSpPr>
            <p:nvPr/>
          </p:nvSpPr>
          <p:spPr bwMode="auto">
            <a:xfrm>
              <a:off x="4267404" y="4252911"/>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endParaRPr lang="en-US" altLang="en-US" b="1" dirty="0"/>
            </a:p>
          </p:txBody>
        </p:sp>
        <p:sp>
          <p:nvSpPr>
            <p:cNvPr id="63" name="Oval 7">
              <a:extLst>
                <a:ext uri="{FF2B5EF4-FFF2-40B4-BE49-F238E27FC236}">
                  <a16:creationId xmlns:a16="http://schemas.microsoft.com/office/drawing/2014/main" id="{5EB0F621-D3BD-2F81-A48C-A23205CCA62C}"/>
                </a:ext>
              </a:extLst>
            </p:cNvPr>
            <p:cNvSpPr>
              <a:spLocks noChangeAspect="1" noChangeArrowheads="1"/>
            </p:cNvSpPr>
            <p:nvPr/>
          </p:nvSpPr>
          <p:spPr bwMode="auto">
            <a:xfrm>
              <a:off x="2464765" y="5210842"/>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endParaRPr lang="en-US" altLang="en-US" b="1" dirty="0"/>
            </a:p>
          </p:txBody>
        </p:sp>
        <p:sp>
          <p:nvSpPr>
            <p:cNvPr id="451587" name="Oval 7">
              <a:extLst>
                <a:ext uri="{FF2B5EF4-FFF2-40B4-BE49-F238E27FC236}">
                  <a16:creationId xmlns:a16="http://schemas.microsoft.com/office/drawing/2014/main" id="{0833A5D6-F593-E6D9-3E0B-431FF3D86417}"/>
                </a:ext>
              </a:extLst>
            </p:cNvPr>
            <p:cNvSpPr>
              <a:spLocks noChangeAspect="1" noChangeArrowheads="1"/>
            </p:cNvSpPr>
            <p:nvPr/>
          </p:nvSpPr>
          <p:spPr bwMode="auto">
            <a:xfrm>
              <a:off x="2433871" y="6314431"/>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endParaRPr lang="en-US" altLang="en-US" b="1" dirty="0"/>
            </a:p>
          </p:txBody>
        </p:sp>
        <p:sp>
          <p:nvSpPr>
            <p:cNvPr id="451589" name="Oval 7">
              <a:extLst>
                <a:ext uri="{FF2B5EF4-FFF2-40B4-BE49-F238E27FC236}">
                  <a16:creationId xmlns:a16="http://schemas.microsoft.com/office/drawing/2014/main" id="{C259579B-E7CD-BE2D-7533-641755AD427A}"/>
                </a:ext>
              </a:extLst>
            </p:cNvPr>
            <p:cNvSpPr>
              <a:spLocks noChangeAspect="1" noChangeArrowheads="1"/>
            </p:cNvSpPr>
            <p:nvPr/>
          </p:nvSpPr>
          <p:spPr bwMode="auto">
            <a:xfrm>
              <a:off x="4298297" y="6301369"/>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endParaRPr lang="en-US" altLang="en-US" b="1" dirty="0"/>
            </a:p>
          </p:txBody>
        </p:sp>
        <p:sp>
          <p:nvSpPr>
            <p:cNvPr id="451590" name="Oval 7">
              <a:extLst>
                <a:ext uri="{FF2B5EF4-FFF2-40B4-BE49-F238E27FC236}">
                  <a16:creationId xmlns:a16="http://schemas.microsoft.com/office/drawing/2014/main" id="{F8DE0202-55EC-F0BB-AC2E-F3AF315A4D41}"/>
                </a:ext>
              </a:extLst>
            </p:cNvPr>
            <p:cNvSpPr>
              <a:spLocks noChangeAspect="1" noChangeArrowheads="1"/>
            </p:cNvSpPr>
            <p:nvPr/>
          </p:nvSpPr>
          <p:spPr bwMode="auto">
            <a:xfrm>
              <a:off x="4267274" y="5250882"/>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endParaRPr lang="en-US" altLang="en-US" b="1" dirty="0"/>
            </a:p>
          </p:txBody>
        </p:sp>
        <p:sp>
          <p:nvSpPr>
            <p:cNvPr id="451595" name="Oval 7">
              <a:extLst>
                <a:ext uri="{FF2B5EF4-FFF2-40B4-BE49-F238E27FC236}">
                  <a16:creationId xmlns:a16="http://schemas.microsoft.com/office/drawing/2014/main" id="{D99F4AE4-F944-FD38-8519-09BC021CF368}"/>
                </a:ext>
              </a:extLst>
            </p:cNvPr>
            <p:cNvSpPr>
              <a:spLocks noChangeAspect="1" noChangeArrowheads="1"/>
            </p:cNvSpPr>
            <p:nvPr/>
          </p:nvSpPr>
          <p:spPr bwMode="auto">
            <a:xfrm>
              <a:off x="840720" y="5210841"/>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endParaRPr lang="en-US" altLang="en-US" b="1" dirty="0"/>
            </a:p>
          </p:txBody>
        </p:sp>
        <p:cxnSp>
          <p:nvCxnSpPr>
            <p:cNvPr id="451607" name="AutoShape 46">
              <a:extLst>
                <a:ext uri="{FF2B5EF4-FFF2-40B4-BE49-F238E27FC236}">
                  <a16:creationId xmlns:a16="http://schemas.microsoft.com/office/drawing/2014/main" id="{C85D8A33-F339-46B3-1D75-C3522B50C3BA}"/>
                </a:ext>
              </a:extLst>
            </p:cNvPr>
            <p:cNvCxnSpPr>
              <a:cxnSpLocks noChangeShapeType="1"/>
              <a:stCxn id="27" idx="6"/>
              <a:endCxn id="60" idx="2"/>
            </p:cNvCxnSpPr>
            <p:nvPr/>
          </p:nvCxnSpPr>
          <p:spPr bwMode="auto">
            <a:xfrm flipV="1">
              <a:off x="4087347" y="4371683"/>
              <a:ext cx="180057" cy="1"/>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621" name="AutoShape 46">
              <a:extLst>
                <a:ext uri="{FF2B5EF4-FFF2-40B4-BE49-F238E27FC236}">
                  <a16:creationId xmlns:a16="http://schemas.microsoft.com/office/drawing/2014/main" id="{00852D2F-F85F-98B0-7007-AF7ABEBA73B1}"/>
                </a:ext>
              </a:extLst>
            </p:cNvPr>
            <p:cNvCxnSpPr>
              <a:cxnSpLocks noChangeShapeType="1"/>
              <a:stCxn id="28" idx="6"/>
              <a:endCxn id="451590" idx="2"/>
            </p:cNvCxnSpPr>
            <p:nvPr/>
          </p:nvCxnSpPr>
          <p:spPr bwMode="auto">
            <a:xfrm>
              <a:off x="4087347" y="5347007"/>
              <a:ext cx="179927" cy="22647"/>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633" name="AutoShape 46">
              <a:extLst>
                <a:ext uri="{FF2B5EF4-FFF2-40B4-BE49-F238E27FC236}">
                  <a16:creationId xmlns:a16="http://schemas.microsoft.com/office/drawing/2014/main" id="{1D26173E-3CD6-62DA-7FDA-2B0E098675EF}"/>
                </a:ext>
              </a:extLst>
            </p:cNvPr>
            <p:cNvCxnSpPr>
              <a:cxnSpLocks noChangeShapeType="1"/>
              <a:stCxn id="43" idx="6"/>
              <a:endCxn id="451589" idx="2"/>
            </p:cNvCxnSpPr>
            <p:nvPr/>
          </p:nvCxnSpPr>
          <p:spPr bwMode="auto">
            <a:xfrm>
              <a:off x="4087347" y="6420141"/>
              <a:ext cx="210950" cy="0"/>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636" name="AutoShape 46">
              <a:extLst>
                <a:ext uri="{FF2B5EF4-FFF2-40B4-BE49-F238E27FC236}">
                  <a16:creationId xmlns:a16="http://schemas.microsoft.com/office/drawing/2014/main" id="{6EC33992-30EA-4845-2948-85C965C182DC}"/>
                </a:ext>
              </a:extLst>
            </p:cNvPr>
            <p:cNvCxnSpPr>
              <a:cxnSpLocks noChangeShapeType="1"/>
              <a:stCxn id="18" idx="6"/>
              <a:endCxn id="451587" idx="2"/>
            </p:cNvCxnSpPr>
            <p:nvPr/>
          </p:nvCxnSpPr>
          <p:spPr bwMode="auto">
            <a:xfrm>
              <a:off x="2300480" y="6420141"/>
              <a:ext cx="133391" cy="13062"/>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639" name="AutoShape 46">
              <a:extLst>
                <a:ext uri="{FF2B5EF4-FFF2-40B4-BE49-F238E27FC236}">
                  <a16:creationId xmlns:a16="http://schemas.microsoft.com/office/drawing/2014/main" id="{72259A9D-0CFB-011D-3CA3-975569C05746}"/>
                </a:ext>
              </a:extLst>
            </p:cNvPr>
            <p:cNvCxnSpPr>
              <a:cxnSpLocks noChangeShapeType="1"/>
              <a:stCxn id="17" idx="6"/>
              <a:endCxn id="63" idx="2"/>
            </p:cNvCxnSpPr>
            <p:nvPr/>
          </p:nvCxnSpPr>
          <p:spPr bwMode="auto">
            <a:xfrm flipV="1">
              <a:off x="2300480" y="5329614"/>
              <a:ext cx="164285" cy="17393"/>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grpSp>
    </p:spTree>
    <p:extLst>
      <p:ext uri="{BB962C8B-B14F-4D97-AF65-F5344CB8AC3E}">
        <p14:creationId xmlns:p14="http://schemas.microsoft.com/office/powerpoint/2010/main" val="411478354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34BF10-EC59-A8CC-03EE-79459BB2D93C}"/>
            </a:ext>
          </a:extLst>
        </p:cNvPr>
        <p:cNvGrpSpPr/>
        <p:nvPr/>
      </p:nvGrpSpPr>
      <p:grpSpPr>
        <a:xfrm>
          <a:off x="0" y="0"/>
          <a:ext cx="0" cy="0"/>
          <a:chOff x="0" y="0"/>
          <a:chExt cx="0" cy="0"/>
        </a:xfrm>
      </p:grpSpPr>
      <p:sp>
        <p:nvSpPr>
          <p:cNvPr id="451615" name="Rectangle 31">
            <a:extLst>
              <a:ext uri="{FF2B5EF4-FFF2-40B4-BE49-F238E27FC236}">
                <a16:creationId xmlns:a16="http://schemas.microsoft.com/office/drawing/2014/main" id="{15CEB0D8-14B0-D283-5AFB-BE4842162C49}"/>
              </a:ext>
            </a:extLst>
          </p:cNvPr>
          <p:cNvSpPr>
            <a:spLocks noGrp="1" noChangeArrowheads="1"/>
          </p:cNvSpPr>
          <p:nvPr>
            <p:ph type="title"/>
          </p:nvPr>
        </p:nvSpPr>
        <p:spPr/>
        <p:txBody>
          <a:bodyPr/>
          <a:lstStyle/>
          <a:p>
            <a:r>
              <a:rPr lang="en-US" altLang="en-US" dirty="0"/>
              <a:t>Vertex-Disjoint Paths</a:t>
            </a:r>
          </a:p>
        </p:txBody>
      </p:sp>
      <mc:AlternateContent xmlns:mc="http://schemas.openxmlformats.org/markup-compatibility/2006">
        <mc:Choice xmlns:a14="http://schemas.microsoft.com/office/drawing/2010/main" Requires="a14">
          <p:sp>
            <p:nvSpPr>
              <p:cNvPr id="451616" name="Rectangle 32">
                <a:extLst>
                  <a:ext uri="{FF2B5EF4-FFF2-40B4-BE49-F238E27FC236}">
                    <a16:creationId xmlns:a16="http://schemas.microsoft.com/office/drawing/2014/main" id="{73D029D1-FEFB-2290-38C4-C1FF8B3F094C}"/>
                  </a:ext>
                </a:extLst>
              </p:cNvPr>
              <p:cNvSpPr>
                <a:spLocks noGrp="1" noChangeArrowheads="1"/>
              </p:cNvSpPr>
              <p:nvPr>
                <p:ph sz="half" idx="1"/>
              </p:nvPr>
            </p:nvSpPr>
            <p:spPr>
              <a:xfrm>
                <a:off x="98866" y="1409853"/>
                <a:ext cx="6301092" cy="4351338"/>
              </a:xfrm>
            </p:spPr>
            <p:txBody>
              <a:bodyPr>
                <a:noAutofit/>
              </a:bodyPr>
              <a:lstStyle/>
              <a:p>
                <a:pPr marL="0" indent="0">
                  <a:buNone/>
                </a:pPr>
                <a:r>
                  <a:rPr lang="en-US" altLang="en-US" sz="2400" dirty="0"/>
                  <a:t>Reduction for vertex-disjoint paths</a:t>
                </a:r>
              </a:p>
              <a:p>
                <a:pPr lvl="1"/>
                <a:r>
                  <a:rPr lang="en-US" altLang="en-US" dirty="0"/>
                  <a:t>For each node </a:t>
                </a:r>
                <a14:m>
                  <m:oMath xmlns:m="http://schemas.openxmlformats.org/officeDocument/2006/math">
                    <m:r>
                      <a:rPr lang="en-US" altLang="en-US" i="1">
                        <a:latin typeface="Cambria Math" panose="02040503050406030204" pitchFamily="18" charset="0"/>
                      </a:rPr>
                      <m:t>𝑣</m:t>
                    </m:r>
                  </m:oMath>
                </a14:m>
                <a:r>
                  <a:rPr lang="en-US" altLang="en-US" dirty="0"/>
                  <a:t>, add in </a:t>
                </a:r>
                <a14:m>
                  <m:oMath xmlns:m="http://schemas.openxmlformats.org/officeDocument/2006/math">
                    <m:sSub>
                      <m:sSubPr>
                        <m:ctrlPr>
                          <a:rPr lang="en-US" altLang="en-US" i="1">
                            <a:latin typeface="Cambria Math" panose="02040503050406030204" pitchFamily="18" charset="0"/>
                          </a:rPr>
                        </m:ctrlPr>
                      </m:sSubPr>
                      <m:e>
                        <m:r>
                          <a:rPr lang="en-US" altLang="en-US" i="1">
                            <a:latin typeface="Cambria Math" panose="02040503050406030204" pitchFamily="18" charset="0"/>
                          </a:rPr>
                          <m:t>𝑣</m:t>
                        </m:r>
                      </m:e>
                      <m:sub>
                        <m:r>
                          <a:rPr lang="en-US" altLang="en-US" i="1">
                            <a:latin typeface="Cambria Math" panose="02040503050406030204" pitchFamily="18" charset="0"/>
                          </a:rPr>
                          <m:t>𝑜𝑢𝑡</m:t>
                        </m:r>
                      </m:sub>
                    </m:sSub>
                  </m:oMath>
                </a14:m>
                <a:endParaRPr lang="en-US" altLang="en-US" dirty="0"/>
              </a:p>
              <a:p>
                <a:pPr lvl="1"/>
                <a:r>
                  <a:rPr lang="en-US" altLang="en-US" dirty="0"/>
                  <a:t>For every outgoing edge from </a:t>
                </a:r>
                <a14:m>
                  <m:oMath xmlns:m="http://schemas.openxmlformats.org/officeDocument/2006/math">
                    <m:r>
                      <a:rPr lang="en-US" altLang="en-US" i="1">
                        <a:latin typeface="Cambria Math" panose="02040503050406030204" pitchFamily="18" charset="0"/>
                      </a:rPr>
                      <m:t>𝑣</m:t>
                    </m:r>
                  </m:oMath>
                </a14:m>
                <a:r>
                  <a:rPr lang="en-US" altLang="en-US" dirty="0"/>
                  <a:t>, instead make it an outgoing edge from </a:t>
                </a:r>
                <a14:m>
                  <m:oMath xmlns:m="http://schemas.openxmlformats.org/officeDocument/2006/math">
                    <m:sSub>
                      <m:sSubPr>
                        <m:ctrlPr>
                          <a:rPr lang="en-US" altLang="en-US" i="1">
                            <a:latin typeface="Cambria Math" panose="02040503050406030204" pitchFamily="18" charset="0"/>
                          </a:rPr>
                        </m:ctrlPr>
                      </m:sSubPr>
                      <m:e>
                        <m:r>
                          <a:rPr lang="en-US" altLang="en-US" i="1">
                            <a:latin typeface="Cambria Math" panose="02040503050406030204" pitchFamily="18" charset="0"/>
                          </a:rPr>
                          <m:t>𝑣</m:t>
                        </m:r>
                      </m:e>
                      <m:sub>
                        <m:r>
                          <a:rPr lang="en-US" altLang="en-US" i="1">
                            <a:latin typeface="Cambria Math" panose="02040503050406030204" pitchFamily="18" charset="0"/>
                          </a:rPr>
                          <m:t>𝑜𝑢𝑡</m:t>
                        </m:r>
                      </m:sub>
                    </m:sSub>
                  </m:oMath>
                </a14:m>
                <a:endParaRPr lang="en-US" altLang="en-US" dirty="0"/>
              </a:p>
              <a:p>
                <a:pPr lvl="1"/>
                <a:r>
                  <a:rPr lang="en-US" altLang="en-US" dirty="0"/>
                  <a:t>Add edge </a:t>
                </a:r>
                <a14:m>
                  <m:oMath xmlns:m="http://schemas.openxmlformats.org/officeDocument/2006/math">
                    <m:r>
                      <a:rPr lang="en-US" altLang="en-US" i="1">
                        <a:latin typeface="Cambria Math" panose="02040503050406030204" pitchFamily="18" charset="0"/>
                      </a:rPr>
                      <m:t>(</m:t>
                    </m:r>
                    <m:r>
                      <a:rPr lang="en-US" altLang="en-US" i="1">
                        <a:latin typeface="Cambria Math" panose="02040503050406030204" pitchFamily="18" charset="0"/>
                      </a:rPr>
                      <m:t>𝑣</m:t>
                    </m:r>
                    <m:r>
                      <a:rPr lang="en-US" altLang="en-US" i="1">
                        <a:latin typeface="Cambria Math" panose="02040503050406030204" pitchFamily="18" charset="0"/>
                      </a:rPr>
                      <m:t>, </m:t>
                    </m:r>
                    <m:sSub>
                      <m:sSubPr>
                        <m:ctrlPr>
                          <a:rPr lang="en-US" altLang="en-US" i="1">
                            <a:latin typeface="Cambria Math" panose="02040503050406030204" pitchFamily="18" charset="0"/>
                          </a:rPr>
                        </m:ctrlPr>
                      </m:sSubPr>
                      <m:e>
                        <m:r>
                          <a:rPr lang="en-US" altLang="en-US" i="1">
                            <a:latin typeface="Cambria Math" panose="02040503050406030204" pitchFamily="18" charset="0"/>
                          </a:rPr>
                          <m:t>𝑣</m:t>
                        </m:r>
                      </m:e>
                      <m:sub>
                        <m:r>
                          <a:rPr lang="en-US" altLang="en-US" i="1">
                            <a:latin typeface="Cambria Math" panose="02040503050406030204" pitchFamily="18" charset="0"/>
                          </a:rPr>
                          <m:t>𝑜𝑢𝑡</m:t>
                        </m:r>
                      </m:sub>
                    </m:sSub>
                    <m:r>
                      <a:rPr lang="en-US" altLang="en-US" i="1">
                        <a:latin typeface="Cambria Math" panose="02040503050406030204" pitchFamily="18" charset="0"/>
                      </a:rPr>
                      <m:t>)</m:t>
                    </m:r>
                  </m:oMath>
                </a14:m>
                <a:endParaRPr lang="en-US" altLang="en-US" dirty="0"/>
              </a:p>
              <a:p>
                <a:pPr lvl="1"/>
                <a:r>
                  <a:rPr lang="en-US" altLang="en-US" dirty="0"/>
                  <a:t>Compute edge-disjoint paths</a:t>
                </a:r>
              </a:p>
              <a:p>
                <a:pPr lvl="1"/>
                <a:endParaRPr lang="en-US" altLang="en-US" dirty="0"/>
              </a:p>
            </p:txBody>
          </p:sp>
        </mc:Choice>
        <mc:Fallback>
          <p:sp>
            <p:nvSpPr>
              <p:cNvPr id="451616" name="Rectangle 32">
                <a:extLst>
                  <a:ext uri="{FF2B5EF4-FFF2-40B4-BE49-F238E27FC236}">
                    <a16:creationId xmlns:a16="http://schemas.microsoft.com/office/drawing/2014/main" id="{73D029D1-FEFB-2290-38C4-C1FF8B3F094C}"/>
                  </a:ext>
                </a:extLst>
              </p:cNvPr>
              <p:cNvSpPr>
                <a:spLocks noGrp="1" noRot="1" noChangeAspect="1" noMove="1" noResize="1" noEditPoints="1" noAdjustHandles="1" noChangeArrowheads="1" noChangeShapeType="1" noTextEdit="1"/>
              </p:cNvSpPr>
              <p:nvPr>
                <p:ph sz="half" idx="1"/>
              </p:nvPr>
            </p:nvSpPr>
            <p:spPr>
              <a:xfrm>
                <a:off x="98866" y="1409853"/>
                <a:ext cx="6301092" cy="4351338"/>
              </a:xfrm>
              <a:blipFill>
                <a:blip r:embed="rId3"/>
                <a:stretch>
                  <a:fillRect l="-1451" t="-196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6C4747FE-8D98-39F3-57A7-449668E9DD1A}"/>
                  </a:ext>
                </a:extLst>
              </p:cNvPr>
              <p:cNvSpPr>
                <a:spLocks noGrp="1"/>
              </p:cNvSpPr>
              <p:nvPr>
                <p:ph sz="half" idx="2"/>
              </p:nvPr>
            </p:nvSpPr>
            <p:spPr>
              <a:xfrm>
                <a:off x="5974832" y="71354"/>
                <a:ext cx="6118302" cy="6107773"/>
              </a:xfrm>
            </p:spPr>
            <p:txBody>
              <a:bodyPr>
                <a:noAutofit/>
              </a:bodyPr>
              <a:lstStyle/>
              <a:p>
                <a:pPr marL="0" indent="0">
                  <a:buNone/>
                </a:pPr>
                <a:r>
                  <a:rPr lang="en-US" sz="2000" b="1" dirty="0">
                    <a:solidFill>
                      <a:srgbClr val="695082"/>
                    </a:solidFill>
                  </a:rPr>
                  <a:t>Theorem:</a:t>
                </a:r>
                <a:r>
                  <a:rPr lang="en-US" sz="2000" b="1" dirty="0"/>
                  <a:t> </a:t>
                </a:r>
                <a:r>
                  <a:rPr lang="en-US" sz="2000" dirty="0"/>
                  <a:t># vertex-disjoint paths </a:t>
                </a:r>
                <a14:m>
                  <m:oMath xmlns:m="http://schemas.openxmlformats.org/officeDocument/2006/math">
                    <m:r>
                      <a:rPr lang="en-US" sz="2000" i="1" dirty="0" smtClean="0">
                        <a:latin typeface="Cambria Math" panose="02040503050406030204" pitchFamily="18" charset="0"/>
                      </a:rPr>
                      <m:t>=</m:t>
                    </m:r>
                  </m:oMath>
                </a14:m>
                <a:r>
                  <a:rPr lang="en-US" sz="2000" dirty="0"/>
                  <a:t> # edge-disjoint paths</a:t>
                </a:r>
              </a:p>
              <a:p>
                <a:pPr marL="0" indent="0">
                  <a:buNone/>
                </a:pPr>
                <a:r>
                  <a:rPr lang="en-US" sz="2000" dirty="0"/>
                  <a:t>Valid set of edge-disjoint paths </a:t>
                </a:r>
                <a14:m>
                  <m:oMath xmlns:m="http://schemas.openxmlformats.org/officeDocument/2006/math">
                    <m:r>
                      <a:rPr lang="en-US" sz="2000" b="0" i="1" smtClean="0">
                        <a:latin typeface="Cambria Math" panose="02040503050406030204" pitchFamily="18" charset="0"/>
                      </a:rPr>
                      <m:t>⇒</m:t>
                    </m:r>
                  </m:oMath>
                </a14:m>
                <a:r>
                  <a:rPr lang="en-US" sz="2000" dirty="0"/>
                  <a:t> Valid set of vertex-disjoint paths:</a:t>
                </a:r>
              </a:p>
              <a:p>
                <a:pPr marL="0" indent="0">
                  <a:buNone/>
                </a:pPr>
                <a:r>
                  <a:rPr lang="en-US" sz="2000" b="1" dirty="0"/>
                  <a:t>Need to show: if no edge is used more than once then no vertex is used more than once</a:t>
                </a:r>
              </a:p>
              <a:p>
                <a:pPr marL="0" indent="0">
                  <a:buNone/>
                </a:pPr>
                <a:r>
                  <a:rPr lang="en-US" sz="2000" dirty="0"/>
                  <a:t>	Any path that passes through a node </a:t>
                </a:r>
                <a14:m>
                  <m:oMath xmlns:m="http://schemas.openxmlformats.org/officeDocument/2006/math">
                    <m:r>
                      <a:rPr lang="en-US" sz="2000" b="0" i="1" smtClean="0">
                        <a:latin typeface="Cambria Math" panose="02040503050406030204" pitchFamily="18" charset="0"/>
                      </a:rPr>
                      <m:t>𝑣</m:t>
                    </m:r>
                  </m:oMath>
                </a14:m>
                <a:r>
                  <a:rPr lang="en-US" sz="2000" dirty="0"/>
                  <a:t> must use the edge </a:t>
                </a:r>
                <a14:m>
                  <m:oMath xmlns:m="http://schemas.openxmlformats.org/officeDocument/2006/math">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𝑣</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𝑣</m:t>
                            </m:r>
                          </m:e>
                          <m:sub>
                            <m:r>
                              <a:rPr lang="en-US" sz="2000" b="0" i="1" smtClean="0">
                                <a:latin typeface="Cambria Math" panose="02040503050406030204" pitchFamily="18" charset="0"/>
                              </a:rPr>
                              <m:t>𝑜𝑢𝑡</m:t>
                            </m:r>
                          </m:sub>
                        </m:sSub>
                      </m:e>
                    </m:d>
                  </m:oMath>
                </a14:m>
                <a:r>
                  <a:rPr lang="en-US" sz="2000" dirty="0"/>
                  <a:t>, so if no edge is used more than once, then that includes these new edges we added, so no vertex can be used more than once either.</a:t>
                </a:r>
              </a:p>
              <a:p>
                <a:pPr marL="0" indent="0">
                  <a:buNone/>
                </a:pPr>
                <a:endParaRPr lang="en-US" sz="2000" dirty="0"/>
              </a:p>
              <a:p>
                <a:pPr marL="0" indent="0">
                  <a:buNone/>
                </a:pPr>
                <a:r>
                  <a:rPr lang="en-US" sz="2000" dirty="0"/>
                  <a:t> Valid set of vertex-disjoint paths </a:t>
                </a:r>
                <a14:m>
                  <m:oMath xmlns:m="http://schemas.openxmlformats.org/officeDocument/2006/math">
                    <m:r>
                      <a:rPr lang="en-US" sz="2000" b="0" i="1" smtClean="0">
                        <a:latin typeface="Cambria Math" panose="02040503050406030204" pitchFamily="18" charset="0"/>
                      </a:rPr>
                      <m:t>⇒</m:t>
                    </m:r>
                  </m:oMath>
                </a14:m>
                <a:r>
                  <a:rPr lang="en-US" sz="2000" dirty="0"/>
                  <a:t> Valid set of edge-disjoint paths :</a:t>
                </a:r>
              </a:p>
              <a:p>
                <a:pPr marL="0" indent="0">
                  <a:buNone/>
                </a:pPr>
                <a:r>
                  <a:rPr lang="en-US" sz="2000" b="1" dirty="0"/>
                  <a:t>Need to show: Any set of vertex-disjoint paths could be a set of edge-disjoint paths of the same size</a:t>
                </a:r>
              </a:p>
              <a:p>
                <a:pPr marL="0" indent="0">
                  <a:buNone/>
                </a:pPr>
                <a:r>
                  <a:rPr lang="en-US" sz="2000" b="1" dirty="0"/>
                  <a:t>	</a:t>
                </a:r>
                <a:r>
                  <a:rPr lang="en-US" sz="2000" dirty="0"/>
                  <a:t>All vertex-disjoint paths are edge disjoint</a:t>
                </a:r>
              </a:p>
            </p:txBody>
          </p:sp>
        </mc:Choice>
        <mc:Fallback>
          <p:sp>
            <p:nvSpPr>
              <p:cNvPr id="3" name="Content Placeholder 2">
                <a:extLst>
                  <a:ext uri="{FF2B5EF4-FFF2-40B4-BE49-F238E27FC236}">
                    <a16:creationId xmlns:a16="http://schemas.microsoft.com/office/drawing/2014/main" id="{6C4747FE-8D98-39F3-57A7-449668E9DD1A}"/>
                  </a:ext>
                </a:extLst>
              </p:cNvPr>
              <p:cNvSpPr>
                <a:spLocks noGrp="1" noRot="1" noChangeAspect="1" noMove="1" noResize="1" noEditPoints="1" noAdjustHandles="1" noChangeArrowheads="1" noChangeShapeType="1" noTextEdit="1"/>
              </p:cNvSpPr>
              <p:nvPr>
                <p:ph sz="half" idx="2"/>
              </p:nvPr>
            </p:nvSpPr>
            <p:spPr>
              <a:xfrm>
                <a:off x="5974832" y="71354"/>
                <a:ext cx="6118302" cy="6107773"/>
              </a:xfrm>
              <a:blipFill>
                <a:blip r:embed="rId4"/>
                <a:stretch>
                  <a:fillRect l="-996" t="-1098" r="-1394"/>
                </a:stretch>
              </a:blipFill>
            </p:spPr>
            <p:txBody>
              <a:bodyPr/>
              <a:lstStyle/>
              <a:p>
                <a:r>
                  <a:rPr lang="en-US">
                    <a:noFill/>
                  </a:rPr>
                  <a:t> </a:t>
                </a:r>
              </a:p>
            </p:txBody>
          </p:sp>
        </mc:Fallback>
      </mc:AlternateContent>
      <p:sp>
        <p:nvSpPr>
          <p:cNvPr id="26" name="Slide Number Placeholder 3">
            <a:extLst>
              <a:ext uri="{FF2B5EF4-FFF2-40B4-BE49-F238E27FC236}">
                <a16:creationId xmlns:a16="http://schemas.microsoft.com/office/drawing/2014/main" id="{EABF6D5A-516B-8929-21D6-FFBD6BD8B6EB}"/>
              </a:ext>
            </a:extLst>
          </p:cNvPr>
          <p:cNvSpPr>
            <a:spLocks noGrp="1"/>
          </p:cNvSpPr>
          <p:nvPr>
            <p:ph type="sldNum" sz="quarter" idx="12"/>
          </p:nvPr>
        </p:nvSpPr>
        <p:spPr/>
        <p:txBody>
          <a:bodyPr/>
          <a:lstStyle/>
          <a:p>
            <a:fld id="{7171D143-95A6-4EFE-B529-5DD58A85D94A}" type="slidenum">
              <a:rPr lang="en-US" altLang="en-US"/>
              <a:pPr/>
              <a:t>38</a:t>
            </a:fld>
            <a:endParaRPr lang="en-US" altLang="en-US" sz="1400"/>
          </a:p>
        </p:txBody>
      </p:sp>
      <p:grpSp>
        <p:nvGrpSpPr>
          <p:cNvPr id="4" name="Group 3">
            <a:extLst>
              <a:ext uri="{FF2B5EF4-FFF2-40B4-BE49-F238E27FC236}">
                <a16:creationId xmlns:a16="http://schemas.microsoft.com/office/drawing/2014/main" id="{86612C41-B063-915B-D4B2-88D282FE7FF2}"/>
              </a:ext>
            </a:extLst>
          </p:cNvPr>
          <p:cNvGrpSpPr/>
          <p:nvPr/>
        </p:nvGrpSpPr>
        <p:grpSpPr>
          <a:xfrm>
            <a:off x="281656" y="4359564"/>
            <a:ext cx="4630241" cy="2179348"/>
            <a:chOff x="840720" y="4252911"/>
            <a:chExt cx="4884588" cy="2299063"/>
          </a:xfrm>
        </p:grpSpPr>
        <p:sp>
          <p:nvSpPr>
            <p:cNvPr id="5" name="Oval 7">
              <a:extLst>
                <a:ext uri="{FF2B5EF4-FFF2-40B4-BE49-F238E27FC236}">
                  <a16:creationId xmlns:a16="http://schemas.microsoft.com/office/drawing/2014/main" id="{B59215F4-D3D2-F117-C373-C6E9A2E40FF1}"/>
                </a:ext>
              </a:extLst>
            </p:cNvPr>
            <p:cNvSpPr>
              <a:spLocks noChangeAspect="1" noChangeArrowheads="1"/>
            </p:cNvSpPr>
            <p:nvPr/>
          </p:nvSpPr>
          <p:spPr bwMode="auto">
            <a:xfrm>
              <a:off x="2089530" y="4252912"/>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600" b="1" dirty="0"/>
                <a:t>a</a:t>
              </a:r>
            </a:p>
          </p:txBody>
        </p:sp>
        <p:sp>
          <p:nvSpPr>
            <p:cNvPr id="6" name="Oval 8">
              <a:extLst>
                <a:ext uri="{FF2B5EF4-FFF2-40B4-BE49-F238E27FC236}">
                  <a16:creationId xmlns:a16="http://schemas.microsoft.com/office/drawing/2014/main" id="{74A9E6FD-81BD-8021-7A39-C8A6FB093F10}"/>
                </a:ext>
              </a:extLst>
            </p:cNvPr>
            <p:cNvSpPr>
              <a:spLocks noChangeAspect="1" noChangeArrowheads="1"/>
            </p:cNvSpPr>
            <p:nvPr/>
          </p:nvSpPr>
          <p:spPr bwMode="auto">
            <a:xfrm>
              <a:off x="2089530" y="5228235"/>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600" b="1" dirty="0"/>
                <a:t>b</a:t>
              </a:r>
            </a:p>
          </p:txBody>
        </p:sp>
        <p:sp>
          <p:nvSpPr>
            <p:cNvPr id="7" name="Oval 9">
              <a:extLst>
                <a:ext uri="{FF2B5EF4-FFF2-40B4-BE49-F238E27FC236}">
                  <a16:creationId xmlns:a16="http://schemas.microsoft.com/office/drawing/2014/main" id="{3736101A-C10D-E550-757F-AE18921734B9}"/>
                </a:ext>
              </a:extLst>
            </p:cNvPr>
            <p:cNvSpPr>
              <a:spLocks noChangeAspect="1" noChangeArrowheads="1"/>
            </p:cNvSpPr>
            <p:nvPr/>
          </p:nvSpPr>
          <p:spPr bwMode="auto">
            <a:xfrm>
              <a:off x="2089530" y="6301369"/>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600" b="1" dirty="0"/>
                <a:t>c</a:t>
              </a:r>
            </a:p>
          </p:txBody>
        </p:sp>
        <p:cxnSp>
          <p:nvCxnSpPr>
            <p:cNvPr id="10" name="AutoShape 12">
              <a:extLst>
                <a:ext uri="{FF2B5EF4-FFF2-40B4-BE49-F238E27FC236}">
                  <a16:creationId xmlns:a16="http://schemas.microsoft.com/office/drawing/2014/main" id="{9B966EAF-06A7-2E74-805C-72A1873EB697}"/>
                </a:ext>
              </a:extLst>
            </p:cNvPr>
            <p:cNvCxnSpPr>
              <a:cxnSpLocks noChangeShapeType="1"/>
              <a:stCxn id="451598" idx="7"/>
              <a:endCxn id="5" idx="3"/>
            </p:cNvCxnSpPr>
            <p:nvPr/>
          </p:nvCxnSpPr>
          <p:spPr bwMode="auto">
            <a:xfrm flipV="1">
              <a:off x="1020777" y="4455668"/>
              <a:ext cx="1099646" cy="789960"/>
            </a:xfrm>
            <a:prstGeom prst="straightConnector1">
              <a:avLst/>
            </a:prstGeom>
            <a:noFill/>
            <a:ln w="19050">
              <a:solidFill>
                <a:srgbClr val="0070C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14" name="AutoShape 13">
              <a:extLst>
                <a:ext uri="{FF2B5EF4-FFF2-40B4-BE49-F238E27FC236}">
                  <a16:creationId xmlns:a16="http://schemas.microsoft.com/office/drawing/2014/main" id="{E60D8B94-7F5B-B888-E7ED-D62A8975DCB8}"/>
                </a:ext>
              </a:extLst>
            </p:cNvPr>
            <p:cNvCxnSpPr>
              <a:cxnSpLocks noChangeShapeType="1"/>
              <a:stCxn id="451598" idx="6"/>
              <a:endCxn id="6" idx="2"/>
            </p:cNvCxnSpPr>
            <p:nvPr/>
          </p:nvCxnSpPr>
          <p:spPr bwMode="auto">
            <a:xfrm>
              <a:off x="1051670" y="5329613"/>
              <a:ext cx="1037860" cy="17394"/>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15" name="AutoShape 14">
              <a:extLst>
                <a:ext uri="{FF2B5EF4-FFF2-40B4-BE49-F238E27FC236}">
                  <a16:creationId xmlns:a16="http://schemas.microsoft.com/office/drawing/2014/main" id="{67F54CBB-E933-560D-C0BE-BADA23E543A5}"/>
                </a:ext>
              </a:extLst>
            </p:cNvPr>
            <p:cNvCxnSpPr>
              <a:cxnSpLocks noChangeShapeType="1"/>
              <a:stCxn id="451598" idx="5"/>
              <a:endCxn id="7" idx="1"/>
            </p:cNvCxnSpPr>
            <p:nvPr/>
          </p:nvCxnSpPr>
          <p:spPr bwMode="auto">
            <a:xfrm>
              <a:off x="1020777" y="5413597"/>
              <a:ext cx="1099646" cy="922559"/>
            </a:xfrm>
            <a:prstGeom prst="straightConnector1">
              <a:avLst/>
            </a:prstGeom>
            <a:noFill/>
            <a:ln w="19050">
              <a:solidFill>
                <a:srgbClr val="FF000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16" name="AutoShape 22">
              <a:extLst>
                <a:ext uri="{FF2B5EF4-FFF2-40B4-BE49-F238E27FC236}">
                  <a16:creationId xmlns:a16="http://schemas.microsoft.com/office/drawing/2014/main" id="{250C4FDD-DE09-1A3A-C557-AAD3CAFA204E}"/>
                </a:ext>
              </a:extLst>
            </p:cNvPr>
            <p:cNvCxnSpPr>
              <a:cxnSpLocks noChangeShapeType="1"/>
              <a:stCxn id="451592" idx="3"/>
              <a:endCxn id="7" idx="0"/>
            </p:cNvCxnSpPr>
            <p:nvPr/>
          </p:nvCxnSpPr>
          <p:spPr bwMode="auto">
            <a:xfrm flipH="1">
              <a:off x="2195005" y="5413598"/>
              <a:ext cx="300653" cy="887771"/>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29" name="AutoShape 24">
              <a:extLst>
                <a:ext uri="{FF2B5EF4-FFF2-40B4-BE49-F238E27FC236}">
                  <a16:creationId xmlns:a16="http://schemas.microsoft.com/office/drawing/2014/main" id="{D2C39091-FCD1-AA31-0FC2-66526F28EC48}"/>
                </a:ext>
              </a:extLst>
            </p:cNvPr>
            <p:cNvCxnSpPr>
              <a:cxnSpLocks noChangeShapeType="1"/>
              <a:stCxn id="451592" idx="5"/>
              <a:endCxn id="34" idx="1"/>
            </p:cNvCxnSpPr>
            <p:nvPr/>
          </p:nvCxnSpPr>
          <p:spPr bwMode="auto">
            <a:xfrm>
              <a:off x="2644822" y="5413598"/>
              <a:ext cx="1262468" cy="922558"/>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30" name="AutoShape 25">
              <a:extLst>
                <a:ext uri="{FF2B5EF4-FFF2-40B4-BE49-F238E27FC236}">
                  <a16:creationId xmlns:a16="http://schemas.microsoft.com/office/drawing/2014/main" id="{82D205C4-98B9-ABE7-D470-BC5A1BF8DE43}"/>
                </a:ext>
              </a:extLst>
            </p:cNvPr>
            <p:cNvCxnSpPr>
              <a:cxnSpLocks noChangeShapeType="1"/>
              <a:stCxn id="451593" idx="6"/>
              <a:endCxn id="34" idx="2"/>
            </p:cNvCxnSpPr>
            <p:nvPr/>
          </p:nvCxnSpPr>
          <p:spPr bwMode="auto">
            <a:xfrm flipV="1">
              <a:off x="2644821" y="6420141"/>
              <a:ext cx="1231576" cy="13062"/>
            </a:xfrm>
            <a:prstGeom prst="straightConnector1">
              <a:avLst/>
            </a:prstGeom>
            <a:noFill/>
            <a:ln w="19050">
              <a:solidFill>
                <a:srgbClr val="FF000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31" name="AutoShape 34">
              <a:extLst>
                <a:ext uri="{FF2B5EF4-FFF2-40B4-BE49-F238E27FC236}">
                  <a16:creationId xmlns:a16="http://schemas.microsoft.com/office/drawing/2014/main" id="{1C9E726A-9744-91ED-411D-31305456EB7A}"/>
                </a:ext>
              </a:extLst>
            </p:cNvPr>
            <p:cNvCxnSpPr>
              <a:cxnSpLocks noChangeShapeType="1"/>
              <a:stCxn id="451589" idx="3"/>
              <a:endCxn id="6" idx="0"/>
            </p:cNvCxnSpPr>
            <p:nvPr/>
          </p:nvCxnSpPr>
          <p:spPr bwMode="auto">
            <a:xfrm flipH="1">
              <a:off x="2195005" y="4455668"/>
              <a:ext cx="427973" cy="772567"/>
            </a:xfrm>
            <a:prstGeom prst="straightConnector1">
              <a:avLst/>
            </a:prstGeom>
            <a:noFill/>
            <a:ln w="19050">
              <a:solidFill>
                <a:srgbClr val="0070C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32" name="Oval 38">
              <a:extLst>
                <a:ext uri="{FF2B5EF4-FFF2-40B4-BE49-F238E27FC236}">
                  <a16:creationId xmlns:a16="http://schemas.microsoft.com/office/drawing/2014/main" id="{536A0994-8E53-CF34-DBE3-336D3BD394FC}"/>
                </a:ext>
              </a:extLst>
            </p:cNvPr>
            <p:cNvSpPr>
              <a:spLocks noChangeAspect="1" noChangeArrowheads="1"/>
            </p:cNvSpPr>
            <p:nvPr/>
          </p:nvSpPr>
          <p:spPr bwMode="auto">
            <a:xfrm>
              <a:off x="3876397" y="4252912"/>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600" b="1" dirty="0"/>
                <a:t>d</a:t>
              </a:r>
            </a:p>
          </p:txBody>
        </p:sp>
        <p:sp>
          <p:nvSpPr>
            <p:cNvPr id="33" name="Oval 39">
              <a:extLst>
                <a:ext uri="{FF2B5EF4-FFF2-40B4-BE49-F238E27FC236}">
                  <a16:creationId xmlns:a16="http://schemas.microsoft.com/office/drawing/2014/main" id="{051B6902-8EDA-2166-C631-C7046DB18404}"/>
                </a:ext>
              </a:extLst>
            </p:cNvPr>
            <p:cNvSpPr>
              <a:spLocks noChangeAspect="1" noChangeArrowheads="1"/>
            </p:cNvSpPr>
            <p:nvPr/>
          </p:nvSpPr>
          <p:spPr bwMode="auto">
            <a:xfrm>
              <a:off x="3876397" y="5228235"/>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600" b="1" dirty="0"/>
                <a:t>e</a:t>
              </a:r>
            </a:p>
          </p:txBody>
        </p:sp>
        <p:sp>
          <p:nvSpPr>
            <p:cNvPr id="34" name="Oval 40">
              <a:extLst>
                <a:ext uri="{FF2B5EF4-FFF2-40B4-BE49-F238E27FC236}">
                  <a16:creationId xmlns:a16="http://schemas.microsoft.com/office/drawing/2014/main" id="{B1E88F5A-71E9-86BE-D751-FB376948FDD4}"/>
                </a:ext>
              </a:extLst>
            </p:cNvPr>
            <p:cNvSpPr>
              <a:spLocks noChangeAspect="1" noChangeArrowheads="1"/>
            </p:cNvSpPr>
            <p:nvPr/>
          </p:nvSpPr>
          <p:spPr bwMode="auto">
            <a:xfrm>
              <a:off x="3876397" y="6301369"/>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600" b="1" dirty="0"/>
                <a:t>f</a:t>
              </a:r>
            </a:p>
          </p:txBody>
        </p:sp>
        <p:cxnSp>
          <p:nvCxnSpPr>
            <p:cNvPr id="35" name="AutoShape 41">
              <a:extLst>
                <a:ext uri="{FF2B5EF4-FFF2-40B4-BE49-F238E27FC236}">
                  <a16:creationId xmlns:a16="http://schemas.microsoft.com/office/drawing/2014/main" id="{AF5E97C5-F1FE-C994-0AFA-1C26754CCB8E}"/>
                </a:ext>
              </a:extLst>
            </p:cNvPr>
            <p:cNvCxnSpPr>
              <a:cxnSpLocks noChangeShapeType="1"/>
              <a:stCxn id="33" idx="4"/>
              <a:endCxn id="451596" idx="1"/>
            </p:cNvCxnSpPr>
            <p:nvPr/>
          </p:nvCxnSpPr>
          <p:spPr bwMode="auto">
            <a:xfrm>
              <a:off x="3981872" y="5465778"/>
              <a:ext cx="347318" cy="870378"/>
            </a:xfrm>
            <a:prstGeom prst="straightConnector1">
              <a:avLst/>
            </a:prstGeom>
            <a:noFill/>
            <a:ln w="19050">
              <a:solidFill>
                <a:schemeClr val="tx1"/>
              </a:solidFill>
              <a:round/>
              <a:headEnd type="triangle" w="lg" len="med"/>
              <a:tailEnd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36" name="AutoShape 42">
              <a:extLst>
                <a:ext uri="{FF2B5EF4-FFF2-40B4-BE49-F238E27FC236}">
                  <a16:creationId xmlns:a16="http://schemas.microsoft.com/office/drawing/2014/main" id="{02BCA485-BBEB-0386-F1B8-E78C0536A9CD}"/>
                </a:ext>
              </a:extLst>
            </p:cNvPr>
            <p:cNvCxnSpPr>
              <a:cxnSpLocks noChangeShapeType="1"/>
              <a:stCxn id="32" idx="4"/>
              <a:endCxn id="33" idx="0"/>
            </p:cNvCxnSpPr>
            <p:nvPr/>
          </p:nvCxnSpPr>
          <p:spPr bwMode="auto">
            <a:xfrm>
              <a:off x="3981872" y="4490454"/>
              <a:ext cx="0" cy="737780"/>
            </a:xfrm>
            <a:prstGeom prst="straightConnector1">
              <a:avLst/>
            </a:prstGeom>
            <a:noFill/>
            <a:ln w="19050">
              <a:solidFill>
                <a:schemeClr val="tx1"/>
              </a:solidFill>
              <a:round/>
              <a:headEnd type="triangle" w="lg" len="med"/>
              <a:tailEnd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37" name="Oval 44">
              <a:extLst>
                <a:ext uri="{FF2B5EF4-FFF2-40B4-BE49-F238E27FC236}">
                  <a16:creationId xmlns:a16="http://schemas.microsoft.com/office/drawing/2014/main" id="{9D2232E2-DD9F-3267-A476-456B74C1E3D0}"/>
                </a:ext>
              </a:extLst>
            </p:cNvPr>
            <p:cNvSpPr>
              <a:spLocks noChangeAspect="1" noChangeArrowheads="1"/>
            </p:cNvSpPr>
            <p:nvPr/>
          </p:nvSpPr>
          <p:spPr bwMode="auto">
            <a:xfrm>
              <a:off x="5514358" y="5228235"/>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600" b="1"/>
                <a:t>t</a:t>
              </a:r>
            </a:p>
          </p:txBody>
        </p:sp>
        <p:cxnSp>
          <p:nvCxnSpPr>
            <p:cNvPr id="38" name="AutoShape 45">
              <a:extLst>
                <a:ext uri="{FF2B5EF4-FFF2-40B4-BE49-F238E27FC236}">
                  <a16:creationId xmlns:a16="http://schemas.microsoft.com/office/drawing/2014/main" id="{4204537D-264E-95DF-C94C-5C019744B14C}"/>
                </a:ext>
              </a:extLst>
            </p:cNvPr>
            <p:cNvCxnSpPr>
              <a:cxnSpLocks noChangeShapeType="1"/>
              <a:stCxn id="451591" idx="5"/>
              <a:endCxn id="37" idx="1"/>
            </p:cNvCxnSpPr>
            <p:nvPr/>
          </p:nvCxnSpPr>
          <p:spPr bwMode="auto">
            <a:xfrm>
              <a:off x="4447461" y="4455667"/>
              <a:ext cx="1097790" cy="80735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39" name="AutoShape 46">
              <a:extLst>
                <a:ext uri="{FF2B5EF4-FFF2-40B4-BE49-F238E27FC236}">
                  <a16:creationId xmlns:a16="http://schemas.microsoft.com/office/drawing/2014/main" id="{B16FD360-286F-3E0E-492E-FC20179DE898}"/>
                </a:ext>
              </a:extLst>
            </p:cNvPr>
            <p:cNvCxnSpPr>
              <a:cxnSpLocks noChangeShapeType="1"/>
              <a:stCxn id="451597" idx="6"/>
              <a:endCxn id="37" idx="2"/>
            </p:cNvCxnSpPr>
            <p:nvPr/>
          </p:nvCxnSpPr>
          <p:spPr bwMode="auto">
            <a:xfrm flipV="1">
              <a:off x="4478224" y="5347007"/>
              <a:ext cx="1036134" cy="22647"/>
            </a:xfrm>
            <a:prstGeom prst="straightConnector1">
              <a:avLst/>
            </a:prstGeom>
            <a:noFill/>
            <a:ln w="19050">
              <a:solidFill>
                <a:srgbClr val="0070C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0" name="AutoShape 47">
              <a:extLst>
                <a:ext uri="{FF2B5EF4-FFF2-40B4-BE49-F238E27FC236}">
                  <a16:creationId xmlns:a16="http://schemas.microsoft.com/office/drawing/2014/main" id="{1B096E7A-FF7E-42C4-DFD2-20BDA01BABE2}"/>
                </a:ext>
              </a:extLst>
            </p:cNvPr>
            <p:cNvCxnSpPr>
              <a:cxnSpLocks noChangeShapeType="1"/>
              <a:stCxn id="451596" idx="7"/>
              <a:endCxn id="37" idx="4"/>
            </p:cNvCxnSpPr>
            <p:nvPr/>
          </p:nvCxnSpPr>
          <p:spPr bwMode="auto">
            <a:xfrm flipV="1">
              <a:off x="4478354" y="5465778"/>
              <a:ext cx="1141479" cy="870378"/>
            </a:xfrm>
            <a:prstGeom prst="straightConnector1">
              <a:avLst/>
            </a:prstGeom>
            <a:noFill/>
            <a:ln w="19050">
              <a:solidFill>
                <a:srgbClr val="FF000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1" name="AutoShape 63">
              <a:extLst>
                <a:ext uri="{FF2B5EF4-FFF2-40B4-BE49-F238E27FC236}">
                  <a16:creationId xmlns:a16="http://schemas.microsoft.com/office/drawing/2014/main" id="{70B778EB-5650-547B-D0C3-A08537C8D3B4}"/>
                </a:ext>
              </a:extLst>
            </p:cNvPr>
            <p:cNvCxnSpPr>
              <a:cxnSpLocks noChangeShapeType="1"/>
              <a:stCxn id="33" idx="1"/>
              <a:endCxn id="5" idx="5"/>
            </p:cNvCxnSpPr>
            <p:nvPr/>
          </p:nvCxnSpPr>
          <p:spPr bwMode="auto">
            <a:xfrm flipH="1" flipV="1">
              <a:off x="2269587" y="4455668"/>
              <a:ext cx="1637703" cy="807354"/>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2" name="AutoShape 64">
              <a:extLst>
                <a:ext uri="{FF2B5EF4-FFF2-40B4-BE49-F238E27FC236}">
                  <a16:creationId xmlns:a16="http://schemas.microsoft.com/office/drawing/2014/main" id="{757F1E7B-CE6D-E1C1-ECAF-E7C37D9D4B3E}"/>
                </a:ext>
              </a:extLst>
            </p:cNvPr>
            <p:cNvCxnSpPr>
              <a:cxnSpLocks noChangeShapeType="1"/>
              <a:stCxn id="451591" idx="3"/>
              <a:endCxn id="6" idx="7"/>
            </p:cNvCxnSpPr>
            <p:nvPr/>
          </p:nvCxnSpPr>
          <p:spPr bwMode="auto">
            <a:xfrm flipH="1">
              <a:off x="2269587" y="4455667"/>
              <a:ext cx="2028710" cy="807355"/>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588" name="AutoShape 24">
              <a:extLst>
                <a:ext uri="{FF2B5EF4-FFF2-40B4-BE49-F238E27FC236}">
                  <a16:creationId xmlns:a16="http://schemas.microsoft.com/office/drawing/2014/main" id="{6705BE41-171C-B6D0-97B6-FC1E382C3D25}"/>
                </a:ext>
              </a:extLst>
            </p:cNvPr>
            <p:cNvCxnSpPr>
              <a:cxnSpLocks noChangeShapeType="1"/>
              <a:stCxn id="451592" idx="6"/>
              <a:endCxn id="33" idx="2"/>
            </p:cNvCxnSpPr>
            <p:nvPr/>
          </p:nvCxnSpPr>
          <p:spPr bwMode="auto">
            <a:xfrm>
              <a:off x="2675715" y="5329614"/>
              <a:ext cx="1200682" cy="17393"/>
            </a:xfrm>
            <a:prstGeom prst="straightConnector1">
              <a:avLst/>
            </a:prstGeom>
            <a:noFill/>
            <a:ln w="19050">
              <a:solidFill>
                <a:srgbClr val="0070C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51589" name="Oval 7">
              <a:extLst>
                <a:ext uri="{FF2B5EF4-FFF2-40B4-BE49-F238E27FC236}">
                  <a16:creationId xmlns:a16="http://schemas.microsoft.com/office/drawing/2014/main" id="{F05C3E78-390C-20FD-9971-628894000327}"/>
                </a:ext>
              </a:extLst>
            </p:cNvPr>
            <p:cNvSpPr>
              <a:spLocks noChangeAspect="1" noChangeArrowheads="1"/>
            </p:cNvSpPr>
            <p:nvPr/>
          </p:nvSpPr>
          <p:spPr bwMode="auto">
            <a:xfrm>
              <a:off x="2592085" y="4252912"/>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endParaRPr lang="en-US" altLang="en-US" sz="1600" b="1" dirty="0"/>
            </a:p>
          </p:txBody>
        </p:sp>
        <p:cxnSp>
          <p:nvCxnSpPr>
            <p:cNvPr id="451590" name="AutoShape 63">
              <a:extLst>
                <a:ext uri="{FF2B5EF4-FFF2-40B4-BE49-F238E27FC236}">
                  <a16:creationId xmlns:a16="http://schemas.microsoft.com/office/drawing/2014/main" id="{35BDC832-D946-42B8-40CC-1AD091E2E14F}"/>
                </a:ext>
              </a:extLst>
            </p:cNvPr>
            <p:cNvCxnSpPr>
              <a:cxnSpLocks noChangeShapeType="1"/>
              <a:stCxn id="5" idx="6"/>
              <a:endCxn id="451589" idx="2"/>
            </p:cNvCxnSpPr>
            <p:nvPr/>
          </p:nvCxnSpPr>
          <p:spPr bwMode="auto">
            <a:xfrm>
              <a:off x="2300480" y="4371684"/>
              <a:ext cx="291605" cy="0"/>
            </a:xfrm>
            <a:prstGeom prst="straightConnector1">
              <a:avLst/>
            </a:prstGeom>
            <a:noFill/>
            <a:ln w="19050">
              <a:solidFill>
                <a:srgbClr val="0070C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51591" name="Oval 7">
              <a:extLst>
                <a:ext uri="{FF2B5EF4-FFF2-40B4-BE49-F238E27FC236}">
                  <a16:creationId xmlns:a16="http://schemas.microsoft.com/office/drawing/2014/main" id="{529DAA47-15B5-D6ED-AC53-23D2F1EEE995}"/>
                </a:ext>
              </a:extLst>
            </p:cNvPr>
            <p:cNvSpPr>
              <a:spLocks noChangeAspect="1" noChangeArrowheads="1"/>
            </p:cNvSpPr>
            <p:nvPr/>
          </p:nvSpPr>
          <p:spPr bwMode="auto">
            <a:xfrm>
              <a:off x="4267404" y="4252911"/>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endParaRPr lang="en-US" altLang="en-US" sz="1600" b="1" dirty="0"/>
            </a:p>
          </p:txBody>
        </p:sp>
        <p:sp>
          <p:nvSpPr>
            <p:cNvPr id="451592" name="Oval 7">
              <a:extLst>
                <a:ext uri="{FF2B5EF4-FFF2-40B4-BE49-F238E27FC236}">
                  <a16:creationId xmlns:a16="http://schemas.microsoft.com/office/drawing/2014/main" id="{19E59A48-A9D2-BB0D-B177-F262B846DA5C}"/>
                </a:ext>
              </a:extLst>
            </p:cNvPr>
            <p:cNvSpPr>
              <a:spLocks noChangeAspect="1" noChangeArrowheads="1"/>
            </p:cNvSpPr>
            <p:nvPr/>
          </p:nvSpPr>
          <p:spPr bwMode="auto">
            <a:xfrm>
              <a:off x="2464765" y="5210842"/>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endParaRPr lang="en-US" altLang="en-US" sz="1600" b="1" dirty="0"/>
            </a:p>
          </p:txBody>
        </p:sp>
        <p:sp>
          <p:nvSpPr>
            <p:cNvPr id="451593" name="Oval 7">
              <a:extLst>
                <a:ext uri="{FF2B5EF4-FFF2-40B4-BE49-F238E27FC236}">
                  <a16:creationId xmlns:a16="http://schemas.microsoft.com/office/drawing/2014/main" id="{F72A4873-8347-3392-51BB-397A1B101F89}"/>
                </a:ext>
              </a:extLst>
            </p:cNvPr>
            <p:cNvSpPr>
              <a:spLocks noChangeAspect="1" noChangeArrowheads="1"/>
            </p:cNvSpPr>
            <p:nvPr/>
          </p:nvSpPr>
          <p:spPr bwMode="auto">
            <a:xfrm>
              <a:off x="2433871" y="6314431"/>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endParaRPr lang="en-US" altLang="en-US" sz="1600" b="1" dirty="0"/>
            </a:p>
          </p:txBody>
        </p:sp>
        <p:sp>
          <p:nvSpPr>
            <p:cNvPr id="451596" name="Oval 7">
              <a:extLst>
                <a:ext uri="{FF2B5EF4-FFF2-40B4-BE49-F238E27FC236}">
                  <a16:creationId xmlns:a16="http://schemas.microsoft.com/office/drawing/2014/main" id="{16FCD82A-034F-7077-0113-C2B971E895B4}"/>
                </a:ext>
              </a:extLst>
            </p:cNvPr>
            <p:cNvSpPr>
              <a:spLocks noChangeAspect="1" noChangeArrowheads="1"/>
            </p:cNvSpPr>
            <p:nvPr/>
          </p:nvSpPr>
          <p:spPr bwMode="auto">
            <a:xfrm>
              <a:off x="4298297" y="6301369"/>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endParaRPr lang="en-US" altLang="en-US" sz="1600" b="1" dirty="0"/>
            </a:p>
          </p:txBody>
        </p:sp>
        <p:sp>
          <p:nvSpPr>
            <p:cNvPr id="451597" name="Oval 7">
              <a:extLst>
                <a:ext uri="{FF2B5EF4-FFF2-40B4-BE49-F238E27FC236}">
                  <a16:creationId xmlns:a16="http://schemas.microsoft.com/office/drawing/2014/main" id="{EA3959E2-8176-CB9D-351E-C0DC5FBE60A6}"/>
                </a:ext>
              </a:extLst>
            </p:cNvPr>
            <p:cNvSpPr>
              <a:spLocks noChangeAspect="1" noChangeArrowheads="1"/>
            </p:cNvSpPr>
            <p:nvPr/>
          </p:nvSpPr>
          <p:spPr bwMode="auto">
            <a:xfrm>
              <a:off x="4267274" y="5250882"/>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endParaRPr lang="en-US" altLang="en-US" sz="1600" b="1" dirty="0"/>
            </a:p>
          </p:txBody>
        </p:sp>
        <p:sp>
          <p:nvSpPr>
            <p:cNvPr id="451598" name="Oval 7">
              <a:extLst>
                <a:ext uri="{FF2B5EF4-FFF2-40B4-BE49-F238E27FC236}">
                  <a16:creationId xmlns:a16="http://schemas.microsoft.com/office/drawing/2014/main" id="{33520517-1EEC-2BDD-C944-E4B8F540142D}"/>
                </a:ext>
              </a:extLst>
            </p:cNvPr>
            <p:cNvSpPr>
              <a:spLocks noChangeAspect="1" noChangeArrowheads="1"/>
            </p:cNvSpPr>
            <p:nvPr/>
          </p:nvSpPr>
          <p:spPr bwMode="auto">
            <a:xfrm>
              <a:off x="840720" y="5210841"/>
              <a:ext cx="210950" cy="237543"/>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sz="1600" b="1" dirty="0"/>
                <a:t>s</a:t>
              </a:r>
            </a:p>
          </p:txBody>
        </p:sp>
        <p:cxnSp>
          <p:nvCxnSpPr>
            <p:cNvPr id="451600" name="AutoShape 46">
              <a:extLst>
                <a:ext uri="{FF2B5EF4-FFF2-40B4-BE49-F238E27FC236}">
                  <a16:creationId xmlns:a16="http://schemas.microsoft.com/office/drawing/2014/main" id="{63C55599-E552-82F9-A898-700E33C4D1C2}"/>
                </a:ext>
              </a:extLst>
            </p:cNvPr>
            <p:cNvCxnSpPr>
              <a:cxnSpLocks noChangeShapeType="1"/>
              <a:stCxn id="32" idx="6"/>
              <a:endCxn id="451591" idx="2"/>
            </p:cNvCxnSpPr>
            <p:nvPr/>
          </p:nvCxnSpPr>
          <p:spPr bwMode="auto">
            <a:xfrm flipV="1">
              <a:off x="4087347" y="4371683"/>
              <a:ext cx="180057" cy="1"/>
            </a:xfrm>
            <a:prstGeom prst="straightConnector1">
              <a:avLst/>
            </a:prstGeom>
            <a:noFill/>
            <a:ln w="19050">
              <a:solidFill>
                <a:schemeClr val="tx1"/>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601" name="AutoShape 46">
              <a:extLst>
                <a:ext uri="{FF2B5EF4-FFF2-40B4-BE49-F238E27FC236}">
                  <a16:creationId xmlns:a16="http://schemas.microsoft.com/office/drawing/2014/main" id="{1FB359BD-7E1D-D10E-242A-5F5D1BAB005A}"/>
                </a:ext>
              </a:extLst>
            </p:cNvPr>
            <p:cNvCxnSpPr>
              <a:cxnSpLocks noChangeShapeType="1"/>
              <a:stCxn id="33" idx="6"/>
              <a:endCxn id="451597" idx="2"/>
            </p:cNvCxnSpPr>
            <p:nvPr/>
          </p:nvCxnSpPr>
          <p:spPr bwMode="auto">
            <a:xfrm>
              <a:off x="4087347" y="5347007"/>
              <a:ext cx="179927" cy="22647"/>
            </a:xfrm>
            <a:prstGeom prst="straightConnector1">
              <a:avLst/>
            </a:prstGeom>
            <a:noFill/>
            <a:ln w="19050">
              <a:solidFill>
                <a:srgbClr val="0070C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602" name="AutoShape 46">
              <a:extLst>
                <a:ext uri="{FF2B5EF4-FFF2-40B4-BE49-F238E27FC236}">
                  <a16:creationId xmlns:a16="http://schemas.microsoft.com/office/drawing/2014/main" id="{3273C2E1-E248-D4E8-C606-CFD732DF7919}"/>
                </a:ext>
              </a:extLst>
            </p:cNvPr>
            <p:cNvCxnSpPr>
              <a:cxnSpLocks noChangeShapeType="1"/>
              <a:stCxn id="34" idx="6"/>
              <a:endCxn id="451596" idx="2"/>
            </p:cNvCxnSpPr>
            <p:nvPr/>
          </p:nvCxnSpPr>
          <p:spPr bwMode="auto">
            <a:xfrm>
              <a:off x="4087347" y="6420141"/>
              <a:ext cx="210950" cy="0"/>
            </a:xfrm>
            <a:prstGeom prst="straightConnector1">
              <a:avLst/>
            </a:prstGeom>
            <a:noFill/>
            <a:ln w="19050">
              <a:solidFill>
                <a:srgbClr val="FF000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603" name="AutoShape 46">
              <a:extLst>
                <a:ext uri="{FF2B5EF4-FFF2-40B4-BE49-F238E27FC236}">
                  <a16:creationId xmlns:a16="http://schemas.microsoft.com/office/drawing/2014/main" id="{D04C8B69-6A36-53EB-18D0-F7AF98E32494}"/>
                </a:ext>
              </a:extLst>
            </p:cNvPr>
            <p:cNvCxnSpPr>
              <a:cxnSpLocks noChangeShapeType="1"/>
              <a:stCxn id="7" idx="6"/>
              <a:endCxn id="451593" idx="2"/>
            </p:cNvCxnSpPr>
            <p:nvPr/>
          </p:nvCxnSpPr>
          <p:spPr bwMode="auto">
            <a:xfrm>
              <a:off x="2300480" y="6420141"/>
              <a:ext cx="133391" cy="13062"/>
            </a:xfrm>
            <a:prstGeom prst="straightConnector1">
              <a:avLst/>
            </a:prstGeom>
            <a:noFill/>
            <a:ln w="19050">
              <a:solidFill>
                <a:srgbClr val="FF000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51604" name="AutoShape 46">
              <a:extLst>
                <a:ext uri="{FF2B5EF4-FFF2-40B4-BE49-F238E27FC236}">
                  <a16:creationId xmlns:a16="http://schemas.microsoft.com/office/drawing/2014/main" id="{B3A71BBC-E207-957C-3213-3B57BC93A993}"/>
                </a:ext>
              </a:extLst>
            </p:cNvPr>
            <p:cNvCxnSpPr>
              <a:cxnSpLocks noChangeShapeType="1"/>
              <a:stCxn id="6" idx="6"/>
              <a:endCxn id="451592" idx="2"/>
            </p:cNvCxnSpPr>
            <p:nvPr/>
          </p:nvCxnSpPr>
          <p:spPr bwMode="auto">
            <a:xfrm flipV="1">
              <a:off x="2300480" y="5329614"/>
              <a:ext cx="164285" cy="17393"/>
            </a:xfrm>
            <a:prstGeom prst="straightConnector1">
              <a:avLst/>
            </a:prstGeom>
            <a:noFill/>
            <a:ln w="19050">
              <a:solidFill>
                <a:srgbClr val="0070C0"/>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grpSp>
    </p:spTree>
    <p:extLst>
      <p:ext uri="{BB962C8B-B14F-4D97-AF65-F5344CB8AC3E}">
        <p14:creationId xmlns:p14="http://schemas.microsoft.com/office/powerpoint/2010/main" val="396860173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2AD558-DD3E-6D3D-261D-F0B9D99BC0CD}"/>
              </a:ext>
            </a:extLst>
          </p:cNvPr>
          <p:cNvSpPr>
            <a:spLocks noGrp="1"/>
          </p:cNvSpPr>
          <p:nvPr>
            <p:ph type="title"/>
          </p:nvPr>
        </p:nvSpPr>
        <p:spPr/>
        <p:txBody>
          <a:bodyPr/>
          <a:lstStyle/>
          <a:p>
            <a:r>
              <a:rPr lang="en-US" dirty="0"/>
              <a:t>Final reminders</a:t>
            </a:r>
          </a:p>
        </p:txBody>
      </p:sp>
      <p:sp>
        <p:nvSpPr>
          <p:cNvPr id="3" name="Content Placeholder 2">
            <a:extLst>
              <a:ext uri="{FF2B5EF4-FFF2-40B4-BE49-F238E27FC236}">
                <a16:creationId xmlns:a16="http://schemas.microsoft.com/office/drawing/2014/main" id="{6B10AA1D-BB56-462E-8975-E03FBDAEBC56}"/>
              </a:ext>
            </a:extLst>
          </p:cNvPr>
          <p:cNvSpPr>
            <a:spLocks noGrp="1"/>
          </p:cNvSpPr>
          <p:nvPr>
            <p:ph idx="1"/>
          </p:nvPr>
        </p:nvSpPr>
        <p:spPr/>
        <p:txBody>
          <a:bodyPr>
            <a:normAutofit fontScale="77500" lnSpcReduction="20000"/>
          </a:bodyPr>
          <a:lstStyle/>
          <a:p>
            <a:r>
              <a:rPr lang="en-US" dirty="0"/>
              <a:t>HW6 due today @ 11:59pm.</a:t>
            </a:r>
          </a:p>
          <a:p>
            <a:r>
              <a:rPr lang="en-US" dirty="0"/>
              <a:t>HW7 released today, due Wednesday 11/19 @ 11:59pm</a:t>
            </a:r>
          </a:p>
          <a:p>
            <a:r>
              <a:rPr lang="en-US" dirty="0"/>
              <a:t>Quiz 2 on Friday 11/21 in class</a:t>
            </a:r>
            <a:br>
              <a:rPr lang="en-US" dirty="0"/>
            </a:br>
            <a:r>
              <a:rPr lang="en-US" dirty="0"/>
              <a:t>	We’ll release a practice quiz this evening</a:t>
            </a:r>
          </a:p>
          <a:p>
            <a:endParaRPr lang="en-US" dirty="0"/>
          </a:p>
          <a:p>
            <a:r>
              <a:rPr lang="en-US" dirty="0"/>
              <a:t>I have OH now-12:30pm:</a:t>
            </a:r>
          </a:p>
          <a:p>
            <a:pPr marL="457200" indent="-457200">
              <a:spcBef>
                <a:spcPts val="0"/>
              </a:spcBef>
              <a:buFont typeface="Arial" panose="020B0604020202020204" pitchFamily="34" charset="0"/>
              <a:buChar char="•"/>
            </a:pPr>
            <a:r>
              <a:rPr lang="en-US" dirty="0"/>
              <a:t>Meet at front of classroom, we’ll walk over together</a:t>
            </a:r>
          </a:p>
          <a:p>
            <a:pPr marL="457200" indent="-457200">
              <a:spcBef>
                <a:spcPts val="0"/>
              </a:spcBef>
              <a:buFont typeface="Arial" panose="020B0604020202020204" pitchFamily="34" charset="0"/>
              <a:buChar char="•"/>
            </a:pPr>
            <a:r>
              <a:rPr lang="en-US" dirty="0"/>
              <a:t>CSE (Allen) 434 if you’re coming later</a:t>
            </a:r>
          </a:p>
          <a:p>
            <a:r>
              <a:rPr lang="en-US" dirty="0"/>
              <a:t>Glenn has online OH 12–1pm</a:t>
            </a:r>
          </a:p>
        </p:txBody>
      </p:sp>
    </p:spTree>
    <p:custDataLst>
      <p:tags r:id="rId1"/>
    </p:custDataLst>
    <p:extLst>
      <p:ext uri="{BB962C8B-B14F-4D97-AF65-F5344CB8AC3E}">
        <p14:creationId xmlns:p14="http://schemas.microsoft.com/office/powerpoint/2010/main" val="779205654"/>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PPSPLIT_SPLIT" val="1"/>
  <p:tag name="PPSPLIT_ORIGINALSLIDENUMBER" val="1"/>
</p:tagLst>
</file>

<file path=ppt/tags/tag2.xml><?xml version="1.0" encoding="utf-8"?>
<p:tagLst xmlns:a="http://schemas.openxmlformats.org/drawingml/2006/main" xmlns:r="http://schemas.openxmlformats.org/officeDocument/2006/relationships" xmlns:p="http://schemas.openxmlformats.org/presentationml/2006/main">
  <p:tag name="PPSPLIT_SPLIT" val="1"/>
  <p:tag name="PPSPLIT_ORIGINALSLIDENUMBER" val="46"/>
</p:tagLst>
</file>

<file path=ppt/theme/theme1.xml><?xml version="1.0" encoding="utf-8"?>
<a:theme xmlns:a="http://schemas.openxmlformats.org/drawingml/2006/main" name="Office Theme">
  <a:themeElements>
    <a:clrScheme name="Custom 3">
      <a:dk1>
        <a:srgbClr val="000000"/>
      </a:dk1>
      <a:lt1>
        <a:srgbClr val="FFFFFF"/>
      </a:lt1>
      <a:dk2>
        <a:srgbClr val="0E2841"/>
      </a:dk2>
      <a:lt2>
        <a:srgbClr val="E8E8E8"/>
      </a:lt2>
      <a:accent1>
        <a:srgbClr val="1E68CD"/>
      </a:accent1>
      <a:accent2>
        <a:srgbClr val="D6431A"/>
      </a:accent2>
      <a:accent3>
        <a:srgbClr val="00ABC3"/>
      </a:accent3>
      <a:accent4>
        <a:srgbClr val="E09000"/>
      </a:accent4>
      <a:accent5>
        <a:srgbClr val="BC33AD"/>
      </a:accent5>
      <a:accent6>
        <a:srgbClr val="519304"/>
      </a:accent6>
      <a:hlink>
        <a:srgbClr val="467886"/>
      </a:hlink>
      <a:folHlink>
        <a:srgbClr val="467886"/>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txDef>
      <a:spPr>
        <a:noFill/>
      </a:spPr>
      <a:bodyPr wrap="square" rtlCol="0">
        <a:spAutoFit/>
      </a:bodyPr>
      <a:lstStyle>
        <a:defPPr algn="l">
          <a:lnSpc>
            <a:spcPct val="125000"/>
          </a:lnSpc>
          <a:spcBef>
            <a:spcPts val="2400"/>
          </a:spcBef>
          <a:defRPr sz="2800" dirty="0" err="1" smtClean="0">
            <a:latin typeface="Lato" panose="020F0502020204030203" pitchFamily="34" charset="77"/>
            <a:ea typeface="Inter" panose="02000503000000020004" pitchFamily="2" charset="0"/>
          </a:defRPr>
        </a:defPPr>
      </a:lstStyle>
    </a:txDef>
  </a:objectDefaults>
  <a:extraClrSchemeLst/>
  <a:extLst>
    <a:ext uri="{05A4C25C-085E-4340-85A3-A5531E510DB2}">
      <thm15:themeFamily xmlns:thm15="http://schemas.microsoft.com/office/thememl/2012/main" name="417template" id="{AAF81601-399A-2442-AAE4-D244F3C4B759}" vid="{29E269BC-C148-3C43-85B3-C1C1EC7BE7BC}"/>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39204</TotalTime>
  <Words>4657</Words>
  <Application>Microsoft Office PowerPoint</Application>
  <PresentationFormat>Widescreen</PresentationFormat>
  <Paragraphs>1174</Paragraphs>
  <Slides>39</Slides>
  <Notes>20</Notes>
  <HiddenSlides>0</HiddenSlides>
  <MMClips>0</MMClips>
  <ScaleCrop>false</ScaleCrop>
  <HeadingPairs>
    <vt:vector size="8" baseType="variant">
      <vt:variant>
        <vt:lpstr>Fonts Used</vt:lpstr>
      </vt:variant>
      <vt:variant>
        <vt:i4>8</vt:i4>
      </vt:variant>
      <vt:variant>
        <vt:lpstr>Theme</vt:lpstr>
      </vt:variant>
      <vt:variant>
        <vt:i4>2</vt:i4>
      </vt:variant>
      <vt:variant>
        <vt:lpstr>Embedded OLE Servers</vt:lpstr>
      </vt:variant>
      <vt:variant>
        <vt:i4>1</vt:i4>
      </vt:variant>
      <vt:variant>
        <vt:lpstr>Slide Titles</vt:lpstr>
      </vt:variant>
      <vt:variant>
        <vt:i4>39</vt:i4>
      </vt:variant>
    </vt:vector>
  </HeadingPairs>
  <TitlesOfParts>
    <vt:vector size="50" baseType="lpstr">
      <vt:lpstr>Aptos</vt:lpstr>
      <vt:lpstr>Arial</vt:lpstr>
      <vt:lpstr>Calibri</vt:lpstr>
      <vt:lpstr>Calibri Light</vt:lpstr>
      <vt:lpstr>Cambria Math</vt:lpstr>
      <vt:lpstr>Comic Sans MS</vt:lpstr>
      <vt:lpstr>Lato</vt:lpstr>
      <vt:lpstr>Symbol</vt:lpstr>
      <vt:lpstr>Office Theme</vt:lpstr>
      <vt:lpstr>1_Office Theme</vt:lpstr>
      <vt:lpstr>Photo Editor Photo</vt:lpstr>
      <vt:lpstr>Lecture 22: Max Flow Applications</vt:lpstr>
      <vt:lpstr>Origins of Max Flow and Min Cut Problems</vt:lpstr>
      <vt:lpstr>Flow Graph</vt:lpstr>
      <vt:lpstr>Maximum Flow Problem</vt:lpstr>
      <vt:lpstr>Residual Graphs</vt:lpstr>
      <vt:lpstr>Residual Graphs and Augmenting Paths</vt:lpstr>
      <vt:lpstr>Fork Fulkerson Algorithm</vt:lpstr>
      <vt:lpstr>Cuts</vt:lpstr>
      <vt:lpstr>Cuts</vt:lpstr>
      <vt:lpstr>Minimum Cut Problem</vt:lpstr>
      <vt:lpstr>Flows and Cuts</vt:lpstr>
      <vt:lpstr>Flows and Cuts (Simplified)</vt:lpstr>
      <vt:lpstr>Certificate of Optimality</vt:lpstr>
      <vt:lpstr>PowerPoint Presentation</vt:lpstr>
      <vt:lpstr>PowerPoint Presentation</vt:lpstr>
      <vt:lpstr>Flows and Cuts (Complete)</vt:lpstr>
      <vt:lpstr>Ford-Fulkerson Running Time</vt:lpstr>
      <vt:lpstr>Applications of Max Flow</vt:lpstr>
      <vt:lpstr>Reductions</vt:lpstr>
      <vt:lpstr>Max Flow Reductions</vt:lpstr>
      <vt:lpstr>Shift Scheduling</vt:lpstr>
      <vt:lpstr>Shift Scheduling problem</vt:lpstr>
      <vt:lpstr>Reducing to Max Flow</vt:lpstr>
      <vt:lpstr>Reducing to Max Flow</vt:lpstr>
      <vt:lpstr>Shift Scheduling Reduces to Max Flow</vt:lpstr>
      <vt:lpstr>Running Time</vt:lpstr>
      <vt:lpstr>Correctness</vt:lpstr>
      <vt:lpstr>Reductions and Correctness</vt:lpstr>
      <vt:lpstr>Edge-Disjoint Paths</vt:lpstr>
      <vt:lpstr>Edge-Disjoint Paths – Example of size 2</vt:lpstr>
      <vt:lpstr>Edge-Disjoint Paths</vt:lpstr>
      <vt:lpstr>Edge Disjoint Paths Reduction to Max Flow</vt:lpstr>
      <vt:lpstr>Edge-Disjoint Paths</vt:lpstr>
      <vt:lpstr>Vertex-Disjoint Paths</vt:lpstr>
      <vt:lpstr>Vertex-Disjoint Paths</vt:lpstr>
      <vt:lpstr>Vertex Disjoint Paths Reduction to Edge-Disjoint Paths</vt:lpstr>
      <vt:lpstr>Vertex-Disjoint Paths Running time</vt:lpstr>
      <vt:lpstr>Vertex-Disjoint Paths</vt:lpstr>
      <vt:lpstr>Final reminders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Glenn Sun</dc:creator>
  <cp:lastModifiedBy>Nathan Brunelle</cp:lastModifiedBy>
  <cp:revision>135</cp:revision>
  <dcterms:created xsi:type="dcterms:W3CDTF">2025-09-15T17:56:15Z</dcterms:created>
  <dcterms:modified xsi:type="dcterms:W3CDTF">2025-11-14T03:36:37Z</dcterms:modified>
</cp:coreProperties>
</file>