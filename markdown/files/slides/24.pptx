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03" r:id="rId3"/>
    <p:sldId id="304" r:id="rId4"/>
    <p:sldId id="305" r:id="rId5"/>
    <p:sldId id="306" r:id="rId6"/>
    <p:sldId id="317" r:id="rId7"/>
    <p:sldId id="318" r:id="rId8"/>
    <p:sldId id="307" r:id="rId9"/>
    <p:sldId id="319" r:id="rId10"/>
    <p:sldId id="321" r:id="rId11"/>
    <p:sldId id="322" r:id="rId12"/>
    <p:sldId id="315" r:id="rId13"/>
    <p:sldId id="325" r:id="rId14"/>
    <p:sldId id="316" r:id="rId15"/>
    <p:sldId id="327" r:id="rId16"/>
    <p:sldId id="326" r:id="rId17"/>
    <p:sldId id="314" r:id="rId18"/>
    <p:sldId id="328" r:id="rId19"/>
    <p:sldId id="323" r:id="rId20"/>
    <p:sldId id="320" r:id="rId21"/>
    <p:sldId id="310" r:id="rId22"/>
    <p:sldId id="308" r:id="rId23"/>
    <p:sldId id="309" r:id="rId24"/>
    <p:sldId id="311" r:id="rId25"/>
    <p:sldId id="313" r:id="rId26"/>
    <p:sldId id="329" r:id="rId27"/>
    <p:sldId id="330" r:id="rId28"/>
    <p:sldId id="30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DE8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51"/>
    <p:restoredTop sz="94648"/>
  </p:normalViewPr>
  <p:slideViewPr>
    <p:cSldViewPr snapToGrid="0">
      <p:cViewPr>
        <p:scale>
          <a:sx n="95" d="100"/>
          <a:sy n="95" d="100"/>
        </p:scale>
        <p:origin x="528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FFABE-B212-5F4F-8C26-F539B2DEA913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2AF9BE-9FCA-D64E-8150-DC197F2F3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257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AF9BE-9FCA-D64E-8150-DC197F2F32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87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7D9D1-095B-4DBA-8DEC-E405CB58DA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885598"/>
            <a:ext cx="10515600" cy="1086803"/>
          </a:xfrm>
        </p:spPr>
        <p:txBody>
          <a:bodyPr anchor="ctr" anchorCtr="0">
            <a:normAutofit/>
          </a:bodyPr>
          <a:lstStyle>
            <a:lvl1pPr algn="ctr">
              <a:defRPr sz="4000" b="1" i="0">
                <a:latin typeface="Lato" panose="020F0502020204030203" pitchFamily="34" charset="77"/>
                <a:ea typeface="Inter SemiBold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867FBA-33D2-60ED-ED3B-6705E7659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68925"/>
            <a:ext cx="9144000" cy="108680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0065E-44D0-1DE1-F746-2E1483108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99D50-6C11-F355-3907-B7B6AA7C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F60BC-AE1C-EF77-D52C-0018765B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4DA4AD-1443-FFD1-A456-D7CE21E5D5CE}"/>
              </a:ext>
            </a:extLst>
          </p:cNvPr>
          <p:cNvSpPr txBox="1"/>
          <p:nvPr userDrawn="1"/>
        </p:nvSpPr>
        <p:spPr>
          <a:xfrm>
            <a:off x="3940603" y="1600201"/>
            <a:ext cx="4310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i="0" dirty="0">
                <a:latin typeface="Lato" panose="020F0502020204030203" pitchFamily="34" charset="77"/>
                <a:ea typeface="Inter SemiBold" panose="02000503000000020004" pitchFamily="2" charset="0"/>
              </a:rPr>
              <a:t>CSE 417 Autumn 2025</a:t>
            </a:r>
          </a:p>
        </p:txBody>
      </p:sp>
    </p:spTree>
    <p:extLst>
      <p:ext uri="{BB962C8B-B14F-4D97-AF65-F5344CB8AC3E}">
        <p14:creationId xmlns:p14="http://schemas.microsoft.com/office/powerpoint/2010/main" val="640041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A2EDD-30A1-34B8-6560-7715E9F90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FD3F6-B915-CECB-2EBB-967DB805B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C9FACB-40A3-1E43-7806-281B8F17C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25C21D-E7FF-5E85-A629-A0BD669A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C9E00-A09D-5695-0775-2A8AC61F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63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7894-C6F1-AC56-86B3-B35DACFC2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9B395-EE52-4464-D0E0-2553F2680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980"/>
            <a:ext cx="10515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6F0D2-D541-330E-58FA-8B1E1FC79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230DC-F558-FF50-2FAE-AFA122056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EA433-6FA7-2A8B-4EB7-521456F3C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45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A062F-FC3F-83E5-372F-ECBCF5967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806A1-86B4-A582-ADBA-03ECDB5854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63980"/>
            <a:ext cx="5181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D7F8CB-33E9-5CEA-DA3F-BAA9076784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63980"/>
            <a:ext cx="5181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4E091-4E25-8F22-6B24-C7AB8376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024DED-0F57-84CE-062B-1EA5CCCE9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C6A2E-186F-8737-38C9-291609A1C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509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AB506-5F4A-20D8-140E-E2B46B27D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1BFBFF-35D0-B220-7FEC-9D3F73B0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3640E-124C-7CA1-38E1-C4AAE73C1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7D5502-7B2E-4E30-9922-E894EFFC0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06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6A9A7C-3F21-A78F-2566-746E2026C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49725F-FEBB-B0DA-62A4-49A5734E5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41549-BD27-5919-F7C5-449AE0555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38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100000">
              <a:srgbClr val="EDE8F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D7BD56-5061-2105-B4B6-29A382E67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8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E0FB9-3549-BB78-BBE6-EF2A3F35B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63980"/>
            <a:ext cx="10515600" cy="4812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1243B-7CDA-B4EB-323F-390D84821A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DE083-9D53-4F3A-3533-F85192BB2E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8EBF9-3C79-3B56-88AE-383BAE3CC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448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2" r:id="rId4"/>
    <p:sldLayoutId id="2147483654" r:id="rId5"/>
    <p:sldLayoutId id="2147483655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Lato" panose="020F0502020204030203" pitchFamily="34" charset="77"/>
          <a:ea typeface="Inter SemiBold" panose="02000503000000020004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None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1pPr>
      <a:lvl2pPr marL="133350" indent="0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None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2pPr>
      <a:lvl3pPr marL="923925" indent="-346075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3pPr>
      <a:lvl4pPr marL="1381125" indent="-346075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4pPr>
      <a:lvl5pPr marL="1836738" indent="-344488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ashington.zoom.us/my/nathanbrunelle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5EF43-76C4-4A20-1A86-6CE0FD267A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24: Intro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27621A-E45C-6CF2-1FF4-A38CEC2D49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Glenn Sun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7425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E04D4E-4611-7E90-5107-03382E14B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problems are hard to solve exactly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E15736-5FBF-1AAD-986B-441452BDA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974" y="2354856"/>
            <a:ext cx="2201114" cy="21482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052977F-9B0F-97A4-FB54-1CACD83E46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562"/>
          <a:stretch>
            <a:fillRect/>
          </a:stretch>
        </p:blipFill>
        <p:spPr>
          <a:xfrm>
            <a:off x="4524495" y="2263140"/>
            <a:ext cx="3143010" cy="2331720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0384A0B-BE04-25DC-DF3D-729438DE93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065876"/>
              </p:ext>
            </p:extLst>
          </p:nvPr>
        </p:nvGraphicFramePr>
        <p:xfrm>
          <a:off x="8962946" y="2559888"/>
          <a:ext cx="2058080" cy="1943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60">
                  <a:extLst>
                    <a:ext uri="{9D8B030D-6E8A-4147-A177-3AD203B41FA5}">
                      <a16:colId xmlns:a16="http://schemas.microsoft.com/office/drawing/2014/main" val="80516029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41367085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2132520163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861048189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1088245010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492618705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780364359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343501168"/>
                    </a:ext>
                  </a:extLst>
                </a:gridCol>
              </a:tblGrid>
              <a:tr h="383592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8820"/>
                  </a:ext>
                </a:extLst>
              </a:tr>
              <a:tr h="383592"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027614"/>
                  </a:ext>
                </a:extLst>
              </a:tr>
              <a:tr h="383592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6555531"/>
                  </a:ext>
                </a:extLst>
              </a:tr>
              <a:tr h="383592"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7100737"/>
                  </a:ext>
                </a:extLst>
              </a:tr>
              <a:tr h="383592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430255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383C8D1-9C81-75AF-ECBA-1967EFF12797}"/>
              </a:ext>
            </a:extLst>
          </p:cNvPr>
          <p:cNvSpPr txBox="1"/>
          <p:nvPr/>
        </p:nvSpPr>
        <p:spPr>
          <a:xfrm>
            <a:off x="1053890" y="5338119"/>
            <a:ext cx="2435282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graph coloring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B855E-AD68-280E-F528-6696B54C64C2}"/>
              </a:ext>
            </a:extLst>
          </p:cNvPr>
          <p:cNvSpPr txBox="1"/>
          <p:nvPr/>
        </p:nvSpPr>
        <p:spPr>
          <a:xfrm>
            <a:off x="5029041" y="5338119"/>
            <a:ext cx="2133918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vertex cover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AAAF0-5E11-8699-5DA9-0DFFE22BAD8E}"/>
              </a:ext>
            </a:extLst>
          </p:cNvPr>
          <p:cNvSpPr txBox="1"/>
          <p:nvPr/>
        </p:nvSpPr>
        <p:spPr>
          <a:xfrm>
            <a:off x="8777555" y="5338119"/>
            <a:ext cx="2428870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load balancing</a:t>
            </a:r>
          </a:p>
        </p:txBody>
      </p:sp>
    </p:spTree>
    <p:extLst>
      <p:ext uri="{BB962C8B-B14F-4D97-AF65-F5344CB8AC3E}">
        <p14:creationId xmlns:p14="http://schemas.microsoft.com/office/powerpoint/2010/main" val="3822975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D988C-4649-14BC-2878-7BA333E9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do when a problem is hard?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56416-9FE3-E3E3-9B1F-906349BB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Idea 1: </a:t>
            </a:r>
            <a:r>
              <a:rPr lang="en-US" dirty="0"/>
              <a:t>Try a brute-force algorithm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Okay if you know the inputs are going to be very small</a:t>
            </a:r>
          </a:p>
          <a:p>
            <a:r>
              <a:rPr lang="en-US" b="1" dirty="0"/>
              <a:t>Idea 2: </a:t>
            </a:r>
            <a:r>
              <a:rPr lang="en-US" dirty="0"/>
              <a:t>Try an approximation algorithm or a greedy idea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May still be quite far from optimal</a:t>
            </a:r>
          </a:p>
          <a:p>
            <a:r>
              <a:rPr lang="en-US" b="1" dirty="0">
                <a:solidFill>
                  <a:schemeClr val="accent3"/>
                </a:solidFill>
              </a:rPr>
              <a:t>Idea 3: </a:t>
            </a:r>
            <a:r>
              <a:rPr lang="en-US" dirty="0">
                <a:solidFill>
                  <a:schemeClr val="accent3"/>
                </a:solidFill>
              </a:rPr>
              <a:t>Try to use a SAT solver</a:t>
            </a:r>
          </a:p>
        </p:txBody>
      </p:sp>
    </p:spTree>
    <p:extLst>
      <p:ext uri="{BB962C8B-B14F-4D97-AF65-F5344CB8AC3E}">
        <p14:creationId xmlns:p14="http://schemas.microsoft.com/office/powerpoint/2010/main" val="26864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E890A-A49A-7F9D-BF38-F29D06E25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easy and hard mean?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6D481-9951-B49D-B30F-02A9199455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decision problem</a:t>
                </a:r>
                <a:r>
                  <a:rPr lang="en-US" dirty="0"/>
                  <a:t>: answer is “yes” or “no”</a:t>
                </a:r>
              </a:p>
              <a:p>
                <a:r>
                  <a:rPr lang="en-US" b="1" dirty="0">
                    <a:solidFill>
                      <a:schemeClr val="accent2"/>
                    </a:solidFill>
                  </a:rPr>
                  <a:t>P</a:t>
                </a:r>
                <a:r>
                  <a:rPr lang="en-US" dirty="0"/>
                  <a:t>: decision problems that can be solved in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time for some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(here,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is the input size)</a:t>
                </a:r>
                <a:endParaRPr lang="en-US" b="1" dirty="0"/>
              </a:p>
              <a:p>
                <a:endParaRPr lang="en-US" dirty="0"/>
              </a:p>
              <a:p>
                <a:pPr algn="ctr"/>
                <a:r>
                  <a:rPr lang="en-US" b="1" dirty="0"/>
                  <a:t>easy ≈ P</a:t>
                </a:r>
              </a:p>
              <a:p>
                <a:pPr algn="ctr"/>
                <a:r>
                  <a:rPr lang="en-US" b="1" dirty="0"/>
                  <a:t>hard ≈ everything not in P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6D481-9951-B49D-B30F-02A9199455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69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EB6F1-0BBF-3DBA-BF50-AD4AC7618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of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05F1-72FA-F45A-A78A-65B1FF96E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the following problems belong to P?</a:t>
            </a:r>
          </a:p>
          <a:p>
            <a:r>
              <a:rPr lang="en-US" b="1" dirty="0">
                <a:solidFill>
                  <a:schemeClr val="accent3"/>
                </a:solidFill>
              </a:rPr>
              <a:t>Q: </a:t>
            </a:r>
            <a:r>
              <a:rPr lang="en-US" dirty="0"/>
              <a:t>Find the smallest number of coins needed to make change with quarters, dimes, nickels, and pennies.</a:t>
            </a:r>
          </a:p>
          <a:p>
            <a:r>
              <a:rPr lang="en-US" b="1" dirty="0">
                <a:solidFill>
                  <a:schemeClr val="accent5"/>
                </a:solidFill>
              </a:rPr>
              <a:t>A: </a:t>
            </a:r>
            <a:r>
              <a:rPr lang="en-US" dirty="0"/>
              <a:t>No, not a decision problem!</a:t>
            </a:r>
          </a:p>
        </p:txBody>
      </p:sp>
    </p:spTree>
    <p:extLst>
      <p:ext uri="{BB962C8B-B14F-4D97-AF65-F5344CB8AC3E}">
        <p14:creationId xmlns:p14="http://schemas.microsoft.com/office/powerpoint/2010/main" val="2032975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A9B23-C2AE-053E-D0A9-72AF1F8AD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FD035-803D-DAFD-800A-B8D2793AA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of practice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75CFBD-DE29-5A9E-5A11-87EA83EE47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Do the following problems belong to P?</a:t>
                </a:r>
              </a:p>
              <a:p>
                <a:r>
                  <a:rPr lang="en-US" b="1" dirty="0">
                    <a:solidFill>
                      <a:schemeClr val="accent3"/>
                    </a:solidFill>
                  </a:rPr>
                  <a:t>Q: </a:t>
                </a:r>
                <a:r>
                  <a:rPr lang="en-US" dirty="0"/>
                  <a:t>Is there a spanning tree with weight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b="1" dirty="0">
                    <a:solidFill>
                      <a:schemeClr val="accent5"/>
                    </a:solidFill>
                  </a:rPr>
                  <a:t>A: </a:t>
                </a:r>
                <a:r>
                  <a:rPr lang="en-US" dirty="0"/>
                  <a:t>Yes, run Prim’s or Kruskal’s algorithms, then compare with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75CFBD-DE29-5A9E-5A11-87EA83EE47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617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10CDC-B35C-A34C-2C30-B7E889502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82BBC-C6AB-D4D0-673C-D5F10122E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of practice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2A727-9D38-1CA6-DAC2-32FD4070A5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Do the following problems belong to P?</a:t>
                </a:r>
              </a:p>
              <a:p>
                <a:r>
                  <a:rPr lang="en-US" b="1" dirty="0">
                    <a:solidFill>
                      <a:schemeClr val="accent3"/>
                    </a:solidFill>
                  </a:rPr>
                  <a:t>Q: </a:t>
                </a:r>
                <a:r>
                  <a:rPr lang="en-US" dirty="0"/>
                  <a:t>Given a graph, can it be colored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colors so that no edge has the same color on both endpoints?</a:t>
                </a:r>
              </a:p>
              <a:p>
                <a:r>
                  <a:rPr lang="en-US" b="1" dirty="0">
                    <a:solidFill>
                      <a:schemeClr val="accent5"/>
                    </a:solidFill>
                  </a:rPr>
                  <a:t>A: </a:t>
                </a:r>
                <a:r>
                  <a:rPr lang="en-US" dirty="0"/>
                  <a:t>We don’t know! (We don’t think so.)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2A727-9D38-1CA6-DAC2-32FD4070A5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077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B39A9-4F43-0ED7-E2DB-76D09FA9C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class NP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97D74F-B924-E881-B82F-937F7158A0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NP</a:t>
                </a:r>
                <a:r>
                  <a:rPr lang="en-US" dirty="0"/>
                  <a:t>: decision problems whose solutions can be </a:t>
                </a:r>
                <a:r>
                  <a:rPr lang="en-US" i="1" dirty="0"/>
                  <a:t>checked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time for some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Example: Given a sample coloring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𝐜𝐨𝐥𝐨𝐫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can check if graph is correctly colored with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colors in linear time.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Loop through all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, check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𝒄𝒐𝒍𝒐𝒓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uses at most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colors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Loop through all edges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check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𝐜𝐨𝐥𝐨𝐫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𝐜𝐨𝐥𝐨𝐫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97D74F-B924-E881-B82F-937F7158A0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13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A58A9-102C-7808-1581-8A1867D3E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 vs. NP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C73CF-D170-4820-0C64-B5B83710F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important open problem in CS:</a:t>
            </a:r>
          </a:p>
          <a:p>
            <a:pPr algn="ctr"/>
            <a:r>
              <a:rPr lang="en-US" b="1" dirty="0"/>
              <a:t>Prove that either P = NP or P ≠ NP.</a:t>
            </a:r>
          </a:p>
          <a:p>
            <a:r>
              <a:rPr lang="en-US" dirty="0"/>
              <a:t>In other words, either: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Show how to solve every problem quickly, only knowing that it can be checked quickly, 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Give an example of a problem that can be checked quickly, but cannot be solved quickly.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D6B281-D549-E3FA-25D9-E9D21EFF528D}"/>
              </a:ext>
            </a:extLst>
          </p:cNvPr>
          <p:cNvSpPr txBox="1"/>
          <p:nvPr/>
        </p:nvSpPr>
        <p:spPr>
          <a:xfrm>
            <a:off x="7639431" y="963092"/>
            <a:ext cx="2920992" cy="57278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Most believe this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1C2C15-DB94-2301-46F6-FB821D955218}"/>
              </a:ext>
            </a:extLst>
          </p:cNvPr>
          <p:cNvCxnSpPr>
            <a:cxnSpLocks/>
          </p:cNvCxnSpPr>
          <p:nvPr/>
        </p:nvCxnSpPr>
        <p:spPr>
          <a:xfrm flipH="1">
            <a:off x="8108576" y="1707776"/>
            <a:ext cx="147918" cy="578224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56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DBA48-7A39-AA83-579B-5EE2BE9C2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prove not in P?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3555B1-E2A0-A450-2AC0-358370D6A6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There are some problems that cannot be solved in polynomial time.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Given a piece of code, an input to the code, and a number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, determine if the code will terminate within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“steps”.</a:t>
                </a:r>
              </a:p>
              <a:p>
                <a:r>
                  <a:rPr lang="en-US" b="1" dirty="0"/>
                  <a:t>Exponential time algorithm: </a:t>
                </a:r>
                <a:r>
                  <a:rPr lang="en-US" dirty="0"/>
                  <a:t>Run the code for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steps. But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is a number, taking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𝐥𝐨𝐠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bits in the input, so this is exponential.</a:t>
                </a:r>
              </a:p>
              <a:p>
                <a:r>
                  <a:rPr lang="en-US" b="1" dirty="0"/>
                  <a:t>Why impossible in P? </a:t>
                </a:r>
                <a:r>
                  <a:rPr lang="en-US" dirty="0"/>
                  <a:t>Wait for Wednesday, December 3!</a:t>
                </a:r>
              </a:p>
              <a:p>
                <a:r>
                  <a:rPr lang="en-US" dirty="0"/>
                  <a:t>Does </a:t>
                </a:r>
                <a:r>
                  <a:rPr lang="en-US" b="1" dirty="0"/>
                  <a:t>not</a:t>
                </a:r>
                <a:r>
                  <a:rPr lang="en-US" dirty="0"/>
                  <a:t> resolve P vs. NP because seems hard to verify answers.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3555B1-E2A0-A450-2AC0-358370D6A6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r="-1448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800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15FBF-618B-0481-3278-03A0B7FAD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people think the world looks like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092523-EDFE-9EAD-7BAB-BE9FCF2F08F5}"/>
              </a:ext>
            </a:extLst>
          </p:cNvPr>
          <p:cNvSpPr/>
          <p:nvPr/>
        </p:nvSpPr>
        <p:spPr>
          <a:xfrm>
            <a:off x="5244352" y="4773705"/>
            <a:ext cx="2138083" cy="149262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4D7531-350F-69B8-7C01-33F8AC510F83}"/>
              </a:ext>
            </a:extLst>
          </p:cNvPr>
          <p:cNvSpPr txBox="1"/>
          <p:nvPr/>
        </p:nvSpPr>
        <p:spPr>
          <a:xfrm>
            <a:off x="6096000" y="5177117"/>
            <a:ext cx="404278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P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9EFEF5-53A0-EAB2-5BB1-918238E69BB6}"/>
              </a:ext>
            </a:extLst>
          </p:cNvPr>
          <p:cNvSpPr/>
          <p:nvPr/>
        </p:nvSpPr>
        <p:spPr>
          <a:xfrm>
            <a:off x="4811805" y="3792712"/>
            <a:ext cx="3000936" cy="276880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6E2B3D-3DA3-2911-0CC8-BEBA344FFAC4}"/>
              </a:ext>
            </a:extLst>
          </p:cNvPr>
          <p:cNvSpPr txBox="1"/>
          <p:nvPr/>
        </p:nvSpPr>
        <p:spPr>
          <a:xfrm>
            <a:off x="5974680" y="3996816"/>
            <a:ext cx="675185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NP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E60CEA3-52BB-1849-E8AA-92AE5B73FCB3}"/>
              </a:ext>
            </a:extLst>
          </p:cNvPr>
          <p:cNvSpPr/>
          <p:nvPr/>
        </p:nvSpPr>
        <p:spPr>
          <a:xfrm>
            <a:off x="3731557" y="2837329"/>
            <a:ext cx="5161430" cy="383230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BA3500-17C2-4859-714F-403EB332C349}"/>
              </a:ext>
            </a:extLst>
          </p:cNvPr>
          <p:cNvSpPr txBox="1"/>
          <p:nvPr/>
        </p:nvSpPr>
        <p:spPr>
          <a:xfrm>
            <a:off x="5460115" y="3015823"/>
            <a:ext cx="1704313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EXPTIME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54E25B-7FFB-C90D-8A2B-2D7F0926964D}"/>
              </a:ext>
            </a:extLst>
          </p:cNvPr>
          <p:cNvSpPr txBox="1"/>
          <p:nvPr/>
        </p:nvSpPr>
        <p:spPr>
          <a:xfrm>
            <a:off x="3172435" y="1568083"/>
            <a:ext cx="6252273" cy="1111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Other problems (e.g. non-decision problems, harder problems, etc.)</a:t>
            </a:r>
          </a:p>
        </p:txBody>
      </p:sp>
    </p:spTree>
    <p:extLst>
      <p:ext uri="{BB962C8B-B14F-4D97-AF65-F5344CB8AC3E}">
        <p14:creationId xmlns:p14="http://schemas.microsoft.com/office/powerpoint/2010/main" val="3685902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4813-0FA2-7CBF-1C7F-047E2D426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Boolean formulas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F26D7-8377-C960-E2E4-00581F148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18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B06B7-2715-E537-4FEC-19DD73CA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notations in different fields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E71CE37E-5302-CA17-1ADC-CCCF0AFB0BF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331195999"/>
                  </p:ext>
                </p:extLst>
              </p:nvPr>
            </p:nvGraphicFramePr>
            <p:xfrm>
              <a:off x="0" y="1915309"/>
              <a:ext cx="12192000" cy="4145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38400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9928516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5017937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Operation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Math/CS Theory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Programming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Electrical Engineering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and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&amp;&amp;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AB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or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||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not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!a    or    ~a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E71CE37E-5302-CA17-1ADC-CCCF0AFB0BF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331195999"/>
                  </p:ext>
                </p:extLst>
              </p:nvPr>
            </p:nvGraphicFramePr>
            <p:xfrm>
              <a:off x="0" y="1915309"/>
              <a:ext cx="12192000" cy="4145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38400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9928516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501793745"/>
                        </a:ext>
                      </a:extLst>
                    </a:gridCol>
                  </a:tblGrid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Operation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Math/CS Theory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Programming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Electrical Engineering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and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21" t="-101220" r="-301042" b="-2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&amp;&amp;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521" t="-101220" r="-101042" b="-2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or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21" t="-201220" r="-301042" b="-1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||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521" t="-201220" r="-101042" b="-1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not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21" t="-301220" r="-301042" b="-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!a    or    ~a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521" t="-301220" r="-101042" b="-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C30629EF-96F4-A857-4FDE-778E67A20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4952" y="5229561"/>
            <a:ext cx="1972235" cy="710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9F192-8763-E69C-301E-BB316A89BB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6200" y="3021479"/>
            <a:ext cx="2149738" cy="89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7D7094-5227-FBAE-10DB-E34D3AB57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7206" y="4012031"/>
            <a:ext cx="2258732" cy="94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911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77D912-5404-C983-C8CA-8CD8118B4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12F91D6E-018C-90F6-1FCD-187D625D79A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02862763"/>
                  </p:ext>
                </p:extLst>
              </p:nvPr>
            </p:nvGraphicFramePr>
            <p:xfrm>
              <a:off x="838200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12F91D6E-018C-90F6-1FCD-187D625D79A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02862763"/>
                  </p:ext>
                </p:extLst>
              </p:nvPr>
            </p:nvGraphicFramePr>
            <p:xfrm>
              <a:off x="838200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5" r="-2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205" r="-1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205" r="-1205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43D59318-7F20-1D6F-1AB9-7D484BD77C0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880327900"/>
                  </p:ext>
                </p:extLst>
              </p:nvPr>
            </p:nvGraphicFramePr>
            <p:xfrm>
              <a:off x="5042648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43D59318-7F20-1D6F-1AB9-7D484BD77C0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880327900"/>
                  </p:ext>
                </p:extLst>
              </p:nvPr>
            </p:nvGraphicFramePr>
            <p:xfrm>
              <a:off x="5042648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05" r="-2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05" r="-1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205" r="-1205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B16ECAB0-C719-C52B-5392-CA4AD00DB5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38608"/>
                  </p:ext>
                </p:extLst>
              </p:nvPr>
            </p:nvGraphicFramePr>
            <p:xfrm>
              <a:off x="9247096" y="2995556"/>
              <a:ext cx="210371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1994829580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21058009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37694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17347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63716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B16ECAB0-C719-C52B-5392-CA4AD00DB5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38608"/>
                  </p:ext>
                </p:extLst>
              </p:nvPr>
            </p:nvGraphicFramePr>
            <p:xfrm>
              <a:off x="9247096" y="2995556"/>
              <a:ext cx="210371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1994829580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2105800903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05" r="-102410" b="-2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205" r="-2410" b="-2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3769469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1734742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63716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D2D8F54-38DA-20BA-A3F2-116470A83C6C}"/>
              </a:ext>
            </a:extLst>
          </p:cNvPr>
          <p:cNvSpPr txBox="1"/>
          <p:nvPr/>
        </p:nvSpPr>
        <p:spPr>
          <a:xfrm>
            <a:off x="2031908" y="1607046"/>
            <a:ext cx="768159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and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1CF5F-0383-4BD6-20B1-033265DC6C23}"/>
              </a:ext>
            </a:extLst>
          </p:cNvPr>
          <p:cNvSpPr txBox="1"/>
          <p:nvPr/>
        </p:nvSpPr>
        <p:spPr>
          <a:xfrm>
            <a:off x="6236356" y="1607046"/>
            <a:ext cx="529312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C2CCA4-D1C4-23A3-92E4-284BACE69F0D}"/>
              </a:ext>
            </a:extLst>
          </p:cNvPr>
          <p:cNvSpPr txBox="1"/>
          <p:nvPr/>
        </p:nvSpPr>
        <p:spPr>
          <a:xfrm>
            <a:off x="10034299" y="1607045"/>
            <a:ext cx="720069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2539697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79775-AE4C-3827-2061-B405BA53F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3CE8D6-0161-972C-B354-A533A5917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7A8F8149-4A6C-01C5-B6D0-9E9A37CD63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50023429"/>
                  </p:ext>
                </p:extLst>
              </p:nvPr>
            </p:nvGraphicFramePr>
            <p:xfrm>
              <a:off x="838199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7A8F8149-4A6C-01C5-B6D0-9E9A37CD63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50023429"/>
                  </p:ext>
                </p:extLst>
              </p:nvPr>
            </p:nvGraphicFramePr>
            <p:xfrm>
              <a:off x="838199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252239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5714" r="-141429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796" r="-1020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Content Placeholder 3">
                <a:extLst>
                  <a:ext uri="{FF2B5EF4-FFF2-40B4-BE49-F238E27FC236}">
                    <a16:creationId xmlns:a16="http://schemas.microsoft.com/office/drawing/2014/main" id="{7AA5297F-75DB-1A34-ACFA-FDBA0AF92DA8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939687935"/>
                  </p:ext>
                </p:extLst>
              </p:nvPr>
            </p:nvGraphicFramePr>
            <p:xfrm>
              <a:off x="4612340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Content Placeholder 3">
                <a:extLst>
                  <a:ext uri="{FF2B5EF4-FFF2-40B4-BE49-F238E27FC236}">
                    <a16:creationId xmlns:a16="http://schemas.microsoft.com/office/drawing/2014/main" id="{7AA5297F-75DB-1A34-ACFA-FDBA0AF92DA8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939687935"/>
                  </p:ext>
                </p:extLst>
              </p:nvPr>
            </p:nvGraphicFramePr>
            <p:xfrm>
              <a:off x="4612340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515" r="-257576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5714" r="-142857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39796" r="-2041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Content Placeholder 3">
                <a:extLst>
                  <a:ext uri="{FF2B5EF4-FFF2-40B4-BE49-F238E27FC236}">
                    <a16:creationId xmlns:a16="http://schemas.microsoft.com/office/drawing/2014/main" id="{653219C1-A935-1343-4352-81E15B71E04D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775795050"/>
                  </p:ext>
                </p:extLst>
              </p:nvPr>
            </p:nvGraphicFramePr>
            <p:xfrm>
              <a:off x="8386481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Content Placeholder 3">
                <a:extLst>
                  <a:ext uri="{FF2B5EF4-FFF2-40B4-BE49-F238E27FC236}">
                    <a16:creationId xmlns:a16="http://schemas.microsoft.com/office/drawing/2014/main" id="{653219C1-A935-1343-4352-81E15B71E04D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775795050"/>
                  </p:ext>
                </p:extLst>
              </p:nvPr>
            </p:nvGraphicFramePr>
            <p:xfrm>
              <a:off x="8386481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515" r="-257576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5714" r="-142857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9796" r="-2041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85493C7-CF3D-0070-C05C-46D9EBC8F3B4}"/>
              </a:ext>
            </a:extLst>
          </p:cNvPr>
          <p:cNvSpPr txBox="1"/>
          <p:nvPr/>
        </p:nvSpPr>
        <p:spPr>
          <a:xfrm>
            <a:off x="1674084" y="1588607"/>
            <a:ext cx="1295547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implies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71956A-0F61-B780-614E-2758E684BE56}"/>
              </a:ext>
            </a:extLst>
          </p:cNvPr>
          <p:cNvSpPr txBox="1"/>
          <p:nvPr/>
        </p:nvSpPr>
        <p:spPr>
          <a:xfrm>
            <a:off x="5058698" y="1588607"/>
            <a:ext cx="2074607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if and only if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23D635-44C5-6E69-9440-60DF61921795}"/>
              </a:ext>
            </a:extLst>
          </p:cNvPr>
          <p:cNvSpPr txBox="1"/>
          <p:nvPr/>
        </p:nvSpPr>
        <p:spPr>
          <a:xfrm>
            <a:off x="8460943" y="1598406"/>
            <a:ext cx="2818400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exclusive or (</a:t>
            </a:r>
            <a:r>
              <a:rPr lang="en-US" sz="2800" dirty="0" err="1">
                <a:latin typeface="Lato" panose="020F0502020204030203" pitchFamily="34" charset="77"/>
                <a:ea typeface="Inter" panose="02000503000000020004" pitchFamily="2" charset="0"/>
              </a:rPr>
              <a:t>xor</a:t>
            </a: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4107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B7E35-4A64-11D3-EF2B-020AAF885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with truth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C0B520-6101-6DFC-21E9-25D89E1741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“Do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mean the same thing?”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C0B520-6101-6DFC-21E9-25D89E1741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47B86FA-3E6E-3D6B-BAB6-6ABC0A4C7B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421500042"/>
                  </p:ext>
                </p:extLst>
              </p:nvPr>
            </p:nvGraphicFramePr>
            <p:xfrm>
              <a:off x="1761564" y="2446020"/>
              <a:ext cx="334862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509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0155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396102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47B86FA-3E6E-3D6B-BAB6-6ABC0A4C7B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421500042"/>
                  </p:ext>
                </p:extLst>
              </p:nvPr>
            </p:nvGraphicFramePr>
            <p:xfrm>
              <a:off x="1761564" y="2446020"/>
              <a:ext cx="334862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509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0155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396102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333" r="-254667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5000" r="-138750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1818" r="-909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7E9C9C2-D585-2E1B-C1CC-A5FD7E11DC7C}"/>
              </a:ext>
            </a:extLst>
          </p:cNvPr>
          <p:cNvSpPr txBox="1"/>
          <p:nvPr/>
        </p:nvSpPr>
        <p:spPr>
          <a:xfrm>
            <a:off x="6642847" y="5890602"/>
            <a:ext cx="848309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Yes!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B784A-81A4-A143-6FBE-A08F0C7756C5}"/>
              </a:ext>
            </a:extLst>
          </p:cNvPr>
          <p:cNvCxnSpPr>
            <a:cxnSpLocks/>
          </p:cNvCxnSpPr>
          <p:nvPr/>
        </p:nvCxnSpPr>
        <p:spPr>
          <a:xfrm flipV="1">
            <a:off x="7611035" y="5597787"/>
            <a:ext cx="2097741" cy="579175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51F4CB-6CFE-11AA-7CE2-4033C3D09F4D}"/>
              </a:ext>
            </a:extLst>
          </p:cNvPr>
          <p:cNvCxnSpPr>
            <a:cxnSpLocks/>
          </p:cNvCxnSpPr>
          <p:nvPr/>
        </p:nvCxnSpPr>
        <p:spPr>
          <a:xfrm flipH="1" flipV="1">
            <a:off x="4580966" y="5597787"/>
            <a:ext cx="1942002" cy="579175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DFC0FAF1-7009-2BDC-6D53-8EE0A7CAF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7378898"/>
                  </p:ext>
                </p:extLst>
              </p:nvPr>
            </p:nvGraphicFramePr>
            <p:xfrm>
              <a:off x="6242248" y="2446020"/>
              <a:ext cx="455825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0612">
                      <a:extLst>
                        <a:ext uri="{9D8B030D-6E8A-4147-A177-3AD203B41FA5}">
                          <a16:colId xmlns:a16="http://schemas.microsoft.com/office/drawing/2014/main" val="4126837971"/>
                        </a:ext>
                      </a:extLst>
                    </a:gridCol>
                    <a:gridCol w="860612">
                      <a:extLst>
                        <a:ext uri="{9D8B030D-6E8A-4147-A177-3AD203B41FA5}">
                          <a16:colId xmlns:a16="http://schemas.microsoft.com/office/drawing/2014/main" val="1333537842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3964394294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17078972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r>
                            <a:rPr lang="en-US" sz="280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 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∨¬</m:t>
                              </m:r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4887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52007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0646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472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703807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DFC0FAF1-7009-2BDC-6D53-8EE0A7CAF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7378898"/>
                  </p:ext>
                </p:extLst>
              </p:nvPr>
            </p:nvGraphicFramePr>
            <p:xfrm>
              <a:off x="6242248" y="2446020"/>
              <a:ext cx="455825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0612">
                      <a:extLst>
                        <a:ext uri="{9D8B030D-6E8A-4147-A177-3AD203B41FA5}">
                          <a16:colId xmlns:a16="http://schemas.microsoft.com/office/drawing/2014/main" val="4126837971"/>
                        </a:ext>
                      </a:extLst>
                    </a:gridCol>
                    <a:gridCol w="860612">
                      <a:extLst>
                        <a:ext uri="{9D8B030D-6E8A-4147-A177-3AD203B41FA5}">
                          <a16:colId xmlns:a16="http://schemas.microsoft.com/office/drawing/2014/main" val="1333537842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3964394294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170789729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1" r="-430882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471" r="-330882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2321" r="-100893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2321" r="-893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4887275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5200768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0646680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47297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703807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3419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19D51-75B8-A537-FA17-F407ECAD0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Rewriting expressions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145434-AC1E-84BE-7F74-7A778BF08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Q: </a:t>
                </a:r>
                <a:r>
                  <a:rPr lang="en-US" dirty="0"/>
                  <a:t>Rewrite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 to an expression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US" dirty="0"/>
                  <a:t> only appears on the “inside” (attached to variables, not larger expressions).</a:t>
                </a:r>
              </a:p>
              <a:p>
                <a:r>
                  <a:rPr lang="en-US" b="1" dirty="0">
                    <a:solidFill>
                      <a:schemeClr val="accent5"/>
                    </a:solidFill>
                  </a:rPr>
                  <a:t>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145434-AC1E-84BE-7F74-7A778BF08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750BB47-D494-5B02-7EC2-E1645B1209D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60355545"/>
                  </p:ext>
                </p:extLst>
              </p:nvPr>
            </p:nvGraphicFramePr>
            <p:xfrm>
              <a:off x="1385046" y="3562125"/>
              <a:ext cx="4235826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221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6058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990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165399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sz="2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∧</m:t>
                                    </m:r>
                                    <m:r>
                                      <a:rPr kumimoji="0" lang="en-US" sz="2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750BB47-D494-5B02-7EC2-E1645B1209D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60355545"/>
                  </p:ext>
                </p:extLst>
              </p:nvPr>
            </p:nvGraphicFramePr>
            <p:xfrm>
              <a:off x="1385046" y="3562125"/>
              <a:ext cx="4235826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221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6058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990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165399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754" t="-2083" r="-489474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6667" t="-2083" r="-365000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35632" t="-2083" r="-151724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57692" t="-2083" r="-1538" b="-4229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3">
                <a:extLst>
                  <a:ext uri="{FF2B5EF4-FFF2-40B4-BE49-F238E27FC236}">
                    <a16:creationId xmlns:a16="http://schemas.microsoft.com/office/drawing/2014/main" id="{E05E9DE5-E847-8B8B-2A60-E0067B1AFC5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700209226"/>
                  </p:ext>
                </p:extLst>
              </p:nvPr>
            </p:nvGraphicFramePr>
            <p:xfrm>
              <a:off x="6571131" y="3562125"/>
              <a:ext cx="478266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8057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1678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698357378"/>
                        </a:ext>
                      </a:extLst>
                    </a:gridCol>
                    <a:gridCol w="180373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𝑎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∨¬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3">
                <a:extLst>
                  <a:ext uri="{FF2B5EF4-FFF2-40B4-BE49-F238E27FC236}">
                    <a16:creationId xmlns:a16="http://schemas.microsoft.com/office/drawing/2014/main" id="{E05E9DE5-E847-8B8B-2A60-E0067B1AFC5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700209226"/>
                  </p:ext>
                </p:extLst>
              </p:nvPr>
            </p:nvGraphicFramePr>
            <p:xfrm>
              <a:off x="6571131" y="3562125"/>
              <a:ext cx="478266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8057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1678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698357378"/>
                        </a:ext>
                      </a:extLst>
                    </a:gridCol>
                    <a:gridCol w="180373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852" t="-2083" r="-601852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8214" t="-2083" r="-480357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79032" t="-2083" r="-333871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4603" t="-2083" r="-228571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6197" t="-2083" r="-1408" b="-4229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8139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38D5-7042-714F-E807-069DE6AD9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5C51D-8EF1-B30C-A973-FDF5899BA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Morgan’s laws</a:t>
            </a:r>
          </a:p>
        </p:txBody>
      </p:sp>
      <p:pic>
        <p:nvPicPr>
          <p:cNvPr id="6" name="Content Placeholder 5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828A961C-A41A-418B-8A1E-8E5B598B4E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4897" y="3115684"/>
            <a:ext cx="3742205" cy="1605048"/>
          </a:xfrm>
        </p:spPr>
      </p:pic>
    </p:spTree>
    <p:extLst>
      <p:ext uri="{BB962C8B-B14F-4D97-AF65-F5344CB8AC3E}">
        <p14:creationId xmlns:p14="http://schemas.microsoft.com/office/powerpoint/2010/main" val="3102987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40C03-F4A5-4A8C-9561-1B4A1D146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Distributivity laws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5F2BCA-70BA-DD41-D340-3A018A82B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Just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dirty="0"/>
                  <a:t>, similar things are true for </a:t>
                </a:r>
                <a:r>
                  <a:rPr lang="en-US" dirty="0" err="1"/>
                  <a:t>boolean</a:t>
                </a:r>
                <a:r>
                  <a:rPr lang="en-US" dirty="0"/>
                  <a:t> expressions: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5F2BCA-70BA-DD41-D340-3A018A82B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black and white math symbols&#10;&#10;AI-generated content may be incorrect.">
            <a:extLst>
              <a:ext uri="{FF2B5EF4-FFF2-40B4-BE49-F238E27FC236}">
                <a16:creationId xmlns:a16="http://schemas.microsoft.com/office/drawing/2014/main" id="{D8097C80-842D-1620-97A8-F844B4926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041" y="3429000"/>
            <a:ext cx="5481918" cy="155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666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4F7F00-F9FB-09D0-7BF6-5DC26EFB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about SAT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71424-9754-6252-76A8-145810425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86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4927-AF90-E172-1B08-2790F1738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2SAT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5C08C4-A663-F59A-CD14-CA10E9E5F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Recall 2SAT from the graph algorithms unit:</a:t>
                </a:r>
              </a:p>
              <a:p>
                <a:r>
                  <a:rPr lang="en-US" b="1" dirty="0"/>
                  <a:t>Input: </a:t>
                </a:r>
                <a:r>
                  <a:rPr lang="en-US" dirty="0"/>
                  <a:t>A set of implications of the form “if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”</a:t>
                </a:r>
              </a:p>
              <a:p>
                <a:r>
                  <a:rPr lang="en-US" b="1" dirty="0"/>
                  <a:t>Goal: </a:t>
                </a:r>
                <a:r>
                  <a:rPr lang="en-US" dirty="0"/>
                  <a:t>Determine if all implications can be simultaneously satisfied</a:t>
                </a:r>
              </a:p>
              <a:p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are equivalent, this is the same as:</a:t>
                </a:r>
              </a:p>
              <a:p>
                <a:r>
                  <a:rPr lang="en-US" b="1" dirty="0"/>
                  <a:t>Input: </a:t>
                </a:r>
                <a:r>
                  <a:rPr lang="en-US" dirty="0"/>
                  <a:t>A set of </a:t>
                </a:r>
                <a:r>
                  <a:rPr lang="en-US" i="1" dirty="0"/>
                  <a:t>clauses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possibly negated</a:t>
                </a:r>
              </a:p>
              <a:p>
                <a:r>
                  <a:rPr lang="en-US" b="1" dirty="0"/>
                  <a:t>Goal: </a:t>
                </a:r>
                <a:r>
                  <a:rPr lang="en-US" dirty="0"/>
                  <a:t>Determine if all clauses can be simultaneously satisfied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5C08C4-A663-F59A-CD14-CA10E9E5F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1477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9F1B5-6349-175F-DBAE-0BDE7484E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 (Satisfiability)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2C87D-436B-A1C3-6811-4A049E91FF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literals</a:t>
                </a:r>
                <a:r>
                  <a:rPr lang="en-US" dirty="0"/>
                  <a:t>: variables or their negation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dirty="0"/>
              </a:p>
              <a:p>
                <a:r>
                  <a:rPr lang="en-US" b="1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/>
                  <a:t>: OR of literals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b="1" dirty="0">
                    <a:solidFill>
                      <a:schemeClr val="accent2"/>
                    </a:solidFill>
                  </a:rPr>
                  <a:t>conjunction normal form (CNF)</a:t>
                </a:r>
                <a:r>
                  <a:rPr lang="en-US" dirty="0"/>
                  <a:t>: AND of clauses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US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2C87D-436B-A1C3-6811-4A049E91FF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47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157CB-AC14-DADA-80FF-086AF37D1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 (Satisfiability)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F6F1E0-A9B4-71D6-EC53-65CD06058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Input: </a:t>
                </a:r>
                <a:r>
                  <a:rPr lang="en-US" dirty="0"/>
                  <a:t>A CNF formula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(equivalently a set of clauses)</a:t>
                </a:r>
              </a:p>
              <a:p>
                <a:r>
                  <a:rPr lang="en-US" b="1" dirty="0"/>
                  <a:t>Goal: </a:t>
                </a:r>
                <a:r>
                  <a:rPr lang="en-US" dirty="0"/>
                  <a:t>Does there exist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is true?</a:t>
                </a:r>
              </a:p>
              <a:p>
                <a:endParaRPr lang="en-US" dirty="0"/>
              </a:p>
              <a:p>
                <a:r>
                  <a:rPr lang="en-US" b="1" dirty="0"/>
                  <a:t>2SAT: </a:t>
                </a:r>
                <a:r>
                  <a:rPr lang="en-US" dirty="0"/>
                  <a:t>Clauses in the input are restricted to length 2.</a:t>
                </a:r>
              </a:p>
              <a:p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b="1" dirty="0"/>
                  <a:t>-SAT: </a:t>
                </a:r>
                <a:r>
                  <a:rPr lang="en-US" dirty="0"/>
                  <a:t>Clauses in the input are restricted to length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F6F1E0-A9B4-71D6-EC53-65CD06058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4382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5A2BE-5A9D-214A-76E7-C9447A4D8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1A1B-A5F9-DB65-ED9D-1140898AB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3"/>
                </a:solidFill>
              </a:rPr>
              <a:t>Q: </a:t>
            </a:r>
            <a:r>
              <a:rPr lang="en-US" dirty="0"/>
              <a:t>Is the following CNF satisfiable? Why or why not?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chemeClr val="accent5"/>
                </a:solidFill>
              </a:rPr>
              <a:t>A: </a:t>
            </a:r>
            <a:r>
              <a:rPr lang="en-US" dirty="0"/>
              <a:t>No, not satisfiable.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210E6EF-232E-0062-2A60-92B550D44D7F}"/>
                  </a:ext>
                </a:extLst>
              </p:cNvPr>
              <p:cNvSpPr txBox="1"/>
              <p:nvPr/>
            </p:nvSpPr>
            <p:spPr>
              <a:xfrm>
                <a:off x="712694" y="2951946"/>
                <a:ext cx="10999694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14300">
                  <a:buSzPct val="100000"/>
                </a:pP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br>
                  <a:rPr lang="en-US" sz="2800" b="0" i="1" dirty="0">
                    <a:latin typeface="Cambria Math" panose="02040503050406030204" pitchFamily="18" charset="0"/>
                  </a:rPr>
                </a:br>
                <a:r>
                  <a:rPr lang="en-US" sz="2800" b="0" i="1" dirty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∧(¬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210E6EF-232E-0062-2A60-92B550D44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94" y="2951946"/>
                <a:ext cx="10999694" cy="954107"/>
              </a:xfrm>
              <a:prstGeom prst="rect">
                <a:avLst/>
              </a:prstGeom>
              <a:blipFill>
                <a:blip r:embed="rId2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8776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EF925-C445-64F0-B021-0FF5F963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C2A2-D5EE-D40D-0F10-78A67449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importance of SAT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301E9-5310-3C1F-0980-F2E3244B4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SAT was the first problem to be shown to be </a:t>
            </a:r>
            <a:r>
              <a:rPr lang="en-US" b="1" dirty="0">
                <a:solidFill>
                  <a:schemeClr val="accent2"/>
                </a:solidFill>
              </a:rPr>
              <a:t>NP-hard</a:t>
            </a:r>
            <a:r>
              <a:rPr lang="en-US" dirty="0"/>
              <a:t>.</a:t>
            </a:r>
          </a:p>
          <a:p>
            <a:r>
              <a:rPr lang="en-US" dirty="0"/>
              <a:t>This means that: </a:t>
            </a:r>
            <a:r>
              <a:rPr lang="en-US" i="1" dirty="0"/>
              <a:t>every </a:t>
            </a:r>
            <a:r>
              <a:rPr lang="en-US" dirty="0"/>
              <a:t>NP problem can be encoded as an instance of SAT with a small (polynomial overhead).</a:t>
            </a:r>
          </a:p>
          <a:p>
            <a:r>
              <a:rPr lang="en-US" dirty="0"/>
              <a:t>In other words, if you could find an algorithm to solve SAT, you automatically have an algorithm to solve all NP problems!</a:t>
            </a:r>
          </a:p>
          <a:p>
            <a:r>
              <a:rPr lang="en-US" b="1" dirty="0"/>
              <a:t>Similar to: </a:t>
            </a:r>
            <a:r>
              <a:rPr lang="en-US" dirty="0"/>
              <a:t>Using graph algorithms to solve new problems, using Ford–Fulkerson to model new problems, etc.</a:t>
            </a:r>
          </a:p>
        </p:txBody>
      </p:sp>
    </p:spTree>
    <p:extLst>
      <p:ext uri="{BB962C8B-B14F-4D97-AF65-F5344CB8AC3E}">
        <p14:creationId xmlns:p14="http://schemas.microsoft.com/office/powerpoint/2010/main" val="23890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E67F9-88CC-5E34-6D89-A51DC865F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C3502-5114-495C-2668-D4BF22955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importance of SAT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821B5-6873-4F12-7CF1-F0E391C2C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General proof for all NP problems: Cook–Levin theorem, 1971</a:t>
            </a:r>
          </a:p>
          <a:p>
            <a:r>
              <a:rPr lang="en-US" dirty="0"/>
              <a:t>We won’t cover this, requires a mathematical definition of “what is an algorithm” and “what is a computer” (Turing machines).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Specific cases for some particular NP problems: next class!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5208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3EFC-2F64-826F-FDB8-C93DCFE6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NP-completeness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ED45B-30AF-8015-82C4-A2008FE92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problem that is both in NP and NP-hard is called </a:t>
            </a:r>
            <a:r>
              <a:rPr lang="en-US" b="1" dirty="0">
                <a:solidFill>
                  <a:schemeClr val="accent2"/>
                </a:solidFill>
              </a:rPr>
              <a:t>NP-complete</a:t>
            </a:r>
            <a:r>
              <a:rPr lang="en-US" dirty="0"/>
              <a:t>, such as SAT.</a:t>
            </a:r>
          </a:p>
          <a:p>
            <a:r>
              <a:rPr lang="en-US" dirty="0"/>
              <a:t>These are the hardest problems in NP.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B0AAA54-7FA5-AC75-17C1-010D1D9FAAE0}"/>
              </a:ext>
            </a:extLst>
          </p:cNvPr>
          <p:cNvSpPr/>
          <p:nvPr/>
        </p:nvSpPr>
        <p:spPr>
          <a:xfrm>
            <a:off x="6762188" y="5532460"/>
            <a:ext cx="2730874" cy="93258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521167-9474-BDA0-A9DE-94187E10C9CB}"/>
              </a:ext>
            </a:extLst>
          </p:cNvPr>
          <p:cNvSpPr txBox="1"/>
          <p:nvPr/>
        </p:nvSpPr>
        <p:spPr>
          <a:xfrm>
            <a:off x="7916028" y="5685339"/>
            <a:ext cx="773835" cy="572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P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221DCF-F9CE-88A3-21E5-5C83C83EC525}"/>
              </a:ext>
            </a:extLst>
          </p:cNvPr>
          <p:cNvSpPr/>
          <p:nvPr/>
        </p:nvSpPr>
        <p:spPr>
          <a:xfrm>
            <a:off x="5255557" y="3478988"/>
            <a:ext cx="5744137" cy="325734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5CB1BF-8089-AC53-FF60-B64F878C9810}"/>
              </a:ext>
            </a:extLst>
          </p:cNvPr>
          <p:cNvSpPr txBox="1"/>
          <p:nvPr/>
        </p:nvSpPr>
        <p:spPr>
          <a:xfrm>
            <a:off x="7759200" y="4770445"/>
            <a:ext cx="1292382" cy="572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NP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E1924B3-CC2F-6F9D-32A6-FC28DA5330B4}"/>
              </a:ext>
            </a:extLst>
          </p:cNvPr>
          <p:cNvSpPr/>
          <p:nvPr/>
        </p:nvSpPr>
        <p:spPr>
          <a:xfrm>
            <a:off x="6350182" y="3787030"/>
            <a:ext cx="3637596" cy="93258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4F6165-58DE-237E-3E25-5EA1B90C53C5}"/>
              </a:ext>
            </a:extLst>
          </p:cNvPr>
          <p:cNvSpPr txBox="1"/>
          <p:nvPr/>
        </p:nvSpPr>
        <p:spPr>
          <a:xfrm>
            <a:off x="7113112" y="3947309"/>
            <a:ext cx="3637597" cy="572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NP-complete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C0B3C8-E71F-D9C9-85EA-95404D955A90}"/>
              </a:ext>
            </a:extLst>
          </p:cNvPr>
          <p:cNvSpPr txBox="1"/>
          <p:nvPr/>
        </p:nvSpPr>
        <p:spPr>
          <a:xfrm>
            <a:off x="1662487" y="4501140"/>
            <a:ext cx="3045757" cy="1111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What we believe (assuming P</a:t>
            </a:r>
            <a:r>
              <a:rPr lang="en-US" sz="2800" dirty="0">
                <a:latin typeface="Lato" panose="020F0502020204030203" pitchFamily="34" charset="77"/>
              </a:rPr>
              <a:t> ≠ NP)</a:t>
            </a:r>
            <a:endParaRPr lang="en-US" sz="2800" dirty="0">
              <a:latin typeface="Lato" panose="020F0502020204030203" pitchFamily="34" charset="77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3856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AD558-DD3E-6D3D-261D-F0B9D99BC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reminders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0AA1D-BB56-462E-8975-E03FBDAEB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HW5 (DP) resubmissions close tonight @ 11:59pm!</a:t>
            </a:r>
          </a:p>
          <a:p>
            <a:r>
              <a:rPr lang="en-US" dirty="0"/>
              <a:t>HW7 (Flows) due </a:t>
            </a:r>
            <a:r>
              <a:rPr lang="en-US" b="1" dirty="0"/>
              <a:t>next</a:t>
            </a:r>
            <a:r>
              <a:rPr lang="en-US" dirty="0"/>
              <a:t> Wednesday night</a:t>
            </a:r>
          </a:p>
          <a:p>
            <a:r>
              <a:rPr lang="en-US" dirty="0"/>
              <a:t>I have OH now-12:30pm: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/>
              <a:t>Meet at front of classroom, we’ll walk over together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/>
              <a:t>CSE (Allen) 214 if you’re coming later</a:t>
            </a:r>
          </a:p>
          <a:p>
            <a:r>
              <a:rPr lang="en-US" dirty="0"/>
              <a:t>Nathan has online OH 12–1pm: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u="sng" dirty="0">
                <a:hlinkClick r:id="rId3"/>
              </a:rPr>
              <a:t>https://washington.zoom.us/my/nathanbrunelle</a:t>
            </a:r>
            <a:endParaRPr lang="en-US" u="sn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92056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ORIGINALSLIDENUMBER" val="1"/>
  <p:tag name="PPSPLIT_SPLIT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ORIGINALSLIDENUMBER" val="38"/>
  <p:tag name="PPSPLIT_SPLIT" val="1"/>
</p:tagLst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E68CD"/>
      </a:accent1>
      <a:accent2>
        <a:srgbClr val="D6431A"/>
      </a:accent2>
      <a:accent3>
        <a:srgbClr val="00ABC3"/>
      </a:accent3>
      <a:accent4>
        <a:srgbClr val="E09000"/>
      </a:accent4>
      <a:accent5>
        <a:srgbClr val="BC33AD"/>
      </a:accent5>
      <a:accent6>
        <a:srgbClr val="519304"/>
      </a:accent6>
      <a:hlink>
        <a:srgbClr val="467886"/>
      </a:hlink>
      <a:folHlink>
        <a:srgbClr val="467886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125000"/>
          </a:lnSpc>
          <a:spcBef>
            <a:spcPts val="2400"/>
          </a:spcBef>
          <a:defRPr sz="2800" dirty="0" err="1" smtClean="0">
            <a:latin typeface="Lato" panose="020F0502020204030203" pitchFamily="34" charset="77"/>
            <a:ea typeface="Inter" panose="02000503000000020004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417template" id="{AAF81601-399A-2442-AAE4-D244F3C4B759}" vid="{29E269BC-C148-3C43-85B3-C1C1EC7BE7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33974</TotalTime>
  <Words>1360</Words>
  <Application>Microsoft Macintosh PowerPoint</Application>
  <PresentationFormat>Widescreen</PresentationFormat>
  <Paragraphs>302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Lato</vt:lpstr>
      <vt:lpstr>Office Theme</vt:lpstr>
      <vt:lpstr>Lecture 24: Intro to NP-completeness</vt:lpstr>
      <vt:lpstr>Some problems are hard to solve exactly</vt:lpstr>
      <vt:lpstr>What to do when a problem is hard?</vt:lpstr>
      <vt:lpstr>What do easy and hard mean?</vt:lpstr>
      <vt:lpstr>A bit of practice</vt:lpstr>
      <vt:lpstr>A bit of practice</vt:lpstr>
      <vt:lpstr>A bit of practice</vt:lpstr>
      <vt:lpstr>The class NP</vt:lpstr>
      <vt:lpstr>P vs. NP</vt:lpstr>
      <vt:lpstr>How to prove not in P?</vt:lpstr>
      <vt:lpstr>What people think the world looks like</vt:lpstr>
      <vt:lpstr>Working with Boolean formulas</vt:lpstr>
      <vt:lpstr>Different notations in different fields</vt:lpstr>
      <vt:lpstr>Truth tables</vt:lpstr>
      <vt:lpstr>Truth tables</vt:lpstr>
      <vt:lpstr>Practice with truth tables</vt:lpstr>
      <vt:lpstr>Rewriting expressions</vt:lpstr>
      <vt:lpstr>De Morgan’s laws</vt:lpstr>
      <vt:lpstr>Distributivity laws</vt:lpstr>
      <vt:lpstr>All about SAT</vt:lpstr>
      <vt:lpstr>2SAT</vt:lpstr>
      <vt:lpstr>SAT (Satisfiability)</vt:lpstr>
      <vt:lpstr>SAT (Satisfiability)</vt:lpstr>
      <vt:lpstr>SAT example</vt:lpstr>
      <vt:lpstr>The importance of SAT</vt:lpstr>
      <vt:lpstr>The importance of SAT</vt:lpstr>
      <vt:lpstr>NP-completeness</vt:lpstr>
      <vt:lpstr>Final reminders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Glenn Sun</dc:creator>
  <cp:lastModifiedBy>Glenn Sun</cp:lastModifiedBy>
  <cp:revision>64</cp:revision>
  <dcterms:created xsi:type="dcterms:W3CDTF">2025-09-15T17:56:15Z</dcterms:created>
  <dcterms:modified xsi:type="dcterms:W3CDTF">2025-11-24T18:27:02Z</dcterms:modified>
</cp:coreProperties>
</file>