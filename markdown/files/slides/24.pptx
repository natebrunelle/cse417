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notesSlides/notesSlide1.xml" ContentType="application/vnd.openxmlformats-officedocument.presentationml.notesSlide+xml"/>
  <Override PartName="/ppt/tags/tag2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0"/>
  </p:notesMasterIdLst>
  <p:sldIdLst>
    <p:sldId id="256" r:id="rId2"/>
    <p:sldId id="303" r:id="rId3"/>
    <p:sldId id="304" r:id="rId4"/>
    <p:sldId id="305" r:id="rId5"/>
    <p:sldId id="306" r:id="rId6"/>
    <p:sldId id="317" r:id="rId7"/>
    <p:sldId id="318" r:id="rId8"/>
    <p:sldId id="307" r:id="rId9"/>
    <p:sldId id="319" r:id="rId10"/>
    <p:sldId id="321" r:id="rId11"/>
    <p:sldId id="322" r:id="rId12"/>
    <p:sldId id="315" r:id="rId13"/>
    <p:sldId id="325" r:id="rId14"/>
    <p:sldId id="316" r:id="rId15"/>
    <p:sldId id="327" r:id="rId16"/>
    <p:sldId id="326" r:id="rId17"/>
    <p:sldId id="314" r:id="rId18"/>
    <p:sldId id="328" r:id="rId19"/>
    <p:sldId id="323" r:id="rId20"/>
    <p:sldId id="320" r:id="rId21"/>
    <p:sldId id="310" r:id="rId22"/>
    <p:sldId id="308" r:id="rId23"/>
    <p:sldId id="309" r:id="rId24"/>
    <p:sldId id="311" r:id="rId25"/>
    <p:sldId id="313" r:id="rId26"/>
    <p:sldId id="329" r:id="rId27"/>
    <p:sldId id="330" r:id="rId28"/>
    <p:sldId id="302" r:id="rId2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EDE8F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651"/>
    <p:restoredTop sz="94648"/>
  </p:normalViewPr>
  <p:slideViewPr>
    <p:cSldViewPr snapToGrid="0">
      <p:cViewPr>
        <p:scale>
          <a:sx n="95" d="100"/>
          <a:sy n="95" d="100"/>
        </p:scale>
        <p:origin x="528" y="5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D7FFABE-B212-5F4F-8C26-F539B2DEA913}" type="datetimeFigureOut">
              <a:rPr lang="en-US" smtClean="0"/>
              <a:t>11/23/25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F2AF9BE-9FCA-D64E-8150-DC197F2F325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82575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2AF9BE-9FCA-D64E-8150-DC197F2F325E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587020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77D9D1-095B-4DBA-8DEC-E405CB58DA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885598"/>
            <a:ext cx="10515600" cy="1086803"/>
          </a:xfrm>
        </p:spPr>
        <p:txBody>
          <a:bodyPr anchor="ctr" anchorCtr="0">
            <a:normAutofit/>
          </a:bodyPr>
          <a:lstStyle>
            <a:lvl1pPr algn="ctr">
              <a:defRPr sz="4000" b="1" i="0">
                <a:latin typeface="Lato" panose="020F0502020204030203" pitchFamily="34" charset="77"/>
                <a:ea typeface="Inter SemiBold" panose="02000503000000020004" pitchFamily="2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8867FBA-33D2-60ED-ED3B-6705E76590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568925"/>
            <a:ext cx="9144000" cy="1086803"/>
          </a:xfrm>
        </p:spPr>
        <p:txBody>
          <a:bodyPr anchor="ctr" anchorCtr="0">
            <a:normAutofit/>
          </a:bodyPr>
          <a:lstStyle>
            <a:lvl1pPr marL="0" indent="0" algn="ctr">
              <a:buNone/>
              <a:defRPr sz="2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30065E-44D0-1DE1-F746-2E14831088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AF8295-1801-B44D-A758-12B66076D675}" type="datetimeFigureOut">
              <a:rPr lang="en-US" smtClean="0"/>
              <a:t>11/23/25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899D50-6C11-F355-3907-B7B6AA7C05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7F60BC-AE1C-EF77-D52C-0018765BE3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74DDEB-A76E-7746-9D36-92A1AD476462}" type="slidenum">
              <a:rPr lang="en-US" smtClean="0"/>
              <a:t>‹#›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D4DA4AD-1443-FFD1-A456-D7CE21E5D5CE}"/>
              </a:ext>
            </a:extLst>
          </p:cNvPr>
          <p:cNvSpPr txBox="1"/>
          <p:nvPr userDrawn="1"/>
        </p:nvSpPr>
        <p:spPr>
          <a:xfrm>
            <a:off x="3940603" y="1600201"/>
            <a:ext cx="431079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200" b="1" i="0" dirty="0">
                <a:latin typeface="Lato" panose="020F0502020204030203" pitchFamily="34" charset="77"/>
                <a:ea typeface="Inter SemiBold" panose="02000503000000020004" pitchFamily="2" charset="0"/>
              </a:rPr>
              <a:t>CSE 417 Autumn 2025</a:t>
            </a:r>
          </a:p>
        </p:txBody>
      </p:sp>
    </p:spTree>
    <p:extLst>
      <p:ext uri="{BB962C8B-B14F-4D97-AF65-F5344CB8AC3E}">
        <p14:creationId xmlns:p14="http://schemas.microsoft.com/office/powerpoint/2010/main" val="6400412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A2EDD-30A1-34B8-6560-7715E9F905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BFD3F6-B915-CECB-2EBB-967DB805B0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>
            <a:normAutofit/>
          </a:bodyPr>
          <a:lstStyle>
            <a:lvl1pPr marL="0" indent="0">
              <a:buNone/>
              <a:defRPr sz="28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C9FACB-40A3-1E43-7806-281B8F17C8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AF8295-1801-B44D-A758-12B66076D675}" type="datetimeFigureOut">
              <a:rPr lang="en-US" smtClean="0"/>
              <a:t>11/23/25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25C21D-E7FF-5E85-A629-A0BD669AC8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4C9E00-A09D-5695-0775-2A8AC61F96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74DDEB-A76E-7746-9D36-92A1AD4764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02639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EB7894-C6F1-AC56-86B3-B35DACFC26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09B395-EE52-4464-D0E0-2553F26809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63980"/>
            <a:ext cx="10515600" cy="481298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76F0D2-D541-330E-58FA-8B1E1FC791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AF8295-1801-B44D-A758-12B66076D675}" type="datetimeFigureOut">
              <a:rPr lang="en-US" smtClean="0"/>
              <a:t>11/23/25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5230DC-F558-FF50-2FAE-AFA1220566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CEA433-6FA7-2A8B-4EB7-521456F3C9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74DDEB-A76E-7746-9D36-92A1AD4764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54588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A062F-FC3F-83E5-372F-ECBCF59676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A806A1-86B4-A582-ADBA-03ECDB5854C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363980"/>
            <a:ext cx="5181600" cy="481298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6D7F8CB-33E9-5CEA-DA3F-BAA90767842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363980"/>
            <a:ext cx="5181600" cy="481298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8F4E091-4E25-8F22-6B24-C7AB8376B8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AF8295-1801-B44D-A758-12B66076D675}" type="datetimeFigureOut">
              <a:rPr lang="en-US" smtClean="0"/>
              <a:t>11/23/25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E024DED-0F57-84CE-062B-1EA5CCCE98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EC6A2E-186F-8737-38C9-291609A1C7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74DDEB-A76E-7746-9D36-92A1AD4764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95096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4AB506-5F4A-20D8-140E-E2B46B27DB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01BFBFF-35D0-B220-7FEC-9D3F73B060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AF8295-1801-B44D-A758-12B66076D675}" type="datetimeFigureOut">
              <a:rPr lang="en-US" smtClean="0"/>
              <a:t>11/23/25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103640E-124C-7CA1-38E1-C4AAE73C17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E7D5502-7B2E-4E30-9922-E894EFFC0C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74DDEB-A76E-7746-9D36-92A1AD4764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08064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96A9A7C-3F21-A78F-2566-746E2026CE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AF8295-1801-B44D-A758-12B66076D675}" type="datetimeFigureOut">
              <a:rPr lang="en-US" smtClean="0"/>
              <a:t>11/23/25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D49725F-FEBB-B0DA-62A4-49A5734E55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441549-BD27-5919-F7C5-449AE0555C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74DDEB-A76E-7746-9D36-92A1AD4764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20388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1"/>
            </a:gs>
            <a:gs pos="100000">
              <a:srgbClr val="EDE8F4"/>
            </a:gs>
          </a:gsLst>
          <a:lin ang="27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4D7BD56-5061-2105-B4B6-29A382E679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9885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9E0FB9-3549-BB78-BBE6-EF2A3F35B1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363980"/>
            <a:ext cx="10515600" cy="481298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E1243B-7CDA-B4EB-323F-390D84821A4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3AF8295-1801-B44D-A758-12B66076D675}" type="datetimeFigureOut">
              <a:rPr lang="en-US" smtClean="0"/>
              <a:t>11/23/25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DDE083-9D53-4F3A-3533-F85192BB2E1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68EBF9-3C79-3B56-88AE-383BAE3CCE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974DDEB-A76E-7746-9D36-92A1AD47646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84482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0" r:id="rId3"/>
    <p:sldLayoutId id="2147483652" r:id="rId4"/>
    <p:sldLayoutId id="2147483654" r:id="rId5"/>
    <p:sldLayoutId id="2147483655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b="1" i="0" kern="1200">
          <a:solidFill>
            <a:schemeClr val="tx1"/>
          </a:solidFill>
          <a:latin typeface="Lato" panose="020F0502020204030203" pitchFamily="34" charset="77"/>
          <a:ea typeface="Inter SemiBold" panose="02000503000000020004" pitchFamily="2" charset="0"/>
          <a:cs typeface="+mj-cs"/>
        </a:defRPr>
      </a:lvl1pPr>
    </p:titleStyle>
    <p:bodyStyle>
      <a:lvl1pPr marL="0" indent="0" algn="l" defTabSz="914400" rtl="0" eaLnBrk="1" latinLnBrk="0" hangingPunct="1">
        <a:lnSpc>
          <a:spcPct val="125000"/>
        </a:lnSpc>
        <a:spcBef>
          <a:spcPts val="2400"/>
        </a:spcBef>
        <a:spcAft>
          <a:spcPts val="0"/>
        </a:spcAft>
        <a:buFont typeface="Arial" panose="020B0604020202020204" pitchFamily="34" charset="0"/>
        <a:buNone/>
        <a:tabLst/>
        <a:defRPr sz="2800" kern="1200">
          <a:solidFill>
            <a:schemeClr val="tx1"/>
          </a:solidFill>
          <a:latin typeface="Lato" panose="020F0502020204030203" pitchFamily="34" charset="77"/>
          <a:ea typeface="Inter" panose="02000503000000020004" pitchFamily="2" charset="0"/>
          <a:cs typeface="+mn-cs"/>
        </a:defRPr>
      </a:lvl1pPr>
      <a:lvl2pPr marL="133350" indent="0" algn="l" defTabSz="914400" rtl="0" eaLnBrk="1" latinLnBrk="0" hangingPunct="1">
        <a:lnSpc>
          <a:spcPct val="125000"/>
        </a:lnSpc>
        <a:spcBef>
          <a:spcPts val="2400"/>
        </a:spcBef>
        <a:spcAft>
          <a:spcPts val="0"/>
        </a:spcAft>
        <a:buFont typeface="Arial" panose="020B0604020202020204" pitchFamily="34" charset="0"/>
        <a:buNone/>
        <a:tabLst/>
        <a:defRPr sz="2800" kern="1200">
          <a:solidFill>
            <a:schemeClr val="tx1"/>
          </a:solidFill>
          <a:latin typeface="Lato" panose="020F0502020204030203" pitchFamily="34" charset="77"/>
          <a:ea typeface="Inter" panose="02000503000000020004" pitchFamily="2" charset="0"/>
          <a:cs typeface="+mn-cs"/>
        </a:defRPr>
      </a:lvl2pPr>
      <a:lvl3pPr marL="923925" indent="-346075" algn="l" defTabSz="914400" rtl="0" eaLnBrk="1" latinLnBrk="0" hangingPunct="1">
        <a:lnSpc>
          <a:spcPct val="125000"/>
        </a:lnSpc>
        <a:spcBef>
          <a:spcPts val="2400"/>
        </a:spcBef>
        <a:spcAft>
          <a:spcPts val="0"/>
        </a:spcAft>
        <a:buFont typeface="Arial" panose="020B0604020202020204" pitchFamily="34" charset="0"/>
        <a:buChar char="•"/>
        <a:tabLst/>
        <a:defRPr sz="2800" kern="1200">
          <a:solidFill>
            <a:schemeClr val="tx1"/>
          </a:solidFill>
          <a:latin typeface="Lato" panose="020F0502020204030203" pitchFamily="34" charset="77"/>
          <a:ea typeface="Inter" panose="02000503000000020004" pitchFamily="2" charset="0"/>
          <a:cs typeface="+mn-cs"/>
        </a:defRPr>
      </a:lvl3pPr>
      <a:lvl4pPr marL="1381125" indent="-346075" algn="l" defTabSz="914400" rtl="0" eaLnBrk="1" latinLnBrk="0" hangingPunct="1">
        <a:lnSpc>
          <a:spcPct val="125000"/>
        </a:lnSpc>
        <a:spcBef>
          <a:spcPts val="2400"/>
        </a:spcBef>
        <a:spcAft>
          <a:spcPts val="0"/>
        </a:spcAft>
        <a:buFont typeface="Arial" panose="020B0604020202020204" pitchFamily="34" charset="0"/>
        <a:buChar char="•"/>
        <a:tabLst/>
        <a:defRPr sz="2800" kern="1200">
          <a:solidFill>
            <a:schemeClr val="tx1"/>
          </a:solidFill>
          <a:latin typeface="Lato" panose="020F0502020204030203" pitchFamily="34" charset="77"/>
          <a:ea typeface="Inter" panose="02000503000000020004" pitchFamily="2" charset="0"/>
          <a:cs typeface="+mn-cs"/>
        </a:defRPr>
      </a:lvl4pPr>
      <a:lvl5pPr marL="1836738" indent="-344488" algn="l" defTabSz="914400" rtl="0" eaLnBrk="1" latinLnBrk="0" hangingPunct="1">
        <a:lnSpc>
          <a:spcPct val="125000"/>
        </a:lnSpc>
        <a:spcBef>
          <a:spcPts val="2400"/>
        </a:spcBef>
        <a:spcAft>
          <a:spcPts val="0"/>
        </a:spcAft>
        <a:buFont typeface="Arial" panose="020B0604020202020204" pitchFamily="34" charset="0"/>
        <a:buChar char="•"/>
        <a:tabLst/>
        <a:defRPr sz="2800" kern="1200">
          <a:solidFill>
            <a:schemeClr val="tx1"/>
          </a:solidFill>
          <a:latin typeface="Lato" panose="020F0502020204030203" pitchFamily="34" charset="77"/>
          <a:ea typeface="Inter" panose="02000503000000020004" pitchFamily="2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7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0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3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washington.zoom.us/my/nathanbrunelle" TargetMode="External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05EF43-76C4-4A20-1A86-6CE0FD267AE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Lecture 24: Intro to NP-completeness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727621A-E45C-6CF2-1FF4-A38CEC2D49B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Glenn Sun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7774255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CE04D4E-4611-7E90-5107-03382E14B2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problems are hard to solve exactly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6E15736-5FBF-1AAD-986B-441452BDA3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0974" y="2354856"/>
            <a:ext cx="2201114" cy="2148288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D052977F-9B0F-97A4-FB54-1CACD83E463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59562"/>
          <a:stretch>
            <a:fillRect/>
          </a:stretch>
        </p:blipFill>
        <p:spPr>
          <a:xfrm>
            <a:off x="4524495" y="2263140"/>
            <a:ext cx="3143010" cy="2331720"/>
          </a:xfrm>
          <a:prstGeom prst="rect">
            <a:avLst/>
          </a:prstGeom>
        </p:spPr>
      </p:pic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D0384A0B-BE04-25DC-DF3D-729438DE93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37065876"/>
              </p:ext>
            </p:extLst>
          </p:nvPr>
        </p:nvGraphicFramePr>
        <p:xfrm>
          <a:off x="8962946" y="2559888"/>
          <a:ext cx="2058080" cy="1943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7260">
                  <a:extLst>
                    <a:ext uri="{9D8B030D-6E8A-4147-A177-3AD203B41FA5}">
                      <a16:colId xmlns:a16="http://schemas.microsoft.com/office/drawing/2014/main" val="80516029"/>
                    </a:ext>
                  </a:extLst>
                </a:gridCol>
                <a:gridCol w="257260">
                  <a:extLst>
                    <a:ext uri="{9D8B030D-6E8A-4147-A177-3AD203B41FA5}">
                      <a16:colId xmlns:a16="http://schemas.microsoft.com/office/drawing/2014/main" val="341367085"/>
                    </a:ext>
                  </a:extLst>
                </a:gridCol>
                <a:gridCol w="257260">
                  <a:extLst>
                    <a:ext uri="{9D8B030D-6E8A-4147-A177-3AD203B41FA5}">
                      <a16:colId xmlns:a16="http://schemas.microsoft.com/office/drawing/2014/main" val="2132520163"/>
                    </a:ext>
                  </a:extLst>
                </a:gridCol>
                <a:gridCol w="257260">
                  <a:extLst>
                    <a:ext uri="{9D8B030D-6E8A-4147-A177-3AD203B41FA5}">
                      <a16:colId xmlns:a16="http://schemas.microsoft.com/office/drawing/2014/main" val="3861048189"/>
                    </a:ext>
                  </a:extLst>
                </a:gridCol>
                <a:gridCol w="257260">
                  <a:extLst>
                    <a:ext uri="{9D8B030D-6E8A-4147-A177-3AD203B41FA5}">
                      <a16:colId xmlns:a16="http://schemas.microsoft.com/office/drawing/2014/main" val="1088245010"/>
                    </a:ext>
                  </a:extLst>
                </a:gridCol>
                <a:gridCol w="257260">
                  <a:extLst>
                    <a:ext uri="{9D8B030D-6E8A-4147-A177-3AD203B41FA5}">
                      <a16:colId xmlns:a16="http://schemas.microsoft.com/office/drawing/2014/main" val="3492618705"/>
                    </a:ext>
                  </a:extLst>
                </a:gridCol>
                <a:gridCol w="257260">
                  <a:extLst>
                    <a:ext uri="{9D8B030D-6E8A-4147-A177-3AD203B41FA5}">
                      <a16:colId xmlns:a16="http://schemas.microsoft.com/office/drawing/2014/main" val="780364359"/>
                    </a:ext>
                  </a:extLst>
                </a:gridCol>
                <a:gridCol w="257260">
                  <a:extLst>
                    <a:ext uri="{9D8B030D-6E8A-4147-A177-3AD203B41FA5}">
                      <a16:colId xmlns:a16="http://schemas.microsoft.com/office/drawing/2014/main" val="3343501168"/>
                    </a:ext>
                  </a:extLst>
                </a:gridCol>
              </a:tblGrid>
              <a:tr h="383592">
                <a:tc gridSpan="2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800" b="0" dirty="0">
                        <a:solidFill>
                          <a:schemeClr val="tx1"/>
                        </a:solidFill>
                        <a:latin typeface="Lato" panose="020F0502020204030203" pitchFamily="34" charset="77"/>
                      </a:endParaRPr>
                    </a:p>
                  </a:txBody>
                  <a:tcPr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2800" dirty="0">
                        <a:solidFill>
                          <a:schemeClr val="tx1"/>
                        </a:solidFill>
                        <a:latin typeface="Lato" panose="020F0502020204030203" pitchFamily="34" charset="77"/>
                      </a:endParaRPr>
                    </a:p>
                  </a:txBody>
                  <a:tcPr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gridSpan="6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800" b="0" dirty="0">
                        <a:solidFill>
                          <a:schemeClr val="tx1"/>
                        </a:solidFill>
                        <a:latin typeface="Lato" panose="020F0502020204030203" pitchFamily="34" charset="77"/>
                      </a:endParaRPr>
                    </a:p>
                  </a:txBody>
                  <a:tcPr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2800" b="0" dirty="0">
                        <a:solidFill>
                          <a:schemeClr val="tx1"/>
                        </a:solidFill>
                        <a:latin typeface="Lato" panose="020F0502020204030203" pitchFamily="34" charset="77"/>
                      </a:endParaRPr>
                    </a:p>
                  </a:txBody>
                  <a:tcPr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2800" b="0" dirty="0">
                        <a:solidFill>
                          <a:schemeClr val="tx1"/>
                        </a:solidFill>
                        <a:latin typeface="Lato" panose="020F0502020204030203" pitchFamily="34" charset="77"/>
                      </a:endParaRPr>
                    </a:p>
                  </a:txBody>
                  <a:tcPr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2800" b="0" dirty="0">
                        <a:solidFill>
                          <a:schemeClr val="tx1"/>
                        </a:solidFill>
                        <a:latin typeface="Lato" panose="020F0502020204030203" pitchFamily="34" charset="77"/>
                      </a:endParaRPr>
                    </a:p>
                  </a:txBody>
                  <a:tcPr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2800" b="0" dirty="0">
                        <a:solidFill>
                          <a:schemeClr val="tx1"/>
                        </a:solidFill>
                        <a:latin typeface="Lato" panose="020F0502020204030203" pitchFamily="34" charset="77"/>
                      </a:endParaRPr>
                    </a:p>
                  </a:txBody>
                  <a:tcPr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2800" b="0" dirty="0">
                        <a:solidFill>
                          <a:schemeClr val="tx1"/>
                        </a:solidFill>
                        <a:latin typeface="Lato" panose="020F0502020204030203" pitchFamily="34" charset="77"/>
                      </a:endParaRPr>
                    </a:p>
                  </a:txBody>
                  <a:tcPr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378820"/>
                  </a:ext>
                </a:extLst>
              </a:tr>
              <a:tr h="383592">
                <a:tc>
                  <a:txBody>
                    <a:bodyPr/>
                    <a:lstStyle/>
                    <a:p>
                      <a:pPr algn="ctr"/>
                      <a:endParaRPr lang="en-US" sz="2000" b="0" dirty="0">
                        <a:solidFill>
                          <a:schemeClr val="tx1"/>
                        </a:solidFill>
                        <a:latin typeface="Lato" panose="020F0502020204030203" pitchFamily="34" charset="77"/>
                      </a:endParaRPr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800" b="0" dirty="0">
                        <a:solidFill>
                          <a:schemeClr val="tx1"/>
                        </a:solidFill>
                        <a:latin typeface="Lato" panose="020F0502020204030203" pitchFamily="34" charset="77"/>
                      </a:endParaRPr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800" b="0" dirty="0">
                        <a:solidFill>
                          <a:schemeClr val="tx1"/>
                        </a:solidFill>
                        <a:latin typeface="Lato" panose="020F0502020204030203" pitchFamily="34" charset="77"/>
                      </a:endParaRPr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800" b="0" dirty="0">
                        <a:solidFill>
                          <a:schemeClr val="tx1"/>
                        </a:solidFill>
                        <a:latin typeface="Lato" panose="020F0502020204030203" pitchFamily="34" charset="77"/>
                      </a:endParaRPr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800" b="0" dirty="0">
                        <a:solidFill>
                          <a:schemeClr val="tx1"/>
                        </a:solidFill>
                        <a:latin typeface="Lato" panose="020F0502020204030203" pitchFamily="34" charset="77"/>
                      </a:endParaRPr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800" b="0" dirty="0">
                        <a:solidFill>
                          <a:schemeClr val="tx1"/>
                        </a:solidFill>
                        <a:latin typeface="Lato" panose="020F0502020204030203" pitchFamily="34" charset="77"/>
                      </a:endParaRPr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800" b="0" dirty="0">
                        <a:solidFill>
                          <a:schemeClr val="tx1"/>
                        </a:solidFill>
                        <a:latin typeface="Lato" panose="020F0502020204030203" pitchFamily="34" charset="77"/>
                      </a:endParaRPr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800" b="0" dirty="0">
                        <a:solidFill>
                          <a:schemeClr val="tx1"/>
                        </a:solidFill>
                        <a:latin typeface="Lato" panose="020F0502020204030203" pitchFamily="34" charset="77"/>
                      </a:endParaRPr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96027614"/>
                  </a:ext>
                </a:extLst>
              </a:tr>
              <a:tr h="383592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800" b="0" dirty="0">
                        <a:solidFill>
                          <a:schemeClr val="tx1"/>
                        </a:solidFill>
                        <a:latin typeface="Lato" panose="020F0502020204030203" pitchFamily="34" charset="77"/>
                      </a:endParaRPr>
                    </a:p>
                  </a:txBody>
                  <a:tcPr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2800" b="0" dirty="0">
                        <a:solidFill>
                          <a:schemeClr val="tx1"/>
                        </a:solidFill>
                        <a:latin typeface="Lato" panose="020F0502020204030203" pitchFamily="34" charset="77"/>
                      </a:endParaRPr>
                    </a:p>
                  </a:txBody>
                  <a:tcPr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2800" b="0" dirty="0">
                        <a:solidFill>
                          <a:schemeClr val="tx1"/>
                        </a:solidFill>
                        <a:latin typeface="Lato" panose="020F0502020204030203" pitchFamily="34" charset="77"/>
                      </a:endParaRPr>
                    </a:p>
                  </a:txBody>
                  <a:tcPr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800" b="0" dirty="0">
                        <a:solidFill>
                          <a:schemeClr val="tx1"/>
                        </a:solidFill>
                        <a:latin typeface="Lato" panose="020F0502020204030203" pitchFamily="34" charset="77"/>
                      </a:endParaRPr>
                    </a:p>
                  </a:txBody>
                  <a:tcPr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2800" b="0" dirty="0">
                        <a:solidFill>
                          <a:schemeClr val="tx1"/>
                        </a:solidFill>
                        <a:latin typeface="Lato" panose="020F0502020204030203" pitchFamily="34" charset="77"/>
                      </a:endParaRPr>
                    </a:p>
                  </a:txBody>
                  <a:tcPr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800" b="0" dirty="0">
                        <a:solidFill>
                          <a:schemeClr val="tx1"/>
                        </a:solidFill>
                        <a:latin typeface="Lato" panose="020F0502020204030203" pitchFamily="34" charset="77"/>
                      </a:endParaRPr>
                    </a:p>
                  </a:txBody>
                  <a:tcPr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800" b="0" dirty="0">
                        <a:solidFill>
                          <a:schemeClr val="tx1"/>
                        </a:solidFill>
                        <a:latin typeface="Lato" panose="020F0502020204030203" pitchFamily="34" charset="77"/>
                      </a:endParaRPr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800" b="0" dirty="0">
                        <a:solidFill>
                          <a:schemeClr val="tx1"/>
                        </a:solidFill>
                        <a:latin typeface="Lato" panose="020F0502020204030203" pitchFamily="34" charset="77"/>
                      </a:endParaRPr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36555531"/>
                  </a:ext>
                </a:extLst>
              </a:tr>
              <a:tr h="383592">
                <a:tc>
                  <a:txBody>
                    <a:bodyPr/>
                    <a:lstStyle/>
                    <a:p>
                      <a:pPr algn="ctr"/>
                      <a:endParaRPr lang="en-US" sz="2000" b="0" dirty="0">
                        <a:solidFill>
                          <a:schemeClr val="tx1"/>
                        </a:solidFill>
                        <a:latin typeface="Lato" panose="020F0502020204030203" pitchFamily="34" charset="77"/>
                      </a:endParaRPr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800" b="0" dirty="0">
                        <a:solidFill>
                          <a:schemeClr val="tx1"/>
                        </a:solidFill>
                        <a:latin typeface="Lato" panose="020F0502020204030203" pitchFamily="34" charset="77"/>
                      </a:endParaRPr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800" b="0" dirty="0">
                        <a:solidFill>
                          <a:schemeClr val="tx1"/>
                        </a:solidFill>
                        <a:latin typeface="Lato" panose="020F0502020204030203" pitchFamily="34" charset="77"/>
                      </a:endParaRPr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800" b="0" dirty="0">
                        <a:solidFill>
                          <a:schemeClr val="tx1"/>
                        </a:solidFill>
                        <a:latin typeface="Lato" panose="020F0502020204030203" pitchFamily="34" charset="77"/>
                      </a:endParaRPr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800" b="0" dirty="0">
                        <a:solidFill>
                          <a:schemeClr val="tx1"/>
                        </a:solidFill>
                        <a:latin typeface="Lato" panose="020F0502020204030203" pitchFamily="34" charset="77"/>
                      </a:endParaRPr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800" b="0" dirty="0">
                        <a:solidFill>
                          <a:schemeClr val="tx1"/>
                        </a:solidFill>
                        <a:latin typeface="Lato" panose="020F0502020204030203" pitchFamily="34" charset="77"/>
                      </a:endParaRPr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800" b="0" dirty="0">
                        <a:solidFill>
                          <a:schemeClr val="tx1"/>
                        </a:solidFill>
                        <a:latin typeface="Lato" panose="020F0502020204030203" pitchFamily="34" charset="77"/>
                      </a:endParaRPr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800" b="0" dirty="0">
                        <a:solidFill>
                          <a:schemeClr val="tx1"/>
                        </a:solidFill>
                        <a:latin typeface="Lato" panose="020F0502020204030203" pitchFamily="34" charset="77"/>
                      </a:endParaRPr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77100737"/>
                  </a:ext>
                </a:extLst>
              </a:tr>
              <a:tr h="383592"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800" b="0" dirty="0">
                        <a:solidFill>
                          <a:schemeClr val="tx1"/>
                        </a:solidFill>
                        <a:latin typeface="Lato" panose="020F0502020204030203" pitchFamily="34" charset="77"/>
                      </a:endParaRPr>
                    </a:p>
                  </a:txBody>
                  <a:tcPr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2800" b="0" dirty="0">
                        <a:solidFill>
                          <a:schemeClr val="tx1"/>
                        </a:solidFill>
                        <a:latin typeface="Lato" panose="020F0502020204030203" pitchFamily="34" charset="77"/>
                      </a:endParaRPr>
                    </a:p>
                  </a:txBody>
                  <a:tcPr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2800" b="0" dirty="0">
                        <a:solidFill>
                          <a:schemeClr val="tx1"/>
                        </a:solidFill>
                        <a:latin typeface="Lato" panose="020F0502020204030203" pitchFamily="34" charset="77"/>
                      </a:endParaRPr>
                    </a:p>
                  </a:txBody>
                  <a:tcPr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2800" b="0" dirty="0">
                        <a:solidFill>
                          <a:schemeClr val="tx1"/>
                        </a:solidFill>
                        <a:latin typeface="Lato" panose="020F0502020204030203" pitchFamily="34" charset="77"/>
                      </a:endParaRPr>
                    </a:p>
                  </a:txBody>
                  <a:tcPr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800" b="0" dirty="0">
                        <a:solidFill>
                          <a:schemeClr val="tx1"/>
                        </a:solidFill>
                        <a:latin typeface="Lato" panose="020F0502020204030203" pitchFamily="34" charset="77"/>
                      </a:endParaRPr>
                    </a:p>
                  </a:txBody>
                  <a:tcPr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2800" b="0" dirty="0">
                        <a:solidFill>
                          <a:schemeClr val="tx1"/>
                        </a:solidFill>
                        <a:latin typeface="Lato" panose="020F0502020204030203" pitchFamily="34" charset="77"/>
                      </a:endParaRPr>
                    </a:p>
                  </a:txBody>
                  <a:tcPr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2800" b="0" dirty="0">
                        <a:solidFill>
                          <a:schemeClr val="tx1"/>
                        </a:solidFill>
                        <a:latin typeface="Lato" panose="020F0502020204030203" pitchFamily="34" charset="77"/>
                      </a:endParaRPr>
                    </a:p>
                  </a:txBody>
                  <a:tcPr>
                    <a:lnR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800" b="0" dirty="0">
                        <a:solidFill>
                          <a:schemeClr val="tx1"/>
                        </a:solidFill>
                        <a:latin typeface="Lato" panose="020F0502020204030203" pitchFamily="34" charset="77"/>
                      </a:endParaRPr>
                    </a:p>
                  </a:txBody>
                  <a:tcPr>
                    <a:lnL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4302552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0383C8D1-9C81-75AF-ECBA-1967EFF12797}"/>
              </a:ext>
            </a:extLst>
          </p:cNvPr>
          <p:cNvSpPr txBox="1"/>
          <p:nvPr/>
        </p:nvSpPr>
        <p:spPr>
          <a:xfrm>
            <a:off x="1053890" y="5338119"/>
            <a:ext cx="2435282" cy="5727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>
              <a:lnSpc>
                <a:spcPct val="125000"/>
              </a:lnSpc>
              <a:spcBef>
                <a:spcPts val="2400"/>
              </a:spcBef>
            </a:pPr>
            <a:r>
              <a:rPr lang="en-US" sz="2800" dirty="0">
                <a:latin typeface="Lato" panose="020F0502020204030203" pitchFamily="34" charset="77"/>
                <a:ea typeface="Inter" panose="02000503000000020004" pitchFamily="2" charset="0"/>
              </a:rPr>
              <a:t>graph coloring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1AB855E-AD68-280E-F528-6696B54C64C2}"/>
              </a:ext>
            </a:extLst>
          </p:cNvPr>
          <p:cNvSpPr txBox="1"/>
          <p:nvPr/>
        </p:nvSpPr>
        <p:spPr>
          <a:xfrm>
            <a:off x="5029041" y="5338119"/>
            <a:ext cx="2133918" cy="5727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25000"/>
              </a:lnSpc>
              <a:spcBef>
                <a:spcPts val="2400"/>
              </a:spcBef>
            </a:pPr>
            <a:r>
              <a:rPr lang="en-US" sz="2800" dirty="0">
                <a:latin typeface="Lato" panose="020F0502020204030203" pitchFamily="34" charset="77"/>
                <a:ea typeface="Inter" panose="02000503000000020004" pitchFamily="2" charset="0"/>
              </a:rPr>
              <a:t>vertex cover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20AAAF0-5E11-8699-5DA9-0DFFE22BAD8E}"/>
              </a:ext>
            </a:extLst>
          </p:cNvPr>
          <p:cNvSpPr txBox="1"/>
          <p:nvPr/>
        </p:nvSpPr>
        <p:spPr>
          <a:xfrm>
            <a:off x="8777555" y="5338119"/>
            <a:ext cx="2428870" cy="5727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25000"/>
              </a:lnSpc>
              <a:spcBef>
                <a:spcPts val="2400"/>
              </a:spcBef>
            </a:pPr>
            <a:r>
              <a:rPr lang="en-US" sz="2800" dirty="0">
                <a:latin typeface="Lato" panose="020F0502020204030203" pitchFamily="34" charset="77"/>
                <a:ea typeface="Inter" panose="02000503000000020004" pitchFamily="2" charset="0"/>
              </a:rPr>
              <a:t>load balancing</a:t>
            </a:r>
          </a:p>
        </p:txBody>
      </p:sp>
    </p:spTree>
    <p:extLst>
      <p:ext uri="{BB962C8B-B14F-4D97-AF65-F5344CB8AC3E}">
        <p14:creationId xmlns:p14="http://schemas.microsoft.com/office/powerpoint/2010/main" val="38229754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DD988C-4649-14BC-2878-7BA333E93C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to do when a problem is hard?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F56416-9FE3-E3E3-9B1F-906349BB91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Idea 1: </a:t>
            </a:r>
            <a:r>
              <a:rPr lang="en-US" dirty="0"/>
              <a:t>Try a brute-force algorithm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dirty="0"/>
              <a:t>Okay if you know the inputs are going to be very small</a:t>
            </a:r>
          </a:p>
          <a:p>
            <a:r>
              <a:rPr lang="en-US" b="1" dirty="0"/>
              <a:t>Idea 2: </a:t>
            </a:r>
            <a:r>
              <a:rPr lang="en-US" dirty="0"/>
              <a:t>Try an approximation algorithm or a greedy idea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dirty="0"/>
              <a:t>May still be quite far from optimal</a:t>
            </a:r>
          </a:p>
          <a:p>
            <a:r>
              <a:rPr lang="en-US" b="1" dirty="0">
                <a:solidFill>
                  <a:schemeClr val="accent3"/>
                </a:solidFill>
              </a:rPr>
              <a:t>Idea 3: </a:t>
            </a:r>
            <a:r>
              <a:rPr lang="en-US" dirty="0">
                <a:solidFill>
                  <a:schemeClr val="accent3"/>
                </a:solidFill>
              </a:rPr>
              <a:t>Try to use a SAT solver</a:t>
            </a:r>
          </a:p>
        </p:txBody>
      </p:sp>
    </p:spTree>
    <p:extLst>
      <p:ext uri="{BB962C8B-B14F-4D97-AF65-F5344CB8AC3E}">
        <p14:creationId xmlns:p14="http://schemas.microsoft.com/office/powerpoint/2010/main" val="26864889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7E890A-A49A-7F9D-BF38-F29D06E25C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 easy and hard mean?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696D481-9951-B49D-B30F-02A9199455D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b="1" dirty="0">
                    <a:solidFill>
                      <a:schemeClr val="accent2"/>
                    </a:solidFill>
                  </a:rPr>
                  <a:t>decision problem</a:t>
                </a:r>
                <a:r>
                  <a:rPr lang="en-US" dirty="0"/>
                  <a:t>: answer is “yes” or “no”</a:t>
                </a:r>
              </a:p>
              <a:p>
                <a:r>
                  <a:rPr lang="en-US" b="1" dirty="0">
                    <a:solidFill>
                      <a:schemeClr val="accent2"/>
                    </a:solidFill>
                  </a:rPr>
                  <a:t>P</a:t>
                </a:r>
                <a:r>
                  <a:rPr lang="en-US" dirty="0"/>
                  <a:t>: decision problems that can be solved in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𝑶</m:t>
                    </m:r>
                    <m:d>
                      <m:dPr>
                        <m:ctrlPr>
                          <a:rPr lang="en-US" b="1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1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1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𝒏</m:t>
                            </m:r>
                          </m:e>
                          <m:sup>
                            <m:r>
                              <a:rPr lang="en-US" b="1" i="1" smtClean="0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𝒄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dirty="0"/>
                  <a:t> time for some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𝒄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(here, </a:t>
                </a:r>
                <a14:m>
                  <m:oMath xmlns:m="http://schemas.openxmlformats.org/officeDocument/2006/math">
                    <m:r>
                      <a:rPr lang="en-US" b="1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𝒏</m:t>
                    </m:r>
                  </m:oMath>
                </a14:m>
                <a:r>
                  <a:rPr lang="en-US" dirty="0"/>
                  <a:t> is the input size)</a:t>
                </a:r>
                <a:endParaRPr lang="en-US" b="1" dirty="0"/>
              </a:p>
              <a:p>
                <a:endParaRPr lang="en-US" dirty="0"/>
              </a:p>
              <a:p>
                <a:pPr algn="ctr"/>
                <a:r>
                  <a:rPr lang="en-US" b="1" dirty="0"/>
                  <a:t>easy ≈ P</a:t>
                </a:r>
              </a:p>
              <a:p>
                <a:pPr algn="ctr"/>
                <a:r>
                  <a:rPr lang="en-US" b="1" dirty="0"/>
                  <a:t>hard ≈ everything not in P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696D481-9951-B49D-B30F-02A9199455D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526903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4EB6F1-0BBF-3DBA-BF50-AD4AC7618C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bit of practice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4005F1-72FA-F45A-A78A-65B1FF96EC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Do the following problems belong to P?</a:t>
            </a:r>
          </a:p>
          <a:p>
            <a:r>
              <a:rPr lang="en-US" b="1" dirty="0">
                <a:solidFill>
                  <a:schemeClr val="accent3"/>
                </a:solidFill>
              </a:rPr>
              <a:t>Q: </a:t>
            </a:r>
            <a:r>
              <a:rPr lang="en-US" dirty="0"/>
              <a:t>Find the smallest number of coins needed to make change with quarters, dimes, nickels, and pennies.</a:t>
            </a:r>
          </a:p>
          <a:p>
            <a:r>
              <a:rPr lang="en-US" b="1" dirty="0">
                <a:solidFill>
                  <a:schemeClr val="accent5"/>
                </a:solidFill>
              </a:rPr>
              <a:t>A: </a:t>
            </a:r>
            <a:r>
              <a:rPr lang="en-US" dirty="0"/>
              <a:t>No, not a decision problem!</a:t>
            </a:r>
          </a:p>
        </p:txBody>
      </p:sp>
    </p:spTree>
    <p:extLst>
      <p:ext uri="{BB962C8B-B14F-4D97-AF65-F5344CB8AC3E}">
        <p14:creationId xmlns:p14="http://schemas.microsoft.com/office/powerpoint/2010/main" val="20329753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3A9B23-C2AE-053E-D0A9-72AF1F8AD8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8FD035-803D-DAFD-800A-B8D2793AA5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bit of practice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675CFBD-DE29-5A9E-5A11-87EA83EE478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Do the following problems belong to P?</a:t>
                </a:r>
              </a:p>
              <a:p>
                <a:r>
                  <a:rPr lang="en-US" b="1" dirty="0">
                    <a:solidFill>
                      <a:schemeClr val="accent3"/>
                    </a:solidFill>
                  </a:rPr>
                  <a:t>Q: </a:t>
                </a:r>
                <a:r>
                  <a:rPr lang="en-US" dirty="0"/>
                  <a:t>Is there a spanning tree with weight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b="1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𝒌</m:t>
                    </m:r>
                  </m:oMath>
                </a14:m>
                <a:r>
                  <a:rPr lang="en-US" dirty="0"/>
                  <a:t>?</a:t>
                </a:r>
              </a:p>
              <a:p>
                <a:r>
                  <a:rPr lang="en-US" b="1" dirty="0">
                    <a:solidFill>
                      <a:schemeClr val="accent5"/>
                    </a:solidFill>
                  </a:rPr>
                  <a:t>A: </a:t>
                </a:r>
                <a:r>
                  <a:rPr lang="en-US" dirty="0"/>
                  <a:t>Yes, run Prim’s or Kruskal’s algorithms, then compare with</a:t>
                </a:r>
                <a14:m>
                  <m:oMath xmlns:m="http://schemas.openxmlformats.org/officeDocument/2006/math">
                    <m:r>
                      <a:rPr lang="en-US" b="1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𝒌</m:t>
                    </m:r>
                  </m:oMath>
                </a14:m>
                <a:r>
                  <a:rPr lang="en-US" dirty="0"/>
                  <a:t>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675CFBD-DE29-5A9E-5A11-87EA83EE478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961723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210CDC-B35C-A34C-2C30-B7E8895020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382BBC-C6AB-D4D0-673C-D5F10122E2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bit of practice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CF2A727-9D38-1CA6-DAC2-32FD4070A5C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Do the following problems belong to P?</a:t>
                </a:r>
              </a:p>
              <a:p>
                <a:r>
                  <a:rPr lang="en-US" b="1" dirty="0">
                    <a:solidFill>
                      <a:schemeClr val="accent3"/>
                    </a:solidFill>
                  </a:rPr>
                  <a:t>Q: </a:t>
                </a:r>
                <a:r>
                  <a:rPr lang="en-US" dirty="0"/>
                  <a:t>Given a graph, can it be colored with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𝒌</m:t>
                    </m:r>
                  </m:oMath>
                </a14:m>
                <a:r>
                  <a:rPr lang="en-US" dirty="0"/>
                  <a:t> colors so that no edge has the same color on both endpoints?</a:t>
                </a:r>
              </a:p>
              <a:p>
                <a:r>
                  <a:rPr lang="en-US" b="1" dirty="0">
                    <a:solidFill>
                      <a:schemeClr val="accent5"/>
                    </a:solidFill>
                  </a:rPr>
                  <a:t>A: </a:t>
                </a:r>
                <a:r>
                  <a:rPr lang="en-US" dirty="0"/>
                  <a:t>We don’t know! (We don’t think so.)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CF2A727-9D38-1CA6-DAC2-32FD4070A5C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907759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6B39A9-4F43-0ED7-E2DB-76D09FA9C0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class NP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497D74F-B924-E881-B82F-937F7158A00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b="1" dirty="0">
                    <a:solidFill>
                      <a:schemeClr val="accent2"/>
                    </a:solidFill>
                  </a:rPr>
                  <a:t>NP</a:t>
                </a:r>
                <a:r>
                  <a:rPr lang="en-US" dirty="0"/>
                  <a:t>: decision problems whose solutions can be </a:t>
                </a:r>
                <a:r>
                  <a:rPr lang="en-US" i="1" dirty="0"/>
                  <a:t>checked</a:t>
                </a:r>
                <a:r>
                  <a:rPr lang="en-US" dirty="0"/>
                  <a:t> in </a:t>
                </a:r>
                <a14:m>
                  <m:oMath xmlns:m="http://schemas.openxmlformats.org/officeDocument/2006/math">
                    <m:r>
                      <a:rPr lang="en-US" b="1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𝑶</m:t>
                    </m:r>
                    <m:d>
                      <m:dPr>
                        <m:ctrlPr>
                          <a:rPr lang="en-US" b="1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1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1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𝒏</m:t>
                            </m:r>
                          </m:e>
                          <m:sup>
                            <m:r>
                              <a:rPr lang="en-US" b="1" i="1">
                                <a:solidFill>
                                  <a:schemeClr val="accent1"/>
                                </a:solidFill>
                                <a:latin typeface="Cambria Math" panose="02040503050406030204" pitchFamily="18" charset="0"/>
                              </a:rPr>
                              <m:t>𝒄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dirty="0"/>
                  <a:t> time for some </a:t>
                </a:r>
                <a14:m>
                  <m:oMath xmlns:m="http://schemas.openxmlformats.org/officeDocument/2006/math">
                    <m:r>
                      <a:rPr lang="en-US" b="1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𝒄</m:t>
                    </m:r>
                  </m:oMath>
                </a14:m>
                <a:endParaRPr lang="en-US" b="1" dirty="0">
                  <a:solidFill>
                    <a:schemeClr val="accent1"/>
                  </a:solidFill>
                </a:endParaRPr>
              </a:p>
              <a:p>
                <a:r>
                  <a:rPr lang="en-US" dirty="0"/>
                  <a:t>Example: Given a sample coloring </a:t>
                </a:r>
                <a14:m>
                  <m:oMath xmlns:m="http://schemas.openxmlformats.org/officeDocument/2006/math">
                    <m:r>
                      <a:rPr lang="en-US" b="1" i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𝐜𝐨𝐥𝐨𝐫</m:t>
                    </m:r>
                    <m:r>
                      <a:rPr lang="en-US" b="1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𝒗</m:t>
                    </m:r>
                    <m:r>
                      <a:rPr lang="en-US" b="1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, can check if graph is correctly colored with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𝒌</m:t>
                    </m:r>
                  </m:oMath>
                </a14:m>
                <a:r>
                  <a:rPr lang="en-US" dirty="0"/>
                  <a:t> colors in linear time.</a:t>
                </a: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en-US" dirty="0"/>
                  <a:t>Loop through all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𝒗</m:t>
                    </m:r>
                  </m:oMath>
                </a14:m>
                <a:r>
                  <a:rPr lang="en-US" dirty="0"/>
                  <a:t>, check that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𝒄𝒐𝒍𝒐𝒓</m:t>
                    </m:r>
                    <m:r>
                      <a:rPr lang="en-US" b="1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𝒗</m:t>
                    </m:r>
                    <m:r>
                      <a:rPr lang="en-US" b="1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b="1" dirty="0">
                    <a:solidFill>
                      <a:schemeClr val="accent1"/>
                    </a:solidFill>
                  </a:rPr>
                  <a:t> </a:t>
                </a:r>
                <a:r>
                  <a:rPr lang="en-US" dirty="0"/>
                  <a:t>uses at most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𝒌</m:t>
                    </m:r>
                  </m:oMath>
                </a14:m>
                <a:r>
                  <a:rPr lang="en-US" dirty="0"/>
                  <a:t> colors</a:t>
                </a: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en-US" dirty="0"/>
                  <a:t>Loop through all edges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𝒖</m:t>
                    </m:r>
                    <m:r>
                      <a:rPr lang="en-US" b="1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1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𝒗</m:t>
                    </m:r>
                    <m:r>
                      <a:rPr lang="en-US" b="1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, check that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𝐜𝐨𝐥𝐨𝐫</m:t>
                    </m:r>
                    <m:d>
                      <m:dPr>
                        <m:ctrlPr>
                          <a:rPr lang="en-US" b="1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𝒖</m:t>
                        </m:r>
                      </m:e>
                    </m:d>
                    <m:r>
                      <a:rPr lang="en-US" b="1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</m:t>
                    </m:r>
                    <m:r>
                      <a:rPr lang="en-US" b="1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𝐜𝐨𝐥𝐨𝐫</m:t>
                    </m:r>
                    <m:d>
                      <m:dPr>
                        <m:ctrlPr>
                          <a:rPr lang="en-US" b="1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𝒗</m:t>
                        </m:r>
                      </m:e>
                    </m:d>
                  </m:oMath>
                </a14:m>
                <a:endParaRPr lang="en-US" b="1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497D74F-B924-E881-B82F-937F7158A00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651359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CA58A9-102C-7808-1581-8A1867D3ED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 vs. NP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CC73CF-D170-4820-0C64-B5B83710F4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Most important open problem in CS:</a:t>
            </a:r>
          </a:p>
          <a:p>
            <a:pPr algn="ctr"/>
            <a:r>
              <a:rPr lang="en-US" b="1" dirty="0"/>
              <a:t>Prove that either P = NP or P ≠ NP.</a:t>
            </a:r>
          </a:p>
          <a:p>
            <a:r>
              <a:rPr lang="en-US" dirty="0"/>
              <a:t>In other words, either: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dirty="0"/>
              <a:t>Show how to solve every problem quickly, only knowing that it can be checked quickly, or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dirty="0"/>
              <a:t>Give an example of a problem that can be checked quickly, but cannot be solved quickly.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9D6B281-D549-E3FA-25D9-E9D21EFF528D}"/>
              </a:ext>
            </a:extLst>
          </p:cNvPr>
          <p:cNvSpPr txBox="1"/>
          <p:nvPr/>
        </p:nvSpPr>
        <p:spPr>
          <a:xfrm>
            <a:off x="7639431" y="963092"/>
            <a:ext cx="2920992" cy="572786"/>
          </a:xfrm>
          <a:prstGeom prst="rect">
            <a:avLst/>
          </a:prstGeom>
          <a:solidFill>
            <a:schemeClr val="bg1"/>
          </a:solidFill>
          <a:ln w="38100">
            <a:solidFill>
              <a:schemeClr val="accent5"/>
            </a:solidFill>
          </a:ln>
        </p:spPr>
        <p:txBody>
          <a:bodyPr wrap="none" rtlCol="0">
            <a:spAutoFit/>
          </a:bodyPr>
          <a:lstStyle/>
          <a:p>
            <a:pPr algn="ctr">
              <a:lnSpc>
                <a:spcPct val="125000"/>
              </a:lnSpc>
              <a:spcBef>
                <a:spcPts val="2400"/>
              </a:spcBef>
            </a:pPr>
            <a:r>
              <a:rPr lang="en-US" sz="2800" dirty="0">
                <a:latin typeface="Lato" panose="020F0502020204030203" pitchFamily="34" charset="77"/>
                <a:ea typeface="Inter" panose="02000503000000020004" pitchFamily="2" charset="0"/>
              </a:rPr>
              <a:t>Most believe this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9F1C2C15-DB94-2301-46F6-FB821D955218}"/>
              </a:ext>
            </a:extLst>
          </p:cNvPr>
          <p:cNvCxnSpPr>
            <a:cxnSpLocks/>
          </p:cNvCxnSpPr>
          <p:nvPr/>
        </p:nvCxnSpPr>
        <p:spPr>
          <a:xfrm flipH="1">
            <a:off x="8108576" y="1707776"/>
            <a:ext cx="147918" cy="578224"/>
          </a:xfrm>
          <a:prstGeom prst="straightConnector1">
            <a:avLst/>
          </a:prstGeom>
          <a:ln w="38100"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505668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9DBA48-7A39-AA83-579B-5EE2BE9C29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prove not in P?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3555B1-E2A0-A450-2AC0-358370D6A6C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There are some problems that cannot be solved in polynomial time.</a:t>
                </a: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en-US" dirty="0"/>
                  <a:t>Given a piece of code, an input to the code, and a number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𝒏</m:t>
                    </m:r>
                  </m:oMath>
                </a14:m>
                <a:r>
                  <a:rPr lang="en-US" dirty="0"/>
                  <a:t>, determine if the code will terminate within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𝒏</m:t>
                    </m:r>
                  </m:oMath>
                </a14:m>
                <a:r>
                  <a:rPr lang="en-US" dirty="0"/>
                  <a:t> “steps”.</a:t>
                </a:r>
              </a:p>
              <a:p>
                <a:r>
                  <a:rPr lang="en-US" b="1" dirty="0"/>
                  <a:t>Exponential time algorithm: </a:t>
                </a:r>
                <a:r>
                  <a:rPr lang="en-US" dirty="0"/>
                  <a:t>Run the code for</a:t>
                </a:r>
                <a14:m>
                  <m:oMath xmlns:m="http://schemas.openxmlformats.org/officeDocument/2006/math">
                    <m:r>
                      <a:rPr lang="en-US" b="0" i="0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1" i="1" dirty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𝒏</m:t>
                    </m:r>
                  </m:oMath>
                </a14:m>
                <a:r>
                  <a:rPr lang="en-US" dirty="0"/>
                  <a:t> steps. But</a:t>
                </a:r>
                <a14:m>
                  <m:oMath xmlns:m="http://schemas.openxmlformats.org/officeDocument/2006/math">
                    <m:r>
                      <a:rPr lang="en-US" b="0" i="0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1" i="1" dirty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𝒏</m:t>
                    </m:r>
                  </m:oMath>
                </a14:m>
                <a:r>
                  <a:rPr lang="en-US" dirty="0"/>
                  <a:t> is a number, taking </a:t>
                </a:r>
                <a14:m>
                  <m:oMath xmlns:m="http://schemas.openxmlformats.org/officeDocument/2006/math">
                    <m:r>
                      <a:rPr lang="en-US" b="1" i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𝐥𝐨𝐠</m:t>
                    </m:r>
                    <m:r>
                      <a:rPr lang="en-US" b="1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⁡(</m:t>
                    </m:r>
                    <m:r>
                      <a:rPr lang="en-US" b="1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𝒏</m:t>
                    </m:r>
                    <m:r>
                      <a:rPr lang="en-US" b="1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bits in the input, so this is exponential.</a:t>
                </a:r>
              </a:p>
              <a:p>
                <a:r>
                  <a:rPr lang="en-US" b="1" dirty="0"/>
                  <a:t>Why impossible in P? </a:t>
                </a:r>
                <a:r>
                  <a:rPr lang="en-US" dirty="0"/>
                  <a:t>Wait for Wednesday, December 3!</a:t>
                </a:r>
              </a:p>
              <a:p>
                <a:r>
                  <a:rPr lang="en-US" dirty="0"/>
                  <a:t>Does </a:t>
                </a:r>
                <a:r>
                  <a:rPr lang="en-US" b="1" dirty="0"/>
                  <a:t>not</a:t>
                </a:r>
                <a:r>
                  <a:rPr lang="en-US" dirty="0"/>
                  <a:t> resolve P vs. NP because seems hard to verify answers.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3555B1-E2A0-A450-2AC0-358370D6A6C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63" r="-1448" b="-73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688002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315FBF-618B-0481-3278-03A0B7FADF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people think the world looks like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EC092523-EDFE-9EAD-7BAB-BE9FCF2F08F5}"/>
              </a:ext>
            </a:extLst>
          </p:cNvPr>
          <p:cNvSpPr/>
          <p:nvPr/>
        </p:nvSpPr>
        <p:spPr>
          <a:xfrm>
            <a:off x="5244352" y="4773705"/>
            <a:ext cx="2138083" cy="1492624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E4D7531-350F-69B8-7C01-33F8AC510F83}"/>
              </a:ext>
            </a:extLst>
          </p:cNvPr>
          <p:cNvSpPr txBox="1"/>
          <p:nvPr/>
        </p:nvSpPr>
        <p:spPr>
          <a:xfrm>
            <a:off x="6096000" y="5177117"/>
            <a:ext cx="404278" cy="5727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>
              <a:lnSpc>
                <a:spcPct val="125000"/>
              </a:lnSpc>
              <a:spcBef>
                <a:spcPts val="2400"/>
              </a:spcBef>
            </a:pPr>
            <a:r>
              <a:rPr lang="en-US" sz="2800" dirty="0">
                <a:latin typeface="Lato" panose="020F0502020204030203" pitchFamily="34" charset="77"/>
                <a:ea typeface="Inter" panose="02000503000000020004" pitchFamily="2" charset="0"/>
              </a:rPr>
              <a:t>P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A79EFEF5-53A0-EAB2-5BB1-918238E69BB6}"/>
              </a:ext>
            </a:extLst>
          </p:cNvPr>
          <p:cNvSpPr/>
          <p:nvPr/>
        </p:nvSpPr>
        <p:spPr>
          <a:xfrm>
            <a:off x="4811805" y="3792712"/>
            <a:ext cx="3000936" cy="2768809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46E2B3D-3DA3-2911-0CC8-BEBA344FFAC4}"/>
              </a:ext>
            </a:extLst>
          </p:cNvPr>
          <p:cNvSpPr txBox="1"/>
          <p:nvPr/>
        </p:nvSpPr>
        <p:spPr>
          <a:xfrm>
            <a:off x="5974680" y="3996816"/>
            <a:ext cx="675185" cy="5727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>
              <a:lnSpc>
                <a:spcPct val="125000"/>
              </a:lnSpc>
              <a:spcBef>
                <a:spcPts val="2400"/>
              </a:spcBef>
            </a:pPr>
            <a:r>
              <a:rPr lang="en-US" sz="2800" dirty="0">
                <a:latin typeface="Lato" panose="020F0502020204030203" pitchFamily="34" charset="77"/>
                <a:ea typeface="Inter" panose="02000503000000020004" pitchFamily="2" charset="0"/>
              </a:rPr>
              <a:t>NP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8E60CEA3-52BB-1849-E8AA-92AE5B73FCB3}"/>
              </a:ext>
            </a:extLst>
          </p:cNvPr>
          <p:cNvSpPr/>
          <p:nvPr/>
        </p:nvSpPr>
        <p:spPr>
          <a:xfrm>
            <a:off x="3731557" y="2837329"/>
            <a:ext cx="5161430" cy="3832304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CBA3500-17C2-4859-714F-403EB332C349}"/>
              </a:ext>
            </a:extLst>
          </p:cNvPr>
          <p:cNvSpPr txBox="1"/>
          <p:nvPr/>
        </p:nvSpPr>
        <p:spPr>
          <a:xfrm>
            <a:off x="5460115" y="3015823"/>
            <a:ext cx="1704313" cy="5727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>
              <a:lnSpc>
                <a:spcPct val="125000"/>
              </a:lnSpc>
              <a:spcBef>
                <a:spcPts val="2400"/>
              </a:spcBef>
            </a:pPr>
            <a:r>
              <a:rPr lang="en-US" sz="2800" dirty="0">
                <a:latin typeface="Lato" panose="020F0502020204030203" pitchFamily="34" charset="77"/>
                <a:ea typeface="Inter" panose="02000503000000020004" pitchFamily="2" charset="0"/>
              </a:rPr>
              <a:t>EXPTIME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054E25B-7FFB-C90D-8A2B-2D7F0926964D}"/>
              </a:ext>
            </a:extLst>
          </p:cNvPr>
          <p:cNvSpPr txBox="1"/>
          <p:nvPr/>
        </p:nvSpPr>
        <p:spPr>
          <a:xfrm>
            <a:off x="3172435" y="1568083"/>
            <a:ext cx="6252273" cy="11113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25000"/>
              </a:lnSpc>
              <a:spcBef>
                <a:spcPts val="2400"/>
              </a:spcBef>
            </a:pPr>
            <a:r>
              <a:rPr lang="en-US" sz="2800" dirty="0">
                <a:latin typeface="Lato" panose="020F0502020204030203" pitchFamily="34" charset="77"/>
                <a:ea typeface="Inter" panose="02000503000000020004" pitchFamily="2" charset="0"/>
              </a:rPr>
              <a:t>Other problems (e.g. non-decision problems, harder problems, etc.)</a:t>
            </a:r>
          </a:p>
        </p:txBody>
      </p:sp>
    </p:spTree>
    <p:extLst>
      <p:ext uri="{BB962C8B-B14F-4D97-AF65-F5344CB8AC3E}">
        <p14:creationId xmlns:p14="http://schemas.microsoft.com/office/powerpoint/2010/main" val="368590210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BF4813-0FA2-7CBF-1C7F-047E2D4263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Working with Boolean formulas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9AF26D7-8377-C960-E2E4-00581F1484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218616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1B06B7-2715-E537-4FEC-19DD73CA29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Different notations in different fields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4" name="Content Placeholder 3">
                <a:extLst>
                  <a:ext uri="{FF2B5EF4-FFF2-40B4-BE49-F238E27FC236}">
                    <a16:creationId xmlns:a16="http://schemas.microsoft.com/office/drawing/2014/main" id="{E71CE37E-5302-CA17-1ADC-CCCF0AFB0BFD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3331195999"/>
                  </p:ext>
                </p:extLst>
              </p:nvPr>
            </p:nvGraphicFramePr>
            <p:xfrm>
              <a:off x="0" y="1915309"/>
              <a:ext cx="12192000" cy="41452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438400">
                      <a:extLst>
                        <a:ext uri="{9D8B030D-6E8A-4147-A177-3AD203B41FA5}">
                          <a16:colId xmlns:a16="http://schemas.microsoft.com/office/drawing/2014/main" val="3595302137"/>
                        </a:ext>
                      </a:extLst>
                    </a:gridCol>
                    <a:gridCol w="2438400">
                      <a:extLst>
                        <a:ext uri="{9D8B030D-6E8A-4147-A177-3AD203B41FA5}">
                          <a16:colId xmlns:a16="http://schemas.microsoft.com/office/drawing/2014/main" val="1115156414"/>
                        </a:ext>
                      </a:extLst>
                    </a:gridCol>
                    <a:gridCol w="2438400">
                      <a:extLst>
                        <a:ext uri="{9D8B030D-6E8A-4147-A177-3AD203B41FA5}">
                          <a16:colId xmlns:a16="http://schemas.microsoft.com/office/drawing/2014/main" val="1820964212"/>
                        </a:ext>
                      </a:extLst>
                    </a:gridCol>
                    <a:gridCol w="2438400">
                      <a:extLst>
                        <a:ext uri="{9D8B030D-6E8A-4147-A177-3AD203B41FA5}">
                          <a16:colId xmlns:a16="http://schemas.microsoft.com/office/drawing/2014/main" val="299285164"/>
                        </a:ext>
                      </a:extLst>
                    </a:gridCol>
                    <a:gridCol w="2438400">
                      <a:extLst>
                        <a:ext uri="{9D8B030D-6E8A-4147-A177-3AD203B41FA5}">
                          <a16:colId xmlns:a16="http://schemas.microsoft.com/office/drawing/2014/main" val="2501793745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Operation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Math/CS Theory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Programming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 gridSpan="2"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Electrical Engineering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n-US" sz="2800" b="0" dirty="0">
                            <a:solidFill>
                              <a:schemeClr val="tx1"/>
                            </a:solidFill>
                            <a:latin typeface="Lato" panose="020F0502020204030203" pitchFamily="34" charset="77"/>
                          </a:endParaRP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7720036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and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en-US" sz="2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∧</m:t>
                                </m:r>
                                <m:r>
                                  <a:rPr lang="en-US" sz="2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𝑏</m:t>
                                </m:r>
                              </m:oMath>
                            </m:oMathPara>
                          </a14:m>
                          <a:endParaRPr lang="en-US" sz="2800" b="0" dirty="0">
                            <a:solidFill>
                              <a:schemeClr val="tx1"/>
                            </a:solidFill>
                            <a:latin typeface="Lato" panose="020F0502020204030203" pitchFamily="34" charset="77"/>
                          </a:endParaRP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a &amp;&amp; b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800" b="0" i="0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AB</m:t>
                                </m:r>
                              </m:oMath>
                            </m:oMathPara>
                          </a14:m>
                          <a:endParaRPr lang="en-US" sz="2800" b="0" i="0" dirty="0">
                            <a:solidFill>
                              <a:schemeClr val="tx1"/>
                            </a:solidFill>
                            <a:latin typeface="Lato" panose="020F0502020204030203" pitchFamily="34" charset="77"/>
                          </a:endParaRP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2800" b="0" i="0" dirty="0">
                            <a:solidFill>
                              <a:schemeClr val="tx1"/>
                            </a:solidFill>
                            <a:latin typeface="Lato" panose="020F0502020204030203" pitchFamily="34" charset="77"/>
                          </a:endParaRPr>
                        </a:p>
                        <a:p>
                          <a:pPr algn="ctr"/>
                          <a:endParaRPr lang="en-US" sz="2800" b="0" i="0" dirty="0">
                            <a:solidFill>
                              <a:schemeClr val="tx1"/>
                            </a:solidFill>
                            <a:latin typeface="Lato" panose="020F0502020204030203" pitchFamily="34" charset="77"/>
                          </a:endParaRP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8248013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or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en-US" sz="2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∨</m:t>
                                </m:r>
                                <m:r>
                                  <a:rPr lang="en-US" sz="2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𝑏</m:t>
                                </m:r>
                              </m:oMath>
                            </m:oMathPara>
                          </a14:m>
                          <a:endParaRPr lang="en-US" sz="2800" b="0" dirty="0">
                            <a:solidFill>
                              <a:schemeClr val="tx1"/>
                            </a:solidFill>
                            <a:latin typeface="Lato" panose="020F0502020204030203" pitchFamily="34" charset="77"/>
                          </a:endParaRP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a || b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en-US" sz="2800" b="0" i="0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A</m:t>
                                </m:r>
                                <m:r>
                                  <a:rPr lang="en-US" sz="2800" b="0" i="0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m:rPr>
                                    <m:sty m:val="p"/>
                                  </m:rPr>
                                  <a:rPr lang="en-US" sz="2800" b="0" i="0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B</m:t>
                                </m:r>
                              </m:oMath>
                            </m:oMathPara>
                          </a14:m>
                          <a:endParaRPr lang="en-US" sz="2800" b="0" i="0" dirty="0">
                            <a:solidFill>
                              <a:schemeClr val="tx1"/>
                            </a:solidFill>
                            <a:latin typeface="Lato" panose="020F0502020204030203" pitchFamily="34" charset="77"/>
                          </a:endParaRP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2800" b="0" i="0" dirty="0">
                            <a:solidFill>
                              <a:schemeClr val="tx1"/>
                            </a:solidFill>
                            <a:latin typeface="Lato" panose="020F0502020204030203" pitchFamily="34" charset="77"/>
                          </a:endParaRPr>
                        </a:p>
                        <a:p>
                          <a:pPr algn="ctr"/>
                          <a:endParaRPr lang="en-US" sz="2800" b="0" i="0" dirty="0">
                            <a:solidFill>
                              <a:schemeClr val="tx1"/>
                            </a:solidFill>
                            <a:latin typeface="Lato" panose="020F0502020204030203" pitchFamily="34" charset="77"/>
                          </a:endParaRP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7902480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not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¬</m:t>
                                </m:r>
                                <m:r>
                                  <a:rPr lang="en-US" sz="2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oMath>
                            </m:oMathPara>
                          </a14:m>
                          <a:endParaRPr lang="en-US" sz="2800" b="0" dirty="0">
                            <a:solidFill>
                              <a:schemeClr val="tx1"/>
                            </a:solidFill>
                            <a:latin typeface="Lato" panose="020F0502020204030203" pitchFamily="34" charset="77"/>
                          </a:endParaRP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!a    or    ~a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acc>
                                  <m:accPr>
                                    <m:chr m:val="̅"/>
                                    <m:ctrlPr>
                                      <a:rPr lang="en-US" sz="28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sz="2800" b="0" i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A</m:t>
                                    </m:r>
                                  </m:e>
                                </m:acc>
                              </m:oMath>
                            </m:oMathPara>
                          </a14:m>
                          <a:endParaRPr lang="en-US" sz="2800" b="0" dirty="0">
                            <a:solidFill>
                              <a:schemeClr val="tx1"/>
                            </a:solidFill>
                            <a:latin typeface="Lato" panose="020F0502020204030203" pitchFamily="34" charset="77"/>
                          </a:endParaRP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2800" b="0" dirty="0">
                            <a:solidFill>
                              <a:schemeClr val="tx1"/>
                            </a:solidFill>
                            <a:latin typeface="Lato" panose="020F0502020204030203" pitchFamily="34" charset="77"/>
                          </a:endParaRPr>
                        </a:p>
                        <a:p>
                          <a:pPr algn="ctr"/>
                          <a:endParaRPr lang="en-US" sz="2800" b="0" dirty="0">
                            <a:solidFill>
                              <a:schemeClr val="tx1"/>
                            </a:solidFill>
                            <a:latin typeface="Lato" panose="020F0502020204030203" pitchFamily="34" charset="77"/>
                          </a:endParaRP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0950017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4" name="Content Placeholder 3">
                <a:extLst>
                  <a:ext uri="{FF2B5EF4-FFF2-40B4-BE49-F238E27FC236}">
                    <a16:creationId xmlns:a16="http://schemas.microsoft.com/office/drawing/2014/main" id="{E71CE37E-5302-CA17-1ADC-CCCF0AFB0BFD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3331195999"/>
                  </p:ext>
                </p:extLst>
              </p:nvPr>
            </p:nvGraphicFramePr>
            <p:xfrm>
              <a:off x="0" y="1915309"/>
              <a:ext cx="12192000" cy="41452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438400">
                      <a:extLst>
                        <a:ext uri="{9D8B030D-6E8A-4147-A177-3AD203B41FA5}">
                          <a16:colId xmlns:a16="http://schemas.microsoft.com/office/drawing/2014/main" val="3595302137"/>
                        </a:ext>
                      </a:extLst>
                    </a:gridCol>
                    <a:gridCol w="2438400">
                      <a:extLst>
                        <a:ext uri="{9D8B030D-6E8A-4147-A177-3AD203B41FA5}">
                          <a16:colId xmlns:a16="http://schemas.microsoft.com/office/drawing/2014/main" val="1115156414"/>
                        </a:ext>
                      </a:extLst>
                    </a:gridCol>
                    <a:gridCol w="2438400">
                      <a:extLst>
                        <a:ext uri="{9D8B030D-6E8A-4147-A177-3AD203B41FA5}">
                          <a16:colId xmlns:a16="http://schemas.microsoft.com/office/drawing/2014/main" val="1820964212"/>
                        </a:ext>
                      </a:extLst>
                    </a:gridCol>
                    <a:gridCol w="2438400">
                      <a:extLst>
                        <a:ext uri="{9D8B030D-6E8A-4147-A177-3AD203B41FA5}">
                          <a16:colId xmlns:a16="http://schemas.microsoft.com/office/drawing/2014/main" val="299285164"/>
                        </a:ext>
                      </a:extLst>
                    </a:gridCol>
                    <a:gridCol w="2438400">
                      <a:extLst>
                        <a:ext uri="{9D8B030D-6E8A-4147-A177-3AD203B41FA5}">
                          <a16:colId xmlns:a16="http://schemas.microsoft.com/office/drawing/2014/main" val="2501793745"/>
                        </a:ext>
                      </a:extLst>
                    </a:gridCol>
                  </a:tblGrid>
                  <a:tr h="103632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Operation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Math/CS Theory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Programming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 gridSpan="2"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Electrical Engineering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 hMerge="1">
                      <a:txBody>
                        <a:bodyPr/>
                        <a:lstStyle/>
                        <a:p>
                          <a:pPr algn="ctr"/>
                          <a:endParaRPr lang="en-US" sz="2800" b="0" dirty="0">
                            <a:solidFill>
                              <a:schemeClr val="tx1"/>
                            </a:solidFill>
                            <a:latin typeface="Lato" panose="020F0502020204030203" pitchFamily="34" charset="77"/>
                          </a:endParaRP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77200367"/>
                      </a:ext>
                    </a:extLst>
                  </a:tr>
                  <a:tr h="103632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and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521" t="-101220" r="-301042" b="-20122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a &amp;&amp; b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00521" t="-101220" r="-101042" b="-20122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2800" b="0" i="0" dirty="0">
                            <a:solidFill>
                              <a:schemeClr val="tx1"/>
                            </a:solidFill>
                            <a:latin typeface="Lato" panose="020F0502020204030203" pitchFamily="34" charset="77"/>
                          </a:endParaRPr>
                        </a:p>
                        <a:p>
                          <a:pPr algn="ctr"/>
                          <a:endParaRPr lang="en-US" sz="2800" b="0" i="0" dirty="0">
                            <a:solidFill>
                              <a:schemeClr val="tx1"/>
                            </a:solidFill>
                            <a:latin typeface="Lato" panose="020F0502020204030203" pitchFamily="34" charset="77"/>
                          </a:endParaRP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82480134"/>
                      </a:ext>
                    </a:extLst>
                  </a:tr>
                  <a:tr h="103632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or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521" t="-201220" r="-301042" b="-10122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a || b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00521" t="-201220" r="-101042" b="-10122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2800" b="0" i="0" dirty="0">
                            <a:solidFill>
                              <a:schemeClr val="tx1"/>
                            </a:solidFill>
                            <a:latin typeface="Lato" panose="020F0502020204030203" pitchFamily="34" charset="77"/>
                          </a:endParaRPr>
                        </a:p>
                        <a:p>
                          <a:pPr algn="ctr"/>
                          <a:endParaRPr lang="en-US" sz="2800" b="0" i="0" dirty="0">
                            <a:solidFill>
                              <a:schemeClr val="tx1"/>
                            </a:solidFill>
                            <a:latin typeface="Lato" panose="020F0502020204030203" pitchFamily="34" charset="77"/>
                          </a:endParaRP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79024803"/>
                      </a:ext>
                    </a:extLst>
                  </a:tr>
                  <a:tr h="103632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not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521" t="-301220" r="-301042" b="-122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!a    or    ~a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300521" t="-301220" r="-101042" b="-122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US" sz="2800" b="0" dirty="0">
                            <a:solidFill>
                              <a:schemeClr val="tx1"/>
                            </a:solidFill>
                            <a:latin typeface="Lato" panose="020F0502020204030203" pitchFamily="34" charset="77"/>
                          </a:endParaRPr>
                        </a:p>
                        <a:p>
                          <a:pPr algn="ctr"/>
                          <a:endParaRPr lang="en-US" sz="2800" b="0" dirty="0">
                            <a:solidFill>
                              <a:schemeClr val="tx1"/>
                            </a:solidFill>
                            <a:latin typeface="Lato" panose="020F0502020204030203" pitchFamily="34" charset="77"/>
                          </a:endParaRP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0950017"/>
                      </a:ext>
                    </a:extLst>
                  </a:tr>
                </a:tbl>
              </a:graphicData>
            </a:graphic>
          </p:graphicFrame>
        </mc:Fallback>
      </mc:AlternateContent>
      <p:pic>
        <p:nvPicPr>
          <p:cNvPr id="1026" name="Picture 2">
            <a:extLst>
              <a:ext uri="{FF2B5EF4-FFF2-40B4-BE49-F238E27FC236}">
                <a16:creationId xmlns:a16="http://schemas.microsoft.com/office/drawing/2014/main" id="{C30629EF-96F4-A857-4FDE-778E67A206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44952" y="5229561"/>
            <a:ext cx="1972235" cy="7100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DC9F192-8763-E69C-301E-BB316A89BB5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56200" y="3021479"/>
            <a:ext cx="2149738" cy="89572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F7D7094-5227-FBAE-10DB-E34D3AB578E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47206" y="4012031"/>
            <a:ext cx="2258732" cy="9418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691103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877D912-5404-C983-C8CA-8CD8118B41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Truth tables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6" name="Content Placeholder 3">
                <a:extLst>
                  <a:ext uri="{FF2B5EF4-FFF2-40B4-BE49-F238E27FC236}">
                    <a16:creationId xmlns:a16="http://schemas.microsoft.com/office/drawing/2014/main" id="{12F91D6E-018C-90F6-1FCD-187D625D79A2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2602862763"/>
                  </p:ext>
                </p:extLst>
              </p:nvPr>
            </p:nvGraphicFramePr>
            <p:xfrm>
              <a:off x="838200" y="2385956"/>
              <a:ext cx="3155577" cy="30480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051859">
                      <a:extLst>
                        <a:ext uri="{9D8B030D-6E8A-4147-A177-3AD203B41FA5}">
                          <a16:colId xmlns:a16="http://schemas.microsoft.com/office/drawing/2014/main" val="3595302137"/>
                        </a:ext>
                      </a:extLst>
                    </a:gridCol>
                    <a:gridCol w="1051859">
                      <a:extLst>
                        <a:ext uri="{9D8B030D-6E8A-4147-A177-3AD203B41FA5}">
                          <a16:colId xmlns:a16="http://schemas.microsoft.com/office/drawing/2014/main" val="1115156414"/>
                        </a:ext>
                      </a:extLst>
                    </a:gridCol>
                    <a:gridCol w="1051859">
                      <a:extLst>
                        <a:ext uri="{9D8B030D-6E8A-4147-A177-3AD203B41FA5}">
                          <a16:colId xmlns:a16="http://schemas.microsoft.com/office/drawing/2014/main" val="1820964212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oMath>
                            </m:oMathPara>
                          </a14:m>
                          <a:endParaRPr lang="en-US" sz="2800" b="0" dirty="0">
                            <a:solidFill>
                              <a:schemeClr val="tx1"/>
                            </a:solidFill>
                            <a:latin typeface="Lato" panose="020F0502020204030203" pitchFamily="34" charset="77"/>
                          </a:endParaRP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𝑏</m:t>
                                </m:r>
                              </m:oMath>
                            </m:oMathPara>
                          </a14:m>
                          <a:endParaRPr lang="en-US" sz="2800" b="0" dirty="0">
                            <a:solidFill>
                              <a:schemeClr val="tx1"/>
                            </a:solidFill>
                            <a:latin typeface="Lato" panose="020F0502020204030203" pitchFamily="34" charset="77"/>
                          </a:endParaRP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en-US" sz="2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∧</m:t>
                                </m:r>
                                <m:r>
                                  <a:rPr lang="en-US" sz="2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𝑏</m:t>
                                </m:r>
                              </m:oMath>
                            </m:oMathPara>
                          </a14:m>
                          <a:endParaRPr lang="en-US" sz="2800" b="0" dirty="0">
                            <a:solidFill>
                              <a:schemeClr val="tx1"/>
                            </a:solidFill>
                            <a:latin typeface="Lato" panose="020F0502020204030203" pitchFamily="34" charset="77"/>
                          </a:endParaRP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7720036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8248013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7902480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095001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42798743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6" name="Content Placeholder 3">
                <a:extLst>
                  <a:ext uri="{FF2B5EF4-FFF2-40B4-BE49-F238E27FC236}">
                    <a16:creationId xmlns:a16="http://schemas.microsoft.com/office/drawing/2014/main" id="{12F91D6E-018C-90F6-1FCD-187D625D79A2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2602862763"/>
                  </p:ext>
                </p:extLst>
              </p:nvPr>
            </p:nvGraphicFramePr>
            <p:xfrm>
              <a:off x="838200" y="2385956"/>
              <a:ext cx="3155577" cy="30480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051859">
                      <a:extLst>
                        <a:ext uri="{9D8B030D-6E8A-4147-A177-3AD203B41FA5}">
                          <a16:colId xmlns:a16="http://schemas.microsoft.com/office/drawing/2014/main" val="3595302137"/>
                        </a:ext>
                      </a:extLst>
                    </a:gridCol>
                    <a:gridCol w="1051859">
                      <a:extLst>
                        <a:ext uri="{9D8B030D-6E8A-4147-A177-3AD203B41FA5}">
                          <a16:colId xmlns:a16="http://schemas.microsoft.com/office/drawing/2014/main" val="1115156414"/>
                        </a:ext>
                      </a:extLst>
                    </a:gridCol>
                    <a:gridCol w="1051859">
                      <a:extLst>
                        <a:ext uri="{9D8B030D-6E8A-4147-A177-3AD203B41FA5}">
                          <a16:colId xmlns:a16="http://schemas.microsoft.com/office/drawing/2014/main" val="1820964212"/>
                        </a:ext>
                      </a:extLst>
                    </a:gridCol>
                  </a:tblGrid>
                  <a:tr h="6096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205" r="-201205" b="-42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1205" r="-101205" b="-42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1205" r="-1205" b="-425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77200367"/>
                      </a:ext>
                    </a:extLst>
                  </a:tr>
                  <a:tr h="6096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82480134"/>
                      </a:ext>
                    </a:extLst>
                  </a:tr>
                  <a:tr h="6096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79024803"/>
                      </a:ext>
                    </a:extLst>
                  </a:tr>
                  <a:tr h="6096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0950017"/>
                      </a:ext>
                    </a:extLst>
                  </a:tr>
                  <a:tr h="6096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42798743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7" name="Content Placeholder 3">
                <a:extLst>
                  <a:ext uri="{FF2B5EF4-FFF2-40B4-BE49-F238E27FC236}">
                    <a16:creationId xmlns:a16="http://schemas.microsoft.com/office/drawing/2014/main" id="{43D59318-7F20-1D6F-1AB9-7D484BD77C00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4257064654"/>
                  </p:ext>
                </p:extLst>
              </p:nvPr>
            </p:nvGraphicFramePr>
            <p:xfrm>
              <a:off x="5042648" y="2385956"/>
              <a:ext cx="3155577" cy="30480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051859">
                      <a:extLst>
                        <a:ext uri="{9D8B030D-6E8A-4147-A177-3AD203B41FA5}">
                          <a16:colId xmlns:a16="http://schemas.microsoft.com/office/drawing/2014/main" val="3595302137"/>
                        </a:ext>
                      </a:extLst>
                    </a:gridCol>
                    <a:gridCol w="1051859">
                      <a:extLst>
                        <a:ext uri="{9D8B030D-6E8A-4147-A177-3AD203B41FA5}">
                          <a16:colId xmlns:a16="http://schemas.microsoft.com/office/drawing/2014/main" val="1115156414"/>
                        </a:ext>
                      </a:extLst>
                    </a:gridCol>
                    <a:gridCol w="1051859">
                      <a:extLst>
                        <a:ext uri="{9D8B030D-6E8A-4147-A177-3AD203B41FA5}">
                          <a16:colId xmlns:a16="http://schemas.microsoft.com/office/drawing/2014/main" val="1820964212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oMath>
                            </m:oMathPara>
                          </a14:m>
                          <a:endParaRPr lang="en-US" sz="2800" b="0" dirty="0">
                            <a:solidFill>
                              <a:schemeClr val="tx1"/>
                            </a:solidFill>
                            <a:latin typeface="Lato" panose="020F0502020204030203" pitchFamily="34" charset="77"/>
                          </a:endParaRP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𝑏</m:t>
                                </m:r>
                              </m:oMath>
                            </m:oMathPara>
                          </a14:m>
                          <a:endParaRPr lang="en-US" sz="2800" b="0" dirty="0">
                            <a:solidFill>
                              <a:schemeClr val="tx1"/>
                            </a:solidFill>
                            <a:latin typeface="Lato" panose="020F0502020204030203" pitchFamily="34" charset="77"/>
                          </a:endParaRP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en-US" sz="2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∨</m:t>
                                </m:r>
                                <m:r>
                                  <a:rPr lang="en-US" sz="2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𝑏</m:t>
                                </m:r>
                              </m:oMath>
                            </m:oMathPara>
                          </a14:m>
                          <a:endParaRPr lang="en-US" sz="2800" b="0" dirty="0">
                            <a:solidFill>
                              <a:schemeClr val="tx1"/>
                            </a:solidFill>
                            <a:latin typeface="Lato" panose="020F0502020204030203" pitchFamily="34" charset="77"/>
                          </a:endParaRP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7720036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8248013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7902480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095001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42798743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7" name="Content Placeholder 3">
                <a:extLst>
                  <a:ext uri="{FF2B5EF4-FFF2-40B4-BE49-F238E27FC236}">
                    <a16:creationId xmlns:a16="http://schemas.microsoft.com/office/drawing/2014/main" id="{43D59318-7F20-1D6F-1AB9-7D484BD77C00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4257064654"/>
                  </p:ext>
                </p:extLst>
              </p:nvPr>
            </p:nvGraphicFramePr>
            <p:xfrm>
              <a:off x="5042648" y="2385956"/>
              <a:ext cx="3155577" cy="30480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051859">
                      <a:extLst>
                        <a:ext uri="{9D8B030D-6E8A-4147-A177-3AD203B41FA5}">
                          <a16:colId xmlns:a16="http://schemas.microsoft.com/office/drawing/2014/main" val="3595302137"/>
                        </a:ext>
                      </a:extLst>
                    </a:gridCol>
                    <a:gridCol w="1051859">
                      <a:extLst>
                        <a:ext uri="{9D8B030D-6E8A-4147-A177-3AD203B41FA5}">
                          <a16:colId xmlns:a16="http://schemas.microsoft.com/office/drawing/2014/main" val="1115156414"/>
                        </a:ext>
                      </a:extLst>
                    </a:gridCol>
                    <a:gridCol w="1051859">
                      <a:extLst>
                        <a:ext uri="{9D8B030D-6E8A-4147-A177-3AD203B41FA5}">
                          <a16:colId xmlns:a16="http://schemas.microsoft.com/office/drawing/2014/main" val="1820964212"/>
                        </a:ext>
                      </a:extLst>
                    </a:gridCol>
                  </a:tblGrid>
                  <a:tr h="6096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205" r="-201205" b="-42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1205" r="-101205" b="-42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01205" r="-1205" b="-425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77200367"/>
                      </a:ext>
                    </a:extLst>
                  </a:tr>
                  <a:tr h="6096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82480134"/>
                      </a:ext>
                    </a:extLst>
                  </a:tr>
                  <a:tr h="6096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79024803"/>
                      </a:ext>
                    </a:extLst>
                  </a:tr>
                  <a:tr h="6096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0950017"/>
                      </a:ext>
                    </a:extLst>
                  </a:tr>
                  <a:tr h="6096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42798743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8" name="Table 7">
                <a:extLst>
                  <a:ext uri="{FF2B5EF4-FFF2-40B4-BE49-F238E27FC236}">
                    <a16:creationId xmlns:a16="http://schemas.microsoft.com/office/drawing/2014/main" id="{B16ECAB0-C719-C52B-5392-CA4AD00DB57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7438608"/>
                  </p:ext>
                </p:extLst>
              </p:nvPr>
            </p:nvGraphicFramePr>
            <p:xfrm>
              <a:off x="9247096" y="2995556"/>
              <a:ext cx="2103718" cy="18288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051859">
                      <a:extLst>
                        <a:ext uri="{9D8B030D-6E8A-4147-A177-3AD203B41FA5}">
                          <a16:colId xmlns:a16="http://schemas.microsoft.com/office/drawing/2014/main" val="1994829580"/>
                        </a:ext>
                      </a:extLst>
                    </a:gridCol>
                    <a:gridCol w="1051859">
                      <a:extLst>
                        <a:ext uri="{9D8B030D-6E8A-4147-A177-3AD203B41FA5}">
                          <a16:colId xmlns:a16="http://schemas.microsoft.com/office/drawing/2014/main" val="2105800903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oMath>
                            </m:oMathPara>
                          </a14:m>
                          <a:endParaRPr lang="en-US" sz="2800" b="0" dirty="0">
                            <a:solidFill>
                              <a:schemeClr val="tx1"/>
                            </a:solidFill>
                            <a:latin typeface="Lato" panose="020F0502020204030203" pitchFamily="34" charset="77"/>
                          </a:endParaRP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¬</m:t>
                                </m:r>
                                <m:r>
                                  <a:rPr lang="en-US" sz="2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oMath>
                            </m:oMathPara>
                          </a14:m>
                          <a:endParaRPr lang="en-US" sz="2800" b="0" dirty="0">
                            <a:solidFill>
                              <a:schemeClr val="tx1"/>
                            </a:solidFill>
                            <a:latin typeface="Lato" panose="020F0502020204030203" pitchFamily="34" charset="77"/>
                          </a:endParaRP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7376946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0173474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66371603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8" name="Table 7">
                <a:extLst>
                  <a:ext uri="{FF2B5EF4-FFF2-40B4-BE49-F238E27FC236}">
                    <a16:creationId xmlns:a16="http://schemas.microsoft.com/office/drawing/2014/main" id="{B16ECAB0-C719-C52B-5392-CA4AD00DB579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7438608"/>
                  </p:ext>
                </p:extLst>
              </p:nvPr>
            </p:nvGraphicFramePr>
            <p:xfrm>
              <a:off x="9247096" y="2995556"/>
              <a:ext cx="2103718" cy="18288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051859">
                      <a:extLst>
                        <a:ext uri="{9D8B030D-6E8A-4147-A177-3AD203B41FA5}">
                          <a16:colId xmlns:a16="http://schemas.microsoft.com/office/drawing/2014/main" val="1994829580"/>
                        </a:ext>
                      </a:extLst>
                    </a:gridCol>
                    <a:gridCol w="1051859">
                      <a:extLst>
                        <a:ext uri="{9D8B030D-6E8A-4147-A177-3AD203B41FA5}">
                          <a16:colId xmlns:a16="http://schemas.microsoft.com/office/drawing/2014/main" val="2105800903"/>
                        </a:ext>
                      </a:extLst>
                    </a:gridCol>
                  </a:tblGrid>
                  <a:tr h="6096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205" r="-102410" b="-22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01205" r="-2410" b="-225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73769469"/>
                      </a:ext>
                    </a:extLst>
                  </a:tr>
                  <a:tr h="6096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01734742"/>
                      </a:ext>
                    </a:extLst>
                  </a:tr>
                  <a:tr h="6096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66371603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FD2D8F54-38DA-20BA-A3F2-116470A83C6C}"/>
              </a:ext>
            </a:extLst>
          </p:cNvPr>
          <p:cNvSpPr txBox="1"/>
          <p:nvPr/>
        </p:nvSpPr>
        <p:spPr>
          <a:xfrm>
            <a:off x="2031908" y="1607046"/>
            <a:ext cx="768159" cy="5727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>
              <a:lnSpc>
                <a:spcPct val="125000"/>
              </a:lnSpc>
              <a:spcBef>
                <a:spcPts val="2400"/>
              </a:spcBef>
            </a:pPr>
            <a:r>
              <a:rPr lang="en-US" sz="2800" dirty="0">
                <a:latin typeface="Lato" panose="020F0502020204030203" pitchFamily="34" charset="77"/>
                <a:ea typeface="Inter" panose="02000503000000020004" pitchFamily="2" charset="0"/>
              </a:rPr>
              <a:t>and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841CF5F-0383-4BD6-20B1-033265DC6C23}"/>
              </a:ext>
            </a:extLst>
          </p:cNvPr>
          <p:cNvSpPr txBox="1"/>
          <p:nvPr/>
        </p:nvSpPr>
        <p:spPr>
          <a:xfrm>
            <a:off x="6236356" y="1607046"/>
            <a:ext cx="529312" cy="5727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>
              <a:lnSpc>
                <a:spcPct val="125000"/>
              </a:lnSpc>
              <a:spcBef>
                <a:spcPts val="2400"/>
              </a:spcBef>
            </a:pPr>
            <a:r>
              <a:rPr lang="en-US" sz="2800" dirty="0">
                <a:latin typeface="Lato" panose="020F0502020204030203" pitchFamily="34" charset="77"/>
                <a:ea typeface="Inter" panose="02000503000000020004" pitchFamily="2" charset="0"/>
              </a:rPr>
              <a:t>or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FC2CCA4-D1C4-23A3-92E4-284BACE69F0D}"/>
              </a:ext>
            </a:extLst>
          </p:cNvPr>
          <p:cNvSpPr txBox="1"/>
          <p:nvPr/>
        </p:nvSpPr>
        <p:spPr>
          <a:xfrm>
            <a:off x="10034299" y="1607045"/>
            <a:ext cx="720069" cy="5727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>
              <a:lnSpc>
                <a:spcPct val="125000"/>
              </a:lnSpc>
              <a:spcBef>
                <a:spcPts val="2400"/>
              </a:spcBef>
            </a:pPr>
            <a:r>
              <a:rPr lang="en-US" sz="2800" dirty="0">
                <a:latin typeface="Lato" panose="020F0502020204030203" pitchFamily="34" charset="77"/>
                <a:ea typeface="Inter" panose="02000503000000020004" pitchFamily="2" charset="0"/>
              </a:rPr>
              <a:t>not</a:t>
            </a:r>
          </a:p>
        </p:txBody>
      </p:sp>
    </p:spTree>
    <p:extLst>
      <p:ext uri="{BB962C8B-B14F-4D97-AF65-F5344CB8AC3E}">
        <p14:creationId xmlns:p14="http://schemas.microsoft.com/office/powerpoint/2010/main" val="253969736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679775-AE4C-3827-2061-B405BA53F3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43CE8D6-0161-972C-B354-A533A59171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Truth tables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6" name="Content Placeholder 3">
                <a:extLst>
                  <a:ext uri="{FF2B5EF4-FFF2-40B4-BE49-F238E27FC236}">
                    <a16:creationId xmlns:a16="http://schemas.microsoft.com/office/drawing/2014/main" id="{7A8F8149-4A6C-01C5-B6D0-9E9A37CD6358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450023429"/>
                  </p:ext>
                </p:extLst>
              </p:nvPr>
            </p:nvGraphicFramePr>
            <p:xfrm>
              <a:off x="838199" y="2385956"/>
              <a:ext cx="2967319" cy="30480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842683">
                      <a:extLst>
                        <a:ext uri="{9D8B030D-6E8A-4147-A177-3AD203B41FA5}">
                          <a16:colId xmlns:a16="http://schemas.microsoft.com/office/drawing/2014/main" val="3595302137"/>
                        </a:ext>
                      </a:extLst>
                    </a:gridCol>
                    <a:gridCol w="887506">
                      <a:extLst>
                        <a:ext uri="{9D8B030D-6E8A-4147-A177-3AD203B41FA5}">
                          <a16:colId xmlns:a16="http://schemas.microsoft.com/office/drawing/2014/main" val="1115156414"/>
                        </a:ext>
                      </a:extLst>
                    </a:gridCol>
                    <a:gridCol w="1237130">
                      <a:extLst>
                        <a:ext uri="{9D8B030D-6E8A-4147-A177-3AD203B41FA5}">
                          <a16:colId xmlns:a16="http://schemas.microsoft.com/office/drawing/2014/main" val="1820964212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oMath>
                            </m:oMathPara>
                          </a14:m>
                          <a:endParaRPr lang="en-US" sz="2800" b="0" dirty="0">
                            <a:solidFill>
                              <a:schemeClr val="tx1"/>
                            </a:solidFill>
                            <a:latin typeface="Lato" panose="020F0502020204030203" pitchFamily="34" charset="77"/>
                          </a:endParaRP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𝑏</m:t>
                                </m:r>
                              </m:oMath>
                            </m:oMathPara>
                          </a14:m>
                          <a:endParaRPr lang="en-US" sz="2800" b="0" dirty="0">
                            <a:solidFill>
                              <a:schemeClr val="tx1"/>
                            </a:solidFill>
                            <a:latin typeface="Lato" panose="020F0502020204030203" pitchFamily="34" charset="77"/>
                          </a:endParaRP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en-US" sz="2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⇒</m:t>
                                </m:r>
                                <m:r>
                                  <a:rPr lang="en-US" sz="2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𝑏</m:t>
                                </m:r>
                              </m:oMath>
                            </m:oMathPara>
                          </a14:m>
                          <a:endParaRPr lang="en-US" sz="2800" b="0" dirty="0">
                            <a:solidFill>
                              <a:schemeClr val="tx1"/>
                            </a:solidFill>
                            <a:latin typeface="Lato" panose="020F0502020204030203" pitchFamily="34" charset="77"/>
                          </a:endParaRP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7720036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8248013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7902480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095001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42798743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6" name="Content Placeholder 3">
                <a:extLst>
                  <a:ext uri="{FF2B5EF4-FFF2-40B4-BE49-F238E27FC236}">
                    <a16:creationId xmlns:a16="http://schemas.microsoft.com/office/drawing/2014/main" id="{7A8F8149-4A6C-01C5-B6D0-9E9A37CD6358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450023429"/>
                  </p:ext>
                </p:extLst>
              </p:nvPr>
            </p:nvGraphicFramePr>
            <p:xfrm>
              <a:off x="838199" y="2385956"/>
              <a:ext cx="2967319" cy="30480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842683">
                      <a:extLst>
                        <a:ext uri="{9D8B030D-6E8A-4147-A177-3AD203B41FA5}">
                          <a16:colId xmlns:a16="http://schemas.microsoft.com/office/drawing/2014/main" val="3595302137"/>
                        </a:ext>
                      </a:extLst>
                    </a:gridCol>
                    <a:gridCol w="887506">
                      <a:extLst>
                        <a:ext uri="{9D8B030D-6E8A-4147-A177-3AD203B41FA5}">
                          <a16:colId xmlns:a16="http://schemas.microsoft.com/office/drawing/2014/main" val="1115156414"/>
                        </a:ext>
                      </a:extLst>
                    </a:gridCol>
                    <a:gridCol w="1237130">
                      <a:extLst>
                        <a:ext uri="{9D8B030D-6E8A-4147-A177-3AD203B41FA5}">
                          <a16:colId xmlns:a16="http://schemas.microsoft.com/office/drawing/2014/main" val="1820964212"/>
                        </a:ext>
                      </a:extLst>
                    </a:gridCol>
                  </a:tblGrid>
                  <a:tr h="6096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r="-252239" b="-42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95714" r="-141429" b="-42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39796" r="-1020" b="-425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77200367"/>
                      </a:ext>
                    </a:extLst>
                  </a:tr>
                  <a:tr h="6096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82480134"/>
                      </a:ext>
                    </a:extLst>
                  </a:tr>
                  <a:tr h="6096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79024803"/>
                      </a:ext>
                    </a:extLst>
                  </a:tr>
                  <a:tr h="6096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0950017"/>
                      </a:ext>
                    </a:extLst>
                  </a:tr>
                  <a:tr h="6096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42798743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9" name="Content Placeholder 3">
                <a:extLst>
                  <a:ext uri="{FF2B5EF4-FFF2-40B4-BE49-F238E27FC236}">
                    <a16:creationId xmlns:a16="http://schemas.microsoft.com/office/drawing/2014/main" id="{7AA5297F-75DB-1A34-ACFA-FDBA0AF92DA8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2939687935"/>
                  </p:ext>
                </p:extLst>
              </p:nvPr>
            </p:nvGraphicFramePr>
            <p:xfrm>
              <a:off x="4612340" y="2385956"/>
              <a:ext cx="2967319" cy="30480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842683">
                      <a:extLst>
                        <a:ext uri="{9D8B030D-6E8A-4147-A177-3AD203B41FA5}">
                          <a16:colId xmlns:a16="http://schemas.microsoft.com/office/drawing/2014/main" val="3595302137"/>
                        </a:ext>
                      </a:extLst>
                    </a:gridCol>
                    <a:gridCol w="887506">
                      <a:extLst>
                        <a:ext uri="{9D8B030D-6E8A-4147-A177-3AD203B41FA5}">
                          <a16:colId xmlns:a16="http://schemas.microsoft.com/office/drawing/2014/main" val="1115156414"/>
                        </a:ext>
                      </a:extLst>
                    </a:gridCol>
                    <a:gridCol w="1237130">
                      <a:extLst>
                        <a:ext uri="{9D8B030D-6E8A-4147-A177-3AD203B41FA5}">
                          <a16:colId xmlns:a16="http://schemas.microsoft.com/office/drawing/2014/main" val="1820964212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oMath>
                            </m:oMathPara>
                          </a14:m>
                          <a:endParaRPr lang="en-US" sz="2800" b="0" dirty="0">
                            <a:solidFill>
                              <a:schemeClr val="tx1"/>
                            </a:solidFill>
                            <a:latin typeface="Lato" panose="020F0502020204030203" pitchFamily="34" charset="77"/>
                          </a:endParaRP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𝑏</m:t>
                                </m:r>
                              </m:oMath>
                            </m:oMathPara>
                          </a14:m>
                          <a:endParaRPr lang="en-US" sz="2800" b="0" dirty="0">
                            <a:solidFill>
                              <a:schemeClr val="tx1"/>
                            </a:solidFill>
                            <a:latin typeface="Lato" panose="020F0502020204030203" pitchFamily="34" charset="77"/>
                          </a:endParaRP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en-US" sz="2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⇔</m:t>
                                </m:r>
                                <m:r>
                                  <a:rPr lang="en-US" sz="2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𝑏</m:t>
                                </m:r>
                              </m:oMath>
                            </m:oMathPara>
                          </a14:m>
                          <a:endParaRPr lang="en-US" sz="2800" b="0" dirty="0">
                            <a:solidFill>
                              <a:schemeClr val="tx1"/>
                            </a:solidFill>
                            <a:latin typeface="Lato" panose="020F0502020204030203" pitchFamily="34" charset="77"/>
                          </a:endParaRP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7720036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8248013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7902480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095001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42798743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9" name="Content Placeholder 3">
                <a:extLst>
                  <a:ext uri="{FF2B5EF4-FFF2-40B4-BE49-F238E27FC236}">
                    <a16:creationId xmlns:a16="http://schemas.microsoft.com/office/drawing/2014/main" id="{7AA5297F-75DB-1A34-ACFA-FDBA0AF92DA8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2939687935"/>
                  </p:ext>
                </p:extLst>
              </p:nvPr>
            </p:nvGraphicFramePr>
            <p:xfrm>
              <a:off x="4612340" y="2385956"/>
              <a:ext cx="2967319" cy="30480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842683">
                      <a:extLst>
                        <a:ext uri="{9D8B030D-6E8A-4147-A177-3AD203B41FA5}">
                          <a16:colId xmlns:a16="http://schemas.microsoft.com/office/drawing/2014/main" val="3595302137"/>
                        </a:ext>
                      </a:extLst>
                    </a:gridCol>
                    <a:gridCol w="887506">
                      <a:extLst>
                        <a:ext uri="{9D8B030D-6E8A-4147-A177-3AD203B41FA5}">
                          <a16:colId xmlns:a16="http://schemas.microsoft.com/office/drawing/2014/main" val="1115156414"/>
                        </a:ext>
                      </a:extLst>
                    </a:gridCol>
                    <a:gridCol w="1237130">
                      <a:extLst>
                        <a:ext uri="{9D8B030D-6E8A-4147-A177-3AD203B41FA5}">
                          <a16:colId xmlns:a16="http://schemas.microsoft.com/office/drawing/2014/main" val="1820964212"/>
                        </a:ext>
                      </a:extLst>
                    </a:gridCol>
                  </a:tblGrid>
                  <a:tr h="6096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515" r="-257576" b="-42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95714" r="-142857" b="-42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39796" r="-2041" b="-425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77200367"/>
                      </a:ext>
                    </a:extLst>
                  </a:tr>
                  <a:tr h="6096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82480134"/>
                      </a:ext>
                    </a:extLst>
                  </a:tr>
                  <a:tr h="6096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79024803"/>
                      </a:ext>
                    </a:extLst>
                  </a:tr>
                  <a:tr h="6096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0950017"/>
                      </a:ext>
                    </a:extLst>
                  </a:tr>
                  <a:tr h="6096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42798743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10" name="Content Placeholder 3">
                <a:extLst>
                  <a:ext uri="{FF2B5EF4-FFF2-40B4-BE49-F238E27FC236}">
                    <a16:creationId xmlns:a16="http://schemas.microsoft.com/office/drawing/2014/main" id="{653219C1-A935-1343-4352-81E15B71E04D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1775795050"/>
                  </p:ext>
                </p:extLst>
              </p:nvPr>
            </p:nvGraphicFramePr>
            <p:xfrm>
              <a:off x="8386481" y="2385956"/>
              <a:ext cx="2967319" cy="30480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842683">
                      <a:extLst>
                        <a:ext uri="{9D8B030D-6E8A-4147-A177-3AD203B41FA5}">
                          <a16:colId xmlns:a16="http://schemas.microsoft.com/office/drawing/2014/main" val="3595302137"/>
                        </a:ext>
                      </a:extLst>
                    </a:gridCol>
                    <a:gridCol w="887506">
                      <a:extLst>
                        <a:ext uri="{9D8B030D-6E8A-4147-A177-3AD203B41FA5}">
                          <a16:colId xmlns:a16="http://schemas.microsoft.com/office/drawing/2014/main" val="1115156414"/>
                        </a:ext>
                      </a:extLst>
                    </a:gridCol>
                    <a:gridCol w="1237130">
                      <a:extLst>
                        <a:ext uri="{9D8B030D-6E8A-4147-A177-3AD203B41FA5}">
                          <a16:colId xmlns:a16="http://schemas.microsoft.com/office/drawing/2014/main" val="1820964212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oMath>
                            </m:oMathPara>
                          </a14:m>
                          <a:endParaRPr lang="en-US" sz="2800" b="0" dirty="0">
                            <a:solidFill>
                              <a:schemeClr val="tx1"/>
                            </a:solidFill>
                            <a:latin typeface="Lato" panose="020F0502020204030203" pitchFamily="34" charset="77"/>
                          </a:endParaRP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𝑏</m:t>
                                </m:r>
                              </m:oMath>
                            </m:oMathPara>
                          </a14:m>
                          <a:endParaRPr lang="en-US" sz="2800" b="0" dirty="0">
                            <a:solidFill>
                              <a:schemeClr val="tx1"/>
                            </a:solidFill>
                            <a:latin typeface="Lato" panose="020F0502020204030203" pitchFamily="34" charset="77"/>
                          </a:endParaRP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en-US" sz="2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⊕</m:t>
                                </m:r>
                                <m:r>
                                  <a:rPr lang="en-US" sz="2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𝑏</m:t>
                                </m:r>
                              </m:oMath>
                            </m:oMathPara>
                          </a14:m>
                          <a:endParaRPr lang="en-US" sz="2800" b="0" dirty="0">
                            <a:solidFill>
                              <a:schemeClr val="tx1"/>
                            </a:solidFill>
                            <a:latin typeface="Lato" panose="020F0502020204030203" pitchFamily="34" charset="77"/>
                          </a:endParaRP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7720036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8248013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7902480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095001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42798743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10" name="Content Placeholder 3">
                <a:extLst>
                  <a:ext uri="{FF2B5EF4-FFF2-40B4-BE49-F238E27FC236}">
                    <a16:creationId xmlns:a16="http://schemas.microsoft.com/office/drawing/2014/main" id="{653219C1-A935-1343-4352-81E15B71E04D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1775795050"/>
                  </p:ext>
                </p:extLst>
              </p:nvPr>
            </p:nvGraphicFramePr>
            <p:xfrm>
              <a:off x="8386481" y="2385956"/>
              <a:ext cx="2967319" cy="30480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842683">
                      <a:extLst>
                        <a:ext uri="{9D8B030D-6E8A-4147-A177-3AD203B41FA5}">
                          <a16:colId xmlns:a16="http://schemas.microsoft.com/office/drawing/2014/main" val="3595302137"/>
                        </a:ext>
                      </a:extLst>
                    </a:gridCol>
                    <a:gridCol w="887506">
                      <a:extLst>
                        <a:ext uri="{9D8B030D-6E8A-4147-A177-3AD203B41FA5}">
                          <a16:colId xmlns:a16="http://schemas.microsoft.com/office/drawing/2014/main" val="1115156414"/>
                        </a:ext>
                      </a:extLst>
                    </a:gridCol>
                    <a:gridCol w="1237130">
                      <a:extLst>
                        <a:ext uri="{9D8B030D-6E8A-4147-A177-3AD203B41FA5}">
                          <a16:colId xmlns:a16="http://schemas.microsoft.com/office/drawing/2014/main" val="1820964212"/>
                        </a:ext>
                      </a:extLst>
                    </a:gridCol>
                  </a:tblGrid>
                  <a:tr h="6096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515" r="-257576" b="-42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95714" r="-142857" b="-42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39796" r="-2041" b="-425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77200367"/>
                      </a:ext>
                    </a:extLst>
                  </a:tr>
                  <a:tr h="6096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82480134"/>
                      </a:ext>
                    </a:extLst>
                  </a:tr>
                  <a:tr h="6096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79024803"/>
                      </a:ext>
                    </a:extLst>
                  </a:tr>
                  <a:tr h="6096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0950017"/>
                      </a:ext>
                    </a:extLst>
                  </a:tr>
                  <a:tr h="6096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42798743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C85493C7-CF3D-0070-C05C-46D9EBC8F3B4}"/>
              </a:ext>
            </a:extLst>
          </p:cNvPr>
          <p:cNvSpPr txBox="1"/>
          <p:nvPr/>
        </p:nvSpPr>
        <p:spPr>
          <a:xfrm>
            <a:off x="1674084" y="1588607"/>
            <a:ext cx="1295547" cy="5727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>
              <a:lnSpc>
                <a:spcPct val="125000"/>
              </a:lnSpc>
              <a:spcBef>
                <a:spcPts val="2400"/>
              </a:spcBef>
            </a:pPr>
            <a:r>
              <a:rPr lang="en-US" sz="2800" dirty="0">
                <a:latin typeface="Lato" panose="020F0502020204030203" pitchFamily="34" charset="77"/>
                <a:ea typeface="Inter" panose="02000503000000020004" pitchFamily="2" charset="0"/>
              </a:rPr>
              <a:t>implies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771956A-0F61-B780-614E-2758E684BE56}"/>
              </a:ext>
            </a:extLst>
          </p:cNvPr>
          <p:cNvSpPr txBox="1"/>
          <p:nvPr/>
        </p:nvSpPr>
        <p:spPr>
          <a:xfrm>
            <a:off x="5058698" y="1588607"/>
            <a:ext cx="2074607" cy="5727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25000"/>
              </a:lnSpc>
              <a:spcBef>
                <a:spcPts val="2400"/>
              </a:spcBef>
            </a:pPr>
            <a:r>
              <a:rPr lang="en-US" sz="2800" dirty="0">
                <a:latin typeface="Lato" panose="020F0502020204030203" pitchFamily="34" charset="77"/>
                <a:ea typeface="Inter" panose="02000503000000020004" pitchFamily="2" charset="0"/>
              </a:rPr>
              <a:t>if and only if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F23D635-44C5-6E69-9440-60DF61921795}"/>
              </a:ext>
            </a:extLst>
          </p:cNvPr>
          <p:cNvSpPr txBox="1"/>
          <p:nvPr/>
        </p:nvSpPr>
        <p:spPr>
          <a:xfrm>
            <a:off x="8460943" y="1598406"/>
            <a:ext cx="2818400" cy="5727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ct val="125000"/>
              </a:lnSpc>
              <a:spcBef>
                <a:spcPts val="2400"/>
              </a:spcBef>
            </a:pPr>
            <a:r>
              <a:rPr lang="en-US" sz="2800" dirty="0">
                <a:latin typeface="Lato" panose="020F0502020204030203" pitchFamily="34" charset="77"/>
                <a:ea typeface="Inter" panose="02000503000000020004" pitchFamily="2" charset="0"/>
              </a:rPr>
              <a:t>exclusive or (</a:t>
            </a:r>
            <a:r>
              <a:rPr lang="en-US" sz="2800" dirty="0" err="1">
                <a:latin typeface="Lato" panose="020F0502020204030203" pitchFamily="34" charset="77"/>
                <a:ea typeface="Inter" panose="02000503000000020004" pitchFamily="2" charset="0"/>
              </a:rPr>
              <a:t>xor</a:t>
            </a:r>
            <a:r>
              <a:rPr lang="en-US" sz="2800" dirty="0">
                <a:latin typeface="Lato" panose="020F0502020204030203" pitchFamily="34" charset="77"/>
                <a:ea typeface="Inter" panose="02000503000000020004" pitchFamily="2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0741074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DB7E35-4A64-11D3-EF2B-020AAF8855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Practice with truth tables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9C0B520-6101-6DFC-21E9-25D89E17416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algn="ctr"/>
                <a:r>
                  <a:rPr lang="en-US" dirty="0"/>
                  <a:t>“Do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𝑎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𝑎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∨¬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/>
                  <a:t> mean the same thing?”</a:t>
                </a:r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9C0B520-6101-6DFC-21E9-25D89E17416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4" name="Content Placeholder 3">
                <a:extLst>
                  <a:ext uri="{FF2B5EF4-FFF2-40B4-BE49-F238E27FC236}">
                    <a16:creationId xmlns:a16="http://schemas.microsoft.com/office/drawing/2014/main" id="{B47B86FA-3E6E-3D6B-BAB6-6ABC0A4C7B49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3421500042"/>
                  </p:ext>
                </p:extLst>
              </p:nvPr>
            </p:nvGraphicFramePr>
            <p:xfrm>
              <a:off x="1761564" y="2446020"/>
              <a:ext cx="3348622" cy="30480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50968">
                      <a:extLst>
                        <a:ext uri="{9D8B030D-6E8A-4147-A177-3AD203B41FA5}">
                          <a16:colId xmlns:a16="http://schemas.microsoft.com/office/drawing/2014/main" val="3595302137"/>
                        </a:ext>
                      </a:extLst>
                    </a:gridCol>
                    <a:gridCol w="1001552">
                      <a:extLst>
                        <a:ext uri="{9D8B030D-6E8A-4147-A177-3AD203B41FA5}">
                          <a16:colId xmlns:a16="http://schemas.microsoft.com/office/drawing/2014/main" val="1115156414"/>
                        </a:ext>
                      </a:extLst>
                    </a:gridCol>
                    <a:gridCol w="1396102">
                      <a:extLst>
                        <a:ext uri="{9D8B030D-6E8A-4147-A177-3AD203B41FA5}">
                          <a16:colId xmlns:a16="http://schemas.microsoft.com/office/drawing/2014/main" val="1820964212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oMath>
                            </m:oMathPara>
                          </a14:m>
                          <a:endParaRPr lang="en-US" sz="2800" b="0" dirty="0">
                            <a:solidFill>
                              <a:schemeClr val="tx1"/>
                            </a:solidFill>
                            <a:latin typeface="Lato" panose="020F0502020204030203" pitchFamily="34" charset="77"/>
                          </a:endParaRP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𝑏</m:t>
                                </m:r>
                              </m:oMath>
                            </m:oMathPara>
                          </a14:m>
                          <a:endParaRPr lang="en-US" sz="2800" b="0" dirty="0">
                            <a:solidFill>
                              <a:schemeClr val="tx1"/>
                            </a:solidFill>
                            <a:latin typeface="Lato" panose="020F0502020204030203" pitchFamily="34" charset="77"/>
                          </a:endParaRP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en-US" sz="2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⇒</m:t>
                                </m:r>
                                <m:r>
                                  <a:rPr lang="en-US" sz="2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𝑏</m:t>
                                </m:r>
                              </m:oMath>
                            </m:oMathPara>
                          </a14:m>
                          <a:endParaRPr lang="en-US" sz="2800" b="0" dirty="0">
                            <a:solidFill>
                              <a:schemeClr val="tx1"/>
                            </a:solidFill>
                            <a:latin typeface="Lato" panose="020F0502020204030203" pitchFamily="34" charset="77"/>
                          </a:endParaRP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7720036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8248013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7902480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095001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42798743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4" name="Content Placeholder 3">
                <a:extLst>
                  <a:ext uri="{FF2B5EF4-FFF2-40B4-BE49-F238E27FC236}">
                    <a16:creationId xmlns:a16="http://schemas.microsoft.com/office/drawing/2014/main" id="{B47B86FA-3E6E-3D6B-BAB6-6ABC0A4C7B49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3421500042"/>
                  </p:ext>
                </p:extLst>
              </p:nvPr>
            </p:nvGraphicFramePr>
            <p:xfrm>
              <a:off x="1761564" y="2446020"/>
              <a:ext cx="3348622" cy="30480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950968">
                      <a:extLst>
                        <a:ext uri="{9D8B030D-6E8A-4147-A177-3AD203B41FA5}">
                          <a16:colId xmlns:a16="http://schemas.microsoft.com/office/drawing/2014/main" val="3595302137"/>
                        </a:ext>
                      </a:extLst>
                    </a:gridCol>
                    <a:gridCol w="1001552">
                      <a:extLst>
                        <a:ext uri="{9D8B030D-6E8A-4147-A177-3AD203B41FA5}">
                          <a16:colId xmlns:a16="http://schemas.microsoft.com/office/drawing/2014/main" val="1115156414"/>
                        </a:ext>
                      </a:extLst>
                    </a:gridCol>
                    <a:gridCol w="1396102">
                      <a:extLst>
                        <a:ext uri="{9D8B030D-6E8A-4147-A177-3AD203B41FA5}">
                          <a16:colId xmlns:a16="http://schemas.microsoft.com/office/drawing/2014/main" val="1820964212"/>
                        </a:ext>
                      </a:extLst>
                    </a:gridCol>
                  </a:tblGrid>
                  <a:tr h="6096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333" r="-254667" b="-42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95000" r="-138750" b="-42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41818" r="-909" b="-425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77200367"/>
                      </a:ext>
                    </a:extLst>
                  </a:tr>
                  <a:tr h="6096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82480134"/>
                      </a:ext>
                    </a:extLst>
                  </a:tr>
                  <a:tr h="6096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79024803"/>
                      </a:ext>
                    </a:extLst>
                  </a:tr>
                  <a:tr h="6096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0950017"/>
                      </a:ext>
                    </a:extLst>
                  </a:tr>
                  <a:tr h="6096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42798743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07E9C9C2-D585-2E1B-C1CC-A5FD7E11DC7C}"/>
              </a:ext>
            </a:extLst>
          </p:cNvPr>
          <p:cNvSpPr txBox="1"/>
          <p:nvPr/>
        </p:nvSpPr>
        <p:spPr>
          <a:xfrm>
            <a:off x="6642847" y="5890602"/>
            <a:ext cx="848309" cy="5727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>
              <a:lnSpc>
                <a:spcPct val="125000"/>
              </a:lnSpc>
              <a:spcBef>
                <a:spcPts val="2400"/>
              </a:spcBef>
            </a:pPr>
            <a:r>
              <a:rPr lang="en-US" sz="2800" dirty="0">
                <a:latin typeface="Lato" panose="020F0502020204030203" pitchFamily="34" charset="77"/>
                <a:ea typeface="Inter" panose="02000503000000020004" pitchFamily="2" charset="0"/>
              </a:rPr>
              <a:t>Yes!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951B784A-81A4-A143-6FBE-A08F0C7756C5}"/>
              </a:ext>
            </a:extLst>
          </p:cNvPr>
          <p:cNvCxnSpPr>
            <a:cxnSpLocks/>
          </p:cNvCxnSpPr>
          <p:nvPr/>
        </p:nvCxnSpPr>
        <p:spPr>
          <a:xfrm flipV="1">
            <a:off x="7611035" y="5597787"/>
            <a:ext cx="2097741" cy="579175"/>
          </a:xfrm>
          <a:prstGeom prst="straightConnector1">
            <a:avLst/>
          </a:prstGeom>
          <a:ln w="38100"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A251F4CB-6CFE-11AA-7CE2-4033C3D09F4D}"/>
              </a:ext>
            </a:extLst>
          </p:cNvPr>
          <p:cNvCxnSpPr>
            <a:cxnSpLocks/>
          </p:cNvCxnSpPr>
          <p:nvPr/>
        </p:nvCxnSpPr>
        <p:spPr>
          <a:xfrm flipH="1" flipV="1">
            <a:off x="4580966" y="5597787"/>
            <a:ext cx="1942002" cy="579175"/>
          </a:xfrm>
          <a:prstGeom prst="straightConnector1">
            <a:avLst/>
          </a:prstGeom>
          <a:ln w="38100"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12" name="Table 11">
                <a:extLst>
                  <a:ext uri="{FF2B5EF4-FFF2-40B4-BE49-F238E27FC236}">
                    <a16:creationId xmlns:a16="http://schemas.microsoft.com/office/drawing/2014/main" id="{DFC0FAF1-7009-2BDC-6D53-8EE0A7CAF5B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307378898"/>
                  </p:ext>
                </p:extLst>
              </p:nvPr>
            </p:nvGraphicFramePr>
            <p:xfrm>
              <a:off x="6242248" y="2446020"/>
              <a:ext cx="4558252" cy="30480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860612">
                      <a:extLst>
                        <a:ext uri="{9D8B030D-6E8A-4147-A177-3AD203B41FA5}">
                          <a16:colId xmlns:a16="http://schemas.microsoft.com/office/drawing/2014/main" val="4126837971"/>
                        </a:ext>
                      </a:extLst>
                    </a:gridCol>
                    <a:gridCol w="860612">
                      <a:extLst>
                        <a:ext uri="{9D8B030D-6E8A-4147-A177-3AD203B41FA5}">
                          <a16:colId xmlns:a16="http://schemas.microsoft.com/office/drawing/2014/main" val="1333537842"/>
                        </a:ext>
                      </a:extLst>
                    </a:gridCol>
                    <a:gridCol w="1418514">
                      <a:extLst>
                        <a:ext uri="{9D8B030D-6E8A-4147-A177-3AD203B41FA5}">
                          <a16:colId xmlns:a16="http://schemas.microsoft.com/office/drawing/2014/main" val="3964394294"/>
                        </a:ext>
                      </a:extLst>
                    </a:gridCol>
                    <a:gridCol w="1418514">
                      <a:extLst>
                        <a:ext uri="{9D8B030D-6E8A-4147-A177-3AD203B41FA5}">
                          <a16:colId xmlns:a16="http://schemas.microsoft.com/office/drawing/2014/main" val="17078972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oMath>
                            </m:oMathPara>
                          </a14:m>
                          <a:endParaRPr lang="en-US" sz="2800" b="0" dirty="0">
                            <a:solidFill>
                              <a:schemeClr val="tx1"/>
                            </a:solidFill>
                            <a:latin typeface="Lato" panose="020F0502020204030203" pitchFamily="34" charset="77"/>
                          </a:endParaRP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𝑏</m:t>
                                </m:r>
                              </m:oMath>
                            </m:oMathPara>
                          </a14:m>
                          <a:endParaRPr lang="en-US" sz="2800" b="0" dirty="0">
                            <a:solidFill>
                              <a:schemeClr val="tx1"/>
                            </a:solidFill>
                            <a:latin typeface="Lato" panose="020F0502020204030203" pitchFamily="34" charset="77"/>
                          </a:endParaRP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 xmlns:m="http://schemas.openxmlformats.org/officeDocument/2006/math">
                              <m:r>
                                <a:rPr lang="en-US" sz="28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¬</m:t>
                              </m:r>
                              <m:r>
                                <a:rPr lang="en-US" sz="28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𝑏</m:t>
                              </m:r>
                            </m:oMath>
                          </a14:m>
                          <a:r>
                            <a:rPr lang="en-US" sz="280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 </a:t>
                          </a:r>
                          <a:endParaRPr lang="en-US" sz="2800" b="0" dirty="0">
                            <a:solidFill>
                              <a:schemeClr val="tx1"/>
                            </a:solidFill>
                            <a:latin typeface="Lato" panose="020F0502020204030203" pitchFamily="34" charset="77"/>
                          </a:endParaRP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r>
                                <a:rPr lang="en-US" sz="28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sz="28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∨¬</m:t>
                              </m:r>
                              <m:r>
                                <a:rPr lang="en-US" sz="28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𝑏</m:t>
                              </m:r>
                            </m:oMath>
                          </a14:m>
                          <a:r>
                            <a:rPr lang="en-US" sz="2800" dirty="0">
                              <a:solidFill>
                                <a:schemeClr val="tx1"/>
                              </a:solidFill>
                            </a:rPr>
                            <a:t> </a:t>
                          </a:r>
                          <a:endParaRPr lang="en-US" sz="2800" b="0" dirty="0">
                            <a:solidFill>
                              <a:schemeClr val="tx1"/>
                            </a:solidFill>
                            <a:latin typeface="Lato" panose="020F0502020204030203" pitchFamily="34" charset="77"/>
                          </a:endParaRP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9488727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96520076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8064668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74729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37038070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12" name="Table 11">
                <a:extLst>
                  <a:ext uri="{FF2B5EF4-FFF2-40B4-BE49-F238E27FC236}">
                    <a16:creationId xmlns:a16="http://schemas.microsoft.com/office/drawing/2014/main" id="{DFC0FAF1-7009-2BDC-6D53-8EE0A7CAF5B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307378898"/>
                  </p:ext>
                </p:extLst>
              </p:nvPr>
            </p:nvGraphicFramePr>
            <p:xfrm>
              <a:off x="6242248" y="2446020"/>
              <a:ext cx="4558252" cy="30480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860612">
                      <a:extLst>
                        <a:ext uri="{9D8B030D-6E8A-4147-A177-3AD203B41FA5}">
                          <a16:colId xmlns:a16="http://schemas.microsoft.com/office/drawing/2014/main" val="4126837971"/>
                        </a:ext>
                      </a:extLst>
                    </a:gridCol>
                    <a:gridCol w="860612">
                      <a:extLst>
                        <a:ext uri="{9D8B030D-6E8A-4147-A177-3AD203B41FA5}">
                          <a16:colId xmlns:a16="http://schemas.microsoft.com/office/drawing/2014/main" val="1333537842"/>
                        </a:ext>
                      </a:extLst>
                    </a:gridCol>
                    <a:gridCol w="1418514">
                      <a:extLst>
                        <a:ext uri="{9D8B030D-6E8A-4147-A177-3AD203B41FA5}">
                          <a16:colId xmlns:a16="http://schemas.microsoft.com/office/drawing/2014/main" val="3964394294"/>
                        </a:ext>
                      </a:extLst>
                    </a:gridCol>
                    <a:gridCol w="1418514">
                      <a:extLst>
                        <a:ext uri="{9D8B030D-6E8A-4147-A177-3AD203B41FA5}">
                          <a16:colId xmlns:a16="http://schemas.microsoft.com/office/drawing/2014/main" val="170789729"/>
                        </a:ext>
                      </a:extLst>
                    </a:gridCol>
                  </a:tblGrid>
                  <a:tr h="6096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471" r="-430882" b="-42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01471" r="-330882" b="-42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22321" r="-100893" b="-425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222321" r="-893" b="-425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94887275"/>
                      </a:ext>
                    </a:extLst>
                  </a:tr>
                  <a:tr h="6096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965200768"/>
                      </a:ext>
                    </a:extLst>
                  </a:tr>
                  <a:tr h="6096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80646680"/>
                      </a:ext>
                    </a:extLst>
                  </a:tr>
                  <a:tr h="6096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7472974"/>
                      </a:ext>
                    </a:extLst>
                  </a:tr>
                  <a:tr h="6096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37038070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7034195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919D51-75B8-A537-FA17-F407ECAD0D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Rewriting expressions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B145434-AC1E-84BE-7F74-7A778BF087D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b="1" dirty="0">
                    <a:solidFill>
                      <a:schemeClr val="accent3"/>
                    </a:solidFill>
                  </a:rPr>
                  <a:t>Q: </a:t>
                </a:r>
                <a:r>
                  <a:rPr lang="en-US" dirty="0"/>
                  <a:t>Rewrite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¬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∧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e>
                    </m:d>
                  </m:oMath>
                </a14:m>
                <a:r>
                  <a:rPr lang="en-US" dirty="0"/>
                  <a:t> to an expression where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¬</m:t>
                    </m:r>
                  </m:oMath>
                </a14:m>
                <a:r>
                  <a:rPr lang="en-US" dirty="0"/>
                  <a:t> only appears on the “inside” (attached to variables, not larger expressions).</a:t>
                </a:r>
              </a:p>
              <a:p>
                <a:r>
                  <a:rPr lang="en-US" b="1" dirty="0">
                    <a:solidFill>
                      <a:schemeClr val="accent5"/>
                    </a:solidFill>
                  </a:rPr>
                  <a:t>A: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¬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𝑎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∨¬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𝑏</m:t>
                    </m:r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B145434-AC1E-84BE-7F74-7A778BF087D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63" r="-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4" name="Content Placeholder 3">
                <a:extLst>
                  <a:ext uri="{FF2B5EF4-FFF2-40B4-BE49-F238E27FC236}">
                    <a16:creationId xmlns:a16="http://schemas.microsoft.com/office/drawing/2014/main" id="{B750BB47-D494-5B02-7EC2-E1645B1209D9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3560355545"/>
                  </p:ext>
                </p:extLst>
              </p:nvPr>
            </p:nvGraphicFramePr>
            <p:xfrm>
              <a:off x="1385046" y="3562125"/>
              <a:ext cx="4235826" cy="30480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22168">
                      <a:extLst>
                        <a:ext uri="{9D8B030D-6E8A-4147-A177-3AD203B41FA5}">
                          <a16:colId xmlns:a16="http://schemas.microsoft.com/office/drawing/2014/main" val="3595302137"/>
                        </a:ext>
                      </a:extLst>
                    </a:gridCol>
                    <a:gridCol w="760582">
                      <a:extLst>
                        <a:ext uri="{9D8B030D-6E8A-4147-A177-3AD203B41FA5}">
                          <a16:colId xmlns:a16="http://schemas.microsoft.com/office/drawing/2014/main" val="1115156414"/>
                        </a:ext>
                      </a:extLst>
                    </a:gridCol>
                    <a:gridCol w="1099086">
                      <a:extLst>
                        <a:ext uri="{9D8B030D-6E8A-4147-A177-3AD203B41FA5}">
                          <a16:colId xmlns:a16="http://schemas.microsoft.com/office/drawing/2014/main" val="2313876810"/>
                        </a:ext>
                      </a:extLst>
                    </a:gridCol>
                    <a:gridCol w="1653990">
                      <a:extLst>
                        <a:ext uri="{9D8B030D-6E8A-4147-A177-3AD203B41FA5}">
                          <a16:colId xmlns:a16="http://schemas.microsoft.com/office/drawing/2014/main" val="1820964212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oMath>
                            </m:oMathPara>
                          </a14:m>
                          <a:endParaRPr lang="en-US" sz="2800" b="0" dirty="0">
                            <a:solidFill>
                              <a:schemeClr val="tx1"/>
                            </a:solidFill>
                            <a:latin typeface="Lato" panose="020F0502020204030203" pitchFamily="34" charset="77"/>
                          </a:endParaRP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𝑏</m:t>
                                </m:r>
                              </m:oMath>
                            </m:oMathPara>
                          </a14:m>
                          <a:endParaRPr lang="en-US" sz="2800" b="0" dirty="0">
                            <a:solidFill>
                              <a:schemeClr val="tx1"/>
                            </a:solidFill>
                            <a:latin typeface="Lato" panose="020F0502020204030203" pitchFamily="34" charset="77"/>
                          </a:endParaRP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en-US" sz="2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∧</m:t>
                                </m:r>
                                <m:r>
                                  <a:rPr lang="en-US" sz="2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𝑏</m:t>
                                </m:r>
                              </m:oMath>
                            </m:oMathPara>
                          </a14:m>
                          <a:endParaRPr lang="en-US" sz="2800" b="0" dirty="0">
                            <a:solidFill>
                              <a:schemeClr val="tx1"/>
                            </a:solidFill>
                            <a:latin typeface="Lato" panose="020F0502020204030203" pitchFamily="34" charset="77"/>
                          </a:endParaRP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US" sz="28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¬</m:t>
                                </m:r>
                                <m:d>
                                  <m:dPr>
                                    <m:ctrlPr>
                                      <a:rPr kumimoji="0" lang="en-US" sz="28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</m:ctrlPr>
                                  </m:dPr>
                                  <m:e>
                                    <m:r>
                                      <a:rPr kumimoji="0" lang="en-US" sz="2800" b="0" i="1" u="none" strike="noStrike" kern="1200" cap="none" spc="0" normalizeH="0" baseline="0" noProof="0" smtClean="0">
                                        <a:ln>
                                          <a:noFill/>
                                        </a:ln>
                                        <a:solidFill>
                                          <a:srgbClr val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  <m:t>𝑎</m:t>
                                    </m:r>
                                    <m:r>
                                      <a:rPr kumimoji="0" lang="en-US" sz="2800" b="0" i="1" u="none" strike="noStrike" kern="1200" cap="none" spc="0" normalizeH="0" baseline="0" noProof="0">
                                        <a:ln>
                                          <a:noFill/>
                                        </a:ln>
                                        <a:solidFill>
                                          <a:srgbClr val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  <m:t>∧</m:t>
                                    </m:r>
                                    <m:r>
                                      <a:rPr kumimoji="0" lang="en-US" sz="2800" b="0" i="1" u="none" strike="noStrike" kern="1200" cap="none" spc="0" normalizeH="0" baseline="0" noProof="0">
                                        <a:ln>
                                          <a:noFill/>
                                        </a:ln>
                                        <a:solidFill>
                                          <a:srgbClr val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+mn-cs"/>
                                      </a:rPr>
                                      <m:t>𝑏</m:t>
                                    </m:r>
                                  </m:e>
                                </m:d>
                              </m:oMath>
                            </m:oMathPara>
                          </a14:m>
                          <a:endParaRPr lang="en-US" sz="2800" b="0" dirty="0">
                            <a:solidFill>
                              <a:schemeClr val="tx1"/>
                            </a:solidFill>
                            <a:latin typeface="Lato" panose="020F0502020204030203" pitchFamily="34" charset="77"/>
                          </a:endParaRP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7720036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8248013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7902480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095001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42798743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4" name="Content Placeholder 3">
                <a:extLst>
                  <a:ext uri="{FF2B5EF4-FFF2-40B4-BE49-F238E27FC236}">
                    <a16:creationId xmlns:a16="http://schemas.microsoft.com/office/drawing/2014/main" id="{B750BB47-D494-5B02-7EC2-E1645B1209D9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3560355545"/>
                  </p:ext>
                </p:extLst>
              </p:nvPr>
            </p:nvGraphicFramePr>
            <p:xfrm>
              <a:off x="1385046" y="3562125"/>
              <a:ext cx="4235826" cy="30480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22168">
                      <a:extLst>
                        <a:ext uri="{9D8B030D-6E8A-4147-A177-3AD203B41FA5}">
                          <a16:colId xmlns:a16="http://schemas.microsoft.com/office/drawing/2014/main" val="3595302137"/>
                        </a:ext>
                      </a:extLst>
                    </a:gridCol>
                    <a:gridCol w="760582">
                      <a:extLst>
                        <a:ext uri="{9D8B030D-6E8A-4147-A177-3AD203B41FA5}">
                          <a16:colId xmlns:a16="http://schemas.microsoft.com/office/drawing/2014/main" val="1115156414"/>
                        </a:ext>
                      </a:extLst>
                    </a:gridCol>
                    <a:gridCol w="1099086">
                      <a:extLst>
                        <a:ext uri="{9D8B030D-6E8A-4147-A177-3AD203B41FA5}">
                          <a16:colId xmlns:a16="http://schemas.microsoft.com/office/drawing/2014/main" val="2313876810"/>
                        </a:ext>
                      </a:extLst>
                    </a:gridCol>
                    <a:gridCol w="1653990">
                      <a:extLst>
                        <a:ext uri="{9D8B030D-6E8A-4147-A177-3AD203B41FA5}">
                          <a16:colId xmlns:a16="http://schemas.microsoft.com/office/drawing/2014/main" val="1820964212"/>
                        </a:ext>
                      </a:extLst>
                    </a:gridCol>
                  </a:tblGrid>
                  <a:tr h="6096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754" t="-2083" r="-489474" b="-42291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96667" t="-2083" r="-365000" b="-42291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35632" t="-2083" r="-151724" b="-42291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57692" t="-2083" r="-1538" b="-42291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77200367"/>
                      </a:ext>
                    </a:extLst>
                  </a:tr>
                  <a:tr h="6096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82480134"/>
                      </a:ext>
                    </a:extLst>
                  </a:tr>
                  <a:tr h="6096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79024803"/>
                      </a:ext>
                    </a:extLst>
                  </a:tr>
                  <a:tr h="6096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0950017"/>
                      </a:ext>
                    </a:extLst>
                  </a:tr>
                  <a:tr h="6096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42798743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5" name="Content Placeholder 3">
                <a:extLst>
                  <a:ext uri="{FF2B5EF4-FFF2-40B4-BE49-F238E27FC236}">
                    <a16:creationId xmlns:a16="http://schemas.microsoft.com/office/drawing/2014/main" id="{E05E9DE5-E847-8B8B-2A60-E0067B1AFC56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2700209226"/>
                  </p:ext>
                </p:extLst>
              </p:nvPr>
            </p:nvGraphicFramePr>
            <p:xfrm>
              <a:off x="6571131" y="3562125"/>
              <a:ext cx="4782669" cy="30480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80578">
                      <a:extLst>
                        <a:ext uri="{9D8B030D-6E8A-4147-A177-3AD203B41FA5}">
                          <a16:colId xmlns:a16="http://schemas.microsoft.com/office/drawing/2014/main" val="3595302137"/>
                        </a:ext>
                      </a:extLst>
                    </a:gridCol>
                    <a:gridCol w="716780">
                      <a:extLst>
                        <a:ext uri="{9D8B030D-6E8A-4147-A177-3AD203B41FA5}">
                          <a16:colId xmlns:a16="http://schemas.microsoft.com/office/drawing/2014/main" val="1115156414"/>
                        </a:ext>
                      </a:extLst>
                    </a:gridCol>
                    <a:gridCol w="790786">
                      <a:extLst>
                        <a:ext uri="{9D8B030D-6E8A-4147-A177-3AD203B41FA5}">
                          <a16:colId xmlns:a16="http://schemas.microsoft.com/office/drawing/2014/main" val="2313876810"/>
                        </a:ext>
                      </a:extLst>
                    </a:gridCol>
                    <a:gridCol w="790786">
                      <a:extLst>
                        <a:ext uri="{9D8B030D-6E8A-4147-A177-3AD203B41FA5}">
                          <a16:colId xmlns:a16="http://schemas.microsoft.com/office/drawing/2014/main" val="698357378"/>
                        </a:ext>
                      </a:extLst>
                    </a:gridCol>
                    <a:gridCol w="1803739">
                      <a:extLst>
                        <a:ext uri="{9D8B030D-6E8A-4147-A177-3AD203B41FA5}">
                          <a16:colId xmlns:a16="http://schemas.microsoft.com/office/drawing/2014/main" val="1820964212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oMath>
                            </m:oMathPara>
                          </a14:m>
                          <a:endParaRPr lang="en-US" sz="2800" b="0" dirty="0">
                            <a:solidFill>
                              <a:schemeClr val="tx1"/>
                            </a:solidFill>
                            <a:latin typeface="Lato" panose="020F0502020204030203" pitchFamily="34" charset="77"/>
                          </a:endParaRP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2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𝑏</m:t>
                                </m:r>
                              </m:oMath>
                            </m:oMathPara>
                          </a14:m>
                          <a:endParaRPr lang="en-US" sz="2800" b="0" dirty="0">
                            <a:solidFill>
                              <a:schemeClr val="tx1"/>
                            </a:solidFill>
                            <a:latin typeface="Lato" panose="020F0502020204030203" pitchFamily="34" charset="77"/>
                          </a:endParaRP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US" sz="28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¬</m:t>
                                </m:r>
                                <m:r>
                                  <a:rPr kumimoji="0" lang="en-US" sz="28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𝑎</m:t>
                                </m:r>
                              </m:oMath>
                            </m:oMathPara>
                          </a14:m>
                          <a:endParaRPr lang="en-US" sz="2800" b="0" dirty="0">
                            <a:solidFill>
                              <a:schemeClr val="tx1"/>
                            </a:solidFill>
                            <a:latin typeface="Lato" panose="020F0502020204030203" pitchFamily="34" charset="77"/>
                          </a:endParaRP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US" sz="28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¬</m:t>
                                </m:r>
                                <m:r>
                                  <a:rPr kumimoji="0" lang="en-US" sz="28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𝑏</m:t>
                                </m:r>
                              </m:oMath>
                            </m:oMathPara>
                          </a14:m>
                          <a:endParaRPr lang="en-US" sz="2800" b="0" dirty="0">
                            <a:solidFill>
                              <a:schemeClr val="tx1"/>
                            </a:solidFill>
                            <a:latin typeface="Lato" panose="020F0502020204030203" pitchFamily="34" charset="77"/>
                          </a:endParaRP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US" sz="28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¬</m:t>
                                </m:r>
                                <m:r>
                                  <a:rPr kumimoji="0" lang="en-US" sz="28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𝑎</m:t>
                                </m:r>
                                <m:r>
                                  <a:rPr kumimoji="0" lang="en-US" sz="28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∨¬</m:t>
                                </m:r>
                                <m:r>
                                  <a:rPr kumimoji="0" lang="en-US" sz="28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srgbClr val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+mn-cs"/>
                                  </a:rPr>
                                  <m:t>𝑏</m:t>
                                </m:r>
                              </m:oMath>
                            </m:oMathPara>
                          </a14:m>
                          <a:endParaRPr lang="en-US" sz="2800" b="0" dirty="0">
                            <a:solidFill>
                              <a:schemeClr val="tx1"/>
                            </a:solidFill>
                            <a:latin typeface="Lato" panose="020F0502020204030203" pitchFamily="34" charset="77"/>
                          </a:endParaRP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7720036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8248013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7902480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095001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42798743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5" name="Content Placeholder 3">
                <a:extLst>
                  <a:ext uri="{FF2B5EF4-FFF2-40B4-BE49-F238E27FC236}">
                    <a16:creationId xmlns:a16="http://schemas.microsoft.com/office/drawing/2014/main" id="{E05E9DE5-E847-8B8B-2A60-E0067B1AFC56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2700209226"/>
                  </p:ext>
                </p:extLst>
              </p:nvPr>
            </p:nvGraphicFramePr>
            <p:xfrm>
              <a:off x="6571131" y="3562125"/>
              <a:ext cx="4782669" cy="30480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80578">
                      <a:extLst>
                        <a:ext uri="{9D8B030D-6E8A-4147-A177-3AD203B41FA5}">
                          <a16:colId xmlns:a16="http://schemas.microsoft.com/office/drawing/2014/main" val="3595302137"/>
                        </a:ext>
                      </a:extLst>
                    </a:gridCol>
                    <a:gridCol w="716780">
                      <a:extLst>
                        <a:ext uri="{9D8B030D-6E8A-4147-A177-3AD203B41FA5}">
                          <a16:colId xmlns:a16="http://schemas.microsoft.com/office/drawing/2014/main" val="1115156414"/>
                        </a:ext>
                      </a:extLst>
                    </a:gridCol>
                    <a:gridCol w="790786">
                      <a:extLst>
                        <a:ext uri="{9D8B030D-6E8A-4147-A177-3AD203B41FA5}">
                          <a16:colId xmlns:a16="http://schemas.microsoft.com/office/drawing/2014/main" val="2313876810"/>
                        </a:ext>
                      </a:extLst>
                    </a:gridCol>
                    <a:gridCol w="790786">
                      <a:extLst>
                        <a:ext uri="{9D8B030D-6E8A-4147-A177-3AD203B41FA5}">
                          <a16:colId xmlns:a16="http://schemas.microsoft.com/office/drawing/2014/main" val="698357378"/>
                        </a:ext>
                      </a:extLst>
                    </a:gridCol>
                    <a:gridCol w="1803739">
                      <a:extLst>
                        <a:ext uri="{9D8B030D-6E8A-4147-A177-3AD203B41FA5}">
                          <a16:colId xmlns:a16="http://schemas.microsoft.com/office/drawing/2014/main" val="1820964212"/>
                        </a:ext>
                      </a:extLst>
                    </a:gridCol>
                  </a:tblGrid>
                  <a:tr h="6096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852" t="-2083" r="-601852" b="-42291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98214" t="-2083" r="-480357" b="-42291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79032" t="-2083" r="-333871" b="-42291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274603" t="-2083" r="-228571" b="-42291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66197" t="-2083" r="-1408" b="-42291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77200367"/>
                      </a:ext>
                    </a:extLst>
                  </a:tr>
                  <a:tr h="6096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82480134"/>
                      </a:ext>
                    </a:extLst>
                  </a:tr>
                  <a:tr h="6096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679024803"/>
                      </a:ext>
                    </a:extLst>
                  </a:tr>
                  <a:tr h="6096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0950017"/>
                      </a:ext>
                    </a:extLst>
                  </a:tr>
                  <a:tr h="6096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1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800" b="0" dirty="0">
                              <a:solidFill>
                                <a:schemeClr val="tx1"/>
                              </a:solidFill>
                              <a:latin typeface="Lato" panose="020F0502020204030203" pitchFamily="34" charset="77"/>
                            </a:rPr>
                            <a:t>0</a:t>
                          </a:r>
                        </a:p>
                      </a:txBody>
                      <a:tcPr marT="91440" marB="91440"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42798743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5813926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1A38D5-7042-714F-E807-069DE6AD95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45C51D-8EF1-B30C-A973-FDF5899BAA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 Morgan’s laws</a:t>
            </a:r>
          </a:p>
        </p:txBody>
      </p:sp>
      <p:pic>
        <p:nvPicPr>
          <p:cNvPr id="6" name="Content Placeholder 5" descr="A mathematical equation with black text&#10;&#10;AI-generated content may be incorrect.">
            <a:extLst>
              <a:ext uri="{FF2B5EF4-FFF2-40B4-BE49-F238E27FC236}">
                <a16:creationId xmlns:a16="http://schemas.microsoft.com/office/drawing/2014/main" id="{828A961C-A41A-418B-8A1E-8E5B598B4E6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224897" y="3115684"/>
            <a:ext cx="3742205" cy="1605048"/>
          </a:xfrm>
        </p:spPr>
      </p:pic>
    </p:spTree>
    <p:extLst>
      <p:ext uri="{BB962C8B-B14F-4D97-AF65-F5344CB8AC3E}">
        <p14:creationId xmlns:p14="http://schemas.microsoft.com/office/powerpoint/2010/main" val="310298726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840C03-F4A5-4A8C-9561-1B4A1D1464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Distributivity laws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C5F2BCA-70BA-DD41-D340-3A018A82BC2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Just like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× 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×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×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e>
                    </m:d>
                  </m:oMath>
                </a14:m>
                <a:r>
                  <a:rPr lang="en-US" dirty="0"/>
                  <a:t>, similar things are true for </a:t>
                </a:r>
                <a:r>
                  <a:rPr lang="en-US" dirty="0" err="1"/>
                  <a:t>boolean</a:t>
                </a:r>
                <a:r>
                  <a:rPr lang="en-US" dirty="0"/>
                  <a:t> expressions:</a:t>
                </a:r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C5F2BCA-70BA-DD41-D340-3A018A82BC2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63" r="-1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 descr="A black and white math symbols&#10;&#10;AI-generated content may be incorrect.">
            <a:extLst>
              <a:ext uri="{FF2B5EF4-FFF2-40B4-BE49-F238E27FC236}">
                <a16:creationId xmlns:a16="http://schemas.microsoft.com/office/drawing/2014/main" id="{D8097C80-842D-1620-97A8-F844B49264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5041" y="3429000"/>
            <a:ext cx="5481918" cy="15576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766648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B4F7F00-F9FB-09D0-7BF6-5DC26EFBCE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All about SAT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C771424-9754-6252-76A8-145810425F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778693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5D4927-AF90-E172-1B08-2790F17389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2SAT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25C08C4-A663-F59A-CD14-CA10E9E5FC9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Recall 2SAT from the graph algorithms unit:</a:t>
                </a:r>
              </a:p>
              <a:p>
                <a:r>
                  <a:rPr lang="en-US" b="1" dirty="0"/>
                  <a:t>Input: </a:t>
                </a:r>
                <a:r>
                  <a:rPr lang="en-US" dirty="0"/>
                  <a:t>A set of implications of the form “if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𝒂</m:t>
                    </m:r>
                  </m:oMath>
                </a14:m>
                <a:r>
                  <a:rPr lang="en-US" dirty="0"/>
                  <a:t>, then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𝒃</m:t>
                    </m:r>
                  </m:oMath>
                </a14:m>
                <a:r>
                  <a:rPr lang="en-US" dirty="0"/>
                  <a:t>”</a:t>
                </a:r>
              </a:p>
              <a:p>
                <a:r>
                  <a:rPr lang="en-US" b="1" dirty="0"/>
                  <a:t>Goal: </a:t>
                </a:r>
                <a:r>
                  <a:rPr lang="en-US" dirty="0"/>
                  <a:t>Determine if all implications can be simultaneously satisfied</a:t>
                </a:r>
              </a:p>
              <a:p>
                <a:r>
                  <a:rPr lang="en-US" dirty="0"/>
                  <a:t>Since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𝒂</m:t>
                    </m:r>
                    <m:r>
                      <a:rPr lang="en-US" b="1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r>
                      <a:rPr lang="en-US" b="1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𝒃</m:t>
                    </m:r>
                  </m:oMath>
                </a14:m>
                <a:r>
                  <a:rPr lang="en-US" b="1" dirty="0">
                    <a:solidFill>
                      <a:schemeClr val="accent1"/>
                    </a:solidFill>
                  </a:rPr>
                  <a:t> </a:t>
                </a:r>
                <a:r>
                  <a:rPr lang="en-US" dirty="0"/>
                  <a:t>and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𝒂</m:t>
                    </m:r>
                    <m:r>
                      <a:rPr lang="en-US" b="1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∨¬</m:t>
                    </m:r>
                    <m:r>
                      <a:rPr lang="en-US" b="1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𝒃</m:t>
                    </m:r>
                  </m:oMath>
                </a14:m>
                <a:r>
                  <a:rPr lang="en-US" b="1" dirty="0">
                    <a:solidFill>
                      <a:schemeClr val="accent1"/>
                    </a:solidFill>
                  </a:rPr>
                  <a:t> </a:t>
                </a:r>
                <a:r>
                  <a:rPr lang="en-US" dirty="0"/>
                  <a:t>are equivalent, this is the same as:</a:t>
                </a:r>
              </a:p>
              <a:p>
                <a:r>
                  <a:rPr lang="en-US" b="1" dirty="0"/>
                  <a:t>Input: </a:t>
                </a:r>
                <a:r>
                  <a:rPr lang="en-US" dirty="0"/>
                  <a:t>A set of </a:t>
                </a:r>
                <a:r>
                  <a:rPr lang="en-US" i="1" dirty="0"/>
                  <a:t>clauses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𝒂</m:t>
                    </m:r>
                    <m:r>
                      <a:rPr lang="en-US" b="1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∨</m:t>
                    </m:r>
                    <m:r>
                      <a:rPr lang="en-US" b="1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𝒃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where </a:t>
                </a:r>
                <a14:m>
                  <m:oMath xmlns:m="http://schemas.openxmlformats.org/officeDocument/2006/math">
                    <m:r>
                      <a:rPr lang="en-US" b="1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𝒂</m:t>
                    </m:r>
                    <m:r>
                      <a:rPr lang="en-US" b="1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and </a:t>
                </a:r>
                <a14:m>
                  <m:oMath xmlns:m="http://schemas.openxmlformats.org/officeDocument/2006/math">
                    <m:r>
                      <a:rPr lang="en-US" b="1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𝒃</m:t>
                    </m:r>
                    <m:r>
                      <a:rPr lang="en-US" b="1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are possibly negated</a:t>
                </a:r>
              </a:p>
              <a:p>
                <a:r>
                  <a:rPr lang="en-US" b="1" dirty="0"/>
                  <a:t>Goal: </a:t>
                </a:r>
                <a:r>
                  <a:rPr lang="en-US" dirty="0"/>
                  <a:t>Determine if all clauses can be simultaneously satisfied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25C08C4-A663-F59A-CD14-CA10E9E5FC9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63" b="-26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714773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E9F1B5-6349-175F-DBAE-0BDE7484E0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SAT (Satisfiability)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4D2C87D-436B-A1C3-6811-4A049E91FF0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b="1" dirty="0">
                    <a:solidFill>
                      <a:schemeClr val="accent2"/>
                    </a:solidFill>
                  </a:rPr>
                  <a:t>literals</a:t>
                </a:r>
                <a:r>
                  <a:rPr lang="en-US" dirty="0"/>
                  <a:t>: variables or their negation</a:t>
                </a:r>
              </a:p>
              <a:p>
                <a:pPr algn="ctr"/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𝒂</m:t>
                    </m:r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¬</m:t>
                    </m:r>
                    <m:r>
                      <a:rPr lang="en-US" b="1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𝒃</m:t>
                    </m:r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b="1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¬</m:t>
                    </m:r>
                    <m:r>
                      <a:rPr lang="en-US" b="1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endParaRPr lang="en-US" dirty="0"/>
              </a:p>
              <a:p>
                <a:r>
                  <a:rPr lang="en-US" b="1" dirty="0">
                    <a:solidFill>
                      <a:schemeClr val="accent2"/>
                    </a:solidFill>
                  </a:rPr>
                  <a:t>clause</a:t>
                </a:r>
                <a:r>
                  <a:rPr lang="en-US" dirty="0"/>
                  <a:t>: OR of literals</a:t>
                </a:r>
              </a:p>
              <a:p>
                <a:pPr algn="ctr"/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𝒂</m:t>
                    </m:r>
                    <m:r>
                      <a:rPr lang="en-US" b="1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∨</m:t>
                    </m:r>
                    <m:r>
                      <a:rPr lang="en-US" b="1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¬</m:t>
                    </m:r>
                    <m:r>
                      <a:rPr lang="en-US" b="1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𝒃</m:t>
                    </m:r>
                    <m:r>
                      <a:rPr lang="en-US" b="1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b="0" i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1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∨¬</m:t>
                    </m:r>
                    <m:r>
                      <a:rPr lang="en-US" b="1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𝒚</m:t>
                    </m:r>
                    <m:r>
                      <a:rPr lang="en-US" b="1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∨</m:t>
                    </m:r>
                    <m:r>
                      <a:rPr lang="en-US" b="1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𝒛</m:t>
                    </m:r>
                    <m:r>
                      <a:rPr lang="en-US" b="1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r>
                  <a:rPr lang="en-US" b="1" dirty="0">
                    <a:solidFill>
                      <a:schemeClr val="accent2"/>
                    </a:solidFill>
                  </a:rPr>
                  <a:t>conjunction normal form (CNF)</a:t>
                </a:r>
                <a:r>
                  <a:rPr lang="en-US" dirty="0"/>
                  <a:t>: AND of clauses</a:t>
                </a:r>
              </a:p>
              <a:p>
                <a:pPr algn="ctr"/>
                <a14:m>
                  <m:oMath xmlns:m="http://schemas.openxmlformats.org/officeDocument/2006/math">
                    <m:r>
                      <a:rPr lang="en-US" b="1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𝒂</m:t>
                    </m:r>
                    <m:r>
                      <a:rPr lang="en-US" b="1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∨¬</m:t>
                    </m:r>
                    <m:r>
                      <a:rPr lang="en-US" b="1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𝒃</m:t>
                    </m:r>
                    <m:r>
                      <a:rPr lang="en-US" b="1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)∧</m:t>
                    </m:r>
                    <m:r>
                      <a:rPr lang="en-US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1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1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∨¬</m:t>
                    </m:r>
                    <m:r>
                      <a:rPr lang="en-US" b="1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𝒚</m:t>
                    </m:r>
                    <m:r>
                      <a:rPr lang="en-US" b="1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∨</m:t>
                    </m:r>
                    <m:r>
                      <a:rPr lang="en-US" b="1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𝒛</m:t>
                    </m:r>
                    <m:r>
                      <a:rPr lang="en-US" b="1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4D2C87D-436B-A1C3-6811-4A049E91FF0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63" b="-2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264764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6157CB-AC14-DADA-80FF-086AF37D11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SAT (Satisfiability)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EF6F1E0-A9B4-71D6-EC53-65CD060587C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b="1" dirty="0"/>
                  <a:t>Input: </a:t>
                </a:r>
                <a:r>
                  <a:rPr lang="en-US" dirty="0"/>
                  <a:t>A CNF formula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𝒇</m:t>
                    </m:r>
                    <m:r>
                      <a:rPr lang="en-US" b="1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1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US" b="1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  <m:r>
                      <a:rPr lang="en-US" b="1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b="1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US" b="1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sub>
                    </m:sSub>
                    <m:r>
                      <a:rPr lang="en-US" b="1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(equivalently a set of clauses)</a:t>
                </a:r>
              </a:p>
              <a:p>
                <a:r>
                  <a:rPr lang="en-US" b="1" dirty="0"/>
                  <a:t>Goal: </a:t>
                </a:r>
                <a:r>
                  <a:rPr lang="en-US" dirty="0"/>
                  <a:t>Does there exist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US" b="1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  <m:r>
                      <a:rPr lang="en-US" b="1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b="1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US" b="1" i="1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sub>
                    </m:sSub>
                  </m:oMath>
                </a14:m>
                <a:r>
                  <a:rPr lang="en-US" b="1" dirty="0">
                    <a:solidFill>
                      <a:schemeClr val="accent1"/>
                    </a:solidFill>
                  </a:rPr>
                  <a:t> </a:t>
                </a:r>
                <a:r>
                  <a:rPr lang="en-US" dirty="0"/>
                  <a:t>such that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𝒇</m:t>
                    </m:r>
                    <m:r>
                      <a:rPr lang="en-US" b="1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1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US" b="1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  <m:r>
                      <a:rPr lang="en-US" b="1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b="1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US" b="1" i="1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sub>
                    </m:sSub>
                    <m:r>
                      <a:rPr lang="en-US" b="1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b="1" dirty="0">
                    <a:solidFill>
                      <a:schemeClr val="accent1"/>
                    </a:solidFill>
                  </a:rPr>
                  <a:t> </a:t>
                </a:r>
                <a:r>
                  <a:rPr lang="en-US" dirty="0"/>
                  <a:t>is true?</a:t>
                </a:r>
              </a:p>
              <a:p>
                <a:endParaRPr lang="en-US" dirty="0"/>
              </a:p>
              <a:p>
                <a:r>
                  <a:rPr lang="en-US" b="1" dirty="0"/>
                  <a:t>2SAT: </a:t>
                </a:r>
                <a:r>
                  <a:rPr lang="en-US" dirty="0"/>
                  <a:t>Clauses in the input are restricted to length 2.</a:t>
                </a:r>
              </a:p>
              <a:p>
                <a14:m>
                  <m:oMath xmlns:m="http://schemas.openxmlformats.org/officeDocument/2006/math">
                    <m:r>
                      <a:rPr lang="en-US" b="1" i="1" dirty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𝒌</m:t>
                    </m:r>
                  </m:oMath>
                </a14:m>
                <a:r>
                  <a:rPr lang="en-US" b="1" dirty="0"/>
                  <a:t>-SAT: </a:t>
                </a:r>
                <a:r>
                  <a:rPr lang="en-US" dirty="0"/>
                  <a:t>Clauses in the input are restricted to length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𝒌</m:t>
                    </m:r>
                  </m:oMath>
                </a14:m>
                <a:r>
                  <a:rPr lang="en-US" dirty="0"/>
                  <a:t>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EF6F1E0-A9B4-71D6-EC53-65CD060587C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543825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25A2BE-5A9D-214A-76E7-C9447A4D8A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SAT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C91A1B-A5F9-DB65-ED9D-1140898AB0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>
                <a:solidFill>
                  <a:schemeClr val="accent3"/>
                </a:solidFill>
              </a:rPr>
              <a:t>Q: </a:t>
            </a:r>
            <a:r>
              <a:rPr lang="en-US" dirty="0"/>
              <a:t>Is the following CNF satisfiable? Why or why not?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b="1" dirty="0">
                <a:solidFill>
                  <a:schemeClr val="accent5"/>
                </a:solidFill>
              </a:rPr>
              <a:t>A: </a:t>
            </a:r>
            <a:r>
              <a:rPr lang="en-US" dirty="0"/>
              <a:t>No, not satisfiable.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210E6EF-232E-0062-2A60-92B550D44D7F}"/>
                  </a:ext>
                </a:extLst>
              </p:cNvPr>
              <p:cNvSpPr txBox="1"/>
              <p:nvPr/>
            </p:nvSpPr>
            <p:spPr>
              <a:xfrm>
                <a:off x="712694" y="2951946"/>
                <a:ext cx="10999694" cy="95410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114300">
                  <a:buSzPct val="100000"/>
                </a:pPr>
                <a:r>
                  <a:rPr lang="en-US" sz="2800" dirty="0"/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¬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∨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∨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</m:d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∧</m:t>
                    </m:r>
                    <m:d>
                      <m:d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¬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∨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∨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</m:d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∧</m:t>
                    </m:r>
                    <m:d>
                      <m:d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∨¬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∨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</m:d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∧</m:t>
                    </m:r>
                    <m:d>
                      <m:d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∨¬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∨¬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</m:d>
                  </m:oMath>
                </a14:m>
                <a:br>
                  <a:rPr lang="en-US" sz="2800" b="0" i="1" dirty="0">
                    <a:latin typeface="Cambria Math" panose="02040503050406030204" pitchFamily="18" charset="0"/>
                  </a:rPr>
                </a:br>
                <a:r>
                  <a:rPr lang="en-US" sz="2800" b="0" i="1" dirty="0">
                    <a:latin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∧</m:t>
                    </m:r>
                    <m:d>
                      <m:d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∨¬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∨¬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</m:d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∧</m:t>
                    </m:r>
                    <m:d>
                      <m:d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¬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∨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∨¬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</m:d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∧</m:t>
                    </m:r>
                    <m:d>
                      <m:d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∨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∨</m:t>
                        </m:r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</m:d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∧(¬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∨¬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∨¬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800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210E6EF-232E-0062-2A60-92B550D44D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2694" y="2951946"/>
                <a:ext cx="10999694" cy="954107"/>
              </a:xfrm>
              <a:prstGeom prst="rect">
                <a:avLst/>
              </a:prstGeom>
              <a:blipFill>
                <a:blip r:embed="rId2"/>
                <a:stretch>
                  <a:fillRect b="-105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887762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3EF925-C445-64F0-B021-0FF5F96319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86C2A2-D5EE-D40D-0F10-78A6744995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importance of SAT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E301E9-5310-3C1F-0980-F2E3244B40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SAT was the first problem to be shown to be </a:t>
            </a:r>
            <a:r>
              <a:rPr lang="en-US" b="1" dirty="0">
                <a:solidFill>
                  <a:schemeClr val="accent2"/>
                </a:solidFill>
              </a:rPr>
              <a:t>NP-hard</a:t>
            </a:r>
            <a:r>
              <a:rPr lang="en-US" dirty="0"/>
              <a:t>.</a:t>
            </a:r>
          </a:p>
          <a:p>
            <a:r>
              <a:rPr lang="en-US" dirty="0"/>
              <a:t>This means that: </a:t>
            </a:r>
            <a:r>
              <a:rPr lang="en-US" i="1" dirty="0"/>
              <a:t>every </a:t>
            </a:r>
            <a:r>
              <a:rPr lang="en-US" dirty="0"/>
              <a:t>NP problem can be encoded as an instance of SAT with a small (polynomial overhead).</a:t>
            </a:r>
          </a:p>
          <a:p>
            <a:r>
              <a:rPr lang="en-US" dirty="0"/>
              <a:t>In other words, if you could find an algorithm to solve SAT, you automatically have an algorithm to solve all NP problems!</a:t>
            </a:r>
          </a:p>
          <a:p>
            <a:r>
              <a:rPr lang="en-US" b="1" dirty="0"/>
              <a:t>Similar to: </a:t>
            </a:r>
            <a:r>
              <a:rPr lang="en-US" dirty="0"/>
              <a:t>Using graph algorithms to solve new problems, using Ford–Fulkerson to model new problems, etc.</a:t>
            </a:r>
          </a:p>
        </p:txBody>
      </p:sp>
    </p:spTree>
    <p:extLst>
      <p:ext uri="{BB962C8B-B14F-4D97-AF65-F5344CB8AC3E}">
        <p14:creationId xmlns:p14="http://schemas.microsoft.com/office/powerpoint/2010/main" val="2389028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BE67F9-88CC-5E34-6D89-A51DC865FB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EC3502-5114-495C-2668-D4BF229555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importance of SAT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B821B5-6873-4F12-7CF1-F0E391C2C7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dirty="0"/>
              <a:t>General proof for all NP problems: Cook–Levin theorem, 1971</a:t>
            </a:r>
          </a:p>
          <a:p>
            <a:r>
              <a:rPr lang="en-US" dirty="0"/>
              <a:t>We won’t cover this, requires a mathematical definition of “what is an algorithm” and “what is a computer” (Turing machines).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dirty="0"/>
              <a:t>Specific cases for some particular NP problems: next class!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52089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673EFC-2F64-826F-FDB8-C93DCFE624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NP-completeness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4ED45B-30AF-8015-82C4-A2008FE926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problem that is both in NP and NP-hard is called </a:t>
            </a:r>
            <a:r>
              <a:rPr lang="en-US" b="1" dirty="0">
                <a:solidFill>
                  <a:schemeClr val="accent2"/>
                </a:solidFill>
              </a:rPr>
              <a:t>NP-complete</a:t>
            </a:r>
            <a:r>
              <a:rPr lang="en-US" dirty="0"/>
              <a:t>, such as SAT.</a:t>
            </a:r>
          </a:p>
          <a:p>
            <a:r>
              <a:rPr lang="en-US" dirty="0"/>
              <a:t>These are the hardest problems in NP.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3B0AAA54-7FA5-AC75-17C1-010D1D9FAAE0}"/>
              </a:ext>
            </a:extLst>
          </p:cNvPr>
          <p:cNvSpPr/>
          <p:nvPr/>
        </p:nvSpPr>
        <p:spPr>
          <a:xfrm>
            <a:off x="6762188" y="5532460"/>
            <a:ext cx="2730874" cy="932588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4521167-9474-BDA0-A9DE-94187E10C9CB}"/>
              </a:ext>
            </a:extLst>
          </p:cNvPr>
          <p:cNvSpPr txBox="1"/>
          <p:nvPr/>
        </p:nvSpPr>
        <p:spPr>
          <a:xfrm>
            <a:off x="7916028" y="5685339"/>
            <a:ext cx="773835" cy="5727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25000"/>
              </a:lnSpc>
              <a:spcBef>
                <a:spcPts val="2400"/>
              </a:spcBef>
            </a:pPr>
            <a:r>
              <a:rPr lang="en-US" sz="2800" dirty="0">
                <a:latin typeface="Lato" panose="020F0502020204030203" pitchFamily="34" charset="77"/>
                <a:ea typeface="Inter" panose="02000503000000020004" pitchFamily="2" charset="0"/>
              </a:rPr>
              <a:t>P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14221DCF-F9CE-88A3-21E5-5C83C83EC525}"/>
              </a:ext>
            </a:extLst>
          </p:cNvPr>
          <p:cNvSpPr/>
          <p:nvPr/>
        </p:nvSpPr>
        <p:spPr>
          <a:xfrm>
            <a:off x="5255557" y="3478988"/>
            <a:ext cx="5744137" cy="3257345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95CB1BF-8089-AC53-FF60-B64F878C9810}"/>
              </a:ext>
            </a:extLst>
          </p:cNvPr>
          <p:cNvSpPr txBox="1"/>
          <p:nvPr/>
        </p:nvSpPr>
        <p:spPr>
          <a:xfrm>
            <a:off x="7759200" y="4770445"/>
            <a:ext cx="1292382" cy="5727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25000"/>
              </a:lnSpc>
              <a:spcBef>
                <a:spcPts val="2400"/>
              </a:spcBef>
            </a:pPr>
            <a:r>
              <a:rPr lang="en-US" sz="2800" dirty="0">
                <a:latin typeface="Lato" panose="020F0502020204030203" pitchFamily="34" charset="77"/>
                <a:ea typeface="Inter" panose="02000503000000020004" pitchFamily="2" charset="0"/>
              </a:rPr>
              <a:t>NP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FE1924B3-CC2F-6F9D-32A6-FC28DA5330B4}"/>
              </a:ext>
            </a:extLst>
          </p:cNvPr>
          <p:cNvSpPr/>
          <p:nvPr/>
        </p:nvSpPr>
        <p:spPr>
          <a:xfrm>
            <a:off x="6350182" y="3787030"/>
            <a:ext cx="3637596" cy="932588"/>
          </a:xfrm>
          <a:prstGeom prst="ellipse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94F6165-58DE-237E-3E25-5EA1B90C53C5}"/>
              </a:ext>
            </a:extLst>
          </p:cNvPr>
          <p:cNvSpPr txBox="1"/>
          <p:nvPr/>
        </p:nvSpPr>
        <p:spPr>
          <a:xfrm>
            <a:off x="7113112" y="3947309"/>
            <a:ext cx="3637597" cy="5727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lnSpc>
                <a:spcPct val="125000"/>
              </a:lnSpc>
              <a:spcBef>
                <a:spcPts val="2400"/>
              </a:spcBef>
            </a:pPr>
            <a:r>
              <a:rPr lang="en-US" sz="2800" dirty="0">
                <a:latin typeface="Lato" panose="020F0502020204030203" pitchFamily="34" charset="77"/>
                <a:ea typeface="Inter" panose="02000503000000020004" pitchFamily="2" charset="0"/>
              </a:rPr>
              <a:t>NP-complete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2C0B3C8-E71F-D9C9-85EA-95404D955A90}"/>
              </a:ext>
            </a:extLst>
          </p:cNvPr>
          <p:cNvSpPr txBox="1"/>
          <p:nvPr/>
        </p:nvSpPr>
        <p:spPr>
          <a:xfrm>
            <a:off x="1662487" y="4501140"/>
            <a:ext cx="3045757" cy="1111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25000"/>
              </a:lnSpc>
              <a:spcBef>
                <a:spcPts val="2400"/>
              </a:spcBef>
            </a:pPr>
            <a:r>
              <a:rPr lang="en-US" sz="2800" dirty="0">
                <a:latin typeface="Lato" panose="020F0502020204030203" pitchFamily="34" charset="77"/>
                <a:ea typeface="Inter" panose="02000503000000020004" pitchFamily="2" charset="0"/>
              </a:rPr>
              <a:t>What we believe (assuming P</a:t>
            </a:r>
            <a:r>
              <a:rPr lang="en-US" sz="2800" dirty="0">
                <a:latin typeface="Lato" panose="020F0502020204030203" pitchFamily="34" charset="77"/>
              </a:rPr>
              <a:t> ≠ NP)</a:t>
            </a:r>
            <a:endParaRPr lang="en-US" sz="2800" dirty="0">
              <a:latin typeface="Lato" panose="020F0502020204030203" pitchFamily="34" charset="77"/>
              <a:ea typeface="Inter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3738563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2AD558-DD3E-6D3D-261D-F0B9D99BC0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Final reminders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10AA1D-BB56-462E-8975-E03FBDAEBC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HW5 (DP) resubmissions close tonight @ 11:59pm!</a:t>
            </a:r>
          </a:p>
          <a:p>
            <a:r>
              <a:rPr lang="en-US" dirty="0"/>
              <a:t>HW7 (Flows) due </a:t>
            </a:r>
            <a:r>
              <a:rPr lang="en-US" b="1" dirty="0"/>
              <a:t>next</a:t>
            </a:r>
            <a:r>
              <a:rPr lang="en-US" dirty="0"/>
              <a:t> Wednesday night</a:t>
            </a:r>
          </a:p>
          <a:p>
            <a:r>
              <a:rPr lang="en-US" dirty="0"/>
              <a:t>I have OH now-12:30pm:</a:t>
            </a:r>
          </a:p>
          <a:p>
            <a:pPr marL="457200" indent="-457200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US" dirty="0"/>
              <a:t>Meet at front of classroom, we’ll walk over together</a:t>
            </a:r>
          </a:p>
          <a:p>
            <a:pPr marL="457200" indent="-457200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US" dirty="0"/>
              <a:t>CSE (Allen) 214 if you’re coming later</a:t>
            </a:r>
          </a:p>
          <a:p>
            <a:r>
              <a:rPr lang="en-US" dirty="0"/>
              <a:t>Nathan has online OH 12–1pm:</a:t>
            </a:r>
          </a:p>
          <a:p>
            <a:pPr marL="457200" indent="-457200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US" u="sng" dirty="0">
                <a:hlinkClick r:id="rId3"/>
              </a:rPr>
              <a:t>https://washington.zoom.us/my/nathanbrunelle</a:t>
            </a:r>
            <a:endParaRPr lang="en-US" u="sng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779205654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PSPLIT_ORIGINALSLIDENUMBER" val="1"/>
  <p:tag name="PPSPLIT_SPLIT" val="1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PSPLIT_ORIGINALSLIDENUMBER" val="38"/>
  <p:tag name="PPSPLIT_SPLIT" val="1"/>
</p:tagLst>
</file>

<file path=ppt/theme/theme1.xml><?xml version="1.0" encoding="utf-8"?>
<a:theme xmlns:a="http://schemas.openxmlformats.org/drawingml/2006/main" name="Office Theme">
  <a:themeElements>
    <a:clrScheme name="Custom 3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E68CD"/>
      </a:accent1>
      <a:accent2>
        <a:srgbClr val="D6431A"/>
      </a:accent2>
      <a:accent3>
        <a:srgbClr val="00ABC3"/>
      </a:accent3>
      <a:accent4>
        <a:srgbClr val="E09000"/>
      </a:accent4>
      <a:accent5>
        <a:srgbClr val="BC33AD"/>
      </a:accent5>
      <a:accent6>
        <a:srgbClr val="519304"/>
      </a:accent6>
      <a:hlink>
        <a:srgbClr val="467886"/>
      </a:hlink>
      <a:folHlink>
        <a:srgbClr val="467886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 algn="l">
          <a:lnSpc>
            <a:spcPct val="125000"/>
          </a:lnSpc>
          <a:spcBef>
            <a:spcPts val="2400"/>
          </a:spcBef>
          <a:defRPr sz="2800" dirty="0" err="1" smtClean="0">
            <a:latin typeface="Lato" panose="020F0502020204030203" pitchFamily="34" charset="77"/>
            <a:ea typeface="Inter" panose="02000503000000020004" pitchFamily="2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417template" id="{AAF81601-399A-2442-AAE4-D244F3C4B759}" vid="{29E269BC-C148-3C43-85B3-C1C1EC7BE7BC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34098</TotalTime>
  <Words>1360</Words>
  <Application>Microsoft Macintosh PowerPoint</Application>
  <PresentationFormat>Widescreen</PresentationFormat>
  <Paragraphs>302</Paragraphs>
  <Slides>28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3" baseType="lpstr">
      <vt:lpstr>Aptos</vt:lpstr>
      <vt:lpstr>Arial</vt:lpstr>
      <vt:lpstr>Cambria Math</vt:lpstr>
      <vt:lpstr>Lato</vt:lpstr>
      <vt:lpstr>Office Theme</vt:lpstr>
      <vt:lpstr>Lecture 24: Intro to NP-completeness</vt:lpstr>
      <vt:lpstr>Some problems are hard to solve exactly</vt:lpstr>
      <vt:lpstr>What to do when a problem is hard?</vt:lpstr>
      <vt:lpstr>What do easy and hard mean?</vt:lpstr>
      <vt:lpstr>A bit of practice</vt:lpstr>
      <vt:lpstr>A bit of practice</vt:lpstr>
      <vt:lpstr>A bit of practice</vt:lpstr>
      <vt:lpstr>The class NP</vt:lpstr>
      <vt:lpstr>P vs. NP</vt:lpstr>
      <vt:lpstr>How to prove not in P?</vt:lpstr>
      <vt:lpstr>What people think the world looks like</vt:lpstr>
      <vt:lpstr>Working with Boolean formulas</vt:lpstr>
      <vt:lpstr>Different notations in different fields</vt:lpstr>
      <vt:lpstr>Truth tables</vt:lpstr>
      <vt:lpstr>Truth tables</vt:lpstr>
      <vt:lpstr>Practice with truth tables</vt:lpstr>
      <vt:lpstr>Rewriting expressions</vt:lpstr>
      <vt:lpstr>De Morgan’s laws</vt:lpstr>
      <vt:lpstr>Distributivity laws</vt:lpstr>
      <vt:lpstr>All about SAT</vt:lpstr>
      <vt:lpstr>2SAT</vt:lpstr>
      <vt:lpstr>SAT (Satisfiability)</vt:lpstr>
      <vt:lpstr>SAT (Satisfiability)</vt:lpstr>
      <vt:lpstr>SAT example</vt:lpstr>
      <vt:lpstr>The importance of SAT</vt:lpstr>
      <vt:lpstr>The importance of SAT</vt:lpstr>
      <vt:lpstr>NP-completeness</vt:lpstr>
      <vt:lpstr>Final reminders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Glenn Sun</dc:creator>
  <cp:lastModifiedBy>Glenn Sun</cp:lastModifiedBy>
  <cp:revision>65</cp:revision>
  <dcterms:created xsi:type="dcterms:W3CDTF">2025-09-15T17:56:15Z</dcterms:created>
  <dcterms:modified xsi:type="dcterms:W3CDTF">2025-11-24T20:31:36Z</dcterms:modified>
</cp:coreProperties>
</file>